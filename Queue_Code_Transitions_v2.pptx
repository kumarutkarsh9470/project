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36795dd-5785-71c7-4540-b0c7062e7f66}">
          <p14:sldIdLst>
            <p14:sldId id="256"/>
            <p14:sldId id="257"/>
          </p14:sldIdLst>
        </p14:section>
        <p14:section name="Part 1 · The queue" id="{e306f1c3-b242-3dba-556a-493316ceec0e}">
          <p14:sldIdLst>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Part 2 · The pool" id="{cd0dfcde-d96f-a811-8d5a-7ecec8ffd155}">
          <p14:sldIdLst>
            <p14:sldId id="275"/>
            <p14:sldId id="276"/>
            <p14:sldId id="277"/>
            <p14:sldId id="278"/>
            <p14:sldId id="279"/>
            <p14:sldId id="280"/>
            <p14:sldId id="281"/>
            <p14:sldId id="282"/>
            <p14:sldId id="283"/>
          </p14:sldIdLst>
        </p14:section>
        <p14:section name="Part 3 · Performance" id="{c9efde32-4fed-1fca-3e76-1d95cc67fe43}">
          <p14:sldIdLst>
            <p14:sldId id="284"/>
            <p14:sldId id="285"/>
            <p14:sldId id="286"/>
            <p14:sldId id="287"/>
            <p14:sldId id="288"/>
            <p14:sldId id="289"/>
            <p14:sldId id="290"/>
            <p14:sldId id="291"/>
            <p14:sldId id="292"/>
            <p14:sldId id="293"/>
          </p14:sldIdLst>
        </p14:section>
        <p14:section name="Wrap-up" id="{3eddf14b-25cf-8335-3ee8-7089227d3559}">
          <p14:sldIdLst>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teaching deck. Each slide shows the real code from master/vN, with the lines that changed since the previous version highlighted, and a three-step explanation of how the new code works. Use one or two slides at the end of each session as the summary of what everyone just wrote, or run it start to finish as a retrospective.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band and + means added, brown band and − means removed, no band means unchanged. Colour is never the only signal. The highlighting is computed from master/ by diffing each version against the previous one, ignoring comment-only changes. Read the right column top to bottom: why the change was needed, how the new code works step by step, then the output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ns per push + pop is the number every later version is compared to.
1. A thin wrapper around std::queue&lt;int&gt;: push() adds at the back; pop() removes the front item and returns it.
2. pop() reads front() without checking. On an empty queue that is undefined behaviour; one thread that knows the count never hits it.
3. Nothing is protected yet. Two threads calling push() at once would both rewrite the deque's internal pointers: that's v2's crash.
Code: master/v0/queue.hpp. Highlighting is computed against master/nothing.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queue.hpp is unchanged in v1. Threads receive the queue through std::ref because std::thread copies its arguments.
1. A std::thread must be joined (or detached) before it is destroyed. Otherwise the program calls std::terminate and dies.
2. ThreadGroup keeps the threads in a vector and joins each one in its destructor. Destructors run on every exit path, including when an exception is thrown.
3. Copying is deleted, because two copies would join the same threads. add() takes the thread by value and moves it in: a std::thread can't be copied.
Code: master/v1/thread_group.hpp. Highlighting is computed against master/v0.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1,000 items per producer the race never showed; at 100,000 it crashed every run.
1. std::mutex m is the guard for q. The rule: every access to q happens between m.lock() and m.unlock().
2. Only one thread can hold m at a time. A second thread calling push() waits inside m.lock() until the first one calls m.unlock().
3. So two pushes can no longer interleave their pointer updates. Four producers now always end with exactly 400,000 items.
Code: master/v2/queue.hpp. Highlighting is computed against master/v1.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pop() and size() lock too: reading q while another thread writes it is also a data race.
2. The throw on an empty queue leaves pop() before m.unlock() runs, so the mutex stays locked.
3. The next thread that calls m.lock() waits forever. In v2's next_bug the whole program freezes.
Code: master/v2/queue.hpp. Highlighting is computed against master/v1.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std::lock_guard&lt;std::mutex&gt; lock(m) calls m.lock() in its constructor, the moment it is created.
2. When push() returns, or an exception leaves it, lock is destroyed and its destructor calls m.unlock(). No path can skip that.
3. m becomes mutable so that const functions (empty, size) can lock it: locking changes the mutex, not the queue's contents.
Code: master/v3/queue.hpp. Highlighting is computed against master/v2.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With empty() and pop() as separate calls, two consumers can both see 'not empty' for the last item; one of them then pops an empty queue.
2. try_pop() checks, reads and removes while holding the lock once, so no other thread can act in between.
3. It returns false instead of throwing, and writes the value into out. The caller decides what to do when there's nothing.
Code: master/v3/queue.hpp. Highlighting is computed against master/v2.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empty() and size() only read q, but another thread may be writing it at that moment, so they lock as well.
2. They are const member functions, which is why m had to become mutable.
3. Their answer is a snapshot: by the time the caller acts on 'not empty', another thread may have taken the item. That's why try_pop() exists.
Code: master/v3/queue.hpp. Highlighting is computed against master/v2.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consumer calls try_pop() over and over and only counts the calls that returned true.
2. That's correct: no exception, and every item is taken exactly once.
3. But while the queue is empty it checks millions of times a second on a full CPU core. v4 replaces this loop with sleeping.
Code: master/v3/queue.hpp. Highlighting is computed against master/v2.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std::condition_variable cv lets a thread sleep until another thread signals it.
2. push() adds the item under the lock; the inner braces then end the lock_guard's life, releasing m.
3. Only then does it call cv.notify_one() to wake one sleeping consumer, which can take m straight away.
Code: master/v4/queue.hpp. Highlighting is computed against master/v3.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wait_and_pop() uses std::unique_lock, not lock_guard, because cv.wait() has to unlock and re-lock the mutex.
2. cv.wait(lock, predicate) checks the predicate. If the queue is empty it releases m and sleeps; when woken it re-locks m and checks again.
3. The re-check matters: wake-ups can be spurious, and another consumer may have taken the item first. Waiting now costs no CPU.
Code: master/v4/queue.hpp. Highlighting is computed against master/v3.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push_locked() only pushes. It's private and assumes the caller already holds m.
2. push_all() locks once, pushes the whole batch through push_locked(), then wakes every consumer with notify_all().
3. Calling push() inside push_all() would lock m twice from the same thread: undefined behaviour, in practice a hang.
Code: master/v5/queue.hpp. Highlighting is computed against master/v4.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move_all_to() needs both queues' mutexes. If one thread locks q1 then q2 while another locks q2 then q1, each waits for the other forever.
2. std::scoped_lock lock(m, other.m) takes both with a deadlock-avoidance algorithm, so the order the threads ask in no longer matters.
3. The self-move check comes first, because locking the same mutex twice is undefined behaviour.
Code: master/v5/queue.hpp. Highlighting is computed against master/v4.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closed records that the queue has been shut down. It is protected by m, like q.
2. push() checks closed under the lock and returns false instead of adding the item.
3. So once shutdown starts, no new work arrives while consumers finish what's left. push_all() gets the same check.
Code: master/v6/queue.hpp. Highlighting is computed against master/v5.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wait_and_pop() returns std::optional&lt;int&gt;: a value, or nothing once the queue is closed and empty.
2. The predicate wakes for either reason. If items are still queued at shutdown, it keeps handing them out until the queue is empty.
3. shutdown() sets closed under the lock, then notify_all(): every sleeping consumer must wake, see closed, and leave.
Code: master/v6/queue.hpp. Highlighting is computed against master/v5.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template &lt;class T&gt; turns Queue into ThreadSafeQueue&lt;T&gt;: the same code for any element type.
2. push_locked() now takes T by value and moves it into the std::queue.
3. Move-only types such as std::unique_ptr can now be stored. The int-only queue couldn't hold them at all.
Code: master/v7/queue.hpp. Highlighting is computed against master/v6.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push(T v) receives its own copy (or a moved-in value) and moves it again into the queue.
2. A caller passing a variable pays one copy; a caller passing a temporary or std::move(x) pays no copy at all.
3. Locking and notifying are exactly as in v6: only the element type changed.
Code: master/v7/queue.hpp. Highlighting is computed against master/v6.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try_pop() and wait_and_pop() move the element out of front() before calling pop().
2. Moving standard types can't fail, so no item can be lost to a copy that throws halfway.
3. This ends Part 1: ThreadSafeQueue&lt;std::unique_ptr&lt;int&gt;&gt; compiles and passes every test.
Code: master/v7/queue.hpp. Highlighting is computed against master/v6.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Task is std::function&lt;void()&gt;: any callable with no arguments and no result. The queue now carries work.
2. work() is v6's consumer loop: it pops tasks until shutdown and calls each one.
3. An exception only unwinds the thread that threw it. The worker catches everything and hands it to on_error, so one bad task can't kill it.
Code: master/v8/task_queue.hpp. Highlighting is computed against master/v7.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submit() pushes a task, and returns false once the queue is shut down.
2. The destructor shuts the queue down: the worker drains what's left, wait_and_pop() returns nothing, and work() returns.
3. worker.join() then waits for that thread to end. Copying is deleted because a copy would share the same worker.
Code: master/v8/task_queue.hpp. Highlighting is computed against master/v7.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single std::thread becomes a ThreadGroup (from v1). The constructor starts n threads, all running the same work() loop.
2. Members are destroyed in reverse order of declaration: workers is last, so its threads are joined before the queue is destroyed.
3. default_workers() uses hardware_concurrency(), which returns 0 when unknown, so it falls back to 4.
Code: master/v9/pool.hpp. Highlighting is computed against master/v8.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destructor only calls tasks.shutdown(). The workers wake, drain the queue and return.
2. Then the members' destructors run, and ThreadGroup joins every worker. Joining first would hang: sleeping workers never wake.
3. default_pool() is a function-local static. C++11 guarantees it is built exactly once, even if several threads call it first at the same time.
Code: master/v9/pool.hpp. Highlighting is computed against master/v8.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std::shared_mutex has two kinds of lock: shared (many holders at once) and unique (one holder, nobody else).
2. find() takes a shared_lock, so any number of tasks can read together; update() takes a unique_lock and waits until no reader holds it.
3. It only pays off for read-mostly data. The queue itself shouldn't use it: push and pop both write.
Code: master/v9/dns_cache.hpp. Highlighting is computed against master/v8.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error handler is removed: errors will travel back to whoever submitted the task, inside its future.
2. The constructor now only takes the number of workers.
3. tasks and workers keep their order, so v9's destruction order still holds.
Code: master/v10/pool.hpp. Highlighting is computed against master/v9.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Every task in the queue is now a wrapper around a std::packaged_task (next slide).
2. A packaged_task catches any exception thrown by its callable and stores it in its future instead of letting it escape.
3. So (*task)() never throws, and work() no longer needs a try/catch.
Code: master/v10/pool.hpp. Highlighting is computed against master/v9.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submit() wraps f in a std::packaged_task&lt;R()&gt;, where R is what f returns, and keeps its std::future.
2. A packaged_task can be moved but not copied, and std::function needs a copyable callable, so the job lives in a shared_ptr that the lambda copies.
3. The caller gets the future: get() waits, then returns the value, or rethrows the exception the task threw.
Code: master/v10/pool.hpp. Highlighting is computed against master/v9.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If a task calls get() on another task's future and every worker does the same, nobody is left to run the tasks they're waiting for.
2. wait_helping() checks the future without blocking (wait_for(0s)). While it isn't ready, it pops a queued task and runs it.
3. The task it waits for will eventually run, possibly on this very thread, so the wait always finishes.
Code: master/v10/pool.hpp. Highlighting is computed against master/v9.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submitted and completed are std::atomic&lt;std::size_t&gt;. fetch_add(1) is one indivisible read-add-write, so no increment can ever be lost.
2. run() executes a task and then counts it. Both work() and wait_helping() call run(), so every task is counted exactly once.
3. memory_order_relaxed is enough here: each counter only has to be exact on its own; no other data is published through it.
Code: master/v11/pool.hpp. Highlighting is computed against master/v10.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submit() counts a task only after push() succeeded, so a refused task is never counted.
2. tasks_submitted() and tasks_completed() just load the atomics: a monitoring thread reads them without touching the queue's mutex.
3. The two loads happen at slightly different moments, so 'submitted minus completed' is a snapshot of pending work, not an exact count.
Code: master/v11/pool.hpp. Highlighting is computed against master/v10.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Items live in a singly linked list whose last node is always an empty 'dummy', so head and tail never point at the same real item.
2. head is only touched under head_m and tail only under tail_m: consumers work at the front, producers at the back, each with its own lock.
3. The destructor frees nodes in a loop. Letting the unique_ptr chain destroy itself would recurse once per node and could overflow the stack.
Code: master/v12/two_lock_queue.hpp. Highlighting is computed against master/v11.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new node is allocated before taking any lock, so no mutex is held during the allocation.
2. Under tail_m, the value goes into the current dummy; the new node is linked after it and becomes the new dummy.
3. Then push() briefly locks head_m before notify_one(). A consumer checks for data and falls asleep while holding head_m, so the wake-up can't slip in between.
Code: master/v12/two_lock_queue.hpp. Highlighting is computed against master/v11.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queue is empty when head is the tail (read through get_tail(), which locks tail_m for a moment): only the dummy is left.
2. pop_head() moves the value out and advances head; the old node is freed by its unique_ptr.
3. On this machine it's slower than one mutex, because every push allocates a node. Finer locks pay off only when the time saved beats the extra work.
Code: master/v12/two_lock_queue.hpp. Highlighting is computed against master/v11.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fixed array of N slots and two counters that only grow: tail (next slot to write) and head (next slot to read). The slot is index &amp; (N - 1), so N must be a power of two.
2. Only the producer writes tail and only the consumer writes head. Each index has a single writer, so no lock is needed.
3. alignas(64) puts each index on its own cache line. Sharing one line, two cores keep stealing it from each other: 1.52 s vs 0.38 s in the tiny example.
Code: master/v13/spsc_ring.hpp. Highlighting is computed against master/v12.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try_push() checks for space (tail - head == N means full), writes the slot, and only then stores tail + 1 with memory_order_release.
2. try_pop() loads tail with memory_order_acquire. Seeing the new tail guarantees it also sees the slot written before the release.
3. After reading, the consumer frees the slot by storing head + 1. One producer and one consumer only: two producers lost 47% of the items.
Code: master/v13/spsc_ring.hpp. Highlighting is computed against master/v12.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throughput_once() (not shown) pushes as fast as it can and counts messages per second.
2. latency_once() paces the producer: one message every 'gap' nanoseconds, and each message carries the time it was sent.
3. The consumer subtracts that send time from the time it received the message. At full speed this would measure how long messages sat queued, not how fast the queue is.
Code: master/v14/bench.hpp. Highlighting is computed against master/v13.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warm-up run comes first and is thrown away: caches, page faults and lazy setup make the first run slower.
2. Five runs follow. Throughput reports the median run, so one lucky or unlucky run can't decide the result.
3. Latency is reported as percentiles: p50 is the typical message; p99 and p99.9 are the slow tail a trading system cares about.
Code: master/v14/bench.hpp. Highlighting is computed against master/v13.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clock_resolution_ns() reads the clock until the value changes and keeps the smallest step it ever sees.
2. Here steady_clock moves in 1,000 ns steps, so any latency below 1 microsecond reads as 0. The ring's '0' means 'under 1 us', not free.
3. The benchmark prints the resolution with every result, so nobody trusts a number the clock can't measure.
Code: master/v14/bench.hpp. Highlighting is computed against master/v13.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on one slide, each part tagged with the version that introduced it. Ask students to point at a box and name the failure that forced it. v12 to v13 replace the queue in the middle with faster designs for special cases; the next slide compares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the method, not the winner. The two-lock queue is the textbook 'more concurrent' design and it lost, because each push allocates a node and two locks cost more than one at this load. The SPSC ring wins by giving up generality. The TwoLockQueue's paced latency was over a millisecond: each message wakes a sleeping consumer, and that wake-up costs more than the gap between messages. Ask: which would you put between a feed handler and a strategy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build_all.sh rebuilds and tests every version; --demos also runs every tiny example and should-fail demo with a timeout. The three project tracks reuse these pieces: the feed handler uses the SPSC ring and the benchmark harness, the allocator attacks v12's per-push allocation, the execution simulator runs on the thread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D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411480" y="1234440"/>
            <a:ext cx="7360920" cy="5212080"/>
          </a:xfrm>
          <a:prstGeom prst="rect">
            <a:avLst/>
          </a:prstGeom>
          <a:solidFill>
            <a:schemeClr val="tx2"/>
          </a:solidFill>
          <a:ln w="12700">
            <a:solidFill>
              <a:schemeClr val="tx2"/>
            </a:solidFill>
            <a:prstDash val="solid"/>
          </a:ln>
        </p:spPr>
      </p:sp>
      <p:sp>
        <p:nvSpPr>
          <p:cNvPr id="3" name="Shape 1"/>
          <p:cNvSpPr/>
          <p:nvPr/>
        </p:nvSpPr>
        <p:spPr>
          <a:xfrm>
            <a:off x="457200" y="6583680"/>
            <a:ext cx="146304" cy="146304"/>
          </a:xfrm>
          <a:prstGeom prst="rect">
            <a:avLst/>
          </a:prstGeom>
          <a:solidFill>
            <a:schemeClr val="accent4"/>
          </a:solidFill>
          <a:ln/>
        </p:spPr>
      </p:sp>
      <p:sp>
        <p:nvSpPr>
          <p:cNvPr id="4" name="Text 2"/>
          <p:cNvSpPr/>
          <p:nvPr/>
        </p:nvSpPr>
        <p:spPr>
          <a:xfrm>
            <a:off x="658368" y="6519672"/>
            <a:ext cx="731520" cy="274320"/>
          </a:xfrm>
          <a:prstGeom prst="rect">
            <a:avLst/>
          </a:prstGeom>
          <a:noFill/>
          <a:ln/>
        </p:spPr>
        <p:txBody>
          <a:bodyPr wrap="square" lIns="0" tIns="0" rIns="0" bIns="0" rtlCol="0" anchor="ctr"/>
          <a:lstStyle/>
          <a:p>
            <a:pPr indent="0" marL="0">
              <a:buNone/>
            </a:pPr>
            <a:r>
              <a:rPr lang="en-US" sz="1100" dirty="0">
                <a:solidFill>
                  <a:schemeClr val="bg2"/>
                </a:solidFill>
              </a:rPr>
              <a:t>added</a:t>
            </a:r>
            <a:endParaRPr lang="en-US" sz="1100" dirty="0"/>
          </a:p>
        </p:txBody>
      </p:sp>
      <p:sp>
        <p:nvSpPr>
          <p:cNvPr id="5" name="Shape 3"/>
          <p:cNvSpPr/>
          <p:nvPr/>
        </p:nvSpPr>
        <p:spPr>
          <a:xfrm>
            <a:off x="1325880" y="6583680"/>
            <a:ext cx="146304" cy="146304"/>
          </a:xfrm>
          <a:prstGeom prst="rect">
            <a:avLst/>
          </a:prstGeom>
          <a:solidFill>
            <a:schemeClr val="accent5"/>
          </a:solidFill>
          <a:ln/>
        </p:spPr>
      </p:sp>
      <p:sp>
        <p:nvSpPr>
          <p:cNvPr id="6" name="Text 4"/>
          <p:cNvSpPr/>
          <p:nvPr/>
        </p:nvSpPr>
        <p:spPr>
          <a:xfrm>
            <a:off x="1527048" y="6519672"/>
            <a:ext cx="914400" cy="274320"/>
          </a:xfrm>
          <a:prstGeom prst="rect">
            <a:avLst/>
          </a:prstGeom>
          <a:noFill/>
          <a:ln/>
        </p:spPr>
        <p:txBody>
          <a:bodyPr wrap="square" lIns="0" tIns="0" rIns="0" bIns="0" rtlCol="0" anchor="ctr"/>
          <a:lstStyle/>
          <a:p>
            <a:pPr indent="0" marL="0">
              <a:buNone/>
            </a:pPr>
            <a:r>
              <a:rPr lang="en-US" sz="1100" dirty="0">
                <a:solidFill>
                  <a:schemeClr val="bg2"/>
                </a:solidFill>
              </a:rPr>
              <a:t>removed</a:t>
            </a:r>
            <a:endParaRPr lang="en-US" sz="1100" dirty="0"/>
          </a:p>
        </p:txBody>
      </p:sp>
      <p:sp>
        <p:nvSpPr>
          <p:cNvPr id="7" name="Text 5"/>
          <p:cNvSpPr/>
          <p:nvPr>
            <p:ph idx="105" type="title" hasCustomPrompt="1"/>
          </p:nvPr>
        </p:nvSpPr>
        <p:spPr>
          <a:xfrm>
            <a:off x="411480" y="201168"/>
            <a:ext cx="7772400" cy="566928"/>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201168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731520" y="3291840"/>
            <a:ext cx="1051560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92608"/>
            <a:ext cx="1133856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2011680"/>
          </a:xfrm>
          <a:prstGeom prst="rect">
            <a:avLst/>
          </a:prstGeom>
          <a:noFill/>
          <a:ln/>
        </p:spPr>
        <p:txBody>
          <a:bodyPr wrap="square" lIns="0" tIns="0" rIns="0" bIns="0" rtlCol="0" anchor="b"/>
          <a:lstStyle/>
          <a:p>
            <a:pPr algn="l" indent="0" marL="0">
              <a:buNone/>
            </a:pPr>
            <a:r>
              <a:rPr lang="en-US" sz="5000" b="1" dirty="0">
                <a:solidFill>
                  <a:schemeClr val="bg1"/>
                </a:solidFill>
              </a:rPr>
              <a:t>The Queue Changelog</a:t>
            </a:r>
            <a:endParaRPr lang="en-US" sz="5000" dirty="0"/>
          </a:p>
        </p:txBody>
      </p:sp>
      <p:sp>
        <p:nvSpPr>
          <p:cNvPr id="3" name="Text 0"/>
          <p:cNvSpPr/>
          <p:nvPr>
            <p:ph idx="101" type="body" hasCustomPrompt="1"/>
          </p:nvPr>
        </p:nvSpPr>
        <p:spPr>
          <a:xfrm>
            <a:off x="731520" y="3291840"/>
            <a:ext cx="10515600" cy="822960"/>
          </a:xfrm>
          <a:prstGeom prst="rect">
            <a:avLst/>
          </a:prstGeom>
          <a:noFill/>
          <a:ln/>
        </p:spPr>
        <p:txBody>
          <a:bodyPr wrap="square" lIns="0" tIns="0" rIns="0" bIns="0" rtlCol="0" anchor="t"/>
          <a:lstStyle/>
          <a:p>
            <a:pPr algn="l" indent="0" marL="0">
              <a:buNone/>
            </a:pPr>
            <a:r>
              <a:rPr lang="en-US" sz="2000" dirty="0">
                <a:solidFill>
                  <a:schemeClr val="bg2"/>
                </a:solidFill>
              </a:rPr>
              <a:t>One thread-safe queue, fifteen versions: every change highlighted and explained</a:t>
            </a:r>
            <a:endParaRPr lang="en-US" sz="2000" dirty="0"/>
          </a:p>
        </p:txBody>
      </p:sp>
      <p:sp>
        <p:nvSpPr>
          <p:cNvPr id="4" name="timeline"/>
          <p:cNvSpPr/>
          <p:nvPr/>
        </p:nvSpPr>
        <p:spPr>
          <a:xfrm>
            <a:off x="777240" y="5120640"/>
            <a:ext cx="10625328" cy="0"/>
          </a:xfrm>
          <a:prstGeom prst="line">
            <a:avLst/>
          </a:prstGeom>
          <a:noFill/>
          <a:ln w="38100">
            <a:solidFill>
              <a:schemeClr val="tx2"/>
            </a:solidFill>
            <a:prstDash val="solid"/>
          </a:ln>
        </p:spPr>
      </p:sp>
      <p:sp>
        <p:nvSpPr>
          <p:cNvPr id="5" name="node v0"/>
          <p:cNvSpPr/>
          <p:nvPr/>
        </p:nvSpPr>
        <p:spPr>
          <a:xfrm>
            <a:off x="676656" y="5020056"/>
            <a:ext cx="201168" cy="201168"/>
          </a:xfrm>
          <a:prstGeom prst="ellipse">
            <a:avLst/>
          </a:prstGeom>
          <a:solidFill>
            <a:schemeClr val="accent1"/>
          </a:solidFill>
          <a:ln w="25400">
            <a:solidFill>
              <a:schemeClr val="tx1"/>
            </a:solidFill>
            <a:prstDash val="solid"/>
          </a:ln>
        </p:spPr>
      </p:sp>
      <p:sp>
        <p:nvSpPr>
          <p:cNvPr id="6" name="Text 4"/>
          <p:cNvSpPr txBox="1"/>
          <p:nvPr/>
        </p:nvSpPr>
        <p:spPr>
          <a:xfrm>
            <a:off x="393192"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v0</a:t>
            </a:r>
            <a:endParaRPr lang="en-US" sz="1500" dirty="0"/>
          </a:p>
        </p:txBody>
      </p:sp>
      <p:sp>
        <p:nvSpPr>
          <p:cNvPr id="7" name="Text 5"/>
          <p:cNvSpPr txBox="1"/>
          <p:nvPr/>
        </p:nvSpPr>
        <p:spPr>
          <a:xfrm>
            <a:off x="393192"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queue</a:t>
            </a:r>
            <a:endParaRPr lang="en-US" sz="1200" dirty="0"/>
          </a:p>
        </p:txBody>
      </p:sp>
      <p:sp>
        <p:nvSpPr>
          <p:cNvPr id="8" name="node v1"/>
          <p:cNvSpPr/>
          <p:nvPr/>
        </p:nvSpPr>
        <p:spPr>
          <a:xfrm>
            <a:off x="1435608" y="5020056"/>
            <a:ext cx="201168" cy="201168"/>
          </a:xfrm>
          <a:prstGeom prst="ellipse">
            <a:avLst/>
          </a:prstGeom>
          <a:solidFill>
            <a:schemeClr val="accent1"/>
          </a:solidFill>
          <a:ln w="25400">
            <a:solidFill>
              <a:schemeClr val="tx1"/>
            </a:solidFill>
            <a:prstDash val="solid"/>
          </a:ln>
        </p:spPr>
      </p:sp>
      <p:sp>
        <p:nvSpPr>
          <p:cNvPr id="9" name="Text 7"/>
          <p:cNvSpPr txBox="1"/>
          <p:nvPr/>
        </p:nvSpPr>
        <p:spPr>
          <a:xfrm>
            <a:off x="1152144"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a:t>
            </a:r>
            <a:endParaRPr lang="en-US" sz="1500" dirty="0"/>
          </a:p>
        </p:txBody>
      </p:sp>
      <p:sp>
        <p:nvSpPr>
          <p:cNvPr id="10" name="Text 8"/>
          <p:cNvSpPr txBox="1"/>
          <p:nvPr/>
        </p:nvSpPr>
        <p:spPr>
          <a:xfrm>
            <a:off x="1152144"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threads</a:t>
            </a:r>
            <a:endParaRPr lang="en-US" sz="1200" dirty="0"/>
          </a:p>
        </p:txBody>
      </p:sp>
      <p:sp>
        <p:nvSpPr>
          <p:cNvPr id="11" name="node v2"/>
          <p:cNvSpPr/>
          <p:nvPr/>
        </p:nvSpPr>
        <p:spPr>
          <a:xfrm>
            <a:off x="2194560" y="5020056"/>
            <a:ext cx="201168" cy="201168"/>
          </a:xfrm>
          <a:prstGeom prst="ellipse">
            <a:avLst/>
          </a:prstGeom>
          <a:solidFill>
            <a:schemeClr val="accent1"/>
          </a:solidFill>
          <a:ln w="25400">
            <a:solidFill>
              <a:schemeClr val="tx1"/>
            </a:solidFill>
            <a:prstDash val="solid"/>
          </a:ln>
        </p:spPr>
      </p:sp>
      <p:sp>
        <p:nvSpPr>
          <p:cNvPr id="12" name="Text 10"/>
          <p:cNvSpPr txBox="1"/>
          <p:nvPr/>
        </p:nvSpPr>
        <p:spPr>
          <a:xfrm>
            <a:off x="1911096"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v2</a:t>
            </a:r>
            <a:endParaRPr lang="en-US" sz="1500" dirty="0"/>
          </a:p>
        </p:txBody>
      </p:sp>
      <p:sp>
        <p:nvSpPr>
          <p:cNvPr id="13" name="Text 11"/>
          <p:cNvSpPr txBox="1"/>
          <p:nvPr/>
        </p:nvSpPr>
        <p:spPr>
          <a:xfrm>
            <a:off x="1911096"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mutex</a:t>
            </a:r>
            <a:endParaRPr lang="en-US" sz="1200" dirty="0"/>
          </a:p>
        </p:txBody>
      </p:sp>
      <p:sp>
        <p:nvSpPr>
          <p:cNvPr id="14" name="node v3"/>
          <p:cNvSpPr/>
          <p:nvPr/>
        </p:nvSpPr>
        <p:spPr>
          <a:xfrm>
            <a:off x="2953512" y="5020056"/>
            <a:ext cx="201168" cy="201168"/>
          </a:xfrm>
          <a:prstGeom prst="ellipse">
            <a:avLst/>
          </a:prstGeom>
          <a:solidFill>
            <a:schemeClr val="accent1"/>
          </a:solidFill>
          <a:ln w="25400">
            <a:solidFill>
              <a:schemeClr val="tx1"/>
            </a:solidFill>
            <a:prstDash val="solid"/>
          </a:ln>
        </p:spPr>
      </p:sp>
      <p:sp>
        <p:nvSpPr>
          <p:cNvPr id="15" name="Text 13"/>
          <p:cNvSpPr txBox="1"/>
          <p:nvPr/>
        </p:nvSpPr>
        <p:spPr>
          <a:xfrm>
            <a:off x="2670048"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v3</a:t>
            </a:r>
            <a:endParaRPr lang="en-US" sz="1500" dirty="0"/>
          </a:p>
        </p:txBody>
      </p:sp>
      <p:sp>
        <p:nvSpPr>
          <p:cNvPr id="16" name="Text 14"/>
          <p:cNvSpPr txBox="1"/>
          <p:nvPr/>
        </p:nvSpPr>
        <p:spPr>
          <a:xfrm>
            <a:off x="2670048"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RAII</a:t>
            </a:r>
            <a:endParaRPr lang="en-US" sz="1200" dirty="0"/>
          </a:p>
        </p:txBody>
      </p:sp>
      <p:sp>
        <p:nvSpPr>
          <p:cNvPr id="17" name="node v4"/>
          <p:cNvSpPr/>
          <p:nvPr/>
        </p:nvSpPr>
        <p:spPr>
          <a:xfrm>
            <a:off x="3712464" y="5020056"/>
            <a:ext cx="201168" cy="201168"/>
          </a:xfrm>
          <a:prstGeom prst="ellipse">
            <a:avLst/>
          </a:prstGeom>
          <a:solidFill>
            <a:schemeClr val="accent1"/>
          </a:solidFill>
          <a:ln w="25400">
            <a:solidFill>
              <a:schemeClr val="tx1"/>
            </a:solidFill>
            <a:prstDash val="solid"/>
          </a:ln>
        </p:spPr>
      </p:sp>
      <p:sp>
        <p:nvSpPr>
          <p:cNvPr id="18" name="Text 16"/>
          <p:cNvSpPr txBox="1"/>
          <p:nvPr/>
        </p:nvSpPr>
        <p:spPr>
          <a:xfrm>
            <a:off x="3429000"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v4</a:t>
            </a:r>
            <a:endParaRPr lang="en-US" sz="1500" dirty="0"/>
          </a:p>
        </p:txBody>
      </p:sp>
      <p:sp>
        <p:nvSpPr>
          <p:cNvPr id="19" name="Text 17"/>
          <p:cNvSpPr txBox="1"/>
          <p:nvPr/>
        </p:nvSpPr>
        <p:spPr>
          <a:xfrm>
            <a:off x="3429000"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cv</a:t>
            </a:r>
            <a:endParaRPr lang="en-US" sz="1200" dirty="0"/>
          </a:p>
        </p:txBody>
      </p:sp>
      <p:sp>
        <p:nvSpPr>
          <p:cNvPr id="20" name="node v5"/>
          <p:cNvSpPr/>
          <p:nvPr/>
        </p:nvSpPr>
        <p:spPr>
          <a:xfrm>
            <a:off x="4471416" y="5020056"/>
            <a:ext cx="201168" cy="201168"/>
          </a:xfrm>
          <a:prstGeom prst="ellipse">
            <a:avLst/>
          </a:prstGeom>
          <a:solidFill>
            <a:schemeClr val="accent1"/>
          </a:solidFill>
          <a:ln w="25400">
            <a:solidFill>
              <a:schemeClr val="tx1"/>
            </a:solidFill>
            <a:prstDash val="solid"/>
          </a:ln>
        </p:spPr>
      </p:sp>
      <p:sp>
        <p:nvSpPr>
          <p:cNvPr id="21" name="Text 19"/>
          <p:cNvSpPr txBox="1"/>
          <p:nvPr/>
        </p:nvSpPr>
        <p:spPr>
          <a:xfrm>
            <a:off x="4187952"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v5</a:t>
            </a:r>
            <a:endParaRPr lang="en-US" sz="1500" dirty="0"/>
          </a:p>
        </p:txBody>
      </p:sp>
      <p:sp>
        <p:nvSpPr>
          <p:cNvPr id="22" name="Text 20"/>
          <p:cNvSpPr txBox="1"/>
          <p:nvPr/>
        </p:nvSpPr>
        <p:spPr>
          <a:xfrm>
            <a:off x="4187952"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load</a:t>
            </a:r>
            <a:endParaRPr lang="en-US" sz="1200" dirty="0"/>
          </a:p>
        </p:txBody>
      </p:sp>
      <p:sp>
        <p:nvSpPr>
          <p:cNvPr id="23" name="node v6"/>
          <p:cNvSpPr/>
          <p:nvPr/>
        </p:nvSpPr>
        <p:spPr>
          <a:xfrm>
            <a:off x="5230368" y="5020056"/>
            <a:ext cx="201168" cy="201168"/>
          </a:xfrm>
          <a:prstGeom prst="ellipse">
            <a:avLst/>
          </a:prstGeom>
          <a:solidFill>
            <a:schemeClr val="accent1"/>
          </a:solidFill>
          <a:ln w="25400">
            <a:solidFill>
              <a:schemeClr val="tx1"/>
            </a:solidFill>
            <a:prstDash val="solid"/>
          </a:ln>
        </p:spPr>
      </p:sp>
      <p:sp>
        <p:nvSpPr>
          <p:cNvPr id="24" name="Text 22"/>
          <p:cNvSpPr txBox="1"/>
          <p:nvPr/>
        </p:nvSpPr>
        <p:spPr>
          <a:xfrm>
            <a:off x="4946904"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v6</a:t>
            </a:r>
            <a:endParaRPr lang="en-US" sz="1500" dirty="0"/>
          </a:p>
        </p:txBody>
      </p:sp>
      <p:sp>
        <p:nvSpPr>
          <p:cNvPr id="25" name="Text 23"/>
          <p:cNvSpPr txBox="1"/>
          <p:nvPr/>
        </p:nvSpPr>
        <p:spPr>
          <a:xfrm>
            <a:off x="4946904"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stop</a:t>
            </a:r>
            <a:endParaRPr lang="en-US" sz="1200" dirty="0"/>
          </a:p>
        </p:txBody>
      </p:sp>
      <p:sp>
        <p:nvSpPr>
          <p:cNvPr id="26" name="node v7"/>
          <p:cNvSpPr/>
          <p:nvPr/>
        </p:nvSpPr>
        <p:spPr>
          <a:xfrm>
            <a:off x="5989320" y="5020056"/>
            <a:ext cx="201168" cy="201168"/>
          </a:xfrm>
          <a:prstGeom prst="ellipse">
            <a:avLst/>
          </a:prstGeom>
          <a:solidFill>
            <a:schemeClr val="accent1"/>
          </a:solidFill>
          <a:ln w="25400">
            <a:solidFill>
              <a:schemeClr val="tx1"/>
            </a:solidFill>
            <a:prstDash val="solid"/>
          </a:ln>
        </p:spPr>
      </p:sp>
      <p:sp>
        <p:nvSpPr>
          <p:cNvPr id="27" name="Text 25"/>
          <p:cNvSpPr txBox="1"/>
          <p:nvPr/>
        </p:nvSpPr>
        <p:spPr>
          <a:xfrm>
            <a:off x="5705856"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v7</a:t>
            </a:r>
            <a:endParaRPr lang="en-US" sz="1500" dirty="0"/>
          </a:p>
        </p:txBody>
      </p:sp>
      <p:sp>
        <p:nvSpPr>
          <p:cNvPr id="28" name="Text 26"/>
          <p:cNvSpPr txBox="1"/>
          <p:nvPr/>
        </p:nvSpPr>
        <p:spPr>
          <a:xfrm>
            <a:off x="5705856"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&lt;T&gt;</a:t>
            </a:r>
            <a:endParaRPr lang="en-US" sz="1200" dirty="0"/>
          </a:p>
        </p:txBody>
      </p:sp>
      <p:sp>
        <p:nvSpPr>
          <p:cNvPr id="29" name="node v8"/>
          <p:cNvSpPr/>
          <p:nvPr/>
        </p:nvSpPr>
        <p:spPr>
          <a:xfrm>
            <a:off x="6748272" y="5020056"/>
            <a:ext cx="201168" cy="201168"/>
          </a:xfrm>
          <a:prstGeom prst="ellipse">
            <a:avLst/>
          </a:prstGeom>
          <a:solidFill>
            <a:schemeClr val="accent2"/>
          </a:solidFill>
          <a:ln w="25400">
            <a:solidFill>
              <a:schemeClr val="tx1"/>
            </a:solidFill>
            <a:prstDash val="solid"/>
          </a:ln>
        </p:spPr>
      </p:sp>
      <p:sp>
        <p:nvSpPr>
          <p:cNvPr id="30" name="Text 28"/>
          <p:cNvSpPr txBox="1"/>
          <p:nvPr/>
        </p:nvSpPr>
        <p:spPr>
          <a:xfrm>
            <a:off x="6464808"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v8</a:t>
            </a:r>
            <a:endParaRPr lang="en-US" sz="1500" dirty="0"/>
          </a:p>
        </p:txBody>
      </p:sp>
      <p:sp>
        <p:nvSpPr>
          <p:cNvPr id="31" name="Text 29"/>
          <p:cNvSpPr txBox="1"/>
          <p:nvPr/>
        </p:nvSpPr>
        <p:spPr>
          <a:xfrm>
            <a:off x="6464808"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tasks</a:t>
            </a:r>
            <a:endParaRPr lang="en-US" sz="1200" dirty="0"/>
          </a:p>
        </p:txBody>
      </p:sp>
      <p:sp>
        <p:nvSpPr>
          <p:cNvPr id="32" name="node v9"/>
          <p:cNvSpPr/>
          <p:nvPr/>
        </p:nvSpPr>
        <p:spPr>
          <a:xfrm>
            <a:off x="7507224" y="5020056"/>
            <a:ext cx="201168" cy="201168"/>
          </a:xfrm>
          <a:prstGeom prst="ellipse">
            <a:avLst/>
          </a:prstGeom>
          <a:solidFill>
            <a:schemeClr val="accent2"/>
          </a:solidFill>
          <a:ln w="25400">
            <a:solidFill>
              <a:schemeClr val="tx1"/>
            </a:solidFill>
            <a:prstDash val="solid"/>
          </a:ln>
        </p:spPr>
      </p:sp>
      <p:sp>
        <p:nvSpPr>
          <p:cNvPr id="33" name="Text 31"/>
          <p:cNvSpPr txBox="1"/>
          <p:nvPr/>
        </p:nvSpPr>
        <p:spPr>
          <a:xfrm>
            <a:off x="7223760"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v9</a:t>
            </a:r>
            <a:endParaRPr lang="en-US" sz="1500" dirty="0"/>
          </a:p>
        </p:txBody>
      </p:sp>
      <p:sp>
        <p:nvSpPr>
          <p:cNvPr id="34" name="Text 32"/>
          <p:cNvSpPr txBox="1"/>
          <p:nvPr/>
        </p:nvSpPr>
        <p:spPr>
          <a:xfrm>
            <a:off x="7223760"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pool</a:t>
            </a:r>
            <a:endParaRPr lang="en-US" sz="1200" dirty="0"/>
          </a:p>
        </p:txBody>
      </p:sp>
      <p:sp>
        <p:nvSpPr>
          <p:cNvPr id="35" name="node v10"/>
          <p:cNvSpPr/>
          <p:nvPr/>
        </p:nvSpPr>
        <p:spPr>
          <a:xfrm>
            <a:off x="8266176" y="5020056"/>
            <a:ext cx="201168" cy="201168"/>
          </a:xfrm>
          <a:prstGeom prst="ellipse">
            <a:avLst/>
          </a:prstGeom>
          <a:solidFill>
            <a:schemeClr val="accent2"/>
          </a:solidFill>
          <a:ln w="25400">
            <a:solidFill>
              <a:schemeClr val="tx1"/>
            </a:solidFill>
            <a:prstDash val="solid"/>
          </a:ln>
        </p:spPr>
      </p:sp>
      <p:sp>
        <p:nvSpPr>
          <p:cNvPr id="36" name="Text 34"/>
          <p:cNvSpPr txBox="1"/>
          <p:nvPr/>
        </p:nvSpPr>
        <p:spPr>
          <a:xfrm>
            <a:off x="7982712"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v10</a:t>
            </a:r>
            <a:endParaRPr lang="en-US" sz="1500" dirty="0"/>
          </a:p>
        </p:txBody>
      </p:sp>
      <p:sp>
        <p:nvSpPr>
          <p:cNvPr id="37" name="Text 35"/>
          <p:cNvSpPr txBox="1"/>
          <p:nvPr/>
        </p:nvSpPr>
        <p:spPr>
          <a:xfrm>
            <a:off x="7982712"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future</a:t>
            </a:r>
            <a:endParaRPr lang="en-US" sz="1200" dirty="0"/>
          </a:p>
        </p:txBody>
      </p:sp>
      <p:sp>
        <p:nvSpPr>
          <p:cNvPr id="38" name="node v11"/>
          <p:cNvSpPr/>
          <p:nvPr/>
        </p:nvSpPr>
        <p:spPr>
          <a:xfrm>
            <a:off x="9025128" y="5020056"/>
            <a:ext cx="201168" cy="201168"/>
          </a:xfrm>
          <a:prstGeom prst="ellipse">
            <a:avLst/>
          </a:prstGeom>
          <a:solidFill>
            <a:schemeClr val="accent3"/>
          </a:solidFill>
          <a:ln w="25400">
            <a:solidFill>
              <a:schemeClr val="tx1"/>
            </a:solidFill>
            <a:prstDash val="solid"/>
          </a:ln>
        </p:spPr>
      </p:sp>
      <p:sp>
        <p:nvSpPr>
          <p:cNvPr id="39" name="Text 37"/>
          <p:cNvSpPr txBox="1"/>
          <p:nvPr/>
        </p:nvSpPr>
        <p:spPr>
          <a:xfrm>
            <a:off x="8741664"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v11</a:t>
            </a:r>
            <a:endParaRPr lang="en-US" sz="1500" dirty="0"/>
          </a:p>
        </p:txBody>
      </p:sp>
      <p:sp>
        <p:nvSpPr>
          <p:cNvPr id="40" name="Text 38"/>
          <p:cNvSpPr txBox="1"/>
          <p:nvPr/>
        </p:nvSpPr>
        <p:spPr>
          <a:xfrm>
            <a:off x="8741664"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atomic</a:t>
            </a:r>
            <a:endParaRPr lang="en-US" sz="1200" dirty="0"/>
          </a:p>
        </p:txBody>
      </p:sp>
      <p:sp>
        <p:nvSpPr>
          <p:cNvPr id="41" name="node v12"/>
          <p:cNvSpPr/>
          <p:nvPr/>
        </p:nvSpPr>
        <p:spPr>
          <a:xfrm>
            <a:off x="9784080" y="5020056"/>
            <a:ext cx="201168" cy="201168"/>
          </a:xfrm>
          <a:prstGeom prst="ellipse">
            <a:avLst/>
          </a:prstGeom>
          <a:solidFill>
            <a:schemeClr val="accent3"/>
          </a:solidFill>
          <a:ln w="25400">
            <a:solidFill>
              <a:schemeClr val="tx1"/>
            </a:solidFill>
            <a:prstDash val="solid"/>
          </a:ln>
        </p:spPr>
      </p:sp>
      <p:sp>
        <p:nvSpPr>
          <p:cNvPr id="42" name="Text 40"/>
          <p:cNvSpPr txBox="1"/>
          <p:nvPr/>
        </p:nvSpPr>
        <p:spPr>
          <a:xfrm>
            <a:off x="9500616"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v12</a:t>
            </a:r>
            <a:endParaRPr lang="en-US" sz="1500" dirty="0"/>
          </a:p>
        </p:txBody>
      </p:sp>
      <p:sp>
        <p:nvSpPr>
          <p:cNvPr id="43" name="Text 41"/>
          <p:cNvSpPr txBox="1"/>
          <p:nvPr/>
        </p:nvSpPr>
        <p:spPr>
          <a:xfrm>
            <a:off x="9500616"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2-lock</a:t>
            </a:r>
            <a:endParaRPr lang="en-US" sz="1200" dirty="0"/>
          </a:p>
        </p:txBody>
      </p:sp>
      <p:sp>
        <p:nvSpPr>
          <p:cNvPr id="44" name="node v13"/>
          <p:cNvSpPr/>
          <p:nvPr/>
        </p:nvSpPr>
        <p:spPr>
          <a:xfrm>
            <a:off x="10543032" y="5020056"/>
            <a:ext cx="201168" cy="201168"/>
          </a:xfrm>
          <a:prstGeom prst="ellipse">
            <a:avLst/>
          </a:prstGeom>
          <a:solidFill>
            <a:schemeClr val="accent3"/>
          </a:solidFill>
          <a:ln w="25400">
            <a:solidFill>
              <a:schemeClr val="tx1"/>
            </a:solidFill>
            <a:prstDash val="solid"/>
          </a:ln>
        </p:spPr>
      </p:sp>
      <p:sp>
        <p:nvSpPr>
          <p:cNvPr id="45" name="Text 43"/>
          <p:cNvSpPr txBox="1"/>
          <p:nvPr/>
        </p:nvSpPr>
        <p:spPr>
          <a:xfrm>
            <a:off x="10259568"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v13</a:t>
            </a:r>
            <a:endParaRPr lang="en-US" sz="1500" dirty="0"/>
          </a:p>
        </p:txBody>
      </p:sp>
      <p:sp>
        <p:nvSpPr>
          <p:cNvPr id="46" name="Text 44"/>
          <p:cNvSpPr txBox="1"/>
          <p:nvPr/>
        </p:nvSpPr>
        <p:spPr>
          <a:xfrm>
            <a:off x="10259568"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SPSC</a:t>
            </a:r>
            <a:endParaRPr lang="en-US" sz="1200" dirty="0"/>
          </a:p>
        </p:txBody>
      </p:sp>
      <p:sp>
        <p:nvSpPr>
          <p:cNvPr id="47" name="node v14"/>
          <p:cNvSpPr/>
          <p:nvPr/>
        </p:nvSpPr>
        <p:spPr>
          <a:xfrm>
            <a:off x="11301984" y="5020056"/>
            <a:ext cx="201168" cy="201168"/>
          </a:xfrm>
          <a:prstGeom prst="ellipse">
            <a:avLst/>
          </a:prstGeom>
          <a:solidFill>
            <a:schemeClr val="accent3"/>
          </a:solidFill>
          <a:ln w="25400">
            <a:solidFill>
              <a:schemeClr val="tx1"/>
            </a:solidFill>
            <a:prstDash val="solid"/>
          </a:ln>
        </p:spPr>
      </p:sp>
      <p:sp>
        <p:nvSpPr>
          <p:cNvPr id="48" name="Text 46"/>
          <p:cNvSpPr txBox="1"/>
          <p:nvPr/>
        </p:nvSpPr>
        <p:spPr>
          <a:xfrm>
            <a:off x="11018520" y="464515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v14</a:t>
            </a:r>
            <a:endParaRPr lang="en-US" sz="1500" dirty="0"/>
          </a:p>
        </p:txBody>
      </p:sp>
      <p:sp>
        <p:nvSpPr>
          <p:cNvPr id="49" name="Text 47"/>
          <p:cNvSpPr txBox="1"/>
          <p:nvPr/>
        </p:nvSpPr>
        <p:spPr>
          <a:xfrm>
            <a:off x="11018520" y="5303520"/>
            <a:ext cx="768096" cy="292608"/>
          </a:xfrm>
          <a:prstGeom prst="rect">
            <a:avLst/>
          </a:prstGeom>
          <a:noFill/>
          <a:ln/>
        </p:spPr>
        <p:txBody>
          <a:bodyPr wrap="square" lIns="0" tIns="0" rIns="0" bIns="0" rtlCol="0" anchor="ctr"/>
          <a:lstStyle/>
          <a:p>
            <a:pPr algn="ctr" indent="0" marL="0">
              <a:buNone/>
            </a:pPr>
            <a:r>
              <a:rPr lang="en-US" sz="1200" dirty="0">
                <a:solidFill>
                  <a:schemeClr val="bg2"/>
                </a:solidFill>
              </a:rPr>
              <a:t>bench</a:t>
            </a:r>
            <a:endParaRPr lang="en-US" sz="1200" dirty="0"/>
          </a:p>
        </p:txBody>
      </p:sp>
      <p:sp>
        <p:nvSpPr>
          <p:cNvPr id="50" name="Shape 48"/>
          <p:cNvSpPr/>
          <p:nvPr/>
        </p:nvSpPr>
        <p:spPr>
          <a:xfrm>
            <a:off x="685800" y="5806440"/>
            <a:ext cx="5495544" cy="0"/>
          </a:xfrm>
          <a:prstGeom prst="line">
            <a:avLst/>
          </a:prstGeom>
          <a:noFill/>
          <a:ln w="25400">
            <a:solidFill>
              <a:schemeClr val="accent1"/>
            </a:solidFill>
            <a:prstDash val="solid"/>
          </a:ln>
        </p:spPr>
      </p:sp>
      <p:sp>
        <p:nvSpPr>
          <p:cNvPr id="51" name="Text 49"/>
          <p:cNvSpPr txBox="1"/>
          <p:nvPr/>
        </p:nvSpPr>
        <p:spPr>
          <a:xfrm>
            <a:off x="685800" y="5897880"/>
            <a:ext cx="5495544" cy="274320"/>
          </a:xfrm>
          <a:prstGeom prst="rect">
            <a:avLst/>
          </a:prstGeom>
          <a:noFill/>
          <a:ln/>
        </p:spPr>
        <p:txBody>
          <a:bodyPr wrap="square" lIns="0" tIns="0" rIns="0" bIns="0" rtlCol="0" anchor="ctr"/>
          <a:lstStyle/>
          <a:p>
            <a:pPr indent="0" marL="0">
              <a:buNone/>
            </a:pPr>
            <a:r>
              <a:rPr lang="en-US" sz="1200" b="1" dirty="0">
                <a:solidFill>
                  <a:schemeClr val="accent1"/>
                </a:solidFill>
              </a:rPr>
              <a:t>Part 1 · the queue</a:t>
            </a:r>
            <a:endParaRPr lang="en-US" sz="1200" dirty="0"/>
          </a:p>
        </p:txBody>
      </p:sp>
      <p:sp>
        <p:nvSpPr>
          <p:cNvPr id="52" name="Shape 50"/>
          <p:cNvSpPr/>
          <p:nvPr/>
        </p:nvSpPr>
        <p:spPr>
          <a:xfrm>
            <a:off x="6757416" y="5806440"/>
            <a:ext cx="1700784" cy="0"/>
          </a:xfrm>
          <a:prstGeom prst="line">
            <a:avLst/>
          </a:prstGeom>
          <a:noFill/>
          <a:ln w="25400">
            <a:solidFill>
              <a:schemeClr val="accent2"/>
            </a:solidFill>
            <a:prstDash val="solid"/>
          </a:ln>
        </p:spPr>
      </p:sp>
      <p:sp>
        <p:nvSpPr>
          <p:cNvPr id="53" name="Text 51"/>
          <p:cNvSpPr txBox="1"/>
          <p:nvPr/>
        </p:nvSpPr>
        <p:spPr>
          <a:xfrm>
            <a:off x="6757416" y="5897880"/>
            <a:ext cx="2011680" cy="274320"/>
          </a:xfrm>
          <a:prstGeom prst="rect">
            <a:avLst/>
          </a:prstGeom>
          <a:noFill/>
          <a:ln/>
        </p:spPr>
        <p:txBody>
          <a:bodyPr wrap="square" lIns="0" tIns="0" rIns="0" bIns="0" rtlCol="0" anchor="ctr"/>
          <a:lstStyle/>
          <a:p>
            <a:pPr indent="0" marL="0">
              <a:buNone/>
            </a:pPr>
            <a:r>
              <a:rPr lang="en-US" sz="1200" b="1" dirty="0">
                <a:solidFill>
                  <a:schemeClr val="accent2"/>
                </a:solidFill>
              </a:rPr>
              <a:t>Part 2 · the pool</a:t>
            </a:r>
            <a:endParaRPr lang="en-US" sz="1200" dirty="0"/>
          </a:p>
        </p:txBody>
      </p:sp>
      <p:sp>
        <p:nvSpPr>
          <p:cNvPr id="54" name="Shape 52"/>
          <p:cNvSpPr/>
          <p:nvPr/>
        </p:nvSpPr>
        <p:spPr>
          <a:xfrm>
            <a:off x="9034272" y="5806440"/>
            <a:ext cx="2459736" cy="0"/>
          </a:xfrm>
          <a:prstGeom prst="line">
            <a:avLst/>
          </a:prstGeom>
          <a:noFill/>
          <a:ln w="25400">
            <a:solidFill>
              <a:schemeClr val="accent3"/>
            </a:solidFill>
            <a:prstDash val="solid"/>
          </a:ln>
        </p:spPr>
      </p:sp>
      <p:sp>
        <p:nvSpPr>
          <p:cNvPr id="55" name="Text 53"/>
          <p:cNvSpPr txBox="1"/>
          <p:nvPr/>
        </p:nvSpPr>
        <p:spPr>
          <a:xfrm>
            <a:off x="9034272" y="5897880"/>
            <a:ext cx="2459736" cy="274320"/>
          </a:xfrm>
          <a:prstGeom prst="rect">
            <a:avLst/>
          </a:prstGeom>
          <a:noFill/>
          <a:ln/>
        </p:spPr>
        <p:txBody>
          <a:bodyPr wrap="square" lIns="0" tIns="0" rIns="0" bIns="0" rtlCol="0" anchor="ctr"/>
          <a:lstStyle/>
          <a:p>
            <a:pPr indent="0" marL="0">
              <a:buNone/>
            </a:pPr>
            <a:r>
              <a:rPr lang="en-US" sz="1200" b="1" dirty="0">
                <a:solidFill>
                  <a:schemeClr val="accent3"/>
                </a:solidFill>
              </a:rPr>
              <a:t>Part 3 · performance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92608"/>
            <a:ext cx="11338560" cy="685800"/>
          </a:xfrm>
          <a:prstGeom prst="rect">
            <a:avLst/>
          </a:prstGeom>
          <a:noFill/>
          <a:ln/>
        </p:spPr>
        <p:txBody>
          <a:bodyPr wrap="square" lIns="0" tIns="0" rIns="0" bIns="0" rtlCol="0" anchor="ctr"/>
          <a:lstStyle/>
          <a:p>
            <a:pPr algn="l" indent="0" marL="0">
              <a:buNone/>
            </a:pPr>
            <a:r>
              <a:rPr lang="en-US" sz="2800" b="1" dirty="0">
                <a:solidFill>
                  <a:schemeClr val="bg1"/>
                </a:solidFill>
              </a:rPr>
              <a:t>How to read a code slide</a:t>
            </a:r>
            <a:endParaRPr lang="en-US" sz="2800" dirty="0"/>
          </a:p>
        </p:txBody>
      </p:sp>
      <p:sp>
        <p:nvSpPr>
          <p:cNvPr id="3" name="sample panel"/>
          <p:cNvSpPr/>
          <p:nvPr/>
        </p:nvSpPr>
        <p:spPr>
          <a:xfrm>
            <a:off x="411480" y="1280160"/>
            <a:ext cx="6766560" cy="2651760"/>
          </a:xfrm>
          <a:prstGeom prst="rect">
            <a:avLst/>
          </a:prstGeom>
          <a:solidFill>
            <a:schemeClr val="tx2"/>
          </a:solidFill>
          <a:ln w="12700">
            <a:solidFill>
              <a:schemeClr val="tx2"/>
            </a:solidFill>
            <a:prstDash val="solid"/>
          </a:ln>
        </p:spPr>
      </p:sp>
      <p:sp>
        <p:nvSpPr>
          <p:cNvPr id="4" name="removed line 2"/>
          <p:cNvSpPr/>
          <p:nvPr/>
        </p:nvSpPr>
        <p:spPr>
          <a:xfrm>
            <a:off x="502920" y="1847088"/>
            <a:ext cx="6583680" cy="384048"/>
          </a:xfrm>
          <a:prstGeom prst="rect">
            <a:avLst/>
          </a:prstGeom>
          <a:solidFill>
            <a:schemeClr val="accent5"/>
          </a:solidFill>
          <a:ln w="12700">
            <a:solidFill>
              <a:schemeClr val="accent5"/>
            </a:solidFill>
            <a:prstDash val="solid"/>
          </a:ln>
        </p:spPr>
      </p:sp>
      <p:sp>
        <p:nvSpPr>
          <p:cNvPr id="5" name="added line 3"/>
          <p:cNvSpPr/>
          <p:nvPr/>
        </p:nvSpPr>
        <p:spPr>
          <a:xfrm>
            <a:off x="502920" y="2231136"/>
            <a:ext cx="6583680" cy="384048"/>
          </a:xfrm>
          <a:prstGeom prst="rect">
            <a:avLst/>
          </a:prstGeom>
          <a:solidFill>
            <a:schemeClr val="accent4"/>
          </a:solidFill>
          <a:ln w="12700">
            <a:solidFill>
              <a:schemeClr val="accent4"/>
            </a:solidFill>
            <a:prstDash val="solid"/>
          </a:ln>
        </p:spPr>
      </p:sp>
      <p:sp>
        <p:nvSpPr>
          <p:cNvPr id="6" name="removed line 5"/>
          <p:cNvSpPr/>
          <p:nvPr/>
        </p:nvSpPr>
        <p:spPr>
          <a:xfrm>
            <a:off x="502920" y="2999232"/>
            <a:ext cx="6583680" cy="384048"/>
          </a:xfrm>
          <a:prstGeom prst="rect">
            <a:avLst/>
          </a:prstGeom>
          <a:solidFill>
            <a:schemeClr val="accent5"/>
          </a:solidFill>
          <a:ln w="12700">
            <a:solidFill>
              <a:schemeClr val="accent5"/>
            </a:solidFill>
            <a:prstDash val="solid"/>
          </a:ln>
        </p:spPr>
      </p:sp>
      <p:sp>
        <p:nvSpPr>
          <p:cNvPr id="7" name="diff gutter"/>
          <p:cNvSpPr txBox="1"/>
          <p:nvPr/>
        </p:nvSpPr>
        <p:spPr>
          <a:xfrm>
            <a:off x="576072" y="1463040"/>
            <a:ext cx="228600" cy="2304288"/>
          </a:xfrm>
          <a:prstGeom prst="rect">
            <a:avLst/>
          </a:prstGeom>
          <a:noFill/>
          <a:ln/>
        </p:spPr>
        <p:txBody>
          <a:bodyPr wrap="square" lIns="0" tIns="0" rIns="0" bIns="0" rtlCol="0" anchor="t"/>
          <a:lstStyle/>
          <a:p>
            <a:pPr indent="0" marL="0">
              <a:lnSpc>
                <a:spcPts val="3024"/>
              </a:lnSpc>
              <a:buNone/>
            </a:pPr>
            <a:r>
              <a:rPr lang="en-US" sz="1600" b="1" dirty="0">
                <a:solidFill>
                  <a:schemeClr val="accent3"/>
                </a:solidFill>
                <a:latin typeface="Consolas" pitchFamily="34" charset="0"/>
                <a:ea typeface="Consolas" pitchFamily="34" charset="-122"/>
                <a:cs typeface="Consolas" pitchFamily="34" charset="-120"/>
              </a:rPr>
              <a:t> </a:t>
            </a:r>
            <a:endParaRPr lang="en-US" sz="1600" dirty="0"/>
          </a:p>
          <a:p>
            <a:pPr indent="0" marL="0">
              <a:lnSpc>
                <a:spcPts val="3024"/>
              </a:lnSpc>
              <a:buNone/>
            </a:pPr>
            <a:r>
              <a:rPr lang="en-US" sz="1600" b="1" dirty="0">
                <a:solidFill>
                  <a:schemeClr val="accent3"/>
                </a:solidFill>
                <a:latin typeface="Consolas" pitchFamily="34" charset="0"/>
                <a:ea typeface="Consolas" pitchFamily="34" charset="-122"/>
                <a:cs typeface="Consolas" pitchFamily="34" charset="-120"/>
              </a:rPr>
              <a:t>−</a:t>
            </a:r>
            <a:endParaRPr lang="en-US" sz="1600" dirty="0"/>
          </a:p>
          <a:p>
            <a:pPr indent="0" marL="0">
              <a:lnSpc>
                <a:spcPts val="3024"/>
              </a:lnSpc>
              <a:buNone/>
            </a:pPr>
            <a:r>
              <a:rPr lang="en-US" sz="1600" b="1" dirty="0">
                <a:solidFill>
                  <a:schemeClr val="accent1"/>
                </a:solidFill>
                <a:latin typeface="Consolas" pitchFamily="34" charset="0"/>
                <a:ea typeface="Consolas" pitchFamily="34" charset="-122"/>
                <a:cs typeface="Consolas" pitchFamily="34" charset="-120"/>
              </a:rPr>
              <a:t>+</a:t>
            </a:r>
            <a:endParaRPr lang="en-US" sz="1600" dirty="0"/>
          </a:p>
          <a:p>
            <a:pPr indent="0" marL="0">
              <a:lnSpc>
                <a:spcPts val="3024"/>
              </a:lnSpc>
              <a:buNone/>
            </a:pPr>
            <a:r>
              <a:rPr lang="en-US" sz="1600" b="1" dirty="0">
                <a:solidFill>
                  <a:schemeClr val="accent3"/>
                </a:solidFill>
                <a:latin typeface="Consolas" pitchFamily="34" charset="0"/>
                <a:ea typeface="Consolas" pitchFamily="34" charset="-122"/>
                <a:cs typeface="Consolas" pitchFamily="34" charset="-120"/>
              </a:rPr>
              <a:t> </a:t>
            </a:r>
            <a:endParaRPr lang="en-US" sz="1600" dirty="0"/>
          </a:p>
          <a:p>
            <a:pPr indent="0" marL="0">
              <a:lnSpc>
                <a:spcPts val="3024"/>
              </a:lnSpc>
              <a:buNone/>
            </a:pPr>
            <a:r>
              <a:rPr lang="en-US" sz="1600" b="1" dirty="0">
                <a:solidFill>
                  <a:schemeClr val="accent3"/>
                </a:solidFill>
                <a:latin typeface="Consolas" pitchFamily="34" charset="0"/>
                <a:ea typeface="Consolas" pitchFamily="34" charset="-122"/>
                <a:cs typeface="Consolas" pitchFamily="34" charset="-120"/>
              </a:rPr>
              <a:t>−</a:t>
            </a:r>
            <a:endParaRPr lang="en-US" sz="1600" dirty="0"/>
          </a:p>
          <a:p>
            <a:pPr indent="0" marL="0">
              <a:lnSpc>
                <a:spcPts val="3024"/>
              </a:lnSpc>
              <a:buNone/>
            </a:pPr>
            <a:r>
              <a:rPr lang="en-US" sz="1600" b="1" dirty="0">
                <a:solidFill>
                  <a:schemeClr val="accent3"/>
                </a:solidFill>
                <a:latin typeface="Consolas" pitchFamily="34" charset="0"/>
                <a:ea typeface="Consolas" pitchFamily="34" charset="-122"/>
                <a:cs typeface="Consolas" pitchFamily="34" charset="-120"/>
              </a:rPr>
              <a:t> </a:t>
            </a:r>
            <a:endParaRPr lang="en-US" sz="1600" dirty="0"/>
          </a:p>
        </p:txBody>
      </p:sp>
      <p:sp>
        <p:nvSpPr>
          <p:cNvPr id="8" name="code"/>
          <p:cNvSpPr txBox="1"/>
          <p:nvPr/>
        </p:nvSpPr>
        <p:spPr>
          <a:xfrm>
            <a:off x="850392" y="1463040"/>
            <a:ext cx="6217920" cy="2304288"/>
          </a:xfrm>
          <a:prstGeom prst="rect">
            <a:avLst/>
          </a:prstGeom>
          <a:noFill/>
          <a:ln/>
        </p:spPr>
        <p:txBody>
          <a:bodyPr wrap="square" lIns="0" tIns="0" rIns="0" bIns="0" rtlCol="0" anchor="t"/>
          <a:lstStyle/>
          <a:p>
            <a:pPr indent="0" marL="0">
              <a:lnSpc>
                <a:spcPts val="3024"/>
              </a:lnSpc>
              <a:buNone/>
            </a:pPr>
            <a:r>
              <a:rPr lang="en-US" sz="1600" dirty="0">
                <a:solidFill>
                  <a:srgbClr val="C792EA"/>
                </a:solidFill>
                <a:latin typeface="Consolas" pitchFamily="34" charset="0"/>
                <a:ea typeface="Consolas" pitchFamily="34" charset="-122"/>
                <a:cs typeface="Consolas" pitchFamily="34" charset="-120"/>
              </a:rPr>
              <a:t>void</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 </a:t>
            </a:r>
            <a:pPr indent="0" marL="0">
              <a:lnSpc>
                <a:spcPts val="3024"/>
              </a:lnSpc>
              <a:buNone/>
            </a:pPr>
            <a:r>
              <a:rPr lang="en-US" sz="1600" dirty="0">
                <a:solidFill>
                  <a:srgbClr val="82AAFF"/>
                </a:solidFill>
                <a:latin typeface="Consolas" pitchFamily="34" charset="0"/>
                <a:ea typeface="Consolas" pitchFamily="34" charset="-122"/>
                <a:cs typeface="Consolas" pitchFamily="34" charset="-120"/>
              </a:rPr>
              <a:t>push</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C792EA"/>
                </a:solidFill>
                <a:latin typeface="Consolas" pitchFamily="34" charset="0"/>
                <a:ea typeface="Consolas" pitchFamily="34" charset="-122"/>
                <a:cs typeface="Consolas" pitchFamily="34" charset="-120"/>
              </a:rPr>
              <a:t>int</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 </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x</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 {</a:t>
            </a:r>
            <a:endParaRPr lang="en-US" sz="1600" dirty="0"/>
          </a:p>
          <a:p>
            <a:pPr indent="0" marL="0">
              <a:lnSpc>
                <a:spcPts val="3024"/>
              </a:lnSpc>
              <a:buNone/>
            </a:pPr>
            <a:r>
              <a:rPr lang="en-US" sz="1600" dirty="0">
                <a:solidFill>
                  <a:srgbClr val="D9A48F"/>
                </a:solidFill>
                <a:latin typeface="Consolas" pitchFamily="34" charset="0"/>
                <a:ea typeface="Consolas" pitchFamily="34" charset="-122"/>
                <a:cs typeface="Consolas" pitchFamily="34" charset="-120"/>
              </a:rPr>
              <a:t>    m.lock();</a:t>
            </a:r>
            <a:endParaRPr lang="en-US" sz="1600" dirty="0"/>
          </a:p>
          <a:p>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    </a:t>
            </a:r>
            <a:pPr indent="0" marL="0">
              <a:lnSpc>
                <a:spcPts val="3024"/>
              </a:lnSpc>
              <a:buNone/>
            </a:pPr>
            <a:r>
              <a:rPr lang="en-US" sz="1600" dirty="0">
                <a:solidFill>
                  <a:srgbClr val="7FDBCA"/>
                </a:solidFill>
                <a:latin typeface="Consolas" pitchFamily="34" charset="0"/>
                <a:ea typeface="Consolas" pitchFamily="34" charset="-122"/>
                <a:cs typeface="Consolas" pitchFamily="34" charset="-120"/>
              </a:rPr>
              <a:t>std</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7FDBCA"/>
                </a:solidFill>
                <a:latin typeface="Consolas" pitchFamily="34" charset="0"/>
                <a:ea typeface="Consolas" pitchFamily="34" charset="-122"/>
                <a:cs typeface="Consolas" pitchFamily="34" charset="-120"/>
              </a:rPr>
              <a:t>lock_guard</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&lt;</a:t>
            </a:r>
            <a:pPr indent="0" marL="0">
              <a:lnSpc>
                <a:spcPts val="3024"/>
              </a:lnSpc>
              <a:buNone/>
            </a:pPr>
            <a:r>
              <a:rPr lang="en-US" sz="1600" dirty="0">
                <a:solidFill>
                  <a:srgbClr val="7FDBCA"/>
                </a:solidFill>
                <a:latin typeface="Consolas" pitchFamily="34" charset="0"/>
                <a:ea typeface="Consolas" pitchFamily="34" charset="-122"/>
                <a:cs typeface="Consolas" pitchFamily="34" charset="-120"/>
              </a:rPr>
              <a:t>std</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7FDBCA"/>
                </a:solidFill>
                <a:latin typeface="Consolas" pitchFamily="34" charset="0"/>
                <a:ea typeface="Consolas" pitchFamily="34" charset="-122"/>
                <a:cs typeface="Consolas" pitchFamily="34" charset="-120"/>
              </a:rPr>
              <a:t>mutex</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&gt; </a:t>
            </a:r>
            <a:pPr indent="0" marL="0">
              <a:lnSpc>
                <a:spcPts val="3024"/>
              </a:lnSpc>
              <a:buNone/>
            </a:pPr>
            <a:r>
              <a:rPr lang="en-US" sz="1600" dirty="0">
                <a:solidFill>
                  <a:srgbClr val="82AAFF"/>
                </a:solidFill>
                <a:latin typeface="Consolas" pitchFamily="34" charset="0"/>
                <a:ea typeface="Consolas" pitchFamily="34" charset="-122"/>
                <a:cs typeface="Consolas" pitchFamily="34" charset="-120"/>
              </a:rPr>
              <a:t>lock</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m</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endParaRPr lang="en-US" sz="1600" dirty="0"/>
          </a:p>
          <a:p>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    </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q</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82AAFF"/>
                </a:solidFill>
                <a:latin typeface="Consolas" pitchFamily="34" charset="0"/>
                <a:ea typeface="Consolas" pitchFamily="34" charset="-122"/>
                <a:cs typeface="Consolas" pitchFamily="34" charset="-120"/>
              </a:rPr>
              <a:t>push</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x</a:t>
            </a:r>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endParaRPr lang="en-US" sz="1600" dirty="0"/>
          </a:p>
          <a:p>
            <a:pPr indent="0" marL="0">
              <a:lnSpc>
                <a:spcPts val="3024"/>
              </a:lnSpc>
              <a:buNone/>
            </a:pPr>
            <a:r>
              <a:rPr lang="en-US" sz="1600" dirty="0">
                <a:solidFill>
                  <a:srgbClr val="D9A48F"/>
                </a:solidFill>
                <a:latin typeface="Consolas" pitchFamily="34" charset="0"/>
                <a:ea typeface="Consolas" pitchFamily="34" charset="-122"/>
                <a:cs typeface="Consolas" pitchFamily="34" charset="-120"/>
              </a:rPr>
              <a:t>    m.unlock();</a:t>
            </a:r>
            <a:endParaRPr lang="en-US" sz="1600" dirty="0"/>
          </a:p>
          <a:p>
            <a:pPr indent="0" marL="0">
              <a:lnSpc>
                <a:spcPts val="3024"/>
              </a:lnSpc>
              <a:buNone/>
            </a:pPr>
            <a:r>
              <a:rPr lang="en-US" sz="1600" dirty="0">
                <a:solidFill>
                  <a:srgbClr val="D4DCE8"/>
                </a:solidFill>
                <a:latin typeface="Consolas" pitchFamily="34" charset="0"/>
                <a:ea typeface="Consolas" pitchFamily="34" charset="-122"/>
                <a:cs typeface="Consolas" pitchFamily="34" charset="-120"/>
              </a:rPr>
              <a:t>}</a:t>
            </a:r>
            <a:endParaRPr lang="en-US" sz="1600" dirty="0"/>
          </a:p>
        </p:txBody>
      </p:sp>
      <p:sp>
        <p:nvSpPr>
          <p:cNvPr id="9" name="Shape 7"/>
          <p:cNvSpPr/>
          <p:nvPr/>
        </p:nvSpPr>
        <p:spPr>
          <a:xfrm>
            <a:off x="7680960" y="1463040"/>
            <a:ext cx="502920" cy="502920"/>
          </a:xfrm>
          <a:prstGeom prst="roundRect">
            <a:avLst>
              <a:gd name="adj" fmla="val 14545"/>
            </a:avLst>
          </a:prstGeom>
          <a:solidFill>
            <a:schemeClr val="accent4"/>
          </a:solidFill>
          <a:ln w="19050">
            <a:solidFill>
              <a:schemeClr val="accent1"/>
            </a:solidFill>
            <a:prstDash val="solid"/>
          </a:ln>
        </p:spPr>
      </p:sp>
      <p:sp>
        <p:nvSpPr>
          <p:cNvPr id="10" name="Text 8"/>
          <p:cNvSpPr txBox="1"/>
          <p:nvPr/>
        </p:nvSpPr>
        <p:spPr>
          <a:xfrm>
            <a:off x="7680960" y="1463040"/>
            <a:ext cx="502920" cy="502920"/>
          </a:xfrm>
          <a:prstGeom prst="rect">
            <a:avLst/>
          </a:prstGeom>
          <a:noFill/>
          <a:ln/>
        </p:spPr>
        <p:txBody>
          <a:bodyPr wrap="square" lIns="0" tIns="0" rIns="0" bIns="0" rtlCol="0" anchor="ctr"/>
          <a:lstStyle/>
          <a:p>
            <a:pPr algn="ctr" indent="0" marL="0">
              <a:buNone/>
            </a:pPr>
            <a:r>
              <a:rPr lang="en-US" sz="2000" b="1" dirty="0">
                <a:solidFill>
                  <a:schemeClr val="accent1"/>
                </a:solidFill>
                <a:latin typeface="Consolas" pitchFamily="34" charset="0"/>
                <a:ea typeface="Consolas" pitchFamily="34" charset="-122"/>
                <a:cs typeface="Consolas" pitchFamily="34" charset="-120"/>
              </a:rPr>
              <a:t>+</a:t>
            </a:r>
            <a:endParaRPr lang="en-US" sz="2000" dirty="0"/>
          </a:p>
        </p:txBody>
      </p:sp>
      <p:sp>
        <p:nvSpPr>
          <p:cNvPr id="11" name="Text 9"/>
          <p:cNvSpPr txBox="1"/>
          <p:nvPr/>
        </p:nvSpPr>
        <p:spPr>
          <a:xfrm>
            <a:off x="8366760" y="1463040"/>
            <a:ext cx="3383280" cy="502920"/>
          </a:xfrm>
          <a:prstGeom prst="rect">
            <a:avLst/>
          </a:prstGeom>
          <a:noFill/>
          <a:ln/>
        </p:spPr>
        <p:txBody>
          <a:bodyPr wrap="square" lIns="0" tIns="0" rIns="0" bIns="0" rtlCol="0" anchor="ctr"/>
          <a:lstStyle/>
          <a:p>
            <a:pPr indent="0" marL="0">
              <a:buNone/>
            </a:pPr>
            <a:r>
              <a:rPr lang="en-US" sz="1800" dirty="0">
                <a:solidFill>
                  <a:schemeClr val="bg1"/>
                </a:solidFill>
              </a:rPr>
              <a:t>Added in this version</a:t>
            </a:r>
            <a:endParaRPr lang="en-US" sz="1800" dirty="0"/>
          </a:p>
        </p:txBody>
      </p:sp>
      <p:sp>
        <p:nvSpPr>
          <p:cNvPr id="12" name="Shape 10"/>
          <p:cNvSpPr/>
          <p:nvPr/>
        </p:nvSpPr>
        <p:spPr>
          <a:xfrm>
            <a:off x="7680960" y="2194560"/>
            <a:ext cx="502920" cy="502920"/>
          </a:xfrm>
          <a:prstGeom prst="roundRect">
            <a:avLst>
              <a:gd name="adj" fmla="val 14545"/>
            </a:avLst>
          </a:prstGeom>
          <a:solidFill>
            <a:schemeClr val="accent5"/>
          </a:solidFill>
          <a:ln w="19050">
            <a:solidFill>
              <a:schemeClr val="accent3"/>
            </a:solidFill>
            <a:prstDash val="solid"/>
          </a:ln>
        </p:spPr>
      </p:sp>
      <p:sp>
        <p:nvSpPr>
          <p:cNvPr id="13" name="Text 11"/>
          <p:cNvSpPr txBox="1"/>
          <p:nvPr/>
        </p:nvSpPr>
        <p:spPr>
          <a:xfrm>
            <a:off x="7680960" y="2194560"/>
            <a:ext cx="502920" cy="502920"/>
          </a:xfrm>
          <a:prstGeom prst="rect">
            <a:avLst/>
          </a:prstGeom>
          <a:noFill/>
          <a:ln/>
        </p:spPr>
        <p:txBody>
          <a:bodyPr wrap="square" lIns="0" tIns="0" rIns="0" bIns="0" rtlCol="0" anchor="ctr"/>
          <a:lstStyle/>
          <a:p>
            <a:pPr algn="ctr" indent="0" marL="0">
              <a:buNone/>
            </a:pPr>
            <a:r>
              <a:rPr lang="en-US" sz="2000" b="1" dirty="0">
                <a:solidFill>
                  <a:schemeClr val="accent3"/>
                </a:solidFill>
                <a:latin typeface="Consolas" pitchFamily="34" charset="0"/>
                <a:ea typeface="Consolas" pitchFamily="34" charset="-122"/>
                <a:cs typeface="Consolas" pitchFamily="34" charset="-120"/>
              </a:rPr>
              <a:t>−</a:t>
            </a:r>
            <a:endParaRPr lang="en-US" sz="2000" dirty="0"/>
          </a:p>
        </p:txBody>
      </p:sp>
      <p:sp>
        <p:nvSpPr>
          <p:cNvPr id="14" name="Text 12"/>
          <p:cNvSpPr txBox="1"/>
          <p:nvPr/>
        </p:nvSpPr>
        <p:spPr>
          <a:xfrm>
            <a:off x="8366760" y="2194560"/>
            <a:ext cx="3383280" cy="502920"/>
          </a:xfrm>
          <a:prstGeom prst="rect">
            <a:avLst/>
          </a:prstGeom>
          <a:noFill/>
          <a:ln/>
        </p:spPr>
        <p:txBody>
          <a:bodyPr wrap="square" lIns="0" tIns="0" rIns="0" bIns="0" rtlCol="0" anchor="ctr"/>
          <a:lstStyle/>
          <a:p>
            <a:pPr indent="0" marL="0">
              <a:buNone/>
            </a:pPr>
            <a:r>
              <a:rPr lang="en-US" sz="1800" dirty="0">
                <a:solidFill>
                  <a:schemeClr val="bg1"/>
                </a:solidFill>
              </a:rPr>
              <a:t>Removed in this version</a:t>
            </a:r>
            <a:endParaRPr lang="en-US" sz="1800" dirty="0"/>
          </a:p>
        </p:txBody>
      </p:sp>
      <p:sp>
        <p:nvSpPr>
          <p:cNvPr id="15" name="Shape 13"/>
          <p:cNvSpPr/>
          <p:nvPr/>
        </p:nvSpPr>
        <p:spPr>
          <a:xfrm>
            <a:off x="7680960" y="2926080"/>
            <a:ext cx="502920" cy="502920"/>
          </a:xfrm>
          <a:prstGeom prst="roundRect">
            <a:avLst>
              <a:gd name="adj" fmla="val 14545"/>
            </a:avLst>
          </a:prstGeom>
          <a:solidFill>
            <a:schemeClr val="tx2"/>
          </a:solidFill>
          <a:ln w="19050">
            <a:solidFill>
              <a:schemeClr val="bg2"/>
            </a:solidFill>
            <a:prstDash val="solid"/>
          </a:ln>
        </p:spPr>
      </p:sp>
      <p:sp>
        <p:nvSpPr>
          <p:cNvPr id="16" name="Text 14"/>
          <p:cNvSpPr txBox="1"/>
          <p:nvPr/>
        </p:nvSpPr>
        <p:spPr>
          <a:xfrm>
            <a:off x="7680960" y="2926080"/>
            <a:ext cx="502920" cy="502920"/>
          </a:xfrm>
          <a:prstGeom prst="rect">
            <a:avLst/>
          </a:prstGeom>
          <a:noFill/>
          <a:ln/>
        </p:spPr>
        <p:txBody>
          <a:bodyPr wrap="square" lIns="0" tIns="0" rIns="0" bIns="0" rtlCol="0" anchor="ctr"/>
          <a:lstStyle/>
          <a:p>
            <a:pPr algn="ctr" indent="0" marL="0">
              <a:buNone/>
            </a:pPr>
            <a:endParaRPr lang="en-US" sz="2000" dirty="0"/>
          </a:p>
        </p:txBody>
      </p:sp>
      <p:sp>
        <p:nvSpPr>
          <p:cNvPr id="17" name="Text 15"/>
          <p:cNvSpPr txBox="1"/>
          <p:nvPr/>
        </p:nvSpPr>
        <p:spPr>
          <a:xfrm>
            <a:off x="8366760" y="2926080"/>
            <a:ext cx="3383280" cy="502920"/>
          </a:xfrm>
          <a:prstGeom prst="rect">
            <a:avLst/>
          </a:prstGeom>
          <a:noFill/>
          <a:ln/>
        </p:spPr>
        <p:txBody>
          <a:bodyPr wrap="square" lIns="0" tIns="0" rIns="0" bIns="0" rtlCol="0" anchor="ctr"/>
          <a:lstStyle/>
          <a:p>
            <a:pPr indent="0" marL="0">
              <a:buNone/>
            </a:pPr>
            <a:r>
              <a:rPr lang="en-US" sz="1800" dirty="0">
                <a:solidFill>
                  <a:schemeClr val="bg1"/>
                </a:solidFill>
              </a:rPr>
              <a:t>Unchanged, for context</a:t>
            </a:r>
            <a:endParaRPr lang="en-US" sz="1800" dirty="0"/>
          </a:p>
        </p:txBody>
      </p:sp>
      <p:sp>
        <p:nvSpPr>
          <p:cNvPr id="18" name="Shape 16"/>
          <p:cNvSpPr/>
          <p:nvPr/>
        </p:nvSpPr>
        <p:spPr>
          <a:xfrm>
            <a:off x="411480" y="4343400"/>
            <a:ext cx="384048" cy="384048"/>
          </a:xfrm>
          <a:prstGeom prst="ellipse">
            <a:avLst/>
          </a:prstGeom>
          <a:solidFill>
            <a:schemeClr val="tx2"/>
          </a:solidFill>
          <a:ln w="19050">
            <a:solidFill>
              <a:schemeClr val="accent2"/>
            </a:solidFill>
            <a:prstDash val="solid"/>
          </a:ln>
        </p:spPr>
      </p:sp>
      <p:sp>
        <p:nvSpPr>
          <p:cNvPr id="19" name="Text 17"/>
          <p:cNvSpPr txBox="1"/>
          <p:nvPr/>
        </p:nvSpPr>
        <p:spPr>
          <a:xfrm>
            <a:off x="411480" y="4343400"/>
            <a:ext cx="384048" cy="384048"/>
          </a:xfrm>
          <a:prstGeom prst="rect">
            <a:avLst/>
          </a:prstGeom>
          <a:noFill/>
          <a:ln/>
        </p:spPr>
        <p:txBody>
          <a:bodyPr wrap="square" lIns="0" tIns="0" rIns="0" bIns="0" rtlCol="0" anchor="ctr"/>
          <a:lstStyle/>
          <a:p>
            <a:pPr algn="ctr" indent="0" marL="0">
              <a:buNone/>
            </a:pPr>
            <a:r>
              <a:rPr lang="en-US" sz="1500" b="1" dirty="0">
                <a:solidFill>
                  <a:schemeClr val="accent2"/>
                </a:solidFill>
              </a:rPr>
              <a:t>1</a:t>
            </a:r>
            <a:endParaRPr lang="en-US" sz="1500" dirty="0"/>
          </a:p>
        </p:txBody>
      </p:sp>
      <p:sp>
        <p:nvSpPr>
          <p:cNvPr id="20" name="Text 18"/>
          <p:cNvSpPr txBox="1"/>
          <p:nvPr/>
        </p:nvSpPr>
        <p:spPr>
          <a:xfrm>
            <a:off x="960120" y="4343400"/>
            <a:ext cx="3108960" cy="384048"/>
          </a:xfrm>
          <a:prstGeom prst="rect">
            <a:avLst/>
          </a:prstGeom>
          <a:noFill/>
          <a:ln/>
        </p:spPr>
        <p:txBody>
          <a:bodyPr wrap="square" lIns="0" tIns="0" rIns="0" bIns="0" rtlCol="0" anchor="ctr"/>
          <a:lstStyle/>
          <a:p>
            <a:pPr indent="0" marL="0">
              <a:buNone/>
            </a:pPr>
            <a:r>
              <a:rPr lang="en-US" sz="1300" b="1" spc="200" kern="0" dirty="0">
                <a:solidFill>
                  <a:schemeClr val="accent2"/>
                </a:solidFill>
              </a:rPr>
              <a:t>WHY</a:t>
            </a:r>
            <a:endParaRPr lang="en-US" sz="1300" dirty="0"/>
          </a:p>
        </p:txBody>
      </p:sp>
      <p:sp>
        <p:nvSpPr>
          <p:cNvPr id="21" name="Text 19"/>
          <p:cNvSpPr txBox="1"/>
          <p:nvPr/>
        </p:nvSpPr>
        <p:spPr>
          <a:xfrm>
            <a:off x="960120" y="4754880"/>
            <a:ext cx="3108960" cy="640080"/>
          </a:xfrm>
          <a:prstGeom prst="rect">
            <a:avLst/>
          </a:prstGeom>
          <a:noFill/>
          <a:ln/>
        </p:spPr>
        <p:txBody>
          <a:bodyPr wrap="square" lIns="0" tIns="0" rIns="0" bIns="0" rtlCol="0" anchor="t"/>
          <a:lstStyle/>
          <a:p>
            <a:pPr indent="0" marL="0">
              <a:buNone/>
            </a:pPr>
            <a:r>
              <a:rPr lang="en-US" sz="1600" dirty="0">
                <a:solidFill>
                  <a:schemeClr val="bg1"/>
                </a:solidFill>
              </a:rPr>
              <a:t>The failure that forced the change</a:t>
            </a:r>
            <a:endParaRPr lang="en-US" sz="1600" dirty="0"/>
          </a:p>
        </p:txBody>
      </p:sp>
      <p:sp>
        <p:nvSpPr>
          <p:cNvPr id="22" name="Shape 20"/>
          <p:cNvSpPr/>
          <p:nvPr/>
        </p:nvSpPr>
        <p:spPr>
          <a:xfrm>
            <a:off x="4251960" y="4343400"/>
            <a:ext cx="384048" cy="384048"/>
          </a:xfrm>
          <a:prstGeom prst="ellipse">
            <a:avLst/>
          </a:prstGeom>
          <a:solidFill>
            <a:schemeClr val="tx2"/>
          </a:solidFill>
          <a:ln w="19050">
            <a:solidFill>
              <a:schemeClr val="accent1"/>
            </a:solidFill>
            <a:prstDash val="solid"/>
          </a:ln>
        </p:spPr>
      </p:sp>
      <p:sp>
        <p:nvSpPr>
          <p:cNvPr id="23" name="Text 21"/>
          <p:cNvSpPr txBox="1"/>
          <p:nvPr/>
        </p:nvSpPr>
        <p:spPr>
          <a:xfrm>
            <a:off x="4251960" y="4343400"/>
            <a:ext cx="384048" cy="384048"/>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24" name="Text 22"/>
          <p:cNvSpPr txBox="1"/>
          <p:nvPr/>
        </p:nvSpPr>
        <p:spPr>
          <a:xfrm>
            <a:off x="4800600" y="4343400"/>
            <a:ext cx="3108960" cy="384048"/>
          </a:xfrm>
          <a:prstGeom prst="rect">
            <a:avLst/>
          </a:prstGeom>
          <a:noFill/>
          <a:ln/>
        </p:spPr>
        <p:txBody>
          <a:bodyPr wrap="square" lIns="0" tIns="0" rIns="0" bIns="0" rtlCol="0" anchor="ctr"/>
          <a:lstStyle/>
          <a:p>
            <a:pPr indent="0" marL="0">
              <a:buNone/>
            </a:pPr>
            <a:r>
              <a:rPr lang="en-US" sz="1300" b="1" spc="200" kern="0" dirty="0">
                <a:solidFill>
                  <a:schemeClr val="accent1"/>
                </a:solidFill>
              </a:rPr>
              <a:t>HOW IT WORKS</a:t>
            </a:r>
            <a:endParaRPr lang="en-US" sz="1300" dirty="0"/>
          </a:p>
        </p:txBody>
      </p:sp>
      <p:sp>
        <p:nvSpPr>
          <p:cNvPr id="25" name="Text 23"/>
          <p:cNvSpPr txBox="1"/>
          <p:nvPr/>
        </p:nvSpPr>
        <p:spPr>
          <a:xfrm>
            <a:off x="4800600" y="4754880"/>
            <a:ext cx="3108960" cy="640080"/>
          </a:xfrm>
          <a:prstGeom prst="rect">
            <a:avLst/>
          </a:prstGeom>
          <a:noFill/>
          <a:ln/>
        </p:spPr>
        <p:txBody>
          <a:bodyPr wrap="square" lIns="0" tIns="0" rIns="0" bIns="0" rtlCol="0" anchor="t"/>
          <a:lstStyle/>
          <a:p>
            <a:pPr indent="0" marL="0">
              <a:buNone/>
            </a:pPr>
            <a:r>
              <a:rPr lang="en-US" sz="1600" dirty="0">
                <a:solidFill>
                  <a:schemeClr val="bg1"/>
                </a:solidFill>
              </a:rPr>
              <a:t>Three numbered steps that walk through the highlighted lines</a:t>
            </a:r>
            <a:endParaRPr lang="en-US" sz="1600" dirty="0"/>
          </a:p>
        </p:txBody>
      </p:sp>
      <p:sp>
        <p:nvSpPr>
          <p:cNvPr id="26" name="Shape 24"/>
          <p:cNvSpPr/>
          <p:nvPr/>
        </p:nvSpPr>
        <p:spPr>
          <a:xfrm>
            <a:off x="8092440" y="4343400"/>
            <a:ext cx="384048" cy="384048"/>
          </a:xfrm>
          <a:prstGeom prst="ellipse">
            <a:avLst/>
          </a:prstGeom>
          <a:solidFill>
            <a:schemeClr val="tx2"/>
          </a:solidFill>
          <a:ln w="19050">
            <a:solidFill>
              <a:schemeClr val="bg2"/>
            </a:solidFill>
            <a:prstDash val="solid"/>
          </a:ln>
        </p:spPr>
      </p:sp>
      <p:sp>
        <p:nvSpPr>
          <p:cNvPr id="27" name="Text 25"/>
          <p:cNvSpPr txBox="1"/>
          <p:nvPr/>
        </p:nvSpPr>
        <p:spPr>
          <a:xfrm>
            <a:off x="8092440" y="4343400"/>
            <a:ext cx="384048" cy="384048"/>
          </a:xfrm>
          <a:prstGeom prst="rect">
            <a:avLst/>
          </a:prstGeom>
          <a:noFill/>
          <a:ln/>
        </p:spPr>
        <p:txBody>
          <a:bodyPr wrap="square" lIns="0" tIns="0" rIns="0" bIns="0" rtlCol="0" anchor="ctr"/>
          <a:lstStyle/>
          <a:p>
            <a:pPr algn="ctr" indent="0" marL="0">
              <a:buNone/>
            </a:pPr>
            <a:r>
              <a:rPr lang="en-US" sz="1500" b="1" dirty="0">
                <a:solidFill>
                  <a:schemeClr val="bg2"/>
                </a:solidFill>
              </a:rPr>
              <a:t>3</a:t>
            </a:r>
            <a:endParaRPr lang="en-US" sz="1500" dirty="0"/>
          </a:p>
        </p:txBody>
      </p:sp>
      <p:sp>
        <p:nvSpPr>
          <p:cNvPr id="28" name="Text 26"/>
          <p:cNvSpPr txBox="1"/>
          <p:nvPr/>
        </p:nvSpPr>
        <p:spPr>
          <a:xfrm>
            <a:off x="8641080" y="4343400"/>
            <a:ext cx="3108960" cy="384048"/>
          </a:xfrm>
          <a:prstGeom prst="rect">
            <a:avLst/>
          </a:prstGeom>
          <a:noFill/>
          <a:ln/>
        </p:spPr>
        <p:txBody>
          <a:bodyPr wrap="square" lIns="0" tIns="0" rIns="0" bIns="0" rtlCol="0" anchor="ctr"/>
          <a:lstStyle/>
          <a:p>
            <a:pPr indent="0" marL="0">
              <a:buNone/>
            </a:pPr>
            <a:r>
              <a:rPr lang="en-US" sz="1300" b="1" spc="200" kern="0" dirty="0">
                <a:solidFill>
                  <a:schemeClr val="bg2"/>
                </a:solidFill>
              </a:rPr>
              <a:t>TERMINAL</a:t>
            </a:r>
            <a:endParaRPr lang="en-US" sz="1300" dirty="0"/>
          </a:p>
        </p:txBody>
      </p:sp>
      <p:sp>
        <p:nvSpPr>
          <p:cNvPr id="29" name="Text 27"/>
          <p:cNvSpPr txBox="1"/>
          <p:nvPr/>
        </p:nvSpPr>
        <p:spPr>
          <a:xfrm>
            <a:off x="8641080" y="4754880"/>
            <a:ext cx="3108960" cy="640080"/>
          </a:xfrm>
          <a:prstGeom prst="rect">
            <a:avLst/>
          </a:prstGeom>
          <a:noFill/>
          <a:ln/>
        </p:spPr>
        <p:txBody>
          <a:bodyPr wrap="square" lIns="0" tIns="0" rIns="0" bIns="0" rtlCol="0" anchor="t"/>
          <a:lstStyle/>
          <a:p>
            <a:pPr indent="0" marL="0">
              <a:buNone/>
            </a:pPr>
            <a:r>
              <a:rPr lang="en-US" sz="1600" dirty="0">
                <a:solidFill>
                  <a:schemeClr val="bg1"/>
                </a:solidFill>
              </a:rPr>
              <a:t>Real output from master/, run on this laptop</a:t>
            </a:r>
            <a:endParaRPr lang="en-US" sz="1600" dirty="0"/>
          </a:p>
        </p:txBody>
      </p:sp>
      <p:sp>
        <p:nvSpPr>
          <p:cNvPr id="30" name="timeline"/>
          <p:cNvSpPr/>
          <p:nvPr/>
        </p:nvSpPr>
        <p:spPr>
          <a:xfrm>
            <a:off x="777240" y="6172200"/>
            <a:ext cx="10625328" cy="0"/>
          </a:xfrm>
          <a:prstGeom prst="line">
            <a:avLst/>
          </a:prstGeom>
          <a:noFill/>
          <a:ln w="38100">
            <a:solidFill>
              <a:schemeClr val="tx2"/>
            </a:solidFill>
            <a:prstDash val="solid"/>
          </a:ln>
        </p:spPr>
      </p:sp>
      <p:sp>
        <p:nvSpPr>
          <p:cNvPr id="31" name="node v0"/>
          <p:cNvSpPr/>
          <p:nvPr/>
        </p:nvSpPr>
        <p:spPr>
          <a:xfrm>
            <a:off x="676656" y="6071616"/>
            <a:ext cx="201168" cy="201168"/>
          </a:xfrm>
          <a:prstGeom prst="ellipse">
            <a:avLst/>
          </a:prstGeom>
          <a:solidFill>
            <a:schemeClr val="accent1"/>
          </a:solidFill>
          <a:ln w="25400">
            <a:solidFill>
              <a:schemeClr val="tx1"/>
            </a:solidFill>
            <a:prstDash val="solid"/>
          </a:ln>
        </p:spPr>
      </p:sp>
      <p:sp>
        <p:nvSpPr>
          <p:cNvPr id="32" name="Text 30"/>
          <p:cNvSpPr txBox="1"/>
          <p:nvPr/>
        </p:nvSpPr>
        <p:spPr>
          <a:xfrm>
            <a:off x="393192"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v0</a:t>
            </a:r>
            <a:endParaRPr lang="en-US" sz="1500" dirty="0"/>
          </a:p>
        </p:txBody>
      </p:sp>
      <p:sp>
        <p:nvSpPr>
          <p:cNvPr id="33" name="node v1"/>
          <p:cNvSpPr/>
          <p:nvPr/>
        </p:nvSpPr>
        <p:spPr>
          <a:xfrm>
            <a:off x="1435608" y="6071616"/>
            <a:ext cx="201168" cy="201168"/>
          </a:xfrm>
          <a:prstGeom prst="ellipse">
            <a:avLst/>
          </a:prstGeom>
          <a:solidFill>
            <a:schemeClr val="accent1"/>
          </a:solidFill>
          <a:ln w="25400">
            <a:solidFill>
              <a:schemeClr val="tx1"/>
            </a:solidFill>
            <a:prstDash val="solid"/>
          </a:ln>
        </p:spPr>
      </p:sp>
      <p:sp>
        <p:nvSpPr>
          <p:cNvPr id="34" name="Text 32"/>
          <p:cNvSpPr txBox="1"/>
          <p:nvPr/>
        </p:nvSpPr>
        <p:spPr>
          <a:xfrm>
            <a:off x="1152144"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a:t>
            </a:r>
            <a:endParaRPr lang="en-US" sz="1500" dirty="0"/>
          </a:p>
        </p:txBody>
      </p:sp>
      <p:sp>
        <p:nvSpPr>
          <p:cNvPr id="35" name="node v2"/>
          <p:cNvSpPr/>
          <p:nvPr/>
        </p:nvSpPr>
        <p:spPr>
          <a:xfrm>
            <a:off x="2194560" y="6071616"/>
            <a:ext cx="201168" cy="201168"/>
          </a:xfrm>
          <a:prstGeom prst="ellipse">
            <a:avLst/>
          </a:prstGeom>
          <a:solidFill>
            <a:schemeClr val="accent1"/>
          </a:solidFill>
          <a:ln w="25400">
            <a:solidFill>
              <a:schemeClr val="tx1"/>
            </a:solidFill>
            <a:prstDash val="solid"/>
          </a:ln>
        </p:spPr>
      </p:sp>
      <p:sp>
        <p:nvSpPr>
          <p:cNvPr id="36" name="Text 34"/>
          <p:cNvSpPr txBox="1"/>
          <p:nvPr/>
        </p:nvSpPr>
        <p:spPr>
          <a:xfrm>
            <a:off x="1911096"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v2</a:t>
            </a:r>
            <a:endParaRPr lang="en-US" sz="1500" dirty="0"/>
          </a:p>
        </p:txBody>
      </p:sp>
      <p:sp>
        <p:nvSpPr>
          <p:cNvPr id="37" name="node v3"/>
          <p:cNvSpPr/>
          <p:nvPr/>
        </p:nvSpPr>
        <p:spPr>
          <a:xfrm>
            <a:off x="2953512" y="6071616"/>
            <a:ext cx="201168" cy="201168"/>
          </a:xfrm>
          <a:prstGeom prst="ellipse">
            <a:avLst/>
          </a:prstGeom>
          <a:solidFill>
            <a:schemeClr val="accent1"/>
          </a:solidFill>
          <a:ln w="25400">
            <a:solidFill>
              <a:schemeClr val="tx1"/>
            </a:solidFill>
            <a:prstDash val="solid"/>
          </a:ln>
        </p:spPr>
      </p:sp>
      <p:sp>
        <p:nvSpPr>
          <p:cNvPr id="38" name="Text 36"/>
          <p:cNvSpPr txBox="1"/>
          <p:nvPr/>
        </p:nvSpPr>
        <p:spPr>
          <a:xfrm>
            <a:off x="2670048"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v3</a:t>
            </a:r>
            <a:endParaRPr lang="en-US" sz="1500" dirty="0"/>
          </a:p>
        </p:txBody>
      </p:sp>
      <p:sp>
        <p:nvSpPr>
          <p:cNvPr id="39" name="node v4"/>
          <p:cNvSpPr/>
          <p:nvPr/>
        </p:nvSpPr>
        <p:spPr>
          <a:xfrm>
            <a:off x="3712464" y="6071616"/>
            <a:ext cx="201168" cy="201168"/>
          </a:xfrm>
          <a:prstGeom prst="ellipse">
            <a:avLst/>
          </a:prstGeom>
          <a:solidFill>
            <a:schemeClr val="accent1"/>
          </a:solidFill>
          <a:ln w="25400">
            <a:solidFill>
              <a:schemeClr val="tx1"/>
            </a:solidFill>
            <a:prstDash val="solid"/>
          </a:ln>
        </p:spPr>
      </p:sp>
      <p:sp>
        <p:nvSpPr>
          <p:cNvPr id="40" name="Text 38"/>
          <p:cNvSpPr txBox="1"/>
          <p:nvPr/>
        </p:nvSpPr>
        <p:spPr>
          <a:xfrm>
            <a:off x="3429000"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v4</a:t>
            </a:r>
            <a:endParaRPr lang="en-US" sz="1500" dirty="0"/>
          </a:p>
        </p:txBody>
      </p:sp>
      <p:sp>
        <p:nvSpPr>
          <p:cNvPr id="41" name="node v5"/>
          <p:cNvSpPr/>
          <p:nvPr/>
        </p:nvSpPr>
        <p:spPr>
          <a:xfrm>
            <a:off x="4471416" y="6071616"/>
            <a:ext cx="201168" cy="201168"/>
          </a:xfrm>
          <a:prstGeom prst="ellipse">
            <a:avLst/>
          </a:prstGeom>
          <a:solidFill>
            <a:schemeClr val="accent1"/>
          </a:solidFill>
          <a:ln w="25400">
            <a:solidFill>
              <a:schemeClr val="tx1"/>
            </a:solidFill>
            <a:prstDash val="solid"/>
          </a:ln>
        </p:spPr>
      </p:sp>
      <p:sp>
        <p:nvSpPr>
          <p:cNvPr id="42" name="Text 40"/>
          <p:cNvSpPr txBox="1"/>
          <p:nvPr/>
        </p:nvSpPr>
        <p:spPr>
          <a:xfrm>
            <a:off x="4187952"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v5</a:t>
            </a:r>
            <a:endParaRPr lang="en-US" sz="1500" dirty="0"/>
          </a:p>
        </p:txBody>
      </p:sp>
      <p:sp>
        <p:nvSpPr>
          <p:cNvPr id="43" name="node v6"/>
          <p:cNvSpPr/>
          <p:nvPr/>
        </p:nvSpPr>
        <p:spPr>
          <a:xfrm>
            <a:off x="5230368" y="6071616"/>
            <a:ext cx="201168" cy="201168"/>
          </a:xfrm>
          <a:prstGeom prst="ellipse">
            <a:avLst/>
          </a:prstGeom>
          <a:solidFill>
            <a:schemeClr val="accent1"/>
          </a:solidFill>
          <a:ln w="25400">
            <a:solidFill>
              <a:schemeClr val="tx1"/>
            </a:solidFill>
            <a:prstDash val="solid"/>
          </a:ln>
        </p:spPr>
      </p:sp>
      <p:sp>
        <p:nvSpPr>
          <p:cNvPr id="44" name="Text 42"/>
          <p:cNvSpPr txBox="1"/>
          <p:nvPr/>
        </p:nvSpPr>
        <p:spPr>
          <a:xfrm>
            <a:off x="4946904"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v6</a:t>
            </a:r>
            <a:endParaRPr lang="en-US" sz="1500" dirty="0"/>
          </a:p>
        </p:txBody>
      </p:sp>
      <p:sp>
        <p:nvSpPr>
          <p:cNvPr id="45" name="node v7"/>
          <p:cNvSpPr/>
          <p:nvPr/>
        </p:nvSpPr>
        <p:spPr>
          <a:xfrm>
            <a:off x="5989320" y="6071616"/>
            <a:ext cx="201168" cy="201168"/>
          </a:xfrm>
          <a:prstGeom prst="ellipse">
            <a:avLst/>
          </a:prstGeom>
          <a:solidFill>
            <a:schemeClr val="accent1"/>
          </a:solidFill>
          <a:ln w="25400">
            <a:solidFill>
              <a:schemeClr val="tx1"/>
            </a:solidFill>
            <a:prstDash val="solid"/>
          </a:ln>
        </p:spPr>
      </p:sp>
      <p:sp>
        <p:nvSpPr>
          <p:cNvPr id="46" name="Text 44"/>
          <p:cNvSpPr txBox="1"/>
          <p:nvPr/>
        </p:nvSpPr>
        <p:spPr>
          <a:xfrm>
            <a:off x="5705856"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v7</a:t>
            </a:r>
            <a:endParaRPr lang="en-US" sz="1500" dirty="0"/>
          </a:p>
        </p:txBody>
      </p:sp>
      <p:sp>
        <p:nvSpPr>
          <p:cNvPr id="47" name="node v8"/>
          <p:cNvSpPr/>
          <p:nvPr/>
        </p:nvSpPr>
        <p:spPr>
          <a:xfrm>
            <a:off x="6748272" y="6071616"/>
            <a:ext cx="201168" cy="201168"/>
          </a:xfrm>
          <a:prstGeom prst="ellipse">
            <a:avLst/>
          </a:prstGeom>
          <a:solidFill>
            <a:schemeClr val="accent2"/>
          </a:solidFill>
          <a:ln w="25400">
            <a:solidFill>
              <a:schemeClr val="tx1"/>
            </a:solidFill>
            <a:prstDash val="solid"/>
          </a:ln>
        </p:spPr>
      </p:sp>
      <p:sp>
        <p:nvSpPr>
          <p:cNvPr id="48" name="Text 46"/>
          <p:cNvSpPr txBox="1"/>
          <p:nvPr/>
        </p:nvSpPr>
        <p:spPr>
          <a:xfrm>
            <a:off x="6464808"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v8</a:t>
            </a:r>
            <a:endParaRPr lang="en-US" sz="1500" dirty="0"/>
          </a:p>
        </p:txBody>
      </p:sp>
      <p:sp>
        <p:nvSpPr>
          <p:cNvPr id="49" name="node v9"/>
          <p:cNvSpPr/>
          <p:nvPr/>
        </p:nvSpPr>
        <p:spPr>
          <a:xfrm>
            <a:off x="7507224" y="6071616"/>
            <a:ext cx="201168" cy="201168"/>
          </a:xfrm>
          <a:prstGeom prst="ellipse">
            <a:avLst/>
          </a:prstGeom>
          <a:solidFill>
            <a:schemeClr val="accent2"/>
          </a:solidFill>
          <a:ln w="25400">
            <a:solidFill>
              <a:schemeClr val="tx1"/>
            </a:solidFill>
            <a:prstDash val="solid"/>
          </a:ln>
        </p:spPr>
      </p:sp>
      <p:sp>
        <p:nvSpPr>
          <p:cNvPr id="50" name="Text 48"/>
          <p:cNvSpPr txBox="1"/>
          <p:nvPr/>
        </p:nvSpPr>
        <p:spPr>
          <a:xfrm>
            <a:off x="7223760"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v9</a:t>
            </a:r>
            <a:endParaRPr lang="en-US" sz="1500" dirty="0"/>
          </a:p>
        </p:txBody>
      </p:sp>
      <p:sp>
        <p:nvSpPr>
          <p:cNvPr id="51" name="node v10"/>
          <p:cNvSpPr/>
          <p:nvPr/>
        </p:nvSpPr>
        <p:spPr>
          <a:xfrm>
            <a:off x="8266176" y="6071616"/>
            <a:ext cx="201168" cy="201168"/>
          </a:xfrm>
          <a:prstGeom prst="ellipse">
            <a:avLst/>
          </a:prstGeom>
          <a:solidFill>
            <a:schemeClr val="accent2"/>
          </a:solidFill>
          <a:ln w="25400">
            <a:solidFill>
              <a:schemeClr val="tx1"/>
            </a:solidFill>
            <a:prstDash val="solid"/>
          </a:ln>
        </p:spPr>
      </p:sp>
      <p:sp>
        <p:nvSpPr>
          <p:cNvPr id="52" name="Text 50"/>
          <p:cNvSpPr txBox="1"/>
          <p:nvPr/>
        </p:nvSpPr>
        <p:spPr>
          <a:xfrm>
            <a:off x="7982712"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v10</a:t>
            </a:r>
            <a:endParaRPr lang="en-US" sz="1500" dirty="0"/>
          </a:p>
        </p:txBody>
      </p:sp>
      <p:sp>
        <p:nvSpPr>
          <p:cNvPr id="53" name="node v11"/>
          <p:cNvSpPr/>
          <p:nvPr/>
        </p:nvSpPr>
        <p:spPr>
          <a:xfrm>
            <a:off x="9025128" y="6071616"/>
            <a:ext cx="201168" cy="201168"/>
          </a:xfrm>
          <a:prstGeom prst="ellipse">
            <a:avLst/>
          </a:prstGeom>
          <a:solidFill>
            <a:schemeClr val="accent3"/>
          </a:solidFill>
          <a:ln w="25400">
            <a:solidFill>
              <a:schemeClr val="tx1"/>
            </a:solidFill>
            <a:prstDash val="solid"/>
          </a:ln>
        </p:spPr>
      </p:sp>
      <p:sp>
        <p:nvSpPr>
          <p:cNvPr id="54" name="Text 52"/>
          <p:cNvSpPr txBox="1"/>
          <p:nvPr/>
        </p:nvSpPr>
        <p:spPr>
          <a:xfrm>
            <a:off x="8741664"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v11</a:t>
            </a:r>
            <a:endParaRPr lang="en-US" sz="1500" dirty="0"/>
          </a:p>
        </p:txBody>
      </p:sp>
      <p:sp>
        <p:nvSpPr>
          <p:cNvPr id="55" name="node v12"/>
          <p:cNvSpPr/>
          <p:nvPr/>
        </p:nvSpPr>
        <p:spPr>
          <a:xfrm>
            <a:off x="9784080" y="6071616"/>
            <a:ext cx="201168" cy="201168"/>
          </a:xfrm>
          <a:prstGeom prst="ellipse">
            <a:avLst/>
          </a:prstGeom>
          <a:solidFill>
            <a:schemeClr val="accent3"/>
          </a:solidFill>
          <a:ln w="25400">
            <a:solidFill>
              <a:schemeClr val="tx1"/>
            </a:solidFill>
            <a:prstDash val="solid"/>
          </a:ln>
        </p:spPr>
      </p:sp>
      <p:sp>
        <p:nvSpPr>
          <p:cNvPr id="56" name="Text 54"/>
          <p:cNvSpPr txBox="1"/>
          <p:nvPr/>
        </p:nvSpPr>
        <p:spPr>
          <a:xfrm>
            <a:off x="9500616"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v12</a:t>
            </a:r>
            <a:endParaRPr lang="en-US" sz="1500" dirty="0"/>
          </a:p>
        </p:txBody>
      </p:sp>
      <p:sp>
        <p:nvSpPr>
          <p:cNvPr id="57" name="node v13"/>
          <p:cNvSpPr/>
          <p:nvPr/>
        </p:nvSpPr>
        <p:spPr>
          <a:xfrm>
            <a:off x="10543032" y="6071616"/>
            <a:ext cx="201168" cy="201168"/>
          </a:xfrm>
          <a:prstGeom prst="ellipse">
            <a:avLst/>
          </a:prstGeom>
          <a:solidFill>
            <a:schemeClr val="accent3"/>
          </a:solidFill>
          <a:ln w="25400">
            <a:solidFill>
              <a:schemeClr val="tx1"/>
            </a:solidFill>
            <a:prstDash val="solid"/>
          </a:ln>
        </p:spPr>
      </p:sp>
      <p:sp>
        <p:nvSpPr>
          <p:cNvPr id="58" name="Text 56"/>
          <p:cNvSpPr txBox="1"/>
          <p:nvPr/>
        </p:nvSpPr>
        <p:spPr>
          <a:xfrm>
            <a:off x="10259568"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v13</a:t>
            </a:r>
            <a:endParaRPr lang="en-US" sz="1500" dirty="0"/>
          </a:p>
        </p:txBody>
      </p:sp>
      <p:sp>
        <p:nvSpPr>
          <p:cNvPr id="59" name="node v14"/>
          <p:cNvSpPr/>
          <p:nvPr/>
        </p:nvSpPr>
        <p:spPr>
          <a:xfrm>
            <a:off x="11301984" y="6071616"/>
            <a:ext cx="201168" cy="201168"/>
          </a:xfrm>
          <a:prstGeom prst="ellipse">
            <a:avLst/>
          </a:prstGeom>
          <a:solidFill>
            <a:schemeClr val="accent3"/>
          </a:solidFill>
          <a:ln w="25400">
            <a:solidFill>
              <a:schemeClr val="tx1"/>
            </a:solidFill>
            <a:prstDash val="solid"/>
          </a:ln>
        </p:spPr>
      </p:sp>
      <p:sp>
        <p:nvSpPr>
          <p:cNvPr id="60" name="Text 58"/>
          <p:cNvSpPr txBox="1"/>
          <p:nvPr/>
        </p:nvSpPr>
        <p:spPr>
          <a:xfrm>
            <a:off x="11018520" y="5696712"/>
            <a:ext cx="768096"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v14</a:t>
            </a:r>
            <a:endParaRPr lang="en-US" sz="15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Start with an ordinary queue</a:t>
            </a:r>
            <a:endParaRPr lang="en-US" sz="2600" dirty="0"/>
          </a:p>
        </p:txBody>
      </p:sp>
      <p:sp>
        <p:nvSpPr>
          <p:cNvPr id="3" name="progress current"/>
          <p:cNvSpPr/>
          <p:nvPr/>
        </p:nvSpPr>
        <p:spPr>
          <a:xfrm>
            <a:off x="8430768" y="384048"/>
            <a:ext cx="173736" cy="173736"/>
          </a:xfrm>
          <a:prstGeom prst="ellipse">
            <a:avLst/>
          </a:prstGeom>
          <a:solidFill>
            <a:schemeClr val="accent1"/>
          </a:solidFill>
          <a:ln w="12700">
            <a:solidFill>
              <a:schemeClr val="accent1"/>
            </a:solidFill>
            <a:prstDash val="solid"/>
          </a:ln>
        </p:spPr>
      </p:sp>
      <p:sp>
        <p:nvSpPr>
          <p:cNvPr id="4" name="progress todo"/>
          <p:cNvSpPr/>
          <p:nvPr/>
        </p:nvSpPr>
        <p:spPr>
          <a:xfrm>
            <a:off x="8691372" y="411480"/>
            <a:ext cx="118872" cy="118872"/>
          </a:xfrm>
          <a:prstGeom prst="ellipse">
            <a:avLst/>
          </a:prstGeom>
          <a:solidFill>
            <a:schemeClr val="tx1"/>
          </a:solidFill>
          <a:ln w="12700">
            <a:solidFill>
              <a:schemeClr val="bg2"/>
            </a:solidFill>
            <a:prstDash val="solid"/>
          </a:ln>
        </p:spPr>
      </p:sp>
      <p:sp>
        <p:nvSpPr>
          <p:cNvPr id="5" name="progress todo"/>
          <p:cNvSpPr/>
          <p:nvPr/>
        </p:nvSpPr>
        <p:spPr>
          <a:xfrm>
            <a:off x="8924544" y="411480"/>
            <a:ext cx="118872" cy="118872"/>
          </a:xfrm>
          <a:prstGeom prst="ellipse">
            <a:avLst/>
          </a:prstGeom>
          <a:solidFill>
            <a:schemeClr val="tx1"/>
          </a:solidFill>
          <a:ln w="12700">
            <a:solidFill>
              <a:schemeClr val="bg2"/>
            </a:solidFill>
            <a:prstDash val="solid"/>
          </a:ln>
        </p:spPr>
      </p:sp>
      <p:sp>
        <p:nvSpPr>
          <p:cNvPr id="6" name="progress todo"/>
          <p:cNvSpPr/>
          <p:nvPr/>
        </p:nvSpPr>
        <p:spPr>
          <a:xfrm>
            <a:off x="9157716" y="411480"/>
            <a:ext cx="118872" cy="118872"/>
          </a:xfrm>
          <a:prstGeom prst="ellipse">
            <a:avLst/>
          </a:prstGeom>
          <a:solidFill>
            <a:schemeClr val="tx1"/>
          </a:solidFill>
          <a:ln w="12700">
            <a:solidFill>
              <a:schemeClr val="bg2"/>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v0</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Ordinary queue</a:t>
            </a:r>
            <a:pPr indent="0" marL="0">
              <a:buNone/>
            </a:pPr>
            <a:r>
              <a:rPr lang="en-US" sz="1400" dirty="0">
                <a:solidFill>
                  <a:schemeClr val="bg2"/>
                </a:solidFill>
                <a:latin typeface="Consolas" pitchFamily="34" charset="0"/>
                <a:ea typeface="Consolas" pitchFamily="34" charset="-122"/>
                <a:cs typeface="Consolas" pitchFamily="34" charset="-120"/>
              </a:rPr>
              <a:t>   ·   queue.hpp</a:t>
            </a:r>
            <a:endParaRPr lang="en-US" sz="1400" dirty="0"/>
          </a:p>
        </p:txBody>
      </p:sp>
      <p:sp>
        <p:nvSpPr>
          <p:cNvPr id="21" name="diff gutter"/>
          <p:cNvSpPr txBox="1"/>
          <p:nvPr/>
        </p:nvSpPr>
        <p:spPr>
          <a:xfrm>
            <a:off x="576072" y="1371600"/>
            <a:ext cx="228600" cy="3963924"/>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22" name="code"/>
          <p:cNvSpPr txBox="1"/>
          <p:nvPr/>
        </p:nvSpPr>
        <p:spPr>
          <a:xfrm>
            <a:off x="850392" y="1371600"/>
            <a:ext cx="6812280" cy="3963924"/>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undefined if empty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23" name="Text 21"/>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24" name="Text 22"/>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 measured, correct baseline first</a:t>
            </a:r>
            <a:endParaRPr lang="en-US" sz="1600" dirty="0"/>
          </a:p>
        </p:txBody>
      </p:sp>
      <p:sp>
        <p:nvSpPr>
          <p:cNvPr id="25"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26"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./tests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[36.442 ns per push+pop] ok</a:t>
            </a:r>
            <a:endParaRPr lang="en-US" sz="1200" dirty="0"/>
          </a:p>
        </p:txBody>
      </p:sp>
      <p:sp>
        <p:nvSpPr>
          <p:cNvPr id="27" name="Text 25"/>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28"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29" name="Text 27"/>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0"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thin wrapper around std::queue&lt;int&gt;: push() adds at the back; pop() removes the front item and returns it.</a:t>
            </a:r>
            <a:endParaRPr lang="en-US" sz="1400" dirty="0"/>
          </a:p>
        </p:txBody>
      </p:sp>
      <p:sp>
        <p:nvSpPr>
          <p:cNvPr id="31"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2" name="Text 30"/>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3"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pop() reads front() without checking. On an empty queue that is undefined behaviour; one thread that knows the count never hits it.</a:t>
            </a:r>
            <a:endParaRPr lang="en-US" sz="1400" dirty="0"/>
          </a:p>
        </p:txBody>
      </p:sp>
      <p:sp>
        <p:nvSpPr>
          <p:cNvPr id="34"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36"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Nothing is protected yet. Two threads calling push() at once would both rewrite the deque's internal pointers: that's v2's crash.</a:t>
            </a:r>
            <a:endParaRPr lang="en-US" sz="1400" dirty="0"/>
          </a:p>
        </p:txBody>
      </p:sp>
      <p:sp>
        <p:nvSpPr>
          <p:cNvPr id="37" name="tag baseline"/>
          <p:cNvSpPr/>
          <p:nvPr/>
        </p:nvSpPr>
        <p:spPr>
          <a:xfrm>
            <a:off x="2606040" y="6510528"/>
            <a:ext cx="896112" cy="256032"/>
          </a:xfrm>
          <a:prstGeom prst="roundRect">
            <a:avLst>
              <a:gd name="adj" fmla="val 50000"/>
            </a:avLst>
          </a:prstGeom>
          <a:solidFill>
            <a:schemeClr val="tx1"/>
          </a:solidFill>
          <a:ln w="12700">
            <a:solidFill>
              <a:schemeClr val="accent1"/>
            </a:solidFill>
            <a:prstDash val="solid"/>
          </a:ln>
        </p:spPr>
      </p:sp>
      <p:sp>
        <p:nvSpPr>
          <p:cNvPr id="38" name="Text 36"/>
          <p:cNvSpPr txBox="1"/>
          <p:nvPr/>
        </p:nvSpPr>
        <p:spPr>
          <a:xfrm>
            <a:off x="2606040" y="6510528"/>
            <a:ext cx="896112" cy="256032"/>
          </a:xfrm>
          <a:prstGeom prst="rect">
            <a:avLst/>
          </a:prstGeom>
          <a:noFill/>
          <a:ln/>
        </p:spPr>
        <p:txBody>
          <a:bodyPr wrap="square" lIns="0" tIns="0" rIns="0" bIns="0" rtlCol="0" anchor="ctr"/>
          <a:lstStyle/>
          <a:p>
            <a:pPr algn="ctr" indent="0" marL="0">
              <a:buNone/>
            </a:pPr>
            <a:r>
              <a:rPr lang="en-US" sz="1100" dirty="0">
                <a:solidFill>
                  <a:schemeClr val="accent1"/>
                </a:solidFill>
              </a:rPr>
              <a:t>baseline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An owner that always joins</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current"/>
          <p:cNvSpPr/>
          <p:nvPr/>
        </p:nvSpPr>
        <p:spPr>
          <a:xfrm>
            <a:off x="8663940" y="384048"/>
            <a:ext cx="173736" cy="173736"/>
          </a:xfrm>
          <a:prstGeom prst="ellipse">
            <a:avLst/>
          </a:prstGeom>
          <a:solidFill>
            <a:schemeClr val="accent1"/>
          </a:solidFill>
          <a:ln w="12700">
            <a:solidFill>
              <a:schemeClr val="accent1"/>
            </a:solidFill>
            <a:prstDash val="solid"/>
          </a:ln>
        </p:spPr>
      </p:sp>
      <p:sp>
        <p:nvSpPr>
          <p:cNvPr id="5" name="progress todo"/>
          <p:cNvSpPr/>
          <p:nvPr/>
        </p:nvSpPr>
        <p:spPr>
          <a:xfrm>
            <a:off x="8924544" y="411480"/>
            <a:ext cx="118872" cy="118872"/>
          </a:xfrm>
          <a:prstGeom prst="ellipse">
            <a:avLst/>
          </a:prstGeom>
          <a:solidFill>
            <a:schemeClr val="tx1"/>
          </a:solidFill>
          <a:ln w="12700">
            <a:solidFill>
              <a:schemeClr val="bg2"/>
            </a:solidFill>
            <a:prstDash val="solid"/>
          </a:ln>
        </p:spPr>
      </p:sp>
      <p:sp>
        <p:nvSpPr>
          <p:cNvPr id="6" name="progress todo"/>
          <p:cNvSpPr/>
          <p:nvPr/>
        </p:nvSpPr>
        <p:spPr>
          <a:xfrm>
            <a:off x="9157716" y="411480"/>
            <a:ext cx="118872" cy="118872"/>
          </a:xfrm>
          <a:prstGeom prst="ellipse">
            <a:avLst/>
          </a:prstGeom>
          <a:solidFill>
            <a:schemeClr val="tx1"/>
          </a:solidFill>
          <a:ln w="12700">
            <a:solidFill>
              <a:schemeClr val="bg2"/>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Multiple threads</a:t>
            </a:r>
            <a:pPr indent="0" marL="0">
              <a:buNone/>
            </a:pPr>
            <a:r>
              <a:rPr lang="en-US" sz="1400" dirty="0">
                <a:solidFill>
                  <a:schemeClr val="bg2"/>
                </a:solidFill>
                <a:latin typeface="Consolas" pitchFamily="34" charset="0"/>
                <a:ea typeface="Consolas" pitchFamily="34" charset="-122"/>
                <a:cs typeface="Consolas" pitchFamily="34" charset="-120"/>
              </a:rPr>
              <a:t>   ·   thread_group.hpp (new)</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8"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9"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0"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1"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2"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3264408"/>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4" name="code"/>
          <p:cNvSpPr txBox="1"/>
          <p:nvPr/>
        </p:nvSpPr>
        <p:spPr>
          <a:xfrm>
            <a:off x="850392" y="1371600"/>
            <a:ext cx="6812280" cy="3264408"/>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vector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default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delete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operator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delete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add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push_back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joinable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join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 joinable thread killed main</a:t>
            </a:r>
            <a:endParaRPr lang="en-US" sz="1600" dirty="0"/>
          </a:p>
        </p:txBody>
      </p:sp>
      <p:sp>
        <p:nvSpPr>
          <p:cNvPr id="37"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8"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 terminate</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Illegal instruction</a:t>
            </a:r>
            <a:endParaRPr lang="en-US" sz="12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std::thread must be joined (or detached) before it is destroyed. Otherwise the program calls std::terminate and dies.</a:t>
            </a:r>
            <a:endParaRPr lang="en-US" sz="1400" dirty="0"/>
          </a:p>
        </p:txBody>
      </p:sp>
      <p:sp>
        <p:nvSpPr>
          <p:cNvPr id="43"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ThreadGroup keeps the threads in a vector and joins each one in its destructor. Destructors run on every exit path, including when an exception is thrown.</a:t>
            </a:r>
            <a:endParaRPr lang="en-US" sz="1400" dirty="0"/>
          </a:p>
        </p:txBody>
      </p:sp>
      <p:sp>
        <p:nvSpPr>
          <p:cNvPr id="46"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437692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Copying is deleted, because two copies would join the same threads. add() takes the thread by value and moves it in: a std::thread can't be copied.</a:t>
            </a:r>
            <a:endParaRPr lang="en-US" sz="1400" dirty="0"/>
          </a:p>
        </p:txBody>
      </p:sp>
      <p:sp>
        <p:nvSpPr>
          <p:cNvPr id="49" name="tag join"/>
          <p:cNvSpPr/>
          <p:nvPr/>
        </p:nvSpPr>
        <p:spPr>
          <a:xfrm>
            <a:off x="2606040" y="6510528"/>
            <a:ext cx="585216"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2606040" y="6510528"/>
            <a:ext cx="585216" cy="256032"/>
          </a:xfrm>
          <a:prstGeom prst="rect">
            <a:avLst/>
          </a:prstGeom>
          <a:noFill/>
          <a:ln/>
        </p:spPr>
        <p:txBody>
          <a:bodyPr wrap="square" lIns="0" tIns="0" rIns="0" bIns="0" rtlCol="0" anchor="ctr"/>
          <a:lstStyle/>
          <a:p>
            <a:pPr algn="ctr" indent="0" marL="0">
              <a:buNone/>
            </a:pPr>
            <a:r>
              <a:rPr lang="en-US" sz="1100" dirty="0">
                <a:solidFill>
                  <a:schemeClr val="accent1"/>
                </a:solidFill>
              </a:rPr>
              <a:t>join</a:t>
            </a:r>
            <a:endParaRPr lang="en-US" sz="1100" dirty="0"/>
          </a:p>
        </p:txBody>
      </p:sp>
      <p:sp>
        <p:nvSpPr>
          <p:cNvPr id="51" name="tag RAII"/>
          <p:cNvSpPr/>
          <p:nvPr/>
        </p:nvSpPr>
        <p:spPr>
          <a:xfrm>
            <a:off x="3282696" y="6510528"/>
            <a:ext cx="585216" cy="256032"/>
          </a:xfrm>
          <a:prstGeom prst="roundRect">
            <a:avLst>
              <a:gd name="adj" fmla="val 50000"/>
            </a:avLst>
          </a:prstGeom>
          <a:solidFill>
            <a:schemeClr val="tx1"/>
          </a:solidFill>
          <a:ln w="12700">
            <a:solidFill>
              <a:schemeClr val="accent1"/>
            </a:solidFill>
            <a:prstDash val="solid"/>
          </a:ln>
        </p:spPr>
      </p:sp>
      <p:sp>
        <p:nvSpPr>
          <p:cNvPr id="52" name="Text 50"/>
          <p:cNvSpPr txBox="1"/>
          <p:nvPr/>
        </p:nvSpPr>
        <p:spPr>
          <a:xfrm>
            <a:off x="3282696" y="6510528"/>
            <a:ext cx="585216" cy="256032"/>
          </a:xfrm>
          <a:prstGeom prst="rect">
            <a:avLst/>
          </a:prstGeom>
          <a:noFill/>
          <a:ln/>
        </p:spPr>
        <p:txBody>
          <a:bodyPr wrap="square" lIns="0" tIns="0" rIns="0" bIns="0" rtlCol="0" anchor="ctr"/>
          <a:lstStyle/>
          <a:p>
            <a:pPr algn="ctr" indent="0" marL="0">
              <a:buNone/>
            </a:pPr>
            <a:r>
              <a:rPr lang="en-US" sz="1100" dirty="0">
                <a:solidFill>
                  <a:schemeClr val="accent1"/>
                </a:solidFill>
              </a:rPr>
              <a:t>RAII</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Guard the queue with a mutex</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current"/>
          <p:cNvSpPr/>
          <p:nvPr/>
        </p:nvSpPr>
        <p:spPr>
          <a:xfrm>
            <a:off x="8897112" y="384048"/>
            <a:ext cx="173736" cy="173736"/>
          </a:xfrm>
          <a:prstGeom prst="ellipse">
            <a:avLst/>
          </a:prstGeom>
          <a:solidFill>
            <a:schemeClr val="accent1"/>
          </a:solidFill>
          <a:ln w="12700">
            <a:solidFill>
              <a:schemeClr val="accent1"/>
            </a:solidFill>
            <a:prstDash val="solid"/>
          </a:ln>
        </p:spPr>
      </p:sp>
      <p:sp>
        <p:nvSpPr>
          <p:cNvPr id="6" name="progress todo"/>
          <p:cNvSpPr/>
          <p:nvPr/>
        </p:nvSpPr>
        <p:spPr>
          <a:xfrm>
            <a:off x="9157716" y="411480"/>
            <a:ext cx="118872" cy="118872"/>
          </a:xfrm>
          <a:prstGeom prst="ellipse">
            <a:avLst/>
          </a:prstGeom>
          <a:solidFill>
            <a:schemeClr val="tx1"/>
          </a:solidFill>
          <a:ln w="12700">
            <a:solidFill>
              <a:schemeClr val="bg2"/>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v2</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Mutex protected</a:t>
            </a:r>
            <a:pPr indent="0" marL="0">
              <a:buNone/>
            </a:pPr>
            <a:r>
              <a:rPr lang="en-US" sz="1400" dirty="0">
                <a:solidFill>
                  <a:schemeClr val="bg2"/>
                </a:solidFill>
                <a:latin typeface="Consolas" pitchFamily="34" charset="0"/>
                <a:ea typeface="Consolas" pitchFamily="34" charset="-122"/>
                <a:cs typeface="Consolas" pitchFamily="34" charset="-120"/>
              </a:rPr>
              <a:t>   ·   queue.hpp · 1 of 2</a:t>
            </a:r>
            <a:endParaRPr lang="en-US" sz="1400" dirty="0"/>
          </a:p>
        </p:txBody>
      </p:sp>
      <p:sp>
        <p:nvSpPr>
          <p:cNvPr id="21"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2"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3"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4" name="diff gutter"/>
          <p:cNvSpPr txBox="1"/>
          <p:nvPr/>
        </p:nvSpPr>
        <p:spPr>
          <a:xfrm>
            <a:off x="576072" y="1371600"/>
            <a:ext cx="228600" cy="2564892"/>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25" name="code"/>
          <p:cNvSpPr txBox="1"/>
          <p:nvPr/>
        </p:nvSpPr>
        <p:spPr>
          <a:xfrm>
            <a:off x="850392" y="1371600"/>
            <a:ext cx="6812280" cy="2564892"/>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unlock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26" name="Text 24"/>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27" name="Text 25"/>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Four producers crashed the queue</a:t>
            </a:r>
            <a:endParaRPr lang="en-US" sz="1600" dirty="0"/>
          </a:p>
        </p:txBody>
      </p:sp>
      <p:sp>
        <p:nvSpPr>
          <p:cNvPr id="28"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29"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100000   # v1</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Segmentation fault</a:t>
            </a:r>
            <a:endParaRPr lang="en-US" sz="1200" dirty="0"/>
          </a:p>
        </p:txBody>
      </p:sp>
      <p:sp>
        <p:nvSpPr>
          <p:cNvPr id="30" name="Text 28"/>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1"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2" name="Text 30"/>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3"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std::mutex m is the guard for q. The rule: every access to q happens between m.lock() and m.unlock().</a:t>
            </a:r>
            <a:endParaRPr lang="en-US" sz="1400" dirty="0"/>
          </a:p>
        </p:txBody>
      </p:sp>
      <p:sp>
        <p:nvSpPr>
          <p:cNvPr id="34"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6"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Only one thread can hold m at a time. A second thread calling push() waits inside m.lock() until the first one calls m.unlock().</a:t>
            </a:r>
            <a:endParaRPr lang="en-US" sz="1400" dirty="0"/>
          </a:p>
        </p:txBody>
      </p:sp>
      <p:sp>
        <p:nvSpPr>
          <p:cNvPr id="37"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38" name="Text 36"/>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39"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So two pushes can no longer interleave their pointer updates. Four producers now always end with exactly 400,000 items.</a:t>
            </a:r>
            <a:endParaRPr lang="en-US" sz="1400" dirty="0"/>
          </a:p>
        </p:txBody>
      </p:sp>
      <p:sp>
        <p:nvSpPr>
          <p:cNvPr id="40" name="tag data race"/>
          <p:cNvSpPr/>
          <p:nvPr/>
        </p:nvSpPr>
        <p:spPr>
          <a:xfrm>
            <a:off x="2606040" y="6510528"/>
            <a:ext cx="973836" cy="256032"/>
          </a:xfrm>
          <a:prstGeom prst="roundRect">
            <a:avLst>
              <a:gd name="adj" fmla="val 50000"/>
            </a:avLst>
          </a:prstGeom>
          <a:solidFill>
            <a:schemeClr val="tx1"/>
          </a:solidFill>
          <a:ln w="12700">
            <a:solidFill>
              <a:schemeClr val="accent1"/>
            </a:solidFill>
            <a:prstDash val="solid"/>
          </a:ln>
        </p:spPr>
      </p:sp>
      <p:sp>
        <p:nvSpPr>
          <p:cNvPr id="41" name="Text 39"/>
          <p:cNvSpPr txBox="1"/>
          <p:nvPr/>
        </p:nvSpPr>
        <p:spPr>
          <a:xfrm>
            <a:off x="2606040" y="6510528"/>
            <a:ext cx="973836" cy="256032"/>
          </a:xfrm>
          <a:prstGeom prst="rect">
            <a:avLst/>
          </a:prstGeom>
          <a:noFill/>
          <a:ln/>
        </p:spPr>
        <p:txBody>
          <a:bodyPr wrap="square" lIns="0" tIns="0" rIns="0" bIns="0" rtlCol="0" anchor="ctr"/>
          <a:lstStyle/>
          <a:p>
            <a:pPr algn="ctr" indent="0" marL="0">
              <a:buNone/>
            </a:pPr>
            <a:r>
              <a:rPr lang="en-US" sz="1100" dirty="0">
                <a:solidFill>
                  <a:schemeClr val="accent1"/>
                </a:solidFill>
              </a:rPr>
              <a:t>data race</a:t>
            </a:r>
            <a:endParaRPr lang="en-US" sz="1100" dirty="0"/>
          </a:p>
        </p:txBody>
      </p:sp>
      <p:sp>
        <p:nvSpPr>
          <p:cNvPr id="42" name="tag mutex"/>
          <p:cNvSpPr/>
          <p:nvPr/>
        </p:nvSpPr>
        <p:spPr>
          <a:xfrm>
            <a:off x="3671316" y="6510528"/>
            <a:ext cx="662940" cy="256032"/>
          </a:xfrm>
          <a:prstGeom prst="roundRect">
            <a:avLst>
              <a:gd name="adj" fmla="val 50000"/>
            </a:avLst>
          </a:prstGeom>
          <a:solidFill>
            <a:schemeClr val="tx1"/>
          </a:solidFill>
          <a:ln w="12700">
            <a:solidFill>
              <a:schemeClr val="accent1"/>
            </a:solidFill>
            <a:prstDash val="solid"/>
          </a:ln>
        </p:spPr>
      </p:sp>
      <p:sp>
        <p:nvSpPr>
          <p:cNvPr id="43" name="Text 41"/>
          <p:cNvSpPr txBox="1"/>
          <p:nvPr/>
        </p:nvSpPr>
        <p:spPr>
          <a:xfrm>
            <a:off x="3671316" y="6510528"/>
            <a:ext cx="662940" cy="256032"/>
          </a:xfrm>
          <a:prstGeom prst="rect">
            <a:avLst/>
          </a:prstGeom>
          <a:noFill/>
          <a:ln/>
        </p:spPr>
        <p:txBody>
          <a:bodyPr wrap="square" lIns="0" tIns="0" rIns="0" bIns="0" rtlCol="0" anchor="ctr"/>
          <a:lstStyle/>
          <a:p>
            <a:pPr algn="ctr" indent="0" marL="0">
              <a:buNone/>
            </a:pPr>
            <a:r>
              <a:rPr lang="en-US" sz="1100" dirty="0">
                <a:solidFill>
                  <a:schemeClr val="accent1"/>
                </a:solidFill>
              </a:rPr>
              <a:t>mutex</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Manual locking, and the line that breaks it</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current"/>
          <p:cNvSpPr/>
          <p:nvPr/>
        </p:nvSpPr>
        <p:spPr>
          <a:xfrm>
            <a:off x="8897112" y="384048"/>
            <a:ext cx="173736" cy="173736"/>
          </a:xfrm>
          <a:prstGeom prst="ellipse">
            <a:avLst/>
          </a:prstGeom>
          <a:solidFill>
            <a:schemeClr val="accent1"/>
          </a:solidFill>
          <a:ln w="12700">
            <a:solidFill>
              <a:schemeClr val="accent1"/>
            </a:solidFill>
            <a:prstDash val="solid"/>
          </a:ln>
        </p:spPr>
      </p:sp>
      <p:sp>
        <p:nvSpPr>
          <p:cNvPr id="6" name="progress todo"/>
          <p:cNvSpPr/>
          <p:nvPr/>
        </p:nvSpPr>
        <p:spPr>
          <a:xfrm>
            <a:off x="9157716" y="411480"/>
            <a:ext cx="118872" cy="118872"/>
          </a:xfrm>
          <a:prstGeom prst="ellipse">
            <a:avLst/>
          </a:prstGeom>
          <a:solidFill>
            <a:schemeClr val="tx1"/>
          </a:solidFill>
          <a:ln w="12700">
            <a:solidFill>
              <a:schemeClr val="bg2"/>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v2</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Mutex protected</a:t>
            </a:r>
            <a:pPr indent="0" marL="0">
              <a:buNone/>
            </a:pPr>
            <a:r>
              <a:rPr lang="en-US" sz="1400" dirty="0">
                <a:solidFill>
                  <a:schemeClr val="bg2"/>
                </a:solidFill>
                <a:latin typeface="Consolas" pitchFamily="34" charset="0"/>
                <a:ea typeface="Consolas" pitchFamily="34" charset="-122"/>
                <a:cs typeface="Consolas" pitchFamily="34" charset="-120"/>
              </a:rPr>
              <a:t>   ·   queue.hpp · 2 of 2</a:t>
            </a:r>
            <a:endParaRPr lang="en-US" sz="1400" dirty="0"/>
          </a:p>
        </p:txBody>
      </p:sp>
      <p:sp>
        <p:nvSpPr>
          <p:cNvPr id="21"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2"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3"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4"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5" name="removed line 11"/>
          <p:cNvSpPr/>
          <p:nvPr/>
        </p:nvSpPr>
        <p:spPr>
          <a:xfrm>
            <a:off x="502920" y="3703320"/>
            <a:ext cx="7178040" cy="233172"/>
          </a:xfrm>
          <a:prstGeom prst="rect">
            <a:avLst/>
          </a:prstGeom>
          <a:solidFill>
            <a:schemeClr val="accent5"/>
          </a:solidFill>
          <a:ln w="12700">
            <a:solidFill>
              <a:schemeClr val="accent5"/>
            </a:solidFill>
            <a:prstDash val="solid"/>
          </a:ln>
        </p:spPr>
      </p:sp>
      <p:sp>
        <p:nvSpPr>
          <p:cNvPr id="26" name="removed line 12"/>
          <p:cNvSpPr/>
          <p:nvPr/>
        </p:nvSpPr>
        <p:spPr>
          <a:xfrm>
            <a:off x="502920" y="3936492"/>
            <a:ext cx="7178040" cy="233172"/>
          </a:xfrm>
          <a:prstGeom prst="rect">
            <a:avLst/>
          </a:prstGeom>
          <a:solidFill>
            <a:schemeClr val="accent5"/>
          </a:solidFill>
          <a:ln w="12700">
            <a:solidFill>
              <a:schemeClr val="accent5"/>
            </a:solidFill>
            <a:prstDash val="solid"/>
          </a:ln>
        </p:spPr>
      </p:sp>
      <p:sp>
        <p:nvSpPr>
          <p:cNvPr id="27"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28"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29"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0"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1"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2" name="added line 18"/>
          <p:cNvSpPr/>
          <p:nvPr/>
        </p:nvSpPr>
        <p:spPr>
          <a:xfrm>
            <a:off x="502920" y="5335524"/>
            <a:ext cx="7178040" cy="233172"/>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4197096"/>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4" name="code"/>
          <p:cNvSpPr txBox="1"/>
          <p:nvPr/>
        </p:nvSpPr>
        <p:spPr>
          <a:xfrm>
            <a:off x="850392" y="1371600"/>
            <a:ext cx="6812280" cy="4197096"/>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throw</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runtime_error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ECC48D"/>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m stays locked!</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unlock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bool empty() const { return q.empty();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std::size_t size() const { return q.size();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unlock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An exception skips unlock()</a:t>
            </a:r>
            <a:endParaRPr lang="en-US" sz="1600" dirty="0"/>
          </a:p>
        </p:txBody>
      </p:sp>
      <p:sp>
        <p:nvSpPr>
          <p:cNvPr id="37"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8"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[frozen: killed after 5 s]</a:t>
            </a:r>
            <a:endParaRPr lang="en-US" sz="12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pop() and size() lock too: reading q while another thread writes it is also a data race.</a:t>
            </a:r>
            <a:endParaRPr lang="en-US" sz="1400" dirty="0"/>
          </a:p>
        </p:txBody>
      </p:sp>
      <p:sp>
        <p:nvSpPr>
          <p:cNvPr id="43"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throw on an empty queue leaves pop() before m.unlock() runs, so the mutex stays locked.</a:t>
            </a:r>
            <a:endParaRPr lang="en-US" sz="1400" dirty="0"/>
          </a:p>
        </p:txBody>
      </p:sp>
      <p:sp>
        <p:nvSpPr>
          <p:cNvPr id="46"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395020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next thread that calls m.lock() waits forever. In v2's next_bug the whole program freezes.</a:t>
            </a:r>
            <a:endParaRPr lang="en-US" sz="1400" dirty="0"/>
          </a:p>
        </p:txBody>
      </p:sp>
      <p:sp>
        <p:nvSpPr>
          <p:cNvPr id="49" name="tag critical section"/>
          <p:cNvSpPr/>
          <p:nvPr/>
        </p:nvSpPr>
        <p:spPr>
          <a:xfrm>
            <a:off x="2606040" y="6510528"/>
            <a:ext cx="1517904"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2606040" y="6510528"/>
            <a:ext cx="1517904" cy="256032"/>
          </a:xfrm>
          <a:prstGeom prst="rect">
            <a:avLst/>
          </a:prstGeom>
          <a:noFill/>
          <a:ln/>
        </p:spPr>
        <p:txBody>
          <a:bodyPr wrap="square" lIns="0" tIns="0" rIns="0" bIns="0" rtlCol="0" anchor="ctr"/>
          <a:lstStyle/>
          <a:p>
            <a:pPr algn="ctr" indent="0" marL="0">
              <a:buNone/>
            </a:pPr>
            <a:r>
              <a:rPr lang="en-US" sz="1100" dirty="0">
                <a:solidFill>
                  <a:schemeClr val="accent1"/>
                </a:solidFill>
              </a:rPr>
              <a:t>critical section</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Constructor locks, destructor unlocks</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current"/>
          <p:cNvSpPr/>
          <p:nvPr/>
        </p:nvSpPr>
        <p:spPr>
          <a:xfrm>
            <a:off x="9130284" y="384048"/>
            <a:ext cx="173736" cy="173736"/>
          </a:xfrm>
          <a:prstGeom prst="ellipse">
            <a:avLst/>
          </a:prstGeom>
          <a:solidFill>
            <a:schemeClr val="accent1"/>
          </a:solidFill>
          <a:ln w="12700">
            <a:solidFill>
              <a:schemeClr val="accent1"/>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v3</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RAII locking</a:t>
            </a:r>
            <a:pPr indent="0" marL="0">
              <a:buNone/>
            </a:pPr>
            <a:r>
              <a:rPr lang="en-US" sz="1400" dirty="0">
                <a:solidFill>
                  <a:schemeClr val="bg2"/>
                </a:solidFill>
                <a:latin typeface="Consolas" pitchFamily="34" charset="0"/>
                <a:ea typeface="Consolas" pitchFamily="34" charset="-122"/>
                <a:cs typeface="Consolas" pitchFamily="34" charset="-120"/>
              </a:rPr>
              <a:t>   ·   queue.hpp · 1 of 4</a:t>
            </a:r>
            <a:endParaRPr lang="en-US" sz="1400" dirty="0"/>
          </a:p>
        </p:txBody>
      </p:sp>
      <p:sp>
        <p:nvSpPr>
          <p:cNvPr id="21"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2"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3" name="removed line 9"/>
          <p:cNvSpPr/>
          <p:nvPr/>
        </p:nvSpPr>
        <p:spPr>
          <a:xfrm>
            <a:off x="502920" y="3236976"/>
            <a:ext cx="7178040" cy="233172"/>
          </a:xfrm>
          <a:prstGeom prst="rect">
            <a:avLst/>
          </a:prstGeom>
          <a:solidFill>
            <a:schemeClr val="accent5"/>
          </a:solidFill>
          <a:ln w="12700">
            <a:solidFill>
              <a:schemeClr val="accent5"/>
            </a:solidFill>
            <a:prstDash val="solid"/>
          </a:ln>
        </p:spPr>
      </p:sp>
      <p:sp>
        <p:nvSpPr>
          <p:cNvPr id="24"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5" name="removed line 12"/>
          <p:cNvSpPr/>
          <p:nvPr/>
        </p:nvSpPr>
        <p:spPr>
          <a:xfrm>
            <a:off x="502920" y="3936492"/>
            <a:ext cx="7178040" cy="233172"/>
          </a:xfrm>
          <a:prstGeom prst="rect">
            <a:avLst/>
          </a:prstGeom>
          <a:solidFill>
            <a:schemeClr val="accent5"/>
          </a:solidFill>
          <a:ln w="12700">
            <a:solidFill>
              <a:schemeClr val="accent5"/>
            </a:solidFill>
            <a:prstDash val="solid"/>
          </a:ln>
        </p:spPr>
      </p:sp>
      <p:sp>
        <p:nvSpPr>
          <p:cNvPr id="26" name="diff gutter"/>
          <p:cNvSpPr txBox="1"/>
          <p:nvPr/>
        </p:nvSpPr>
        <p:spPr>
          <a:xfrm>
            <a:off x="576072" y="1371600"/>
            <a:ext cx="228600" cy="3031236"/>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27" name="code"/>
          <p:cNvSpPr txBox="1"/>
          <p:nvPr/>
        </p:nvSpPr>
        <p:spPr>
          <a:xfrm>
            <a:off x="850392" y="1371600"/>
            <a:ext cx="6812280" cy="3031236"/>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std::mutex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mutable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m.lock();</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m.unlock();</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28" name="Text 26"/>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29" name="Text 27"/>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An exception froze every thread</a:t>
            </a:r>
            <a:endParaRPr lang="en-US" sz="1600" dirty="0"/>
          </a:p>
        </p:txBody>
      </p:sp>
      <p:sp>
        <p:nvSpPr>
          <p:cNvPr id="30"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1"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v2</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[frozen: killed after 5 s]</a:t>
            </a:r>
            <a:endParaRPr lang="en-US" sz="1200" dirty="0"/>
          </a:p>
        </p:txBody>
      </p:sp>
      <p:sp>
        <p:nvSpPr>
          <p:cNvPr id="32" name="Text 30"/>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3"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4" name="Text 32"/>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5"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std::lock_guard&lt;std::mutex&gt; lock(m) calls m.lock() in its constructor, the moment it is created.</a:t>
            </a:r>
            <a:endParaRPr lang="en-US" sz="1400" dirty="0"/>
          </a:p>
        </p:txBody>
      </p:sp>
      <p:sp>
        <p:nvSpPr>
          <p:cNvPr id="36"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7" name="Text 35"/>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8"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When push() returns, or an exception leaves it, lock is destroyed and its destructor calls m.unlock(). No path can skip that.</a:t>
            </a:r>
            <a:endParaRPr lang="en-US" sz="1400" dirty="0"/>
          </a:p>
        </p:txBody>
      </p:sp>
      <p:sp>
        <p:nvSpPr>
          <p:cNvPr id="39"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1"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 becomes mutable so that const functions (empty, size) can lock it: locking changes the mutex, not the queue's contents.</a:t>
            </a:r>
            <a:endParaRPr lang="en-US" sz="1400" dirty="0"/>
          </a:p>
        </p:txBody>
      </p:sp>
      <p:sp>
        <p:nvSpPr>
          <p:cNvPr id="42" name="tag lock_guard"/>
          <p:cNvSpPr/>
          <p:nvPr/>
        </p:nvSpPr>
        <p:spPr>
          <a:xfrm>
            <a:off x="2606040" y="6510528"/>
            <a:ext cx="1051560" cy="256032"/>
          </a:xfrm>
          <a:prstGeom prst="roundRect">
            <a:avLst>
              <a:gd name="adj" fmla="val 50000"/>
            </a:avLst>
          </a:prstGeom>
          <a:solidFill>
            <a:schemeClr val="tx1"/>
          </a:solidFill>
          <a:ln w="12700">
            <a:solidFill>
              <a:schemeClr val="accent1"/>
            </a:solidFill>
            <a:prstDash val="solid"/>
          </a:ln>
        </p:spPr>
      </p:sp>
      <p:sp>
        <p:nvSpPr>
          <p:cNvPr id="43" name="Text 41"/>
          <p:cNvSpPr txBox="1"/>
          <p:nvPr/>
        </p:nvSpPr>
        <p:spPr>
          <a:xfrm>
            <a:off x="2606040" y="6510528"/>
            <a:ext cx="1051560" cy="256032"/>
          </a:xfrm>
          <a:prstGeom prst="rect">
            <a:avLst/>
          </a:prstGeom>
          <a:noFill/>
          <a:ln/>
        </p:spPr>
        <p:txBody>
          <a:bodyPr wrap="square" lIns="0" tIns="0" rIns="0" bIns="0" rtlCol="0" anchor="ctr"/>
          <a:lstStyle/>
          <a:p>
            <a:pPr algn="ctr" indent="0" marL="0">
              <a:buNone/>
            </a:pPr>
            <a:r>
              <a:rPr lang="en-US" sz="1100" dirty="0">
                <a:solidFill>
                  <a:schemeClr val="accent1"/>
                </a:solidFill>
              </a:rPr>
              <a:t>lock_guard</a:t>
            </a:r>
            <a:endParaRPr lang="en-US" sz="1100" dirty="0"/>
          </a:p>
        </p:txBody>
      </p:sp>
      <p:sp>
        <p:nvSpPr>
          <p:cNvPr id="44" name="tag RAII"/>
          <p:cNvSpPr/>
          <p:nvPr/>
        </p:nvSpPr>
        <p:spPr>
          <a:xfrm>
            <a:off x="3749040" y="6510528"/>
            <a:ext cx="585216" cy="256032"/>
          </a:xfrm>
          <a:prstGeom prst="roundRect">
            <a:avLst>
              <a:gd name="adj" fmla="val 50000"/>
            </a:avLst>
          </a:prstGeom>
          <a:solidFill>
            <a:schemeClr val="tx1"/>
          </a:solidFill>
          <a:ln w="12700">
            <a:solidFill>
              <a:schemeClr val="accent1"/>
            </a:solidFill>
            <a:prstDash val="solid"/>
          </a:ln>
        </p:spPr>
      </p:sp>
      <p:sp>
        <p:nvSpPr>
          <p:cNvPr id="45" name="Text 43"/>
          <p:cNvSpPr txBox="1"/>
          <p:nvPr/>
        </p:nvSpPr>
        <p:spPr>
          <a:xfrm>
            <a:off x="3749040" y="6510528"/>
            <a:ext cx="585216" cy="256032"/>
          </a:xfrm>
          <a:prstGeom prst="rect">
            <a:avLst/>
          </a:prstGeom>
          <a:noFill/>
          <a:ln/>
        </p:spPr>
        <p:txBody>
          <a:bodyPr wrap="square" lIns="0" tIns="0" rIns="0" bIns="0" rtlCol="0" anchor="ctr"/>
          <a:lstStyle/>
          <a:p>
            <a:pPr algn="ctr" indent="0" marL="0">
              <a:buNone/>
            </a:pPr>
            <a:r>
              <a:rPr lang="en-US" sz="1100" dirty="0">
                <a:solidFill>
                  <a:schemeClr val="accent1"/>
                </a:solidFill>
              </a:rPr>
              <a:t>RAII</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Check, read and remove in one call</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current"/>
          <p:cNvSpPr/>
          <p:nvPr/>
        </p:nvSpPr>
        <p:spPr>
          <a:xfrm>
            <a:off x="9130284" y="384048"/>
            <a:ext cx="173736" cy="173736"/>
          </a:xfrm>
          <a:prstGeom prst="ellipse">
            <a:avLst/>
          </a:prstGeom>
          <a:solidFill>
            <a:schemeClr val="accent1"/>
          </a:solidFill>
          <a:ln w="12700">
            <a:solidFill>
              <a:schemeClr val="accent1"/>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v3</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RAII locking</a:t>
            </a:r>
            <a:pPr indent="0" marL="0">
              <a:buNone/>
            </a:pPr>
            <a:r>
              <a:rPr lang="en-US" sz="1400" dirty="0">
                <a:solidFill>
                  <a:schemeClr val="bg2"/>
                </a:solidFill>
                <a:latin typeface="Consolas" pitchFamily="34" charset="0"/>
                <a:ea typeface="Consolas" pitchFamily="34" charset="-122"/>
                <a:cs typeface="Consolas" pitchFamily="34" charset="-120"/>
              </a:rPr>
              <a:t>   ·   queue.hpp · 2 of 4</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3"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4" name="removed line 4"/>
          <p:cNvSpPr/>
          <p:nvPr/>
        </p:nvSpPr>
        <p:spPr>
          <a:xfrm>
            <a:off x="502920" y="2071116"/>
            <a:ext cx="7178040" cy="233172"/>
          </a:xfrm>
          <a:prstGeom prst="rect">
            <a:avLst/>
          </a:prstGeom>
          <a:solidFill>
            <a:schemeClr val="accent5"/>
          </a:solidFill>
          <a:ln w="12700">
            <a:solidFill>
              <a:schemeClr val="accent5"/>
            </a:solidFill>
            <a:prstDash val="solid"/>
          </a:ln>
        </p:spPr>
      </p:sp>
      <p:sp>
        <p:nvSpPr>
          <p:cNvPr id="25" name="removed line 5"/>
          <p:cNvSpPr/>
          <p:nvPr/>
        </p:nvSpPr>
        <p:spPr>
          <a:xfrm>
            <a:off x="502920" y="2304288"/>
            <a:ext cx="7178040" cy="233172"/>
          </a:xfrm>
          <a:prstGeom prst="rect">
            <a:avLst/>
          </a:prstGeom>
          <a:solidFill>
            <a:schemeClr val="accent5"/>
          </a:solidFill>
          <a:ln w="12700">
            <a:solidFill>
              <a:schemeClr val="accent5"/>
            </a:solidFill>
            <a:prstDash val="solid"/>
          </a:ln>
        </p:spPr>
      </p:sp>
      <p:sp>
        <p:nvSpPr>
          <p:cNvPr id="26" name="removed line 6"/>
          <p:cNvSpPr/>
          <p:nvPr/>
        </p:nvSpPr>
        <p:spPr>
          <a:xfrm>
            <a:off x="502920" y="2537460"/>
            <a:ext cx="7178040" cy="233172"/>
          </a:xfrm>
          <a:prstGeom prst="rect">
            <a:avLst/>
          </a:prstGeom>
          <a:solidFill>
            <a:schemeClr val="accent5"/>
          </a:solidFill>
          <a:ln w="12700">
            <a:solidFill>
              <a:schemeClr val="accent5"/>
            </a:solidFill>
            <a:prstDash val="solid"/>
          </a:ln>
        </p:spPr>
      </p:sp>
      <p:sp>
        <p:nvSpPr>
          <p:cNvPr id="27" name="removed line 7"/>
          <p:cNvSpPr/>
          <p:nvPr/>
        </p:nvSpPr>
        <p:spPr>
          <a:xfrm>
            <a:off x="502920" y="2770632"/>
            <a:ext cx="7178040" cy="233172"/>
          </a:xfrm>
          <a:prstGeom prst="rect">
            <a:avLst/>
          </a:prstGeom>
          <a:solidFill>
            <a:schemeClr val="accent5"/>
          </a:solidFill>
          <a:ln w="12700">
            <a:solidFill>
              <a:schemeClr val="accent5"/>
            </a:solidFill>
            <a:prstDash val="solid"/>
          </a:ln>
        </p:spPr>
      </p:sp>
      <p:sp>
        <p:nvSpPr>
          <p:cNvPr id="28" name="removed line 8"/>
          <p:cNvSpPr/>
          <p:nvPr/>
        </p:nvSpPr>
        <p:spPr>
          <a:xfrm>
            <a:off x="502920" y="3003804"/>
            <a:ext cx="7178040" cy="233172"/>
          </a:xfrm>
          <a:prstGeom prst="rect">
            <a:avLst/>
          </a:prstGeom>
          <a:solidFill>
            <a:schemeClr val="accent5"/>
          </a:solidFill>
          <a:ln w="12700">
            <a:solidFill>
              <a:schemeClr val="accent5"/>
            </a:solidFill>
            <a:prstDash val="solid"/>
          </a:ln>
        </p:spPr>
      </p:sp>
      <p:sp>
        <p:nvSpPr>
          <p:cNvPr id="29" name="removed line 9"/>
          <p:cNvSpPr/>
          <p:nvPr/>
        </p:nvSpPr>
        <p:spPr>
          <a:xfrm>
            <a:off x="502920" y="3236976"/>
            <a:ext cx="7178040" cy="233172"/>
          </a:xfrm>
          <a:prstGeom prst="rect">
            <a:avLst/>
          </a:prstGeom>
          <a:solidFill>
            <a:schemeClr val="accent5"/>
          </a:solidFill>
          <a:ln w="12700">
            <a:solidFill>
              <a:schemeClr val="accent5"/>
            </a:solidFill>
            <a:prstDash val="solid"/>
          </a:ln>
        </p:spPr>
      </p:sp>
      <p:sp>
        <p:nvSpPr>
          <p:cNvPr id="30"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1"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2"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3"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4"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5" name="added line 18"/>
          <p:cNvSpPr/>
          <p:nvPr/>
        </p:nvSpPr>
        <p:spPr>
          <a:xfrm>
            <a:off x="502920" y="5335524"/>
            <a:ext cx="7178040" cy="233172"/>
          </a:xfrm>
          <a:prstGeom prst="rect">
            <a:avLst/>
          </a:prstGeom>
          <a:solidFill>
            <a:schemeClr val="accent4"/>
          </a:solidFill>
          <a:ln w="12700">
            <a:solidFill>
              <a:schemeClr val="accent4"/>
            </a:solidFill>
            <a:prstDash val="solid"/>
          </a:ln>
        </p:spPr>
      </p:sp>
      <p:sp>
        <p:nvSpPr>
          <p:cNvPr id="36" name="diff gutter"/>
          <p:cNvSpPr txBox="1"/>
          <p:nvPr/>
        </p:nvSpPr>
        <p:spPr>
          <a:xfrm>
            <a:off x="576072" y="1371600"/>
            <a:ext cx="228600" cy="4197096"/>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7" name="code"/>
          <p:cNvSpPr txBox="1"/>
          <p:nvPr/>
        </p:nvSpPr>
        <p:spPr>
          <a:xfrm>
            <a:off x="850392" y="1371600"/>
            <a:ext cx="6812280" cy="4197096"/>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int pop()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m.lock();</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if (q.empty())</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throw std::runtime_error("empty");   // m stays locked!</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int x = q.front();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q.pop();</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m.unlock();</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return x;</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try_pop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8" name="Text 36"/>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9" name="Text 37"/>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Two consumers raced for the last item</a:t>
            </a:r>
            <a:endParaRPr lang="en-US" sz="1600" dirty="0"/>
          </a:p>
        </p:txBody>
      </p:sp>
      <p:sp>
        <p:nvSpPr>
          <p:cNvPr id="40" name="Text 38"/>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1"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2" name="Text 40"/>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3"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With empty() and pop() as separate calls, two consumers can both see 'not empty' for the last item; one of them then pops an empty queue.</a:t>
            </a:r>
            <a:endParaRPr lang="en-US" sz="1400" dirty="0"/>
          </a:p>
        </p:txBody>
      </p:sp>
      <p:sp>
        <p:nvSpPr>
          <p:cNvPr id="44"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5" name="Text 43"/>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6" name="explanation 2"/>
          <p:cNvSpPr txBox="1"/>
          <p:nvPr/>
        </p:nvSpPr>
        <p:spPr>
          <a:xfrm>
            <a:off x="8430768" y="341376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try_pop() checks, reads and removes while holding the lock once, so no other thread can act in between.</a:t>
            </a:r>
            <a:endParaRPr lang="en-US" sz="1400" dirty="0"/>
          </a:p>
        </p:txBody>
      </p:sp>
      <p:sp>
        <p:nvSpPr>
          <p:cNvPr id="47"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8" name="Text 46"/>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9"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It returns false instead of throwing, and writes the value into out. The caller decides what to do when there's nothing.</a:t>
            </a:r>
            <a:endParaRPr lang="en-US" sz="1400" dirty="0"/>
          </a:p>
        </p:txBody>
      </p:sp>
      <p:sp>
        <p:nvSpPr>
          <p:cNvPr id="50" name="tag try_pop"/>
          <p:cNvSpPr/>
          <p:nvPr/>
        </p:nvSpPr>
        <p:spPr>
          <a:xfrm>
            <a:off x="2606040" y="6510528"/>
            <a:ext cx="818388" cy="256032"/>
          </a:xfrm>
          <a:prstGeom prst="roundRect">
            <a:avLst>
              <a:gd name="adj" fmla="val 50000"/>
            </a:avLst>
          </a:prstGeom>
          <a:solidFill>
            <a:schemeClr val="tx1"/>
          </a:solidFill>
          <a:ln w="12700">
            <a:solidFill>
              <a:schemeClr val="accent1"/>
            </a:solidFill>
            <a:prstDash val="solid"/>
          </a:ln>
        </p:spPr>
      </p:sp>
      <p:sp>
        <p:nvSpPr>
          <p:cNvPr id="51" name="Text 49"/>
          <p:cNvSpPr txBox="1"/>
          <p:nvPr/>
        </p:nvSpPr>
        <p:spPr>
          <a:xfrm>
            <a:off x="2606040" y="6510528"/>
            <a:ext cx="818388" cy="256032"/>
          </a:xfrm>
          <a:prstGeom prst="rect">
            <a:avLst/>
          </a:prstGeom>
          <a:noFill/>
          <a:ln/>
        </p:spPr>
        <p:txBody>
          <a:bodyPr wrap="square" lIns="0" tIns="0" rIns="0" bIns="0" rtlCol="0" anchor="ctr"/>
          <a:lstStyle/>
          <a:p>
            <a:pPr algn="ctr" indent="0" marL="0">
              <a:buNone/>
            </a:pPr>
            <a:r>
              <a:rPr lang="en-US" sz="1100" dirty="0">
                <a:solidFill>
                  <a:schemeClr val="accent1"/>
                </a:solidFill>
              </a:rPr>
              <a:t>try_pop</a:t>
            </a:r>
            <a:endParaRPr lang="en-US" sz="1100" dirty="0"/>
          </a:p>
        </p:txBody>
      </p:sp>
      <p:sp>
        <p:nvSpPr>
          <p:cNvPr id="52" name="tag interface races"/>
          <p:cNvSpPr/>
          <p:nvPr/>
        </p:nvSpPr>
        <p:spPr>
          <a:xfrm>
            <a:off x="3515868" y="6510528"/>
            <a:ext cx="1440180" cy="256032"/>
          </a:xfrm>
          <a:prstGeom prst="roundRect">
            <a:avLst>
              <a:gd name="adj" fmla="val 50000"/>
            </a:avLst>
          </a:prstGeom>
          <a:solidFill>
            <a:schemeClr val="tx1"/>
          </a:solidFill>
          <a:ln w="12700">
            <a:solidFill>
              <a:schemeClr val="accent1"/>
            </a:solidFill>
            <a:prstDash val="solid"/>
          </a:ln>
        </p:spPr>
      </p:sp>
      <p:sp>
        <p:nvSpPr>
          <p:cNvPr id="53" name="Text 51"/>
          <p:cNvSpPr txBox="1"/>
          <p:nvPr/>
        </p:nvSpPr>
        <p:spPr>
          <a:xfrm>
            <a:off x="3515868" y="6510528"/>
            <a:ext cx="1440180" cy="256032"/>
          </a:xfrm>
          <a:prstGeom prst="rect">
            <a:avLst/>
          </a:prstGeom>
          <a:noFill/>
          <a:ln/>
        </p:spPr>
        <p:txBody>
          <a:bodyPr wrap="square" lIns="0" tIns="0" rIns="0" bIns="0" rtlCol="0" anchor="ctr"/>
          <a:lstStyle/>
          <a:p>
            <a:pPr algn="ctr" indent="0" marL="0">
              <a:buNone/>
            </a:pPr>
            <a:r>
              <a:rPr lang="en-US" sz="1100" dirty="0">
                <a:solidFill>
                  <a:schemeClr val="accent1"/>
                </a:solidFill>
              </a:rPr>
              <a:t>interface races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const queries have to lock too</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current"/>
          <p:cNvSpPr/>
          <p:nvPr/>
        </p:nvSpPr>
        <p:spPr>
          <a:xfrm>
            <a:off x="9130284" y="384048"/>
            <a:ext cx="173736" cy="173736"/>
          </a:xfrm>
          <a:prstGeom prst="ellipse">
            <a:avLst/>
          </a:prstGeom>
          <a:solidFill>
            <a:schemeClr val="accent1"/>
          </a:solidFill>
          <a:ln w="12700">
            <a:solidFill>
              <a:schemeClr val="accent1"/>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v3</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RAII locking</a:t>
            </a:r>
            <a:pPr indent="0" marL="0">
              <a:buNone/>
            </a:pPr>
            <a:r>
              <a:rPr lang="en-US" sz="1400" dirty="0">
                <a:solidFill>
                  <a:schemeClr val="bg2"/>
                </a:solidFill>
                <a:latin typeface="Consolas" pitchFamily="34" charset="0"/>
                <a:ea typeface="Consolas" pitchFamily="34" charset="-122"/>
                <a:cs typeface="Consolas" pitchFamily="34" charset="-120"/>
              </a:rPr>
              <a:t>   ·   queue.hpp · 3 of 4</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3"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4" name="removed line 4"/>
          <p:cNvSpPr/>
          <p:nvPr/>
        </p:nvSpPr>
        <p:spPr>
          <a:xfrm>
            <a:off x="502920" y="2071116"/>
            <a:ext cx="7178040" cy="233172"/>
          </a:xfrm>
          <a:prstGeom prst="rect">
            <a:avLst/>
          </a:prstGeom>
          <a:solidFill>
            <a:schemeClr val="accent5"/>
          </a:solidFill>
          <a:ln w="12700">
            <a:solidFill>
              <a:schemeClr val="accent5"/>
            </a:solidFill>
            <a:prstDash val="solid"/>
          </a:ln>
        </p:spPr>
      </p:sp>
      <p:sp>
        <p:nvSpPr>
          <p:cNvPr id="25" name="removed line 5"/>
          <p:cNvSpPr/>
          <p:nvPr/>
        </p:nvSpPr>
        <p:spPr>
          <a:xfrm>
            <a:off x="502920" y="2304288"/>
            <a:ext cx="7178040" cy="233172"/>
          </a:xfrm>
          <a:prstGeom prst="rect">
            <a:avLst/>
          </a:prstGeom>
          <a:solidFill>
            <a:schemeClr val="accent5"/>
          </a:solidFill>
          <a:ln w="12700">
            <a:solidFill>
              <a:schemeClr val="accent5"/>
            </a:solidFill>
            <a:prstDash val="solid"/>
          </a:ln>
        </p:spPr>
      </p:sp>
      <p:sp>
        <p:nvSpPr>
          <p:cNvPr id="26" name="removed line 6"/>
          <p:cNvSpPr/>
          <p:nvPr/>
        </p:nvSpPr>
        <p:spPr>
          <a:xfrm>
            <a:off x="502920" y="2537460"/>
            <a:ext cx="7178040" cy="233172"/>
          </a:xfrm>
          <a:prstGeom prst="rect">
            <a:avLst/>
          </a:prstGeom>
          <a:solidFill>
            <a:schemeClr val="accent5"/>
          </a:solidFill>
          <a:ln w="12700">
            <a:solidFill>
              <a:schemeClr val="accent5"/>
            </a:solidFill>
            <a:prstDash val="solid"/>
          </a:ln>
        </p:spPr>
      </p:sp>
      <p:sp>
        <p:nvSpPr>
          <p:cNvPr id="27"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8"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9"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0"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1"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2"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3"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4"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5" name="diff gutter"/>
          <p:cNvSpPr txBox="1"/>
          <p:nvPr/>
        </p:nvSpPr>
        <p:spPr>
          <a:xfrm>
            <a:off x="576072" y="1371600"/>
            <a:ext cx="228600" cy="3730752"/>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6" name="code"/>
          <p:cNvSpPr txBox="1"/>
          <p:nvPr/>
        </p:nvSpPr>
        <p:spPr>
          <a:xfrm>
            <a:off x="850392" y="1371600"/>
            <a:ext cx="6812280" cy="3730752"/>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std::size_t size()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m.lock();</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std::size_t n = q.size();</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m.unlock();</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return n;</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a snapshot only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7" name="Text 3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8" name="Text 3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Reading while another thread writes is a race</a:t>
            </a:r>
            <a:endParaRPr lang="en-US" sz="16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empty() and size() only read q, but another thread may be writing it at that moment, so they lock as well.</a:t>
            </a:r>
            <a:endParaRPr lang="en-US" sz="1400" dirty="0"/>
          </a:p>
        </p:txBody>
      </p:sp>
      <p:sp>
        <p:nvSpPr>
          <p:cNvPr id="43"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20040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They are const member functions, which is why m had to become mutable.</a:t>
            </a:r>
            <a:endParaRPr lang="en-US" sz="1400" dirty="0"/>
          </a:p>
        </p:txBody>
      </p:sp>
      <p:sp>
        <p:nvSpPr>
          <p:cNvPr id="46"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373684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Their answer is a snapshot: by the time the caller acts on 'not empty', another thread may have taken the item. That's why try_pop() exists.</a:t>
            </a:r>
            <a:endParaRPr lang="en-US" sz="1400" dirty="0"/>
          </a:p>
        </p:txBody>
      </p:sp>
      <p:sp>
        <p:nvSpPr>
          <p:cNvPr id="49" name="tag mutable"/>
          <p:cNvSpPr/>
          <p:nvPr/>
        </p:nvSpPr>
        <p:spPr>
          <a:xfrm>
            <a:off x="2606040" y="6510528"/>
            <a:ext cx="818388"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2606040" y="6510528"/>
            <a:ext cx="818388" cy="256032"/>
          </a:xfrm>
          <a:prstGeom prst="rect">
            <a:avLst/>
          </a:prstGeom>
          <a:noFill/>
          <a:ln/>
        </p:spPr>
        <p:txBody>
          <a:bodyPr wrap="square" lIns="0" tIns="0" rIns="0" bIns="0" rtlCol="0" anchor="ctr"/>
          <a:lstStyle/>
          <a:p>
            <a:pPr algn="ctr" indent="0" marL="0">
              <a:buNone/>
            </a:pPr>
            <a:r>
              <a:rPr lang="en-US" sz="1100" dirty="0">
                <a:solidFill>
                  <a:schemeClr val="accent1"/>
                </a:solidFill>
              </a:rPr>
              <a:t>mutable</a:t>
            </a:r>
            <a:endParaRPr lang="en-US" sz="1100" dirty="0"/>
          </a:p>
        </p:txBody>
      </p:sp>
      <p:sp>
        <p:nvSpPr>
          <p:cNvPr id="51" name="tag snapshots"/>
          <p:cNvSpPr/>
          <p:nvPr/>
        </p:nvSpPr>
        <p:spPr>
          <a:xfrm>
            <a:off x="3515868" y="6510528"/>
            <a:ext cx="973836" cy="256032"/>
          </a:xfrm>
          <a:prstGeom prst="roundRect">
            <a:avLst>
              <a:gd name="adj" fmla="val 50000"/>
            </a:avLst>
          </a:prstGeom>
          <a:solidFill>
            <a:schemeClr val="tx1"/>
          </a:solidFill>
          <a:ln w="12700">
            <a:solidFill>
              <a:schemeClr val="accent1"/>
            </a:solidFill>
            <a:prstDash val="solid"/>
          </a:ln>
        </p:spPr>
      </p:sp>
      <p:sp>
        <p:nvSpPr>
          <p:cNvPr id="52" name="Text 50"/>
          <p:cNvSpPr txBox="1"/>
          <p:nvPr/>
        </p:nvSpPr>
        <p:spPr>
          <a:xfrm>
            <a:off x="3515868" y="6510528"/>
            <a:ext cx="973836" cy="256032"/>
          </a:xfrm>
          <a:prstGeom prst="rect">
            <a:avLst/>
          </a:prstGeom>
          <a:noFill/>
          <a:ln/>
        </p:spPr>
        <p:txBody>
          <a:bodyPr wrap="square" lIns="0" tIns="0" rIns="0" bIns="0" rtlCol="0" anchor="ctr"/>
          <a:lstStyle/>
          <a:p>
            <a:pPr algn="ctr" indent="0" marL="0">
              <a:buNone/>
            </a:pPr>
            <a:r>
              <a:rPr lang="en-US" sz="1100" dirty="0">
                <a:solidFill>
                  <a:schemeClr val="accent1"/>
                </a:solidFill>
              </a:rPr>
              <a:t>snapshots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Consumers loop on try_pop, for now</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current"/>
          <p:cNvSpPr/>
          <p:nvPr/>
        </p:nvSpPr>
        <p:spPr>
          <a:xfrm>
            <a:off x="9130284" y="384048"/>
            <a:ext cx="173736" cy="173736"/>
          </a:xfrm>
          <a:prstGeom prst="ellipse">
            <a:avLst/>
          </a:prstGeom>
          <a:solidFill>
            <a:schemeClr val="accent1"/>
          </a:solidFill>
          <a:ln w="12700">
            <a:solidFill>
              <a:schemeClr val="accent1"/>
            </a:solidFill>
            <a:prstDash val="solid"/>
          </a:ln>
        </p:spPr>
      </p:sp>
      <p:sp>
        <p:nvSpPr>
          <p:cNvPr id="7" name="progress todo"/>
          <p:cNvSpPr/>
          <p:nvPr/>
        </p:nvSpPr>
        <p:spPr>
          <a:xfrm>
            <a:off x="9390888" y="411480"/>
            <a:ext cx="118872" cy="118872"/>
          </a:xfrm>
          <a:prstGeom prst="ellipse">
            <a:avLst/>
          </a:prstGeom>
          <a:solidFill>
            <a:schemeClr val="tx1"/>
          </a:solidFill>
          <a:ln w="12700">
            <a:solidFill>
              <a:schemeClr val="bg2"/>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v3</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RAII locking</a:t>
            </a:r>
            <a:pPr indent="0" marL="0">
              <a:buNone/>
            </a:pPr>
            <a:r>
              <a:rPr lang="en-US" sz="1400" dirty="0">
                <a:solidFill>
                  <a:schemeClr val="bg2"/>
                </a:solidFill>
                <a:latin typeface="Consolas" pitchFamily="34" charset="0"/>
                <a:ea typeface="Consolas" pitchFamily="34" charset="-122"/>
                <a:cs typeface="Consolas" pitchFamily="34" charset="-120"/>
              </a:rPr>
              <a:t>   ·   queue.hpp · 4 of 4</a:t>
            </a:r>
            <a:endParaRPr lang="en-US" sz="1400" dirty="0"/>
          </a:p>
        </p:txBody>
      </p:sp>
      <p:sp>
        <p:nvSpPr>
          <p:cNvPr id="21"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2"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3"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4"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5"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6"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7" name="diff gutter"/>
          <p:cNvSpPr txBox="1"/>
          <p:nvPr/>
        </p:nvSpPr>
        <p:spPr>
          <a:xfrm>
            <a:off x="576072" y="1371600"/>
            <a:ext cx="228600" cy="1865376"/>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28" name="code"/>
          <p:cNvSpPr txBox="1"/>
          <p:nvPr/>
        </p:nvSpPr>
        <p:spPr>
          <a:xfrm>
            <a:off x="850392" y="1371600"/>
            <a:ext cx="6812280" cy="1865376"/>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inline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consumer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spins while empty</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for (int i = 0; i &lt; n; ++i)</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q.pop();</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try_pop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29" name="Text 27"/>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0" name="Text 28"/>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Correct, but it spins</a:t>
            </a:r>
            <a:endParaRPr lang="en-US" sz="1600" dirty="0"/>
          </a:p>
        </p:txBody>
      </p:sp>
      <p:sp>
        <p:nvSpPr>
          <p:cNvPr id="31"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2"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v3</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checked an empty queue</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12301046 times in 1 s</a:t>
            </a:r>
            <a:endParaRPr lang="en-US" sz="1200" dirty="0"/>
          </a:p>
        </p:txBody>
      </p:sp>
      <p:sp>
        <p:nvSpPr>
          <p:cNvPr id="33" name="Text 31"/>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4"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6"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consumer calls try_pop() over and over and only counts the calls that returned true.</a:t>
            </a:r>
            <a:endParaRPr lang="en-US" sz="1400" dirty="0"/>
          </a:p>
        </p:txBody>
      </p:sp>
      <p:sp>
        <p:nvSpPr>
          <p:cNvPr id="37"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8" name="Text 36"/>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9" name="explanation 2"/>
          <p:cNvSpPr txBox="1"/>
          <p:nvPr/>
        </p:nvSpPr>
        <p:spPr>
          <a:xfrm>
            <a:off x="8430768" y="320040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That's correct: no exception, and every item is taken exactly once.</a:t>
            </a:r>
            <a:endParaRPr lang="en-US" sz="1400" dirty="0"/>
          </a:p>
        </p:txBody>
      </p:sp>
      <p:sp>
        <p:nvSpPr>
          <p:cNvPr id="40"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2" name="explanation 3"/>
          <p:cNvSpPr txBox="1"/>
          <p:nvPr/>
        </p:nvSpPr>
        <p:spPr>
          <a:xfrm>
            <a:off x="8430768" y="373684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But while the queue is empty it checks millions of times a second on a full CPU core. v4 replaces this loop with sleeping.</a:t>
            </a:r>
            <a:endParaRPr lang="en-US" sz="1400" dirty="0"/>
          </a:p>
        </p:txBody>
      </p:sp>
      <p:sp>
        <p:nvSpPr>
          <p:cNvPr id="43" name="tag busy waiting"/>
          <p:cNvSpPr/>
          <p:nvPr/>
        </p:nvSpPr>
        <p:spPr>
          <a:xfrm>
            <a:off x="2606040" y="6510528"/>
            <a:ext cx="1207008" cy="256032"/>
          </a:xfrm>
          <a:prstGeom prst="roundRect">
            <a:avLst>
              <a:gd name="adj" fmla="val 50000"/>
            </a:avLst>
          </a:prstGeom>
          <a:solidFill>
            <a:schemeClr val="tx1"/>
          </a:solidFill>
          <a:ln w="12700">
            <a:solidFill>
              <a:schemeClr val="accent1"/>
            </a:solidFill>
            <a:prstDash val="solid"/>
          </a:ln>
        </p:spPr>
      </p:sp>
      <p:sp>
        <p:nvSpPr>
          <p:cNvPr id="44" name="Text 42"/>
          <p:cNvSpPr txBox="1"/>
          <p:nvPr/>
        </p:nvSpPr>
        <p:spPr>
          <a:xfrm>
            <a:off x="2606040" y="6510528"/>
            <a:ext cx="1207008" cy="256032"/>
          </a:xfrm>
          <a:prstGeom prst="rect">
            <a:avLst/>
          </a:prstGeom>
          <a:noFill/>
          <a:ln/>
        </p:spPr>
        <p:txBody>
          <a:bodyPr wrap="square" lIns="0" tIns="0" rIns="0" bIns="0" rtlCol="0" anchor="ctr"/>
          <a:lstStyle/>
          <a:p>
            <a:pPr algn="ctr" indent="0" marL="0">
              <a:buNone/>
            </a:pPr>
            <a:r>
              <a:rPr lang="en-US" sz="1100" dirty="0">
                <a:solidFill>
                  <a:schemeClr val="accent1"/>
                </a:solidFill>
              </a:rPr>
              <a:t>busy waiting</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Notify after every push</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current"/>
          <p:cNvSpPr/>
          <p:nvPr/>
        </p:nvSpPr>
        <p:spPr>
          <a:xfrm>
            <a:off x="9363456" y="384048"/>
            <a:ext cx="173736" cy="173736"/>
          </a:xfrm>
          <a:prstGeom prst="ellipse">
            <a:avLst/>
          </a:prstGeom>
          <a:solidFill>
            <a:schemeClr val="accent1"/>
          </a:solidFill>
          <a:ln w="12700">
            <a:solidFill>
              <a:schemeClr val="accent1"/>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v4</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condition_variable</a:t>
            </a:r>
            <a:pPr indent="0" marL="0">
              <a:buNone/>
            </a:pPr>
            <a:r>
              <a:rPr lang="en-US" sz="1400" dirty="0">
                <a:solidFill>
                  <a:schemeClr val="bg2"/>
                </a:solidFill>
                <a:latin typeface="Consolas" pitchFamily="34" charset="0"/>
                <a:ea typeface="Consolas" pitchFamily="34" charset="-122"/>
                <a:cs typeface="Consolas" pitchFamily="34" charset="-120"/>
              </a:rPr>
              <a:t>   ·   queue.hpp · 1 of 2</a:t>
            </a:r>
            <a:endParaRPr lang="en-US" sz="1400" dirty="0"/>
          </a:p>
        </p:txBody>
      </p:sp>
      <p:sp>
        <p:nvSpPr>
          <p:cNvPr id="21"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2"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3"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24"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25" name="diff gutter"/>
          <p:cNvSpPr txBox="1"/>
          <p:nvPr/>
        </p:nvSpPr>
        <p:spPr>
          <a:xfrm>
            <a:off x="576072" y="1371600"/>
            <a:ext cx="228600" cy="3264408"/>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26" name="code"/>
          <p:cNvSpPr txBox="1"/>
          <p:nvPr/>
        </p:nvSpPr>
        <p:spPr>
          <a:xfrm>
            <a:off x="850392" y="1371600"/>
            <a:ext cx="6812280" cy="3264408"/>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mutable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condition_variable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notify_one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wake one waiter</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27" name="Text 2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28" name="Text 2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Idle consumer: 12.3M checks per second</a:t>
            </a:r>
            <a:endParaRPr lang="en-US" sz="1600" dirty="0"/>
          </a:p>
        </p:txBody>
      </p:sp>
      <p:sp>
        <p:nvSpPr>
          <p:cNvPr id="29"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0"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v3</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checked an empty queue</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12301046 times in 1 s</a:t>
            </a:r>
            <a:endParaRPr lang="en-US" sz="1200" dirty="0"/>
          </a:p>
        </p:txBody>
      </p:sp>
      <p:sp>
        <p:nvSpPr>
          <p:cNvPr id="31" name="Text 29"/>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2"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3" name="Text 31"/>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4" name="explanation 1"/>
          <p:cNvSpPr txBox="1"/>
          <p:nvPr/>
        </p:nvSpPr>
        <p:spPr>
          <a:xfrm>
            <a:off x="8430768" y="2450592"/>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std::condition_variable cv lets a thread sleep until another thread signals it.</a:t>
            </a:r>
            <a:endParaRPr lang="en-US" sz="1400" dirty="0"/>
          </a:p>
        </p:txBody>
      </p:sp>
      <p:sp>
        <p:nvSpPr>
          <p:cNvPr id="35" name="step 2"/>
          <p:cNvSpPr/>
          <p:nvPr/>
        </p:nvSpPr>
        <p:spPr>
          <a:xfrm>
            <a:off x="8046720" y="2996184"/>
            <a:ext cx="256032" cy="256032"/>
          </a:xfrm>
          <a:prstGeom prst="ellipse">
            <a:avLst/>
          </a:prstGeom>
          <a:solidFill>
            <a:schemeClr val="tx2"/>
          </a:solidFill>
          <a:ln w="15875">
            <a:solidFill>
              <a:schemeClr val="accent1"/>
            </a:solidFill>
            <a:prstDash val="solid"/>
          </a:ln>
        </p:spPr>
      </p:sp>
      <p:sp>
        <p:nvSpPr>
          <p:cNvPr id="36" name="Text 34"/>
          <p:cNvSpPr txBox="1"/>
          <p:nvPr/>
        </p:nvSpPr>
        <p:spPr>
          <a:xfrm>
            <a:off x="8046720" y="299618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7" name="explanation 2"/>
          <p:cNvSpPr txBox="1"/>
          <p:nvPr/>
        </p:nvSpPr>
        <p:spPr>
          <a:xfrm>
            <a:off x="8430768" y="298704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 adds the item under the lock; the inner braces then end the lock_guard's life, releasing m.</a:t>
            </a:r>
            <a:endParaRPr lang="en-US" sz="1400" dirty="0"/>
          </a:p>
        </p:txBody>
      </p:sp>
      <p:sp>
        <p:nvSpPr>
          <p:cNvPr id="38"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39" name="Text 37"/>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0" name="explanation 3"/>
          <p:cNvSpPr txBox="1"/>
          <p:nvPr/>
        </p:nvSpPr>
        <p:spPr>
          <a:xfrm>
            <a:off x="8430768" y="373684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Only then does it call cv.notify_one() to wake one sleeping consumer, which can take m straight away.</a:t>
            </a:r>
            <a:endParaRPr lang="en-US" sz="1400" dirty="0"/>
          </a:p>
        </p:txBody>
      </p:sp>
      <p:sp>
        <p:nvSpPr>
          <p:cNvPr id="41" name="tag condition_variable"/>
          <p:cNvSpPr/>
          <p:nvPr/>
        </p:nvSpPr>
        <p:spPr>
          <a:xfrm>
            <a:off x="2606040" y="6510528"/>
            <a:ext cx="1673352" cy="256032"/>
          </a:xfrm>
          <a:prstGeom prst="roundRect">
            <a:avLst>
              <a:gd name="adj" fmla="val 50000"/>
            </a:avLst>
          </a:prstGeom>
          <a:solidFill>
            <a:schemeClr val="tx1"/>
          </a:solidFill>
          <a:ln w="12700">
            <a:solidFill>
              <a:schemeClr val="accent1"/>
            </a:solidFill>
            <a:prstDash val="solid"/>
          </a:ln>
        </p:spPr>
      </p:sp>
      <p:sp>
        <p:nvSpPr>
          <p:cNvPr id="42" name="Text 40"/>
          <p:cNvSpPr txBox="1"/>
          <p:nvPr/>
        </p:nvSpPr>
        <p:spPr>
          <a:xfrm>
            <a:off x="2606040" y="6510528"/>
            <a:ext cx="1673352" cy="256032"/>
          </a:xfrm>
          <a:prstGeom prst="rect">
            <a:avLst/>
          </a:prstGeom>
          <a:noFill/>
          <a:ln/>
        </p:spPr>
        <p:txBody>
          <a:bodyPr wrap="square" lIns="0" tIns="0" rIns="0" bIns="0" rtlCol="0" anchor="ctr"/>
          <a:lstStyle/>
          <a:p>
            <a:pPr algn="ctr" indent="0" marL="0">
              <a:buNone/>
            </a:pPr>
            <a:r>
              <a:rPr lang="en-US" sz="1100" dirty="0">
                <a:solidFill>
                  <a:schemeClr val="accent1"/>
                </a:solidFill>
              </a:rPr>
              <a:t>condition_variable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Sleep until something changes</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current"/>
          <p:cNvSpPr/>
          <p:nvPr/>
        </p:nvSpPr>
        <p:spPr>
          <a:xfrm>
            <a:off x="9363456" y="384048"/>
            <a:ext cx="173736" cy="173736"/>
          </a:xfrm>
          <a:prstGeom prst="ellipse">
            <a:avLst/>
          </a:prstGeom>
          <a:solidFill>
            <a:schemeClr val="accent1"/>
          </a:solidFill>
          <a:ln w="12700">
            <a:solidFill>
              <a:schemeClr val="accent1"/>
            </a:solidFill>
            <a:prstDash val="solid"/>
          </a:ln>
        </p:spPr>
      </p:sp>
      <p:sp>
        <p:nvSpPr>
          <p:cNvPr id="8" name="progress todo"/>
          <p:cNvSpPr/>
          <p:nvPr/>
        </p:nvSpPr>
        <p:spPr>
          <a:xfrm>
            <a:off x="9624060" y="411480"/>
            <a:ext cx="118872" cy="118872"/>
          </a:xfrm>
          <a:prstGeom prst="ellipse">
            <a:avLst/>
          </a:prstGeom>
          <a:solidFill>
            <a:schemeClr val="tx1"/>
          </a:solidFill>
          <a:ln w="12700">
            <a:solidFill>
              <a:schemeClr val="bg2"/>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v4</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condition_variable</a:t>
            </a:r>
            <a:pPr indent="0" marL="0">
              <a:buNone/>
            </a:pPr>
            <a:r>
              <a:rPr lang="en-US" sz="1400" dirty="0">
                <a:solidFill>
                  <a:schemeClr val="bg2"/>
                </a:solidFill>
                <a:latin typeface="Consolas" pitchFamily="34" charset="0"/>
                <a:ea typeface="Consolas" pitchFamily="34" charset="-122"/>
                <a:cs typeface="Consolas" pitchFamily="34" charset="-120"/>
              </a:rPr>
              <a:t>   ·   queue.hpp · 2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removed line 10"/>
          <p:cNvSpPr/>
          <p:nvPr/>
        </p:nvSpPr>
        <p:spPr>
          <a:xfrm>
            <a:off x="502920" y="3470148"/>
            <a:ext cx="7178040" cy="233172"/>
          </a:xfrm>
          <a:prstGeom prst="rect">
            <a:avLst/>
          </a:prstGeom>
          <a:solidFill>
            <a:schemeClr val="accent5"/>
          </a:solidFill>
          <a:ln w="12700">
            <a:solidFill>
              <a:schemeClr val="accent5"/>
            </a:solidFill>
            <a:prstDash val="solid"/>
          </a:ln>
        </p:spPr>
      </p:sp>
      <p:sp>
        <p:nvSpPr>
          <p:cNvPr id="29" name="removed line 11"/>
          <p:cNvSpPr/>
          <p:nvPr/>
        </p:nvSpPr>
        <p:spPr>
          <a:xfrm>
            <a:off x="502920" y="3703320"/>
            <a:ext cx="7178040" cy="233172"/>
          </a:xfrm>
          <a:prstGeom prst="rect">
            <a:avLst/>
          </a:prstGeom>
          <a:solidFill>
            <a:schemeClr val="accent5"/>
          </a:solidFill>
          <a:ln w="12700">
            <a:solidFill>
              <a:schemeClr val="accent5"/>
            </a:solidFill>
            <a:prstDash val="solid"/>
          </a:ln>
        </p:spPr>
      </p:sp>
      <p:sp>
        <p:nvSpPr>
          <p:cNvPr id="30" name="removed line 12"/>
          <p:cNvSpPr/>
          <p:nvPr/>
        </p:nvSpPr>
        <p:spPr>
          <a:xfrm>
            <a:off x="502920" y="3936492"/>
            <a:ext cx="7178040" cy="233172"/>
          </a:xfrm>
          <a:prstGeom prst="rect">
            <a:avLst/>
          </a:prstGeom>
          <a:solidFill>
            <a:schemeClr val="accent5"/>
          </a:solidFill>
          <a:ln w="12700">
            <a:solidFill>
              <a:schemeClr val="accent5"/>
            </a:solidFill>
            <a:prstDash val="solid"/>
          </a:ln>
        </p:spPr>
      </p:sp>
      <p:sp>
        <p:nvSpPr>
          <p:cNvPr id="31" name="removed line 13"/>
          <p:cNvSpPr/>
          <p:nvPr/>
        </p:nvSpPr>
        <p:spPr>
          <a:xfrm>
            <a:off x="502920" y="4169664"/>
            <a:ext cx="7178040" cy="233172"/>
          </a:xfrm>
          <a:prstGeom prst="rect">
            <a:avLst/>
          </a:prstGeom>
          <a:solidFill>
            <a:schemeClr val="accent5"/>
          </a:solidFill>
          <a:ln w="12700">
            <a:solidFill>
              <a:schemeClr val="accent5"/>
            </a:solidFill>
            <a:prstDash val="solid"/>
          </a:ln>
        </p:spPr>
      </p:sp>
      <p:sp>
        <p:nvSpPr>
          <p:cNvPr id="32"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3"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4" name="diff gutter"/>
          <p:cNvSpPr txBox="1"/>
          <p:nvPr/>
        </p:nvSpPr>
        <p:spPr>
          <a:xfrm>
            <a:off x="576072" y="1371600"/>
            <a:ext cx="228600" cy="3730752"/>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35" name="code"/>
          <p:cNvSpPr txBox="1"/>
          <p:nvPr/>
        </p:nvSpPr>
        <p:spPr>
          <a:xfrm>
            <a:off x="850392" y="1371600"/>
            <a:ext cx="6812280" cy="3730752"/>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unique_lock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inline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consumer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sleeps while empty</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int x;</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for (int i = 0; i &lt; n;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if (q.try_pop(x))</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6" name="Text 34"/>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7" name="Text 35"/>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Spinning wastes a whole core</a:t>
            </a:r>
            <a:endParaRPr lang="en-US" sz="1600" dirty="0"/>
          </a:p>
        </p:txBody>
      </p:sp>
      <p:sp>
        <p:nvSpPr>
          <p:cNvPr id="38" name="Text 36"/>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9"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1"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wait_and_pop() uses std::unique_lock, not lock_guard, because cv.wait() has to unlock and re-lock the mutex.</a:t>
            </a:r>
            <a:endParaRPr lang="en-US" sz="1400" dirty="0"/>
          </a:p>
        </p:txBody>
      </p:sp>
      <p:sp>
        <p:nvSpPr>
          <p:cNvPr id="42"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4"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cv.wait(lock, predicate) checks the predicate. If the queue is empty it releases m and sleeps; when woken it re-locks m and checks again.</a:t>
            </a:r>
            <a:endParaRPr lang="en-US" sz="1400" dirty="0"/>
          </a:p>
        </p:txBody>
      </p:sp>
      <p:sp>
        <p:nvSpPr>
          <p:cNvPr id="45"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7"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re-check matters: wake-ups can be spurious, and another consumer may have taken the item first. Waiting now costs no CPU.</a:t>
            </a:r>
            <a:endParaRPr lang="en-US" sz="1400" dirty="0"/>
          </a:p>
        </p:txBody>
      </p:sp>
      <p:sp>
        <p:nvSpPr>
          <p:cNvPr id="48" name="tag unique_lock"/>
          <p:cNvSpPr/>
          <p:nvPr/>
        </p:nvSpPr>
        <p:spPr>
          <a:xfrm>
            <a:off x="2606040" y="6510528"/>
            <a:ext cx="1129284" cy="256032"/>
          </a:xfrm>
          <a:prstGeom prst="roundRect">
            <a:avLst>
              <a:gd name="adj" fmla="val 50000"/>
            </a:avLst>
          </a:prstGeom>
          <a:solidFill>
            <a:schemeClr val="tx1"/>
          </a:solidFill>
          <a:ln w="12700">
            <a:solidFill>
              <a:schemeClr val="accent1"/>
            </a:solidFill>
            <a:prstDash val="solid"/>
          </a:ln>
        </p:spPr>
      </p:sp>
      <p:sp>
        <p:nvSpPr>
          <p:cNvPr id="49" name="Text 47"/>
          <p:cNvSpPr txBox="1"/>
          <p:nvPr/>
        </p:nvSpPr>
        <p:spPr>
          <a:xfrm>
            <a:off x="2606040" y="6510528"/>
            <a:ext cx="1129284" cy="256032"/>
          </a:xfrm>
          <a:prstGeom prst="rect">
            <a:avLst/>
          </a:prstGeom>
          <a:noFill/>
          <a:ln/>
        </p:spPr>
        <p:txBody>
          <a:bodyPr wrap="square" lIns="0" tIns="0" rIns="0" bIns="0" rtlCol="0" anchor="ctr"/>
          <a:lstStyle/>
          <a:p>
            <a:pPr algn="ctr" indent="0" marL="0">
              <a:buNone/>
            </a:pPr>
            <a:r>
              <a:rPr lang="en-US" sz="1100" dirty="0">
                <a:solidFill>
                  <a:schemeClr val="accent1"/>
                </a:solidFill>
              </a:rPr>
              <a:t>unique_lock</a:t>
            </a:r>
            <a:endParaRPr lang="en-US" sz="1100" dirty="0"/>
          </a:p>
        </p:txBody>
      </p:sp>
      <p:sp>
        <p:nvSpPr>
          <p:cNvPr id="50" name="tag predicates"/>
          <p:cNvSpPr/>
          <p:nvPr/>
        </p:nvSpPr>
        <p:spPr>
          <a:xfrm>
            <a:off x="3826764" y="6510528"/>
            <a:ext cx="1051560" cy="256032"/>
          </a:xfrm>
          <a:prstGeom prst="roundRect">
            <a:avLst>
              <a:gd name="adj" fmla="val 50000"/>
            </a:avLst>
          </a:prstGeom>
          <a:solidFill>
            <a:schemeClr val="tx1"/>
          </a:solidFill>
          <a:ln w="12700">
            <a:solidFill>
              <a:schemeClr val="accent1"/>
            </a:solidFill>
            <a:prstDash val="solid"/>
          </a:ln>
        </p:spPr>
      </p:sp>
      <p:sp>
        <p:nvSpPr>
          <p:cNvPr id="51" name="Text 49"/>
          <p:cNvSpPr txBox="1"/>
          <p:nvPr/>
        </p:nvSpPr>
        <p:spPr>
          <a:xfrm>
            <a:off x="3826764" y="6510528"/>
            <a:ext cx="1051560" cy="256032"/>
          </a:xfrm>
          <a:prstGeom prst="rect">
            <a:avLst/>
          </a:prstGeom>
          <a:noFill/>
          <a:ln/>
        </p:spPr>
        <p:txBody>
          <a:bodyPr wrap="square" lIns="0" tIns="0" rIns="0" bIns="0" rtlCol="0" anchor="ctr"/>
          <a:lstStyle/>
          <a:p>
            <a:pPr algn="ctr" indent="0" marL="0">
              <a:buNone/>
            </a:pPr>
            <a:r>
              <a:rPr lang="en-US" sz="1100" dirty="0">
                <a:solidFill>
                  <a:schemeClr val="accent1"/>
                </a:solidFill>
              </a:rPr>
              <a:t>predicates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One lock per batch, not per item</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current"/>
          <p:cNvSpPr/>
          <p:nvPr/>
        </p:nvSpPr>
        <p:spPr>
          <a:xfrm>
            <a:off x="9596628" y="384048"/>
            <a:ext cx="173736" cy="173736"/>
          </a:xfrm>
          <a:prstGeom prst="ellipse">
            <a:avLst/>
          </a:prstGeom>
          <a:solidFill>
            <a:schemeClr val="accent1"/>
          </a:solidFill>
          <a:ln w="12700">
            <a:solidFill>
              <a:schemeClr val="accent1"/>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v5</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Many producers &amp; consumers</a:t>
            </a:r>
            <a:pPr indent="0" marL="0">
              <a:buNone/>
            </a:pPr>
            <a:r>
              <a:rPr lang="en-US" sz="1400" dirty="0">
                <a:solidFill>
                  <a:schemeClr val="bg2"/>
                </a:solidFill>
                <a:latin typeface="Consolas" pitchFamily="34" charset="0"/>
                <a:ea typeface="Consolas" pitchFamily="34" charset="-122"/>
                <a:cs typeface="Consolas" pitchFamily="34" charset="-120"/>
              </a:rPr>
              <a:t>   ·   queue.hpp · 1 of 2</a:t>
            </a:r>
            <a:endParaRPr lang="en-US" sz="1400" dirty="0"/>
          </a:p>
        </p:txBody>
      </p:sp>
      <p:sp>
        <p:nvSpPr>
          <p:cNvPr id="21" name="added line 1"/>
          <p:cNvSpPr/>
          <p:nvPr/>
        </p:nvSpPr>
        <p:spPr>
          <a:xfrm>
            <a:off x="502920" y="1371600"/>
            <a:ext cx="7178040" cy="219456"/>
          </a:xfrm>
          <a:prstGeom prst="rect">
            <a:avLst/>
          </a:prstGeom>
          <a:solidFill>
            <a:schemeClr val="accent4"/>
          </a:solidFill>
          <a:ln w="12700">
            <a:solidFill>
              <a:schemeClr val="accent4"/>
            </a:solidFill>
            <a:prstDash val="solid"/>
          </a:ln>
        </p:spPr>
      </p:sp>
      <p:sp>
        <p:nvSpPr>
          <p:cNvPr id="22" name="added line 2"/>
          <p:cNvSpPr/>
          <p:nvPr/>
        </p:nvSpPr>
        <p:spPr>
          <a:xfrm>
            <a:off x="502920" y="1591056"/>
            <a:ext cx="7178040" cy="219456"/>
          </a:xfrm>
          <a:prstGeom prst="rect">
            <a:avLst/>
          </a:prstGeom>
          <a:solidFill>
            <a:schemeClr val="accent4"/>
          </a:solidFill>
          <a:ln w="12700">
            <a:solidFill>
              <a:schemeClr val="accent4"/>
            </a:solidFill>
            <a:prstDash val="solid"/>
          </a:ln>
        </p:spPr>
      </p:sp>
      <p:sp>
        <p:nvSpPr>
          <p:cNvPr id="23" name="added line 3"/>
          <p:cNvSpPr/>
          <p:nvPr/>
        </p:nvSpPr>
        <p:spPr>
          <a:xfrm>
            <a:off x="502920" y="1810512"/>
            <a:ext cx="7178040" cy="219456"/>
          </a:xfrm>
          <a:prstGeom prst="rect">
            <a:avLst/>
          </a:prstGeom>
          <a:solidFill>
            <a:schemeClr val="accent4"/>
          </a:solidFill>
          <a:ln w="12700">
            <a:solidFill>
              <a:schemeClr val="accent4"/>
            </a:solidFill>
            <a:prstDash val="solid"/>
          </a:ln>
        </p:spPr>
      </p:sp>
      <p:sp>
        <p:nvSpPr>
          <p:cNvPr id="24" name="removed line 8"/>
          <p:cNvSpPr/>
          <p:nvPr/>
        </p:nvSpPr>
        <p:spPr>
          <a:xfrm>
            <a:off x="502920" y="2907792"/>
            <a:ext cx="7178040" cy="219456"/>
          </a:xfrm>
          <a:prstGeom prst="rect">
            <a:avLst/>
          </a:prstGeom>
          <a:solidFill>
            <a:schemeClr val="accent5"/>
          </a:solidFill>
          <a:ln w="12700">
            <a:solidFill>
              <a:schemeClr val="accent5"/>
            </a:solidFill>
            <a:prstDash val="solid"/>
          </a:ln>
        </p:spPr>
      </p:sp>
      <p:sp>
        <p:nvSpPr>
          <p:cNvPr id="25" name="added line 9"/>
          <p:cNvSpPr/>
          <p:nvPr/>
        </p:nvSpPr>
        <p:spPr>
          <a:xfrm>
            <a:off x="502920" y="3127248"/>
            <a:ext cx="7178040" cy="219456"/>
          </a:xfrm>
          <a:prstGeom prst="rect">
            <a:avLst/>
          </a:prstGeom>
          <a:solidFill>
            <a:schemeClr val="accent4"/>
          </a:solidFill>
          <a:ln w="12700">
            <a:solidFill>
              <a:schemeClr val="accent4"/>
            </a:solidFill>
            <a:prstDash val="solid"/>
          </a:ln>
        </p:spPr>
      </p:sp>
      <p:sp>
        <p:nvSpPr>
          <p:cNvPr id="26" name="added line 12"/>
          <p:cNvSpPr/>
          <p:nvPr/>
        </p:nvSpPr>
        <p:spPr>
          <a:xfrm>
            <a:off x="502920" y="3785616"/>
            <a:ext cx="7178040" cy="219456"/>
          </a:xfrm>
          <a:prstGeom prst="rect">
            <a:avLst/>
          </a:prstGeom>
          <a:solidFill>
            <a:schemeClr val="accent4"/>
          </a:solidFill>
          <a:ln w="12700">
            <a:solidFill>
              <a:schemeClr val="accent4"/>
            </a:solidFill>
            <a:prstDash val="solid"/>
          </a:ln>
        </p:spPr>
      </p:sp>
      <p:sp>
        <p:nvSpPr>
          <p:cNvPr id="27" name="added line 14"/>
          <p:cNvSpPr/>
          <p:nvPr/>
        </p:nvSpPr>
        <p:spPr>
          <a:xfrm>
            <a:off x="502920" y="4224528"/>
            <a:ext cx="7178040" cy="219456"/>
          </a:xfrm>
          <a:prstGeom prst="rect">
            <a:avLst/>
          </a:prstGeom>
          <a:solidFill>
            <a:schemeClr val="accent4"/>
          </a:solidFill>
          <a:ln w="12700">
            <a:solidFill>
              <a:schemeClr val="accent4"/>
            </a:solidFill>
            <a:prstDash val="solid"/>
          </a:ln>
        </p:spPr>
      </p:sp>
      <p:sp>
        <p:nvSpPr>
          <p:cNvPr id="28" name="added line 15"/>
          <p:cNvSpPr/>
          <p:nvPr/>
        </p:nvSpPr>
        <p:spPr>
          <a:xfrm>
            <a:off x="502920" y="4443984"/>
            <a:ext cx="7178040" cy="219456"/>
          </a:xfrm>
          <a:prstGeom prst="rect">
            <a:avLst/>
          </a:prstGeom>
          <a:solidFill>
            <a:schemeClr val="accent4"/>
          </a:solidFill>
          <a:ln w="12700">
            <a:solidFill>
              <a:schemeClr val="accent4"/>
            </a:solidFill>
            <a:prstDash val="solid"/>
          </a:ln>
        </p:spPr>
      </p:sp>
      <p:sp>
        <p:nvSpPr>
          <p:cNvPr id="29" name="added line 16"/>
          <p:cNvSpPr/>
          <p:nvPr/>
        </p:nvSpPr>
        <p:spPr>
          <a:xfrm>
            <a:off x="502920" y="4663440"/>
            <a:ext cx="7178040" cy="219456"/>
          </a:xfrm>
          <a:prstGeom prst="rect">
            <a:avLst/>
          </a:prstGeom>
          <a:solidFill>
            <a:schemeClr val="accent4"/>
          </a:solidFill>
          <a:ln w="12700">
            <a:solidFill>
              <a:schemeClr val="accent4"/>
            </a:solidFill>
            <a:prstDash val="solid"/>
          </a:ln>
        </p:spPr>
      </p:sp>
      <p:sp>
        <p:nvSpPr>
          <p:cNvPr id="30" name="added line 17"/>
          <p:cNvSpPr/>
          <p:nvPr/>
        </p:nvSpPr>
        <p:spPr>
          <a:xfrm>
            <a:off x="502920" y="4882896"/>
            <a:ext cx="7178040" cy="219456"/>
          </a:xfrm>
          <a:prstGeom prst="rect">
            <a:avLst/>
          </a:prstGeom>
          <a:solidFill>
            <a:schemeClr val="accent4"/>
          </a:solidFill>
          <a:ln w="12700">
            <a:solidFill>
              <a:schemeClr val="accent4"/>
            </a:solidFill>
            <a:prstDash val="solid"/>
          </a:ln>
        </p:spPr>
      </p:sp>
      <p:sp>
        <p:nvSpPr>
          <p:cNvPr id="31" name="added line 18"/>
          <p:cNvSpPr/>
          <p:nvPr/>
        </p:nvSpPr>
        <p:spPr>
          <a:xfrm>
            <a:off x="502920" y="5102352"/>
            <a:ext cx="7178040" cy="219456"/>
          </a:xfrm>
          <a:prstGeom prst="rect">
            <a:avLst/>
          </a:prstGeom>
          <a:solidFill>
            <a:schemeClr val="accent4"/>
          </a:solidFill>
          <a:ln w="12700">
            <a:solidFill>
              <a:schemeClr val="accent4"/>
            </a:solidFill>
            <a:prstDash val="solid"/>
          </a:ln>
        </p:spPr>
      </p:sp>
      <p:sp>
        <p:nvSpPr>
          <p:cNvPr id="32" name="added line 19"/>
          <p:cNvSpPr/>
          <p:nvPr/>
        </p:nvSpPr>
        <p:spPr>
          <a:xfrm>
            <a:off x="502920" y="5321808"/>
            <a:ext cx="7178040" cy="219456"/>
          </a:xfrm>
          <a:prstGeom prst="rect">
            <a:avLst/>
          </a:prstGeom>
          <a:solidFill>
            <a:schemeClr val="accent4"/>
          </a:solidFill>
          <a:ln w="12700">
            <a:solidFill>
              <a:schemeClr val="accent4"/>
            </a:solidFill>
            <a:prstDash val="solid"/>
          </a:ln>
        </p:spPr>
      </p:sp>
      <p:sp>
        <p:nvSpPr>
          <p:cNvPr id="33" name="added line 20"/>
          <p:cNvSpPr/>
          <p:nvPr/>
        </p:nvSpPr>
        <p:spPr>
          <a:xfrm>
            <a:off x="502920" y="5541264"/>
            <a:ext cx="7178040" cy="219456"/>
          </a:xfrm>
          <a:prstGeom prst="rect">
            <a:avLst/>
          </a:prstGeom>
          <a:solidFill>
            <a:schemeClr val="accent4"/>
          </a:solidFill>
          <a:ln w="12700">
            <a:solidFill>
              <a:schemeClr val="accent4"/>
            </a:solidFill>
            <a:prstDash val="solid"/>
          </a:ln>
        </p:spPr>
      </p:sp>
      <p:sp>
        <p:nvSpPr>
          <p:cNvPr id="34" name="added line 21"/>
          <p:cNvSpPr/>
          <p:nvPr/>
        </p:nvSpPr>
        <p:spPr>
          <a:xfrm>
            <a:off x="502920" y="5760720"/>
            <a:ext cx="7178040" cy="219456"/>
          </a:xfrm>
          <a:prstGeom prst="rect">
            <a:avLst/>
          </a:prstGeom>
          <a:solidFill>
            <a:schemeClr val="accent4"/>
          </a:solidFill>
          <a:ln w="12700">
            <a:solidFill>
              <a:schemeClr val="accent4"/>
            </a:solidFill>
            <a:prstDash val="solid"/>
          </a:ln>
        </p:spPr>
      </p:sp>
      <p:sp>
        <p:nvSpPr>
          <p:cNvPr id="35" name="diff gutter"/>
          <p:cNvSpPr txBox="1"/>
          <p:nvPr/>
        </p:nvSpPr>
        <p:spPr>
          <a:xfrm>
            <a:off x="576072" y="1371600"/>
            <a:ext cx="228600" cy="4608576"/>
          </a:xfrm>
          <a:prstGeom prst="rect">
            <a:avLst/>
          </a:prstGeom>
          <a:noFill/>
          <a:ln/>
        </p:spPr>
        <p:txBody>
          <a:bodyPr wrap="square" lIns="0" tIns="0" rIns="0" bIns="0" rtlCol="0" anchor="t"/>
          <a:lstStyle/>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6" name="code"/>
          <p:cNvSpPr txBox="1"/>
          <p:nvPr/>
        </p:nvSpPr>
        <p:spPr>
          <a:xfrm>
            <a:off x="850392" y="1371600"/>
            <a:ext cx="6812280" cy="4608576"/>
          </a:xfrm>
          <a:prstGeom prst="rect">
            <a:avLst/>
          </a:prstGeom>
          <a:noFill/>
          <a:ln/>
        </p:spPr>
        <p:txBody>
          <a:bodyPr wrap="square" lIns="0" tIns="0" rIns="0" bIns="0" rtlCol="0" anchor="t"/>
          <a:lstStyle/>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caller holds m</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q.push(x);</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notify_one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push_all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vector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&gt;&amp;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not push(): m is held</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notify_all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7" name="Text 3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8" name="Text 3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Lock per item: 177 ms vs 0.34 ms</a:t>
            </a:r>
            <a:endParaRPr lang="en-US" sz="1600" dirty="0"/>
          </a:p>
        </p:txBody>
      </p:sp>
      <p:sp>
        <p:nvSpPr>
          <p:cNvPr id="39"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0"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./tiny_contention</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A lock per item: 177.057 ms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B lock once:     0.343 ms</a:t>
            </a:r>
            <a:endParaRPr lang="en-US" sz="1200" dirty="0"/>
          </a:p>
        </p:txBody>
      </p:sp>
      <p:sp>
        <p:nvSpPr>
          <p:cNvPr id="41" name="Text 39"/>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2"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4" name="explanation 1"/>
          <p:cNvSpPr txBox="1"/>
          <p:nvPr/>
        </p:nvSpPr>
        <p:spPr>
          <a:xfrm>
            <a:off x="8430768" y="2450592"/>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push_locked() only pushes. It's private and assumes the caller already holds m.</a:t>
            </a:r>
            <a:endParaRPr lang="en-US" sz="1400" dirty="0"/>
          </a:p>
        </p:txBody>
      </p:sp>
      <p:sp>
        <p:nvSpPr>
          <p:cNvPr id="45" name="step 2"/>
          <p:cNvSpPr/>
          <p:nvPr/>
        </p:nvSpPr>
        <p:spPr>
          <a:xfrm>
            <a:off x="8046720" y="2996184"/>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299618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7" name="explanation 2"/>
          <p:cNvSpPr txBox="1"/>
          <p:nvPr/>
        </p:nvSpPr>
        <p:spPr>
          <a:xfrm>
            <a:off x="8430768" y="298704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push_all() locks once, pushes the whole batch through push_locked(), then wakes every consumer with notify_all().</a:t>
            </a:r>
            <a:endParaRPr lang="en-US" sz="1400" dirty="0"/>
          </a:p>
        </p:txBody>
      </p:sp>
      <p:sp>
        <p:nvSpPr>
          <p:cNvPr id="48"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9" name="Text 47"/>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0" name="explanation 3"/>
          <p:cNvSpPr txBox="1"/>
          <p:nvPr/>
        </p:nvSpPr>
        <p:spPr>
          <a:xfrm>
            <a:off x="8430768" y="373684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Calling push() inside push_all() would lock m twice from the same thread: undefined behaviour, in practice a hang.</a:t>
            </a:r>
            <a:endParaRPr lang="en-US" sz="1400" dirty="0"/>
          </a:p>
        </p:txBody>
      </p:sp>
      <p:sp>
        <p:nvSpPr>
          <p:cNvPr id="51" name="tag contention"/>
          <p:cNvSpPr/>
          <p:nvPr/>
        </p:nvSpPr>
        <p:spPr>
          <a:xfrm>
            <a:off x="2606040" y="6510528"/>
            <a:ext cx="1051560" cy="256032"/>
          </a:xfrm>
          <a:prstGeom prst="roundRect">
            <a:avLst>
              <a:gd name="adj" fmla="val 50000"/>
            </a:avLst>
          </a:prstGeom>
          <a:solidFill>
            <a:schemeClr val="tx1"/>
          </a:solidFill>
          <a:ln w="12700">
            <a:solidFill>
              <a:schemeClr val="accent1"/>
            </a:solidFill>
            <a:prstDash val="solid"/>
          </a:ln>
        </p:spPr>
      </p:sp>
      <p:sp>
        <p:nvSpPr>
          <p:cNvPr id="52" name="Text 50"/>
          <p:cNvSpPr txBox="1"/>
          <p:nvPr/>
        </p:nvSpPr>
        <p:spPr>
          <a:xfrm>
            <a:off x="2606040" y="6510528"/>
            <a:ext cx="1051560" cy="256032"/>
          </a:xfrm>
          <a:prstGeom prst="rect">
            <a:avLst/>
          </a:prstGeom>
          <a:noFill/>
          <a:ln/>
        </p:spPr>
        <p:txBody>
          <a:bodyPr wrap="square" lIns="0" tIns="0" rIns="0" bIns="0" rtlCol="0" anchor="ctr"/>
          <a:lstStyle/>
          <a:p>
            <a:pPr algn="ctr" indent="0" marL="0">
              <a:buNone/>
            </a:pPr>
            <a:r>
              <a:rPr lang="en-US" sz="1100" dirty="0">
                <a:solidFill>
                  <a:schemeClr val="accent1"/>
                </a:solidFill>
              </a:rPr>
              <a:t>contention</a:t>
            </a:r>
            <a:endParaRPr lang="en-US" sz="1100" dirty="0"/>
          </a:p>
        </p:txBody>
      </p:sp>
      <p:sp>
        <p:nvSpPr>
          <p:cNvPr id="53" name="tag batching"/>
          <p:cNvSpPr/>
          <p:nvPr/>
        </p:nvSpPr>
        <p:spPr>
          <a:xfrm>
            <a:off x="3749040" y="6510528"/>
            <a:ext cx="896112" cy="256032"/>
          </a:xfrm>
          <a:prstGeom prst="roundRect">
            <a:avLst>
              <a:gd name="adj" fmla="val 50000"/>
            </a:avLst>
          </a:prstGeom>
          <a:solidFill>
            <a:schemeClr val="tx1"/>
          </a:solidFill>
          <a:ln w="12700">
            <a:solidFill>
              <a:schemeClr val="accent1"/>
            </a:solidFill>
            <a:prstDash val="solid"/>
          </a:ln>
        </p:spPr>
      </p:sp>
      <p:sp>
        <p:nvSpPr>
          <p:cNvPr id="54" name="Text 52"/>
          <p:cNvSpPr txBox="1"/>
          <p:nvPr/>
        </p:nvSpPr>
        <p:spPr>
          <a:xfrm>
            <a:off x="3749040" y="6510528"/>
            <a:ext cx="896112" cy="256032"/>
          </a:xfrm>
          <a:prstGeom prst="rect">
            <a:avLst/>
          </a:prstGeom>
          <a:noFill/>
          <a:ln/>
        </p:spPr>
        <p:txBody>
          <a:bodyPr wrap="square" lIns="0" tIns="0" rIns="0" bIns="0" rtlCol="0" anchor="ctr"/>
          <a:lstStyle/>
          <a:p>
            <a:pPr algn="ctr" indent="0" marL="0">
              <a:buNone/>
            </a:pPr>
            <a:r>
              <a:rPr lang="en-US" sz="1100" dirty="0">
                <a:solidFill>
                  <a:schemeClr val="accent1"/>
                </a:solidFill>
              </a:rPr>
              <a:t>batching</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Two queues, two locks, taken together</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current"/>
          <p:cNvSpPr/>
          <p:nvPr/>
        </p:nvSpPr>
        <p:spPr>
          <a:xfrm>
            <a:off x="9596628" y="384048"/>
            <a:ext cx="173736" cy="173736"/>
          </a:xfrm>
          <a:prstGeom prst="ellipse">
            <a:avLst/>
          </a:prstGeom>
          <a:solidFill>
            <a:schemeClr val="accent1"/>
          </a:solidFill>
          <a:ln w="12700">
            <a:solidFill>
              <a:schemeClr val="accent1"/>
            </a:solidFill>
            <a:prstDash val="solid"/>
          </a:ln>
        </p:spPr>
      </p:sp>
      <p:sp>
        <p:nvSpPr>
          <p:cNvPr id="9" name="progress todo"/>
          <p:cNvSpPr/>
          <p:nvPr/>
        </p:nvSpPr>
        <p:spPr>
          <a:xfrm>
            <a:off x="9857232" y="411480"/>
            <a:ext cx="118872" cy="118872"/>
          </a:xfrm>
          <a:prstGeom prst="ellipse">
            <a:avLst/>
          </a:prstGeom>
          <a:solidFill>
            <a:schemeClr val="tx1"/>
          </a:solidFill>
          <a:ln w="12700">
            <a:solidFill>
              <a:schemeClr val="bg2"/>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v5</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Many producers &amp; consumers</a:t>
            </a:r>
            <a:pPr indent="0" marL="0">
              <a:buNone/>
            </a:pPr>
            <a:r>
              <a:rPr lang="en-US" sz="1400" dirty="0">
                <a:solidFill>
                  <a:schemeClr val="bg2"/>
                </a:solidFill>
                <a:latin typeface="Consolas" pitchFamily="34" charset="0"/>
                <a:ea typeface="Consolas" pitchFamily="34" charset="-122"/>
                <a:cs typeface="Consolas" pitchFamily="34" charset="-120"/>
              </a:rPr>
              <a:t>   ·   queue.hpp · 2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279806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4" name="code"/>
          <p:cNvSpPr txBox="1"/>
          <p:nvPr/>
        </p:nvSpPr>
        <p:spPr>
          <a:xfrm>
            <a:off x="850392" y="1371600"/>
            <a:ext cx="6812280" cy="2798064"/>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move_all_to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other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this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&amp;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other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locking m twice is UB</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scoped_lock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other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both, deadlock-free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other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other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notify_all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Opposite moves froze 3 runs of 3</a:t>
            </a:r>
            <a:endParaRPr lang="en-US" sz="1600" dirty="0"/>
          </a:p>
        </p:txBody>
      </p:sp>
      <p:sp>
        <p:nvSpPr>
          <p:cNvPr id="37"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8"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./tiny_deadlock</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frozen if nothing follows...</a:t>
            </a:r>
            <a:endParaRPr lang="en-US" sz="12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move_all_to() needs both queues' mutexes. If one thread locks q1 then q2 while another locks q2 then q1, each waits for the other forever.</a:t>
            </a:r>
            <a:endParaRPr lang="en-US" sz="1400" dirty="0"/>
          </a:p>
        </p:txBody>
      </p:sp>
      <p:sp>
        <p:nvSpPr>
          <p:cNvPr id="43"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std::scoped_lock lock(m, other.m) takes both with a deadlock-avoidance algorithm, so the order the threads ask in no longer matters.</a:t>
            </a:r>
            <a:endParaRPr lang="en-US" sz="1400" dirty="0"/>
          </a:p>
        </p:txBody>
      </p:sp>
      <p:sp>
        <p:nvSpPr>
          <p:cNvPr id="46"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437692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self-move check comes first, because locking the same mutex twice is undefined behaviour.</a:t>
            </a:r>
            <a:endParaRPr lang="en-US" sz="1400" dirty="0"/>
          </a:p>
        </p:txBody>
      </p:sp>
      <p:sp>
        <p:nvSpPr>
          <p:cNvPr id="49" name="tag deadlock"/>
          <p:cNvSpPr/>
          <p:nvPr/>
        </p:nvSpPr>
        <p:spPr>
          <a:xfrm>
            <a:off x="2606040" y="6510528"/>
            <a:ext cx="896112"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2606040" y="6510528"/>
            <a:ext cx="896112" cy="256032"/>
          </a:xfrm>
          <a:prstGeom prst="rect">
            <a:avLst/>
          </a:prstGeom>
          <a:noFill/>
          <a:ln/>
        </p:spPr>
        <p:txBody>
          <a:bodyPr wrap="square" lIns="0" tIns="0" rIns="0" bIns="0" rtlCol="0" anchor="ctr"/>
          <a:lstStyle/>
          <a:p>
            <a:pPr algn="ctr" indent="0" marL="0">
              <a:buNone/>
            </a:pPr>
            <a:r>
              <a:rPr lang="en-US" sz="1100" dirty="0">
                <a:solidFill>
                  <a:schemeClr val="accent1"/>
                </a:solidFill>
              </a:rPr>
              <a:t>deadlock</a:t>
            </a:r>
            <a:endParaRPr lang="en-US" sz="1100" dirty="0"/>
          </a:p>
        </p:txBody>
      </p:sp>
      <p:sp>
        <p:nvSpPr>
          <p:cNvPr id="51" name="tag scoped_lock"/>
          <p:cNvSpPr/>
          <p:nvPr/>
        </p:nvSpPr>
        <p:spPr>
          <a:xfrm>
            <a:off x="3593592" y="6510528"/>
            <a:ext cx="1129284" cy="256032"/>
          </a:xfrm>
          <a:prstGeom prst="roundRect">
            <a:avLst>
              <a:gd name="adj" fmla="val 50000"/>
            </a:avLst>
          </a:prstGeom>
          <a:solidFill>
            <a:schemeClr val="tx1"/>
          </a:solidFill>
          <a:ln w="12700">
            <a:solidFill>
              <a:schemeClr val="accent1"/>
            </a:solidFill>
            <a:prstDash val="solid"/>
          </a:ln>
        </p:spPr>
      </p:sp>
      <p:sp>
        <p:nvSpPr>
          <p:cNvPr id="52" name="Text 50"/>
          <p:cNvSpPr txBox="1"/>
          <p:nvPr/>
        </p:nvSpPr>
        <p:spPr>
          <a:xfrm>
            <a:off x="3593592" y="6510528"/>
            <a:ext cx="1129284" cy="256032"/>
          </a:xfrm>
          <a:prstGeom prst="rect">
            <a:avLst/>
          </a:prstGeom>
          <a:noFill/>
          <a:ln/>
        </p:spPr>
        <p:txBody>
          <a:bodyPr wrap="square" lIns="0" tIns="0" rIns="0" bIns="0" rtlCol="0" anchor="ctr"/>
          <a:lstStyle/>
          <a:p>
            <a:pPr algn="ctr" indent="0" marL="0">
              <a:buNone/>
            </a:pPr>
            <a:r>
              <a:rPr lang="en-US" sz="1100" dirty="0">
                <a:solidFill>
                  <a:schemeClr val="accent1"/>
                </a:solidFill>
              </a:rPr>
              <a:t>scoped_lock</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A closed flag, and pushes that can say no</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current"/>
          <p:cNvSpPr/>
          <p:nvPr/>
        </p:nvSpPr>
        <p:spPr>
          <a:xfrm>
            <a:off x="9829800" y="384048"/>
            <a:ext cx="173736" cy="173736"/>
          </a:xfrm>
          <a:prstGeom prst="ellipse">
            <a:avLst/>
          </a:prstGeom>
          <a:solidFill>
            <a:schemeClr val="accent1"/>
          </a:solidFill>
          <a:ln w="12700">
            <a:solidFill>
              <a:schemeClr val="accent1"/>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v6</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Graceful shutdown</a:t>
            </a:r>
            <a:pPr indent="0" marL="0">
              <a:buNone/>
            </a:pPr>
            <a:r>
              <a:rPr lang="en-US" sz="1400" dirty="0">
                <a:solidFill>
                  <a:schemeClr val="bg2"/>
                </a:solidFill>
                <a:latin typeface="Consolas" pitchFamily="34" charset="0"/>
                <a:ea typeface="Consolas" pitchFamily="34" charset="-122"/>
                <a:cs typeface="Consolas" pitchFamily="34" charset="-120"/>
              </a:rPr>
              <a:t>   ·   queue.hpp · 1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3"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4"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5"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6"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27"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28" name="diff gutter"/>
          <p:cNvSpPr txBox="1"/>
          <p:nvPr/>
        </p:nvSpPr>
        <p:spPr>
          <a:xfrm>
            <a:off x="576072" y="1371600"/>
            <a:ext cx="228600" cy="3031236"/>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29" name="code"/>
          <p:cNvSpPr txBox="1"/>
          <p:nvPr/>
        </p:nvSpPr>
        <p:spPr>
          <a:xfrm>
            <a:off x="850392" y="1371600"/>
            <a:ext cx="6812280" cy="3031236"/>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void push(int x)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false after shutdown()</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notify_one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0" name="Text 28"/>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1" name="Text 29"/>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Consumers never stopped</a:t>
            </a:r>
            <a:endParaRPr lang="en-US" sz="1600" dirty="0"/>
          </a:p>
        </p:txBody>
      </p:sp>
      <p:sp>
        <p:nvSpPr>
          <p:cNvPr id="32"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3"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v5</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all 4000 handled... now exit?</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[frozen]</a:t>
            </a:r>
            <a:endParaRPr lang="en-US" sz="1200" dirty="0"/>
          </a:p>
        </p:txBody>
      </p:sp>
      <p:sp>
        <p:nvSpPr>
          <p:cNvPr id="34" name="Text 32"/>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5"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6" name="Text 34"/>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7" name="explanation 1"/>
          <p:cNvSpPr txBox="1"/>
          <p:nvPr/>
        </p:nvSpPr>
        <p:spPr>
          <a:xfrm>
            <a:off x="8430768" y="2450592"/>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closed records that the queue has been shut down. It is protected by m, like q.</a:t>
            </a:r>
            <a:endParaRPr lang="en-US" sz="1400" dirty="0"/>
          </a:p>
        </p:txBody>
      </p:sp>
      <p:sp>
        <p:nvSpPr>
          <p:cNvPr id="38" name="step 2"/>
          <p:cNvSpPr/>
          <p:nvPr/>
        </p:nvSpPr>
        <p:spPr>
          <a:xfrm>
            <a:off x="8046720" y="2996184"/>
            <a:ext cx="256032" cy="256032"/>
          </a:xfrm>
          <a:prstGeom prst="ellipse">
            <a:avLst/>
          </a:prstGeom>
          <a:solidFill>
            <a:schemeClr val="tx2"/>
          </a:solidFill>
          <a:ln w="15875">
            <a:solidFill>
              <a:schemeClr val="accent1"/>
            </a:solidFill>
            <a:prstDash val="solid"/>
          </a:ln>
        </p:spPr>
      </p:sp>
      <p:sp>
        <p:nvSpPr>
          <p:cNvPr id="39" name="Text 37"/>
          <p:cNvSpPr txBox="1"/>
          <p:nvPr/>
        </p:nvSpPr>
        <p:spPr>
          <a:xfrm>
            <a:off x="8046720" y="299618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0" name="explanation 2"/>
          <p:cNvSpPr txBox="1"/>
          <p:nvPr/>
        </p:nvSpPr>
        <p:spPr>
          <a:xfrm>
            <a:off x="8430768" y="298704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 checks closed under the lock and returns false instead of adding the item.</a:t>
            </a:r>
            <a:endParaRPr lang="en-US" sz="1400" dirty="0"/>
          </a:p>
        </p:txBody>
      </p:sp>
      <p:sp>
        <p:nvSpPr>
          <p:cNvPr id="41" name="step 3"/>
          <p:cNvSpPr/>
          <p:nvPr/>
        </p:nvSpPr>
        <p:spPr>
          <a:xfrm>
            <a:off x="8046720" y="3532632"/>
            <a:ext cx="256032" cy="256032"/>
          </a:xfrm>
          <a:prstGeom prst="ellipse">
            <a:avLst/>
          </a:prstGeom>
          <a:solidFill>
            <a:schemeClr val="tx2"/>
          </a:solidFill>
          <a:ln w="15875">
            <a:solidFill>
              <a:schemeClr val="accent1"/>
            </a:solidFill>
            <a:prstDash val="solid"/>
          </a:ln>
        </p:spPr>
      </p:sp>
      <p:sp>
        <p:nvSpPr>
          <p:cNvPr id="42" name="Text 40"/>
          <p:cNvSpPr txBox="1"/>
          <p:nvPr/>
        </p:nvSpPr>
        <p:spPr>
          <a:xfrm>
            <a:off x="8046720" y="353263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3" name="explanation 3"/>
          <p:cNvSpPr txBox="1"/>
          <p:nvPr/>
        </p:nvSpPr>
        <p:spPr>
          <a:xfrm>
            <a:off x="8430768" y="352348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So once shutdown starts, no new work arrives while consumers finish what's left. push_all() gets the same check.</a:t>
            </a:r>
            <a:endParaRPr lang="en-US" sz="1400" dirty="0"/>
          </a:p>
        </p:txBody>
      </p:sp>
      <p:sp>
        <p:nvSpPr>
          <p:cNvPr id="44" name="tag lifecycle"/>
          <p:cNvSpPr/>
          <p:nvPr/>
        </p:nvSpPr>
        <p:spPr>
          <a:xfrm>
            <a:off x="2606040" y="6510528"/>
            <a:ext cx="973836" cy="256032"/>
          </a:xfrm>
          <a:prstGeom prst="roundRect">
            <a:avLst>
              <a:gd name="adj" fmla="val 50000"/>
            </a:avLst>
          </a:prstGeom>
          <a:solidFill>
            <a:schemeClr val="tx1"/>
          </a:solidFill>
          <a:ln w="12700">
            <a:solidFill>
              <a:schemeClr val="accent1"/>
            </a:solidFill>
            <a:prstDash val="solid"/>
          </a:ln>
        </p:spPr>
      </p:sp>
      <p:sp>
        <p:nvSpPr>
          <p:cNvPr id="45" name="Text 43"/>
          <p:cNvSpPr txBox="1"/>
          <p:nvPr/>
        </p:nvSpPr>
        <p:spPr>
          <a:xfrm>
            <a:off x="2606040" y="6510528"/>
            <a:ext cx="973836" cy="256032"/>
          </a:xfrm>
          <a:prstGeom prst="rect">
            <a:avLst/>
          </a:prstGeom>
          <a:noFill/>
          <a:ln/>
        </p:spPr>
        <p:txBody>
          <a:bodyPr wrap="square" lIns="0" tIns="0" rIns="0" bIns="0" rtlCol="0" anchor="ctr"/>
          <a:lstStyle/>
          <a:p>
            <a:pPr algn="ctr" indent="0" marL="0">
              <a:buNone/>
            </a:pPr>
            <a:r>
              <a:rPr lang="en-US" sz="1100" dirty="0">
                <a:solidFill>
                  <a:schemeClr val="accent1"/>
                </a:solidFill>
              </a:rPr>
              <a:t>lifecycle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Wake every waiter and let them leave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current"/>
          <p:cNvSpPr/>
          <p:nvPr/>
        </p:nvSpPr>
        <p:spPr>
          <a:xfrm>
            <a:off x="9829800" y="384048"/>
            <a:ext cx="173736" cy="173736"/>
          </a:xfrm>
          <a:prstGeom prst="ellipse">
            <a:avLst/>
          </a:prstGeom>
          <a:solidFill>
            <a:schemeClr val="accent1"/>
          </a:solidFill>
          <a:ln w="12700">
            <a:solidFill>
              <a:schemeClr val="accent1"/>
            </a:solidFill>
            <a:prstDash val="solid"/>
          </a:ln>
        </p:spPr>
      </p:sp>
      <p:sp>
        <p:nvSpPr>
          <p:cNvPr id="10" name="progress todo"/>
          <p:cNvSpPr/>
          <p:nvPr/>
        </p:nvSpPr>
        <p:spPr>
          <a:xfrm>
            <a:off x="10090404" y="411480"/>
            <a:ext cx="118872" cy="118872"/>
          </a:xfrm>
          <a:prstGeom prst="ellipse">
            <a:avLst/>
          </a:prstGeom>
          <a:solidFill>
            <a:schemeClr val="tx1"/>
          </a:solidFill>
          <a:ln w="12700">
            <a:solidFill>
              <a:schemeClr val="bg2"/>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v6</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Graceful shutdown</a:t>
            </a:r>
            <a:pPr indent="0" marL="0">
              <a:buNone/>
            </a:pPr>
            <a:r>
              <a:rPr lang="en-US" sz="1400" dirty="0">
                <a:solidFill>
                  <a:schemeClr val="bg2"/>
                </a:solidFill>
                <a:latin typeface="Consolas" pitchFamily="34" charset="0"/>
                <a:ea typeface="Consolas" pitchFamily="34" charset="-122"/>
                <a:cs typeface="Consolas" pitchFamily="34" charset="-120"/>
              </a:rPr>
              <a:t>   ·   queue.hpp · 2 of 2</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removed line 4"/>
          <p:cNvSpPr/>
          <p:nvPr/>
        </p:nvSpPr>
        <p:spPr>
          <a:xfrm>
            <a:off x="502920" y="2071116"/>
            <a:ext cx="7178040" cy="233172"/>
          </a:xfrm>
          <a:prstGeom prst="rect">
            <a:avLst/>
          </a:prstGeom>
          <a:solidFill>
            <a:schemeClr val="accent5"/>
          </a:solidFill>
          <a:ln w="12700">
            <a:solidFill>
              <a:schemeClr val="accent5"/>
            </a:solidFill>
            <a:prstDash val="solid"/>
          </a:ln>
        </p:spPr>
      </p:sp>
      <p:sp>
        <p:nvSpPr>
          <p:cNvPr id="24"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5"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6"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7"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28"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29"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0"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1"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2"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3" name="added line 18"/>
          <p:cNvSpPr/>
          <p:nvPr/>
        </p:nvSpPr>
        <p:spPr>
          <a:xfrm>
            <a:off x="502920" y="5335524"/>
            <a:ext cx="7178040" cy="233172"/>
          </a:xfrm>
          <a:prstGeom prst="rect">
            <a:avLst/>
          </a:prstGeom>
          <a:solidFill>
            <a:schemeClr val="accent4"/>
          </a:solidFill>
          <a:ln w="12700">
            <a:solidFill>
              <a:schemeClr val="accent4"/>
            </a:solidFill>
            <a:prstDash val="solid"/>
          </a:ln>
        </p:spPr>
      </p:sp>
      <p:sp>
        <p:nvSpPr>
          <p:cNvPr id="34" name="added line 19"/>
          <p:cNvSpPr/>
          <p:nvPr/>
        </p:nvSpPr>
        <p:spPr>
          <a:xfrm>
            <a:off x="502920" y="5568696"/>
            <a:ext cx="7178040" cy="233172"/>
          </a:xfrm>
          <a:prstGeom prst="rect">
            <a:avLst/>
          </a:prstGeom>
          <a:solidFill>
            <a:schemeClr val="accent4"/>
          </a:solidFill>
          <a:ln w="12700">
            <a:solidFill>
              <a:schemeClr val="accent4"/>
            </a:solidFill>
            <a:prstDash val="solid"/>
          </a:ln>
        </p:spPr>
      </p:sp>
      <p:sp>
        <p:nvSpPr>
          <p:cNvPr id="35" name="diff gutter"/>
          <p:cNvSpPr txBox="1"/>
          <p:nvPr/>
        </p:nvSpPr>
        <p:spPr>
          <a:xfrm>
            <a:off x="576072" y="1371600"/>
            <a:ext cx="228600" cy="4430268"/>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6" name="code"/>
          <p:cNvSpPr txBox="1"/>
          <p:nvPr/>
        </p:nvSpPr>
        <p:spPr>
          <a:xfrm>
            <a:off x="850392" y="1371600"/>
            <a:ext cx="6812280" cy="4430268"/>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int wait_and_pop()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optional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unique_lock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cv.wait(lock, [&amp;] { return !q.empty();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empty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closed and drained</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nullopt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front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shutdown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notify_all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every waiter must wake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7" name="Text 3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8" name="Text 3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notify_one leaves the rest asleep</a:t>
            </a:r>
            <a:endParaRPr lang="en-US" sz="16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wait_and_pop() returns std::optional&lt;int&gt;: a value, or nothing once the queue is closed and empty.</a:t>
            </a:r>
            <a:endParaRPr lang="en-US" sz="1400" dirty="0"/>
          </a:p>
        </p:txBody>
      </p:sp>
      <p:sp>
        <p:nvSpPr>
          <p:cNvPr id="43"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predicate wakes for either reason. If items are still queued at shutdown, it keeps handing them out until the queue is empty.</a:t>
            </a:r>
            <a:endParaRPr lang="en-US" sz="1400" dirty="0"/>
          </a:p>
        </p:txBody>
      </p:sp>
      <p:sp>
        <p:nvSpPr>
          <p:cNvPr id="46"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shutdown() sets closed under the lock, then notify_all(): every sleeping consumer must wake, see closed, and leave.</a:t>
            </a:r>
            <a:endParaRPr lang="en-US" sz="1400" dirty="0"/>
          </a:p>
        </p:txBody>
      </p:sp>
      <p:sp>
        <p:nvSpPr>
          <p:cNvPr id="49" name="tag notify_all"/>
          <p:cNvSpPr/>
          <p:nvPr/>
        </p:nvSpPr>
        <p:spPr>
          <a:xfrm>
            <a:off x="2606040" y="6510528"/>
            <a:ext cx="1051560"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2606040" y="6510528"/>
            <a:ext cx="1051560" cy="256032"/>
          </a:xfrm>
          <a:prstGeom prst="rect">
            <a:avLst/>
          </a:prstGeom>
          <a:noFill/>
          <a:ln/>
        </p:spPr>
        <p:txBody>
          <a:bodyPr wrap="square" lIns="0" tIns="0" rIns="0" bIns="0" rtlCol="0" anchor="ctr"/>
          <a:lstStyle/>
          <a:p>
            <a:pPr algn="ctr" indent="0" marL="0">
              <a:buNone/>
            </a:pPr>
            <a:r>
              <a:rPr lang="en-US" sz="1100" dirty="0">
                <a:solidFill>
                  <a:schemeClr val="accent1"/>
                </a:solidFill>
              </a:rPr>
              <a:t>notify_all</a:t>
            </a:r>
            <a:endParaRPr lang="en-US" sz="1100" dirty="0"/>
          </a:p>
        </p:txBody>
      </p:sp>
      <p:sp>
        <p:nvSpPr>
          <p:cNvPr id="51" name="tag std::optional"/>
          <p:cNvSpPr/>
          <p:nvPr/>
        </p:nvSpPr>
        <p:spPr>
          <a:xfrm>
            <a:off x="3749040" y="6510528"/>
            <a:ext cx="1284732" cy="256032"/>
          </a:xfrm>
          <a:prstGeom prst="roundRect">
            <a:avLst>
              <a:gd name="adj" fmla="val 50000"/>
            </a:avLst>
          </a:prstGeom>
          <a:solidFill>
            <a:schemeClr val="tx1"/>
          </a:solidFill>
          <a:ln w="12700">
            <a:solidFill>
              <a:schemeClr val="accent1"/>
            </a:solidFill>
            <a:prstDash val="solid"/>
          </a:ln>
        </p:spPr>
      </p:sp>
      <p:sp>
        <p:nvSpPr>
          <p:cNvPr id="52" name="Text 50"/>
          <p:cNvSpPr txBox="1"/>
          <p:nvPr/>
        </p:nvSpPr>
        <p:spPr>
          <a:xfrm>
            <a:off x="3749040" y="6510528"/>
            <a:ext cx="1284732" cy="256032"/>
          </a:xfrm>
          <a:prstGeom prst="rect">
            <a:avLst/>
          </a:prstGeom>
          <a:noFill/>
          <a:ln/>
        </p:spPr>
        <p:txBody>
          <a:bodyPr wrap="square" lIns="0" tIns="0" rIns="0" bIns="0" rtlCol="0" anchor="ctr"/>
          <a:lstStyle/>
          <a:p>
            <a:pPr algn="ctr" indent="0" marL="0">
              <a:buNone/>
            </a:pPr>
            <a:r>
              <a:rPr lang="en-US" sz="1100" dirty="0">
                <a:solidFill>
                  <a:schemeClr val="accent1"/>
                </a:solidFill>
              </a:rPr>
              <a:t>std::optional</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Make it a template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current"/>
          <p:cNvSpPr/>
          <p:nvPr/>
        </p:nvSpPr>
        <p:spPr>
          <a:xfrm>
            <a:off x="10062972" y="384048"/>
            <a:ext cx="173736" cy="173736"/>
          </a:xfrm>
          <a:prstGeom prst="ellipse">
            <a:avLst/>
          </a:prstGeom>
          <a:solidFill>
            <a:schemeClr val="accent1"/>
          </a:solidFill>
          <a:ln w="12700">
            <a:solidFill>
              <a:schemeClr val="accent1"/>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v7</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Generic queue&lt;T&gt;</a:t>
            </a:r>
            <a:pPr indent="0" marL="0">
              <a:buNone/>
            </a:pPr>
            <a:r>
              <a:rPr lang="en-US" sz="1400" dirty="0">
                <a:solidFill>
                  <a:schemeClr val="bg2"/>
                </a:solidFill>
                <a:latin typeface="Consolas" pitchFamily="34" charset="0"/>
                <a:ea typeface="Consolas" pitchFamily="34" charset="-122"/>
                <a:cs typeface="Consolas" pitchFamily="34" charset="-120"/>
              </a:rPr>
              <a:t>   ·   queue.hpp · 1 of 3</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removed line 10"/>
          <p:cNvSpPr/>
          <p:nvPr/>
        </p:nvSpPr>
        <p:spPr>
          <a:xfrm>
            <a:off x="502920" y="3470148"/>
            <a:ext cx="7178040" cy="233172"/>
          </a:xfrm>
          <a:prstGeom prst="rect">
            <a:avLst/>
          </a:prstGeom>
          <a:solidFill>
            <a:schemeClr val="accent5"/>
          </a:solidFill>
          <a:ln w="12700">
            <a:solidFill>
              <a:schemeClr val="accent5"/>
            </a:solidFill>
            <a:prstDash val="solid"/>
          </a:ln>
        </p:spPr>
      </p:sp>
      <p:sp>
        <p:nvSpPr>
          <p:cNvPr id="27" name="removed line 11"/>
          <p:cNvSpPr/>
          <p:nvPr/>
        </p:nvSpPr>
        <p:spPr>
          <a:xfrm>
            <a:off x="502920" y="3703320"/>
            <a:ext cx="7178040" cy="233172"/>
          </a:xfrm>
          <a:prstGeom prst="rect">
            <a:avLst/>
          </a:prstGeom>
          <a:solidFill>
            <a:schemeClr val="accent5"/>
          </a:solidFill>
          <a:ln w="12700">
            <a:solidFill>
              <a:schemeClr val="accent5"/>
            </a:solidFill>
            <a:prstDash val="solid"/>
          </a:ln>
        </p:spPr>
      </p:sp>
      <p:sp>
        <p:nvSpPr>
          <p:cNvPr id="28"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29"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0"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1" name="diff gutter"/>
          <p:cNvSpPr txBox="1"/>
          <p:nvPr/>
        </p:nvSpPr>
        <p:spPr>
          <a:xfrm>
            <a:off x="576072" y="1371600"/>
            <a:ext cx="228600" cy="3730752"/>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32" name="code"/>
          <p:cNvSpPr txBox="1"/>
          <p:nvPr/>
        </p:nvSpPr>
        <p:spPr>
          <a:xfrm>
            <a:off x="850392" y="1371600"/>
            <a:ext cx="6812280" cy="3730752"/>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class Queue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std::queue&lt;int&gt; q;                    // guarded by m</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template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ThreadSafeQueue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mutable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condition_variable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void push_locked(int x) {             // caller holds m</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q.push(x);</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caller holds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3" name="Text 31"/>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4" name="Text 32"/>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unique_ptr can't go into an int queue</a:t>
            </a:r>
            <a:endParaRPr lang="en-US" sz="1600" dirty="0"/>
          </a:p>
        </p:txBody>
      </p:sp>
      <p:sp>
        <p:nvSpPr>
          <p:cNvPr id="35"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6"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g++ -DSHOW_BUG next_bug.cpp</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error: cannot convert</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'unique_ptr&lt;int&gt;' to 'int'</a:t>
            </a:r>
            <a:endParaRPr lang="en-US" sz="1200" dirty="0"/>
          </a:p>
        </p:txBody>
      </p:sp>
      <p:sp>
        <p:nvSpPr>
          <p:cNvPr id="37" name="Text 35"/>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8"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9" name="Text 37"/>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0"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template &lt;class T&gt; turns Queue into ThreadSafeQueue&lt;T&gt;: the same code for any element type.</a:t>
            </a:r>
            <a:endParaRPr lang="en-US" sz="1400" dirty="0"/>
          </a:p>
        </p:txBody>
      </p:sp>
      <p:sp>
        <p:nvSpPr>
          <p:cNvPr id="41"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2" name="Text 40"/>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3" name="explanation 2"/>
          <p:cNvSpPr txBox="1"/>
          <p:nvPr/>
        </p:nvSpPr>
        <p:spPr>
          <a:xfrm>
            <a:off x="8430768" y="320040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push_locked() now takes T by value and moves it into the std::queue.</a:t>
            </a:r>
            <a:endParaRPr lang="en-US" sz="1400" dirty="0"/>
          </a:p>
        </p:txBody>
      </p:sp>
      <p:sp>
        <p:nvSpPr>
          <p:cNvPr id="44"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5" name="Text 43"/>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6" name="explanation 3"/>
          <p:cNvSpPr txBox="1"/>
          <p:nvPr/>
        </p:nvSpPr>
        <p:spPr>
          <a:xfrm>
            <a:off x="8430768" y="373684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Move-only types such as std::unique_ptr can now be stored. The int-only queue couldn't hold them at all.</a:t>
            </a:r>
            <a:endParaRPr lang="en-US" sz="1400" dirty="0"/>
          </a:p>
        </p:txBody>
      </p:sp>
      <p:sp>
        <p:nvSpPr>
          <p:cNvPr id="47" name="tag templates"/>
          <p:cNvSpPr/>
          <p:nvPr/>
        </p:nvSpPr>
        <p:spPr>
          <a:xfrm>
            <a:off x="2606040" y="6510528"/>
            <a:ext cx="973836" cy="256032"/>
          </a:xfrm>
          <a:prstGeom prst="roundRect">
            <a:avLst>
              <a:gd name="adj" fmla="val 50000"/>
            </a:avLst>
          </a:prstGeom>
          <a:solidFill>
            <a:schemeClr val="tx1"/>
          </a:solidFill>
          <a:ln w="12700">
            <a:solidFill>
              <a:schemeClr val="accent1"/>
            </a:solidFill>
            <a:prstDash val="solid"/>
          </a:ln>
        </p:spPr>
      </p:sp>
      <p:sp>
        <p:nvSpPr>
          <p:cNvPr id="48" name="Text 46"/>
          <p:cNvSpPr txBox="1"/>
          <p:nvPr/>
        </p:nvSpPr>
        <p:spPr>
          <a:xfrm>
            <a:off x="2606040" y="6510528"/>
            <a:ext cx="973836" cy="256032"/>
          </a:xfrm>
          <a:prstGeom prst="rect">
            <a:avLst/>
          </a:prstGeom>
          <a:noFill/>
          <a:ln/>
        </p:spPr>
        <p:txBody>
          <a:bodyPr wrap="square" lIns="0" tIns="0" rIns="0" bIns="0" rtlCol="0" anchor="ctr"/>
          <a:lstStyle/>
          <a:p>
            <a:pPr algn="ctr" indent="0" marL="0">
              <a:buNone/>
            </a:pPr>
            <a:r>
              <a:rPr lang="en-US" sz="1100" dirty="0">
                <a:solidFill>
                  <a:schemeClr val="accent1"/>
                </a:solidFill>
              </a:rPr>
              <a:t>templates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Take values by value, then move them in</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current"/>
          <p:cNvSpPr/>
          <p:nvPr/>
        </p:nvSpPr>
        <p:spPr>
          <a:xfrm>
            <a:off x="10062972" y="384048"/>
            <a:ext cx="173736" cy="173736"/>
          </a:xfrm>
          <a:prstGeom prst="ellipse">
            <a:avLst/>
          </a:prstGeom>
          <a:solidFill>
            <a:schemeClr val="accent1"/>
          </a:solidFill>
          <a:ln w="12700">
            <a:solidFill>
              <a:schemeClr val="accent1"/>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v7</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Generic queue&lt;T&gt;</a:t>
            </a:r>
            <a:pPr indent="0" marL="0">
              <a:buNone/>
            </a:pPr>
            <a:r>
              <a:rPr lang="en-US" sz="1400" dirty="0">
                <a:solidFill>
                  <a:schemeClr val="bg2"/>
                </a:solidFill>
                <a:latin typeface="Consolas" pitchFamily="34" charset="0"/>
                <a:ea typeface="Consolas" pitchFamily="34" charset="-122"/>
                <a:cs typeface="Consolas" pitchFamily="34" charset="-120"/>
              </a:rPr>
              <a:t>   ·   queue.hpp · 2 of 3</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removed line 7"/>
          <p:cNvSpPr/>
          <p:nvPr/>
        </p:nvSpPr>
        <p:spPr>
          <a:xfrm>
            <a:off x="502920" y="2770632"/>
            <a:ext cx="7178040" cy="233172"/>
          </a:xfrm>
          <a:prstGeom prst="rect">
            <a:avLst/>
          </a:prstGeom>
          <a:solidFill>
            <a:schemeClr val="accent5"/>
          </a:solidFill>
          <a:ln w="12700">
            <a:solidFill>
              <a:schemeClr val="accent5"/>
            </a:solidFill>
            <a:prstDash val="solid"/>
          </a:ln>
        </p:spPr>
      </p:sp>
      <p:sp>
        <p:nvSpPr>
          <p:cNvPr id="24"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5"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26" name="diff gutter"/>
          <p:cNvSpPr txBox="1"/>
          <p:nvPr/>
        </p:nvSpPr>
        <p:spPr>
          <a:xfrm>
            <a:off x="576072" y="1371600"/>
            <a:ext cx="228600" cy="2798064"/>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27" name="code"/>
          <p:cNvSpPr txBox="1"/>
          <p:nvPr/>
        </p:nvSpPr>
        <p:spPr>
          <a:xfrm>
            <a:off x="850392" y="1371600"/>
            <a:ext cx="6812280" cy="2798064"/>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bool push(int x) {                    // false after shutdown()</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by value, then moved in</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push_locked(x);</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push_locked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notify_one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28" name="Text 26"/>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29" name="Text 27"/>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Some values can't be copied at all</a:t>
            </a:r>
            <a:endParaRPr lang="en-US" sz="1600" dirty="0"/>
          </a:p>
        </p:txBody>
      </p:sp>
      <p:sp>
        <p:nvSpPr>
          <p:cNvPr id="30" name="Text 28"/>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1"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2" name="Text 30"/>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3"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push(T v) receives its own copy (or a moved-in value) and moves it again into the queue.</a:t>
            </a:r>
            <a:endParaRPr lang="en-US" sz="1400" dirty="0"/>
          </a:p>
        </p:txBody>
      </p:sp>
      <p:sp>
        <p:nvSpPr>
          <p:cNvPr id="34"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6"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caller passing a variable pays one copy; a caller passing a temporary or std::move(x) pays no copy at all.</a:t>
            </a:r>
            <a:endParaRPr lang="en-US" sz="1400" dirty="0"/>
          </a:p>
        </p:txBody>
      </p:sp>
      <p:sp>
        <p:nvSpPr>
          <p:cNvPr id="37"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38" name="Text 36"/>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39" name="explanation 3"/>
          <p:cNvSpPr txBox="1"/>
          <p:nvPr/>
        </p:nvSpPr>
        <p:spPr>
          <a:xfrm>
            <a:off x="8430768" y="3950208"/>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Locking and notifying are exactly as in v6: only the element type changed.</a:t>
            </a:r>
            <a:endParaRPr lang="en-US" sz="1400" dirty="0"/>
          </a:p>
        </p:txBody>
      </p:sp>
      <p:sp>
        <p:nvSpPr>
          <p:cNvPr id="40" name="tag move semantics"/>
          <p:cNvSpPr/>
          <p:nvPr/>
        </p:nvSpPr>
        <p:spPr>
          <a:xfrm>
            <a:off x="2606040" y="6510528"/>
            <a:ext cx="1362456" cy="256032"/>
          </a:xfrm>
          <a:prstGeom prst="roundRect">
            <a:avLst>
              <a:gd name="adj" fmla="val 50000"/>
            </a:avLst>
          </a:prstGeom>
          <a:solidFill>
            <a:schemeClr val="tx1"/>
          </a:solidFill>
          <a:ln w="12700">
            <a:solidFill>
              <a:schemeClr val="accent1"/>
            </a:solidFill>
            <a:prstDash val="solid"/>
          </a:ln>
        </p:spPr>
      </p:sp>
      <p:sp>
        <p:nvSpPr>
          <p:cNvPr id="41" name="Text 39"/>
          <p:cNvSpPr txBox="1"/>
          <p:nvPr/>
        </p:nvSpPr>
        <p:spPr>
          <a:xfrm>
            <a:off x="2606040" y="6510528"/>
            <a:ext cx="1362456" cy="256032"/>
          </a:xfrm>
          <a:prstGeom prst="rect">
            <a:avLst/>
          </a:prstGeom>
          <a:noFill/>
          <a:ln/>
        </p:spPr>
        <p:txBody>
          <a:bodyPr wrap="square" lIns="0" tIns="0" rIns="0" bIns="0" rtlCol="0" anchor="ctr"/>
          <a:lstStyle/>
          <a:p>
            <a:pPr algn="ctr" indent="0" marL="0">
              <a:buNone/>
            </a:pPr>
            <a:r>
              <a:rPr lang="en-US" sz="1100" dirty="0">
                <a:solidFill>
                  <a:schemeClr val="accent1"/>
                </a:solidFill>
              </a:rPr>
              <a:t>move semantics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Move out, never copy out</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current"/>
          <p:cNvSpPr/>
          <p:nvPr/>
        </p:nvSpPr>
        <p:spPr>
          <a:xfrm>
            <a:off x="10062972" y="384048"/>
            <a:ext cx="173736" cy="173736"/>
          </a:xfrm>
          <a:prstGeom prst="ellipse">
            <a:avLst/>
          </a:prstGeom>
          <a:solidFill>
            <a:schemeClr val="accent1"/>
          </a:solidFill>
          <a:ln w="12700">
            <a:solidFill>
              <a:schemeClr val="accent1"/>
            </a:solidFill>
            <a:prstDash val="solid"/>
          </a:ln>
        </p:spPr>
      </p:sp>
      <p:sp>
        <p:nvSpPr>
          <p:cNvPr id="11" name="progress todo"/>
          <p:cNvSpPr/>
          <p:nvPr/>
        </p:nvSpPr>
        <p:spPr>
          <a:xfrm>
            <a:off x="10323576" y="411480"/>
            <a:ext cx="118872" cy="118872"/>
          </a:xfrm>
          <a:prstGeom prst="ellipse">
            <a:avLst/>
          </a:prstGeom>
          <a:solidFill>
            <a:schemeClr val="tx1"/>
          </a:solidFill>
          <a:ln w="12700">
            <a:solidFill>
              <a:schemeClr val="bg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v7</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Generic queue&lt;T&gt;</a:t>
            </a:r>
            <a:pPr indent="0" marL="0">
              <a:buNone/>
            </a:pPr>
            <a:r>
              <a:rPr lang="en-US" sz="1400" dirty="0">
                <a:solidFill>
                  <a:schemeClr val="bg2"/>
                </a:solidFill>
                <a:latin typeface="Consolas" pitchFamily="34" charset="0"/>
                <a:ea typeface="Consolas" pitchFamily="34" charset="-122"/>
                <a:cs typeface="Consolas" pitchFamily="34" charset="-120"/>
              </a:rPr>
              <a:t>   ·   queue.hpp · 3 of 3</a:t>
            </a:r>
            <a:endParaRPr lang="en-US" sz="1400" dirty="0"/>
          </a:p>
        </p:txBody>
      </p:sp>
      <p:sp>
        <p:nvSpPr>
          <p:cNvPr id="21" name="removed line 1"/>
          <p:cNvSpPr/>
          <p:nvPr/>
        </p:nvSpPr>
        <p:spPr>
          <a:xfrm>
            <a:off x="502920" y="1371600"/>
            <a:ext cx="7178040" cy="205740"/>
          </a:xfrm>
          <a:prstGeom prst="rect">
            <a:avLst/>
          </a:prstGeom>
          <a:solidFill>
            <a:schemeClr val="accent5"/>
          </a:solidFill>
          <a:ln w="12700">
            <a:solidFill>
              <a:schemeClr val="accent5"/>
            </a:solidFill>
            <a:prstDash val="solid"/>
          </a:ln>
        </p:spPr>
      </p:sp>
      <p:sp>
        <p:nvSpPr>
          <p:cNvPr id="22" name="added line 2"/>
          <p:cNvSpPr/>
          <p:nvPr/>
        </p:nvSpPr>
        <p:spPr>
          <a:xfrm>
            <a:off x="502920" y="1577340"/>
            <a:ext cx="7178040" cy="205740"/>
          </a:xfrm>
          <a:prstGeom prst="rect">
            <a:avLst/>
          </a:prstGeom>
          <a:solidFill>
            <a:schemeClr val="accent4"/>
          </a:solidFill>
          <a:ln w="12700">
            <a:solidFill>
              <a:schemeClr val="accent4"/>
            </a:solidFill>
            <a:prstDash val="solid"/>
          </a:ln>
        </p:spPr>
      </p:sp>
      <p:sp>
        <p:nvSpPr>
          <p:cNvPr id="23" name="removed line 6"/>
          <p:cNvSpPr/>
          <p:nvPr/>
        </p:nvSpPr>
        <p:spPr>
          <a:xfrm>
            <a:off x="502920" y="2400300"/>
            <a:ext cx="7178040" cy="205740"/>
          </a:xfrm>
          <a:prstGeom prst="rect">
            <a:avLst/>
          </a:prstGeom>
          <a:solidFill>
            <a:schemeClr val="accent5"/>
          </a:solidFill>
          <a:ln w="12700">
            <a:solidFill>
              <a:schemeClr val="accent5"/>
            </a:solidFill>
            <a:prstDash val="solid"/>
          </a:ln>
        </p:spPr>
      </p:sp>
      <p:sp>
        <p:nvSpPr>
          <p:cNvPr id="24" name="added line 7"/>
          <p:cNvSpPr/>
          <p:nvPr/>
        </p:nvSpPr>
        <p:spPr>
          <a:xfrm>
            <a:off x="502920" y="2606040"/>
            <a:ext cx="7178040" cy="205740"/>
          </a:xfrm>
          <a:prstGeom prst="rect">
            <a:avLst/>
          </a:prstGeom>
          <a:solidFill>
            <a:schemeClr val="accent4"/>
          </a:solidFill>
          <a:ln w="12700">
            <a:solidFill>
              <a:schemeClr val="accent4"/>
            </a:solidFill>
            <a:prstDash val="solid"/>
          </a:ln>
        </p:spPr>
      </p:sp>
      <p:sp>
        <p:nvSpPr>
          <p:cNvPr id="25" name="added line 10"/>
          <p:cNvSpPr/>
          <p:nvPr/>
        </p:nvSpPr>
        <p:spPr>
          <a:xfrm>
            <a:off x="502920" y="3223260"/>
            <a:ext cx="7178040" cy="205740"/>
          </a:xfrm>
          <a:prstGeom prst="rect">
            <a:avLst/>
          </a:prstGeom>
          <a:solidFill>
            <a:schemeClr val="accent4"/>
          </a:solidFill>
          <a:ln w="12700">
            <a:solidFill>
              <a:schemeClr val="accent4"/>
            </a:solidFill>
            <a:prstDash val="solid"/>
          </a:ln>
        </p:spPr>
      </p:sp>
      <p:sp>
        <p:nvSpPr>
          <p:cNvPr id="26" name="removed line 12"/>
          <p:cNvSpPr/>
          <p:nvPr/>
        </p:nvSpPr>
        <p:spPr>
          <a:xfrm>
            <a:off x="502920" y="3634740"/>
            <a:ext cx="7178040" cy="205740"/>
          </a:xfrm>
          <a:prstGeom prst="rect">
            <a:avLst/>
          </a:prstGeom>
          <a:solidFill>
            <a:schemeClr val="accent5"/>
          </a:solidFill>
          <a:ln w="12700">
            <a:solidFill>
              <a:schemeClr val="accent5"/>
            </a:solidFill>
            <a:prstDash val="solid"/>
          </a:ln>
        </p:spPr>
      </p:sp>
      <p:sp>
        <p:nvSpPr>
          <p:cNvPr id="27" name="added line 13"/>
          <p:cNvSpPr/>
          <p:nvPr/>
        </p:nvSpPr>
        <p:spPr>
          <a:xfrm>
            <a:off x="502920" y="3840480"/>
            <a:ext cx="7178040" cy="205740"/>
          </a:xfrm>
          <a:prstGeom prst="rect">
            <a:avLst/>
          </a:prstGeom>
          <a:solidFill>
            <a:schemeClr val="accent4"/>
          </a:solidFill>
          <a:ln w="12700">
            <a:solidFill>
              <a:schemeClr val="accent4"/>
            </a:solidFill>
            <a:prstDash val="solid"/>
          </a:ln>
        </p:spPr>
      </p:sp>
      <p:sp>
        <p:nvSpPr>
          <p:cNvPr id="28" name="removed line 18"/>
          <p:cNvSpPr/>
          <p:nvPr/>
        </p:nvSpPr>
        <p:spPr>
          <a:xfrm>
            <a:off x="502920" y="4869180"/>
            <a:ext cx="7178040" cy="205740"/>
          </a:xfrm>
          <a:prstGeom prst="rect">
            <a:avLst/>
          </a:prstGeom>
          <a:solidFill>
            <a:schemeClr val="accent5"/>
          </a:solidFill>
          <a:ln w="12700">
            <a:solidFill>
              <a:schemeClr val="accent5"/>
            </a:solidFill>
            <a:prstDash val="solid"/>
          </a:ln>
        </p:spPr>
      </p:sp>
      <p:sp>
        <p:nvSpPr>
          <p:cNvPr id="29" name="added line 19"/>
          <p:cNvSpPr/>
          <p:nvPr/>
        </p:nvSpPr>
        <p:spPr>
          <a:xfrm>
            <a:off x="502920" y="5074920"/>
            <a:ext cx="7178040" cy="205740"/>
          </a:xfrm>
          <a:prstGeom prst="rect">
            <a:avLst/>
          </a:prstGeom>
          <a:solidFill>
            <a:schemeClr val="accent4"/>
          </a:solidFill>
          <a:ln w="12700">
            <a:solidFill>
              <a:schemeClr val="accent4"/>
            </a:solidFill>
            <a:prstDash val="solid"/>
          </a:ln>
        </p:spPr>
      </p:sp>
      <p:sp>
        <p:nvSpPr>
          <p:cNvPr id="30" name="removed line 21"/>
          <p:cNvSpPr/>
          <p:nvPr/>
        </p:nvSpPr>
        <p:spPr>
          <a:xfrm>
            <a:off x="502920" y="5486400"/>
            <a:ext cx="7178040" cy="205740"/>
          </a:xfrm>
          <a:prstGeom prst="rect">
            <a:avLst/>
          </a:prstGeom>
          <a:solidFill>
            <a:schemeClr val="accent5"/>
          </a:solidFill>
          <a:ln w="12700">
            <a:solidFill>
              <a:schemeClr val="accent5"/>
            </a:solidFill>
            <a:prstDash val="solid"/>
          </a:ln>
        </p:spPr>
      </p:sp>
      <p:sp>
        <p:nvSpPr>
          <p:cNvPr id="31" name="added line 22"/>
          <p:cNvSpPr/>
          <p:nvPr/>
        </p:nvSpPr>
        <p:spPr>
          <a:xfrm>
            <a:off x="502920" y="5692140"/>
            <a:ext cx="7178040" cy="205740"/>
          </a:xfrm>
          <a:prstGeom prst="rect">
            <a:avLst/>
          </a:prstGeom>
          <a:solidFill>
            <a:schemeClr val="accent4"/>
          </a:solidFill>
          <a:ln w="12700">
            <a:solidFill>
              <a:schemeClr val="accent4"/>
            </a:solidFill>
            <a:prstDash val="solid"/>
          </a:ln>
        </p:spPr>
      </p:sp>
      <p:sp>
        <p:nvSpPr>
          <p:cNvPr id="32" name="added line 23"/>
          <p:cNvSpPr/>
          <p:nvPr/>
        </p:nvSpPr>
        <p:spPr>
          <a:xfrm>
            <a:off x="502920" y="5897880"/>
            <a:ext cx="7178040" cy="205740"/>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4732020"/>
          </a:xfrm>
          <a:prstGeom prst="rect">
            <a:avLst/>
          </a:prstGeom>
          <a:noFill/>
          <a:ln/>
        </p:spPr>
        <p:txBody>
          <a:bodyPr wrap="square" lIns="0" tIns="0" rIns="0" bIns="0" rtlCol="0" anchor="t"/>
          <a:lstStyle/>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p:txBody>
      </p:sp>
      <p:sp>
        <p:nvSpPr>
          <p:cNvPr id="34" name="code"/>
          <p:cNvSpPr txBox="1"/>
          <p:nvPr/>
        </p:nvSpPr>
        <p:spPr>
          <a:xfrm>
            <a:off x="850392" y="1371600"/>
            <a:ext cx="6812280" cy="4732020"/>
          </a:xfrm>
          <a:prstGeom prst="rect">
            <a:avLst/>
          </a:prstGeom>
          <a:noFill/>
          <a:ln/>
        </p:spPr>
        <p:txBody>
          <a:bodyPr wrap="square" lIns="0" tIns="0" rIns="0" bIns="0" rtlCol="0" anchor="t"/>
          <a:lstStyle/>
          <a:p>
            <a:pPr indent="0" marL="0">
              <a:lnSpc>
                <a:spcPts val="1620"/>
              </a:lnSpc>
              <a:buNone/>
            </a:pPr>
            <a:r>
              <a:rPr lang="en-US" sz="1200" dirty="0">
                <a:solidFill>
                  <a:srgbClr val="D9A48F"/>
                </a:solidFill>
                <a:latin typeface="Consolas" pitchFamily="34" charset="0"/>
                <a:ea typeface="Consolas" pitchFamily="34" charset="-122"/>
                <a:cs typeface="Consolas" pitchFamily="34" charset="-120"/>
              </a:rPr>
              <a:t>    bool try_pop(int&amp; out)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bool</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try_pop</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&amp;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out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lock_guard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mutex</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lock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m</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if</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empty</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return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false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9A48F"/>
                </a:solidFill>
                <a:latin typeface="Consolas" pitchFamily="34" charset="0"/>
                <a:ea typeface="Consolas" pitchFamily="34" charset="-122"/>
                <a:cs typeface="Consolas" pitchFamily="34" charset="-120"/>
              </a:rPr>
              <a:t>        out = q.front();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out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move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front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pop</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return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true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9A48F"/>
                </a:solidFill>
                <a:latin typeface="Consolas" pitchFamily="34" charset="0"/>
                <a:ea typeface="Consolas" pitchFamily="34" charset="-122"/>
                <a:cs typeface="Consolas" pitchFamily="34" charset="-120"/>
              </a:rPr>
              <a:t>    std::optional&lt;int&gt; wait_and_pop()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optional</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wait_and_pop</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unique_lock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mutex</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lock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m</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cv</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wait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lock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[&amp;] {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return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empty</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closed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if</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empty</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i="1" dirty="0">
                <a:solidFill>
                  <a:srgbClr val="7D8B9C"/>
                </a:solidFill>
                <a:latin typeface="Consolas" pitchFamily="34" charset="0"/>
                <a:ea typeface="Consolas" pitchFamily="34" charset="-122"/>
                <a:cs typeface="Consolas" pitchFamily="34" charset="-120"/>
              </a:rPr>
              <a:t>// closed and drained</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return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nullopt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9A48F"/>
                </a:solidFill>
                <a:latin typeface="Consolas" pitchFamily="34" charset="0"/>
                <a:ea typeface="Consolas" pitchFamily="34" charset="-122"/>
                <a:cs typeface="Consolas" pitchFamily="34" charset="-120"/>
              </a:rPr>
              <a:t>        int x = q.front();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v</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move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front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q</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pop</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9A48F"/>
                </a:solidFill>
                <a:latin typeface="Consolas" pitchFamily="34" charset="0"/>
                <a:ea typeface="Consolas" pitchFamily="34" charset="-122"/>
                <a:cs typeface="Consolas" pitchFamily="34" charset="-120"/>
              </a:rPr>
              <a:t>        return x;</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return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v</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 copy can throw, or be impossible</a:t>
            </a:r>
            <a:endParaRPr lang="en-US" sz="1600" dirty="0"/>
          </a:p>
        </p:txBody>
      </p:sp>
      <p:sp>
        <p:nvSpPr>
          <p:cNvPr id="37" name="Text 35"/>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8"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9" name="Text 37"/>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0"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try_pop() and wait_and_pop() move the element out of front() before calling pop().</a:t>
            </a:r>
            <a:endParaRPr lang="en-US" sz="1400" dirty="0"/>
          </a:p>
        </p:txBody>
      </p:sp>
      <p:sp>
        <p:nvSpPr>
          <p:cNvPr id="41"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2" name="Text 40"/>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3"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Moving standard types can't fail, so no item can be lost to a copy that throws halfway.</a:t>
            </a:r>
            <a:endParaRPr lang="en-US" sz="1400" dirty="0"/>
          </a:p>
        </p:txBody>
      </p:sp>
      <p:sp>
        <p:nvSpPr>
          <p:cNvPr id="44"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45" name="Text 43"/>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6" name="explanation 3"/>
          <p:cNvSpPr txBox="1"/>
          <p:nvPr/>
        </p:nvSpPr>
        <p:spPr>
          <a:xfrm>
            <a:off x="8430768" y="395020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This ends Part 1: ThreadSafeQueue&lt;std::unique_ptr&lt;int&gt;&gt; compiles and passes every test.</a:t>
            </a:r>
            <a:endParaRPr lang="en-US" sz="1400" dirty="0"/>
          </a:p>
        </p:txBody>
      </p:sp>
      <p:sp>
        <p:nvSpPr>
          <p:cNvPr id="47" name="tag move-only types"/>
          <p:cNvSpPr/>
          <p:nvPr/>
        </p:nvSpPr>
        <p:spPr>
          <a:xfrm>
            <a:off x="2606040" y="6510528"/>
            <a:ext cx="1440180" cy="256032"/>
          </a:xfrm>
          <a:prstGeom prst="roundRect">
            <a:avLst>
              <a:gd name="adj" fmla="val 50000"/>
            </a:avLst>
          </a:prstGeom>
          <a:solidFill>
            <a:schemeClr val="tx1"/>
          </a:solidFill>
          <a:ln w="12700">
            <a:solidFill>
              <a:schemeClr val="accent1"/>
            </a:solidFill>
            <a:prstDash val="solid"/>
          </a:ln>
        </p:spPr>
      </p:sp>
      <p:sp>
        <p:nvSpPr>
          <p:cNvPr id="48" name="Text 46"/>
          <p:cNvSpPr txBox="1"/>
          <p:nvPr/>
        </p:nvSpPr>
        <p:spPr>
          <a:xfrm>
            <a:off x="2606040" y="6510528"/>
            <a:ext cx="1440180" cy="256032"/>
          </a:xfrm>
          <a:prstGeom prst="rect">
            <a:avLst/>
          </a:prstGeom>
          <a:noFill/>
          <a:ln/>
        </p:spPr>
        <p:txBody>
          <a:bodyPr wrap="square" lIns="0" tIns="0" rIns="0" bIns="0" rtlCol="0" anchor="ctr"/>
          <a:lstStyle/>
          <a:p>
            <a:pPr algn="ctr" indent="0" marL="0">
              <a:buNone/>
            </a:pPr>
            <a:r>
              <a:rPr lang="en-US" sz="1100" dirty="0">
                <a:solidFill>
                  <a:schemeClr val="accent1"/>
                </a:solidFill>
              </a:rPr>
              <a:t>move-only types</a:t>
            </a:r>
            <a:endParaRPr lang="en-US" sz="1100" dirty="0"/>
          </a:p>
        </p:txBody>
      </p:sp>
      <p:sp>
        <p:nvSpPr>
          <p:cNvPr id="49" name="tag safe pop"/>
          <p:cNvSpPr/>
          <p:nvPr/>
        </p:nvSpPr>
        <p:spPr>
          <a:xfrm>
            <a:off x="4137660" y="6510528"/>
            <a:ext cx="896112" cy="256032"/>
          </a:xfrm>
          <a:prstGeom prst="roundRect">
            <a:avLst>
              <a:gd name="adj" fmla="val 50000"/>
            </a:avLst>
          </a:prstGeom>
          <a:solidFill>
            <a:schemeClr val="tx1"/>
          </a:solidFill>
          <a:ln w="12700">
            <a:solidFill>
              <a:schemeClr val="accent1"/>
            </a:solidFill>
            <a:prstDash val="solid"/>
          </a:ln>
        </p:spPr>
      </p:sp>
      <p:sp>
        <p:nvSpPr>
          <p:cNvPr id="50" name="Text 48"/>
          <p:cNvSpPr txBox="1"/>
          <p:nvPr/>
        </p:nvSpPr>
        <p:spPr>
          <a:xfrm>
            <a:off x="4137660" y="6510528"/>
            <a:ext cx="896112" cy="256032"/>
          </a:xfrm>
          <a:prstGeom prst="rect">
            <a:avLst/>
          </a:prstGeom>
          <a:noFill/>
          <a:ln/>
        </p:spPr>
        <p:txBody>
          <a:bodyPr wrap="square" lIns="0" tIns="0" rIns="0" bIns="0" rtlCol="0" anchor="ctr"/>
          <a:lstStyle/>
          <a:p>
            <a:pPr algn="ctr" indent="0" marL="0">
              <a:buNone/>
            </a:pPr>
            <a:r>
              <a:rPr lang="en-US" sz="1100" dirty="0">
                <a:solidFill>
                  <a:schemeClr val="accent1"/>
                </a:solidFill>
              </a:rPr>
              <a:t>safe pop</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A queue of work, and one worker</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current"/>
          <p:cNvSpPr/>
          <p:nvPr/>
        </p:nvSpPr>
        <p:spPr>
          <a:xfrm>
            <a:off x="10296144" y="384048"/>
            <a:ext cx="173736" cy="173736"/>
          </a:xfrm>
          <a:prstGeom prst="ellipse">
            <a:avLst/>
          </a:prstGeom>
          <a:solidFill>
            <a:schemeClr val="accent2"/>
          </a:solidFill>
          <a:ln w="12700">
            <a:solidFill>
              <a:schemeClr val="accent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v8</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Task queue</a:t>
            </a:r>
            <a:pPr indent="0" marL="0">
              <a:buNone/>
            </a:pPr>
            <a:r>
              <a:rPr lang="en-US" sz="1400" dirty="0">
                <a:solidFill>
                  <a:schemeClr val="bg2"/>
                </a:solidFill>
                <a:latin typeface="Consolas" pitchFamily="34" charset="0"/>
                <a:ea typeface="Consolas" pitchFamily="34" charset="-122"/>
                <a:cs typeface="Consolas" pitchFamily="34" charset="-120"/>
              </a:rPr>
              <a:t>   ·   task_queue.hpp (new) · 1 of 2</a:t>
            </a:r>
            <a:endParaRPr lang="en-US" sz="1400" dirty="0"/>
          </a:p>
        </p:txBody>
      </p:sp>
      <p:sp>
        <p:nvSpPr>
          <p:cNvPr id="21" name="added line 1"/>
          <p:cNvSpPr/>
          <p:nvPr/>
        </p:nvSpPr>
        <p:spPr>
          <a:xfrm>
            <a:off x="502920" y="1371600"/>
            <a:ext cx="7178040" cy="205740"/>
          </a:xfrm>
          <a:prstGeom prst="rect">
            <a:avLst/>
          </a:prstGeom>
          <a:solidFill>
            <a:schemeClr val="accent4"/>
          </a:solidFill>
          <a:ln w="12700">
            <a:solidFill>
              <a:schemeClr val="accent4"/>
            </a:solidFill>
            <a:prstDash val="solid"/>
          </a:ln>
        </p:spPr>
      </p:sp>
      <p:sp>
        <p:nvSpPr>
          <p:cNvPr id="22" name="added line 2"/>
          <p:cNvSpPr/>
          <p:nvPr/>
        </p:nvSpPr>
        <p:spPr>
          <a:xfrm>
            <a:off x="502920" y="1577340"/>
            <a:ext cx="7178040" cy="205740"/>
          </a:xfrm>
          <a:prstGeom prst="rect">
            <a:avLst/>
          </a:prstGeom>
          <a:solidFill>
            <a:schemeClr val="accent4"/>
          </a:solidFill>
          <a:ln w="12700">
            <a:solidFill>
              <a:schemeClr val="accent4"/>
            </a:solidFill>
            <a:prstDash val="solid"/>
          </a:ln>
        </p:spPr>
      </p:sp>
      <p:sp>
        <p:nvSpPr>
          <p:cNvPr id="23" name="added line 4"/>
          <p:cNvSpPr/>
          <p:nvPr/>
        </p:nvSpPr>
        <p:spPr>
          <a:xfrm>
            <a:off x="502920" y="1988820"/>
            <a:ext cx="7178040" cy="205740"/>
          </a:xfrm>
          <a:prstGeom prst="rect">
            <a:avLst/>
          </a:prstGeom>
          <a:solidFill>
            <a:schemeClr val="accent4"/>
          </a:solidFill>
          <a:ln w="12700">
            <a:solidFill>
              <a:schemeClr val="accent4"/>
            </a:solidFill>
            <a:prstDash val="solid"/>
          </a:ln>
        </p:spPr>
      </p:sp>
      <p:sp>
        <p:nvSpPr>
          <p:cNvPr id="24" name="added line 5"/>
          <p:cNvSpPr/>
          <p:nvPr/>
        </p:nvSpPr>
        <p:spPr>
          <a:xfrm>
            <a:off x="502920" y="2194560"/>
            <a:ext cx="7178040" cy="205740"/>
          </a:xfrm>
          <a:prstGeom prst="rect">
            <a:avLst/>
          </a:prstGeom>
          <a:solidFill>
            <a:schemeClr val="accent4"/>
          </a:solidFill>
          <a:ln w="12700">
            <a:solidFill>
              <a:schemeClr val="accent4"/>
            </a:solidFill>
            <a:prstDash val="solid"/>
          </a:ln>
        </p:spPr>
      </p:sp>
      <p:sp>
        <p:nvSpPr>
          <p:cNvPr id="25" name="added line 6"/>
          <p:cNvSpPr/>
          <p:nvPr/>
        </p:nvSpPr>
        <p:spPr>
          <a:xfrm>
            <a:off x="502920" y="2400300"/>
            <a:ext cx="7178040" cy="205740"/>
          </a:xfrm>
          <a:prstGeom prst="rect">
            <a:avLst/>
          </a:prstGeom>
          <a:solidFill>
            <a:schemeClr val="accent4"/>
          </a:solidFill>
          <a:ln w="12700">
            <a:solidFill>
              <a:schemeClr val="accent4"/>
            </a:solidFill>
            <a:prstDash val="solid"/>
          </a:ln>
        </p:spPr>
      </p:sp>
      <p:sp>
        <p:nvSpPr>
          <p:cNvPr id="26" name="added line 7"/>
          <p:cNvSpPr/>
          <p:nvPr/>
        </p:nvSpPr>
        <p:spPr>
          <a:xfrm>
            <a:off x="502920" y="2606040"/>
            <a:ext cx="7178040" cy="205740"/>
          </a:xfrm>
          <a:prstGeom prst="rect">
            <a:avLst/>
          </a:prstGeom>
          <a:solidFill>
            <a:schemeClr val="accent4"/>
          </a:solidFill>
          <a:ln w="12700">
            <a:solidFill>
              <a:schemeClr val="accent4"/>
            </a:solidFill>
            <a:prstDash val="solid"/>
          </a:ln>
        </p:spPr>
      </p:sp>
      <p:sp>
        <p:nvSpPr>
          <p:cNvPr id="27" name="added line 9"/>
          <p:cNvSpPr/>
          <p:nvPr/>
        </p:nvSpPr>
        <p:spPr>
          <a:xfrm>
            <a:off x="502920" y="3017520"/>
            <a:ext cx="7178040" cy="205740"/>
          </a:xfrm>
          <a:prstGeom prst="rect">
            <a:avLst/>
          </a:prstGeom>
          <a:solidFill>
            <a:schemeClr val="accent4"/>
          </a:solidFill>
          <a:ln w="12700">
            <a:solidFill>
              <a:schemeClr val="accent4"/>
            </a:solidFill>
            <a:prstDash val="solid"/>
          </a:ln>
        </p:spPr>
      </p:sp>
      <p:sp>
        <p:nvSpPr>
          <p:cNvPr id="28" name="added line 10"/>
          <p:cNvSpPr/>
          <p:nvPr/>
        </p:nvSpPr>
        <p:spPr>
          <a:xfrm>
            <a:off x="502920" y="3223260"/>
            <a:ext cx="7178040" cy="205740"/>
          </a:xfrm>
          <a:prstGeom prst="rect">
            <a:avLst/>
          </a:prstGeom>
          <a:solidFill>
            <a:schemeClr val="accent4"/>
          </a:solidFill>
          <a:ln w="12700">
            <a:solidFill>
              <a:schemeClr val="accent4"/>
            </a:solidFill>
            <a:prstDash val="solid"/>
          </a:ln>
        </p:spPr>
      </p:sp>
      <p:sp>
        <p:nvSpPr>
          <p:cNvPr id="29" name="added line 11"/>
          <p:cNvSpPr/>
          <p:nvPr/>
        </p:nvSpPr>
        <p:spPr>
          <a:xfrm>
            <a:off x="502920" y="3429000"/>
            <a:ext cx="7178040" cy="205740"/>
          </a:xfrm>
          <a:prstGeom prst="rect">
            <a:avLst/>
          </a:prstGeom>
          <a:solidFill>
            <a:schemeClr val="accent4"/>
          </a:solidFill>
          <a:ln w="12700">
            <a:solidFill>
              <a:schemeClr val="accent4"/>
            </a:solidFill>
            <a:prstDash val="solid"/>
          </a:ln>
        </p:spPr>
      </p:sp>
      <p:sp>
        <p:nvSpPr>
          <p:cNvPr id="30" name="added line 12"/>
          <p:cNvSpPr/>
          <p:nvPr/>
        </p:nvSpPr>
        <p:spPr>
          <a:xfrm>
            <a:off x="502920" y="3634740"/>
            <a:ext cx="7178040" cy="205740"/>
          </a:xfrm>
          <a:prstGeom prst="rect">
            <a:avLst/>
          </a:prstGeom>
          <a:solidFill>
            <a:schemeClr val="accent4"/>
          </a:solidFill>
          <a:ln w="12700">
            <a:solidFill>
              <a:schemeClr val="accent4"/>
            </a:solidFill>
            <a:prstDash val="solid"/>
          </a:ln>
        </p:spPr>
      </p:sp>
      <p:sp>
        <p:nvSpPr>
          <p:cNvPr id="31" name="added line 13"/>
          <p:cNvSpPr/>
          <p:nvPr/>
        </p:nvSpPr>
        <p:spPr>
          <a:xfrm>
            <a:off x="502920" y="3840480"/>
            <a:ext cx="7178040" cy="205740"/>
          </a:xfrm>
          <a:prstGeom prst="rect">
            <a:avLst/>
          </a:prstGeom>
          <a:solidFill>
            <a:schemeClr val="accent4"/>
          </a:solidFill>
          <a:ln w="12700">
            <a:solidFill>
              <a:schemeClr val="accent4"/>
            </a:solidFill>
            <a:prstDash val="solid"/>
          </a:ln>
        </p:spPr>
      </p:sp>
      <p:sp>
        <p:nvSpPr>
          <p:cNvPr id="32" name="added line 14"/>
          <p:cNvSpPr/>
          <p:nvPr/>
        </p:nvSpPr>
        <p:spPr>
          <a:xfrm>
            <a:off x="502920" y="4046220"/>
            <a:ext cx="7178040" cy="205740"/>
          </a:xfrm>
          <a:prstGeom prst="rect">
            <a:avLst/>
          </a:prstGeom>
          <a:solidFill>
            <a:schemeClr val="accent4"/>
          </a:solidFill>
          <a:ln w="12700">
            <a:solidFill>
              <a:schemeClr val="accent4"/>
            </a:solidFill>
            <a:prstDash val="solid"/>
          </a:ln>
        </p:spPr>
      </p:sp>
      <p:sp>
        <p:nvSpPr>
          <p:cNvPr id="33" name="added line 15"/>
          <p:cNvSpPr/>
          <p:nvPr/>
        </p:nvSpPr>
        <p:spPr>
          <a:xfrm>
            <a:off x="502920" y="4251960"/>
            <a:ext cx="7178040" cy="205740"/>
          </a:xfrm>
          <a:prstGeom prst="rect">
            <a:avLst/>
          </a:prstGeom>
          <a:solidFill>
            <a:schemeClr val="accent4"/>
          </a:solidFill>
          <a:ln w="12700">
            <a:solidFill>
              <a:schemeClr val="accent4"/>
            </a:solidFill>
            <a:prstDash val="solid"/>
          </a:ln>
        </p:spPr>
      </p:sp>
      <p:sp>
        <p:nvSpPr>
          <p:cNvPr id="34" name="added line 16"/>
          <p:cNvSpPr/>
          <p:nvPr/>
        </p:nvSpPr>
        <p:spPr>
          <a:xfrm>
            <a:off x="502920" y="4457700"/>
            <a:ext cx="7178040" cy="205740"/>
          </a:xfrm>
          <a:prstGeom prst="rect">
            <a:avLst/>
          </a:prstGeom>
          <a:solidFill>
            <a:schemeClr val="accent4"/>
          </a:solidFill>
          <a:ln w="12700">
            <a:solidFill>
              <a:schemeClr val="accent4"/>
            </a:solidFill>
            <a:prstDash val="solid"/>
          </a:ln>
        </p:spPr>
      </p:sp>
      <p:sp>
        <p:nvSpPr>
          <p:cNvPr id="35" name="added line 17"/>
          <p:cNvSpPr/>
          <p:nvPr/>
        </p:nvSpPr>
        <p:spPr>
          <a:xfrm>
            <a:off x="502920" y="4663440"/>
            <a:ext cx="7178040" cy="205740"/>
          </a:xfrm>
          <a:prstGeom prst="rect">
            <a:avLst/>
          </a:prstGeom>
          <a:solidFill>
            <a:schemeClr val="accent4"/>
          </a:solidFill>
          <a:ln w="12700">
            <a:solidFill>
              <a:schemeClr val="accent4"/>
            </a:solidFill>
            <a:prstDash val="solid"/>
          </a:ln>
        </p:spPr>
      </p:sp>
      <p:sp>
        <p:nvSpPr>
          <p:cNvPr id="36" name="added line 19"/>
          <p:cNvSpPr/>
          <p:nvPr/>
        </p:nvSpPr>
        <p:spPr>
          <a:xfrm>
            <a:off x="502920" y="5074920"/>
            <a:ext cx="7178040" cy="205740"/>
          </a:xfrm>
          <a:prstGeom prst="rect">
            <a:avLst/>
          </a:prstGeom>
          <a:solidFill>
            <a:schemeClr val="accent4"/>
          </a:solidFill>
          <a:ln w="12700">
            <a:solidFill>
              <a:schemeClr val="accent4"/>
            </a:solidFill>
            <a:prstDash val="solid"/>
          </a:ln>
        </p:spPr>
      </p:sp>
      <p:sp>
        <p:nvSpPr>
          <p:cNvPr id="37" name="added line 21"/>
          <p:cNvSpPr/>
          <p:nvPr/>
        </p:nvSpPr>
        <p:spPr>
          <a:xfrm>
            <a:off x="502920" y="5486400"/>
            <a:ext cx="7178040" cy="205740"/>
          </a:xfrm>
          <a:prstGeom prst="rect">
            <a:avLst/>
          </a:prstGeom>
          <a:solidFill>
            <a:schemeClr val="accent4"/>
          </a:solidFill>
          <a:ln w="12700">
            <a:solidFill>
              <a:schemeClr val="accent4"/>
            </a:solidFill>
            <a:prstDash val="solid"/>
          </a:ln>
        </p:spPr>
      </p:sp>
      <p:sp>
        <p:nvSpPr>
          <p:cNvPr id="38" name="added line 22"/>
          <p:cNvSpPr/>
          <p:nvPr/>
        </p:nvSpPr>
        <p:spPr>
          <a:xfrm>
            <a:off x="502920" y="5692140"/>
            <a:ext cx="7178040" cy="205740"/>
          </a:xfrm>
          <a:prstGeom prst="rect">
            <a:avLst/>
          </a:prstGeom>
          <a:solidFill>
            <a:schemeClr val="accent4"/>
          </a:solidFill>
          <a:ln w="12700">
            <a:solidFill>
              <a:schemeClr val="accent4"/>
            </a:solidFill>
            <a:prstDash val="solid"/>
          </a:ln>
        </p:spPr>
      </p:sp>
      <p:sp>
        <p:nvSpPr>
          <p:cNvPr id="39" name="added line 23"/>
          <p:cNvSpPr/>
          <p:nvPr/>
        </p:nvSpPr>
        <p:spPr>
          <a:xfrm>
            <a:off x="502920" y="5897880"/>
            <a:ext cx="7178040" cy="205740"/>
          </a:xfrm>
          <a:prstGeom prst="rect">
            <a:avLst/>
          </a:prstGeom>
          <a:solidFill>
            <a:schemeClr val="accent4"/>
          </a:solidFill>
          <a:ln w="12700">
            <a:solidFill>
              <a:schemeClr val="accent4"/>
            </a:solidFill>
            <a:prstDash val="solid"/>
          </a:ln>
        </p:spPr>
      </p:sp>
      <p:sp>
        <p:nvSpPr>
          <p:cNvPr id="40" name="added line 24"/>
          <p:cNvSpPr/>
          <p:nvPr/>
        </p:nvSpPr>
        <p:spPr>
          <a:xfrm>
            <a:off x="502920" y="6103620"/>
            <a:ext cx="7178040" cy="205740"/>
          </a:xfrm>
          <a:prstGeom prst="rect">
            <a:avLst/>
          </a:prstGeom>
          <a:solidFill>
            <a:schemeClr val="accent4"/>
          </a:solidFill>
          <a:ln w="12700">
            <a:solidFill>
              <a:schemeClr val="accent4"/>
            </a:solidFill>
            <a:prstDash val="solid"/>
          </a:ln>
        </p:spPr>
      </p:sp>
      <p:sp>
        <p:nvSpPr>
          <p:cNvPr id="41" name="diff gutter"/>
          <p:cNvSpPr txBox="1"/>
          <p:nvPr/>
        </p:nvSpPr>
        <p:spPr>
          <a:xfrm>
            <a:off x="576072" y="1371600"/>
            <a:ext cx="228600" cy="4937760"/>
          </a:xfrm>
          <a:prstGeom prst="rect">
            <a:avLst/>
          </a:prstGeom>
          <a:noFill/>
          <a:ln/>
        </p:spPr>
        <p:txBody>
          <a:bodyPr wrap="square" lIns="0" tIns="0" rIns="0" bIns="0" rtlCol="0" anchor="t"/>
          <a:lstStyle/>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3"/>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b="1" dirty="0">
                <a:solidFill>
                  <a:schemeClr val="accent1"/>
                </a:solidFill>
                <a:latin typeface="Consolas" pitchFamily="34" charset="0"/>
                <a:ea typeface="Consolas" pitchFamily="34" charset="-122"/>
                <a:cs typeface="Consolas" pitchFamily="34" charset="-120"/>
              </a:rPr>
              <a:t>+</a:t>
            </a:r>
            <a:endParaRPr lang="en-US" sz="1200" dirty="0"/>
          </a:p>
        </p:txBody>
      </p:sp>
      <p:sp>
        <p:nvSpPr>
          <p:cNvPr id="42" name="code"/>
          <p:cNvSpPr txBox="1"/>
          <p:nvPr/>
        </p:nvSpPr>
        <p:spPr>
          <a:xfrm>
            <a:off x="850392" y="1371600"/>
            <a:ext cx="6812280" cy="4937760"/>
          </a:xfrm>
          <a:prstGeom prst="rect">
            <a:avLst/>
          </a:prstGeom>
          <a:noFill/>
          <a:ln/>
        </p:spPr>
        <p:txBody>
          <a:bodyPr wrap="square" lIns="0" tIns="0" rIns="0" bIns="0" rtlCol="0" anchor="t"/>
          <a:lstStyle/>
          <a:p>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using</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Task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function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void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a:t>
            </a:r>
            <a:endParaRPr lang="en-US" sz="1200" dirty="0"/>
          </a:p>
          <a:p>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using</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ErrorHandler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function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void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exception_ptr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a:t>
            </a:r>
            <a:endParaRPr lang="en-US" sz="1200" dirty="0"/>
          </a:p>
          <a:p>
            <a:pPr indent="0" marL="0">
              <a:lnSpc>
                <a:spcPts val="1620"/>
              </a:lnSpc>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class</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TaskQueue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ThreadSafeQueue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&lt;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Task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&gt;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tasks</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ErrorHandler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on_error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thread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worker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void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work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i="1" dirty="0">
                <a:solidFill>
                  <a:srgbClr val="7D8B9C"/>
                </a:solidFill>
                <a:latin typeface="Consolas" pitchFamily="34" charset="0"/>
                <a:ea typeface="Consolas" pitchFamily="34" charset="-122"/>
                <a:cs typeface="Consolas" pitchFamily="34" charset="-120"/>
              </a:rPr>
              <a:t>// v6's consumer loop</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while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auto</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task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tasks</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wait_and_pop</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try</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task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catch</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on_error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current_exception</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public</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explicit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TaskQueue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ErrorHandler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handler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ignore_error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on_error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move</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handler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worker</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7FDBCA"/>
                </a:solidFill>
                <a:latin typeface="Consolas" pitchFamily="34" charset="0"/>
                <a:ea typeface="Consolas" pitchFamily="34" charset="-122"/>
                <a:cs typeface="Consolas" pitchFamily="34" charset="-120"/>
              </a:rPr>
              <a:t>std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thread</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a:t>
            </a:r>
            <a:pPr indent="0" marL="0">
              <a:lnSpc>
                <a:spcPts val="1620"/>
              </a:lnSpc>
              <a:buNone/>
            </a:pPr>
            <a:r>
              <a:rPr lang="en-US" sz="1200" dirty="0">
                <a:solidFill>
                  <a:srgbClr val="C792EA"/>
                </a:solidFill>
                <a:latin typeface="Consolas" pitchFamily="34" charset="0"/>
                <a:ea typeface="Consolas" pitchFamily="34" charset="-122"/>
                <a:cs typeface="Consolas" pitchFamily="34" charset="-120"/>
              </a:rPr>
              <a:t>this</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 </a:t>
            </a:r>
            <a:pPr indent="0" marL="0">
              <a:lnSpc>
                <a:spcPts val="1620"/>
              </a:lnSpc>
              <a:buNone/>
            </a:pPr>
            <a:r>
              <a:rPr lang="en-US" sz="1200" dirty="0">
                <a:solidFill>
                  <a:srgbClr val="82AAFF"/>
                </a:solidFill>
                <a:latin typeface="Consolas" pitchFamily="34" charset="0"/>
                <a:ea typeface="Consolas" pitchFamily="34" charset="-122"/>
                <a:cs typeface="Consolas" pitchFamily="34" charset="-120"/>
              </a:rPr>
              <a:t>work</a:t>
            </a:r>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a:p>
            <a:pPr indent="0" marL="0">
              <a:lnSpc>
                <a:spcPts val="1620"/>
              </a:lnSpc>
              <a:buNone/>
            </a:pPr>
            <a:r>
              <a:rPr lang="en-US" sz="1200" dirty="0">
                <a:solidFill>
                  <a:srgbClr val="D4DCE8"/>
                </a:solidFill>
                <a:latin typeface="Consolas" pitchFamily="34" charset="0"/>
                <a:ea typeface="Consolas" pitchFamily="34" charset="-122"/>
                <a:cs typeface="Consolas" pitchFamily="34" charset="-120"/>
              </a:rPr>
              <a:t>    }</a:t>
            </a:r>
            <a:endParaRPr lang="en-US" sz="1200" dirty="0"/>
          </a:p>
        </p:txBody>
      </p:sp>
      <p:sp>
        <p:nvSpPr>
          <p:cNvPr id="43" name="Text 41"/>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4" name="Text 42"/>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Queue work, not numbers</a:t>
            </a:r>
            <a:endParaRPr lang="en-US" sz="1600" dirty="0"/>
          </a:p>
        </p:txBody>
      </p:sp>
      <p:sp>
        <p:nvSpPr>
          <p:cNvPr id="45"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46"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 carry</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caught in main: disk full</a:t>
            </a:r>
            <a:endParaRPr lang="en-US" sz="1200" dirty="0"/>
          </a:p>
        </p:txBody>
      </p:sp>
      <p:sp>
        <p:nvSpPr>
          <p:cNvPr id="47" name="Text 45"/>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8"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9" name="Text 47"/>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50"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Task is std::function&lt;void()&gt;: any callable with no arguments and no result. The queue now carries work.</a:t>
            </a:r>
            <a:endParaRPr lang="en-US" sz="1400" dirty="0"/>
          </a:p>
        </p:txBody>
      </p:sp>
      <p:sp>
        <p:nvSpPr>
          <p:cNvPr id="51"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52" name="Text 50"/>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53" name="explanation 2"/>
          <p:cNvSpPr txBox="1"/>
          <p:nvPr/>
        </p:nvSpPr>
        <p:spPr>
          <a:xfrm>
            <a:off x="8430768" y="320040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work() is v6's consumer loop: it pops tasks until shutdown and calls each one.</a:t>
            </a:r>
            <a:endParaRPr lang="en-US" sz="1400" dirty="0"/>
          </a:p>
        </p:txBody>
      </p:sp>
      <p:sp>
        <p:nvSpPr>
          <p:cNvPr id="54"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55" name="Text 53"/>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6" name="explanation 3"/>
          <p:cNvSpPr txBox="1"/>
          <p:nvPr/>
        </p:nvSpPr>
        <p:spPr>
          <a:xfrm>
            <a:off x="8430768" y="373684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An exception only unwinds the thread that threw it. The worker catches everything and hands it to on_error, so one bad task can't kill it.</a:t>
            </a:r>
            <a:endParaRPr lang="en-US" sz="1400" dirty="0"/>
          </a:p>
        </p:txBody>
      </p:sp>
      <p:sp>
        <p:nvSpPr>
          <p:cNvPr id="57" name="tag std::function"/>
          <p:cNvSpPr/>
          <p:nvPr/>
        </p:nvSpPr>
        <p:spPr>
          <a:xfrm>
            <a:off x="2606040" y="6510528"/>
            <a:ext cx="1284732" cy="256032"/>
          </a:xfrm>
          <a:prstGeom prst="roundRect">
            <a:avLst>
              <a:gd name="adj" fmla="val 50000"/>
            </a:avLst>
          </a:prstGeom>
          <a:solidFill>
            <a:schemeClr val="tx1"/>
          </a:solidFill>
          <a:ln w="12700">
            <a:solidFill>
              <a:schemeClr val="accent2"/>
            </a:solidFill>
            <a:prstDash val="solid"/>
          </a:ln>
        </p:spPr>
      </p:sp>
      <p:sp>
        <p:nvSpPr>
          <p:cNvPr id="58" name="Text 56"/>
          <p:cNvSpPr txBox="1"/>
          <p:nvPr/>
        </p:nvSpPr>
        <p:spPr>
          <a:xfrm>
            <a:off x="2606040" y="6510528"/>
            <a:ext cx="1284732" cy="256032"/>
          </a:xfrm>
          <a:prstGeom prst="rect">
            <a:avLst/>
          </a:prstGeom>
          <a:noFill/>
          <a:ln/>
        </p:spPr>
        <p:txBody>
          <a:bodyPr wrap="square" lIns="0" tIns="0" rIns="0" bIns="0" rtlCol="0" anchor="ctr"/>
          <a:lstStyle/>
          <a:p>
            <a:pPr algn="ctr" indent="0" marL="0">
              <a:buNone/>
            </a:pPr>
            <a:r>
              <a:rPr lang="en-US" sz="1100" dirty="0">
                <a:solidFill>
                  <a:schemeClr val="accent2"/>
                </a:solidFill>
              </a:rPr>
              <a:t>std::function</a:t>
            </a:r>
            <a:endParaRPr lang="en-US" sz="1100" dirty="0"/>
          </a:p>
        </p:txBody>
      </p:sp>
      <p:sp>
        <p:nvSpPr>
          <p:cNvPr id="59" name="tag exceptions"/>
          <p:cNvSpPr/>
          <p:nvPr/>
        </p:nvSpPr>
        <p:spPr>
          <a:xfrm>
            <a:off x="3982212" y="6510528"/>
            <a:ext cx="1051560" cy="256032"/>
          </a:xfrm>
          <a:prstGeom prst="roundRect">
            <a:avLst>
              <a:gd name="adj" fmla="val 50000"/>
            </a:avLst>
          </a:prstGeom>
          <a:solidFill>
            <a:schemeClr val="tx1"/>
          </a:solidFill>
          <a:ln w="12700">
            <a:solidFill>
              <a:schemeClr val="accent2"/>
            </a:solidFill>
            <a:prstDash val="solid"/>
          </a:ln>
        </p:spPr>
      </p:sp>
      <p:sp>
        <p:nvSpPr>
          <p:cNvPr id="60" name="Text 58"/>
          <p:cNvSpPr txBox="1"/>
          <p:nvPr/>
        </p:nvSpPr>
        <p:spPr>
          <a:xfrm>
            <a:off x="3982212" y="6510528"/>
            <a:ext cx="1051560" cy="256032"/>
          </a:xfrm>
          <a:prstGeom prst="rect">
            <a:avLst/>
          </a:prstGeom>
          <a:noFill/>
          <a:ln/>
        </p:spPr>
        <p:txBody>
          <a:bodyPr wrap="square" lIns="0" tIns="0" rIns="0" bIns="0" rtlCol="0" anchor="ctr"/>
          <a:lstStyle/>
          <a:p>
            <a:pPr algn="ctr" indent="0" marL="0">
              <a:buNone/>
            </a:pPr>
            <a:r>
              <a:rPr lang="en-US" sz="1100" dirty="0">
                <a:solidFill>
                  <a:schemeClr val="accent2"/>
                </a:solidFill>
              </a:rPr>
              <a:t>exceptions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Submit, and stop cleanly</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current"/>
          <p:cNvSpPr/>
          <p:nvPr/>
        </p:nvSpPr>
        <p:spPr>
          <a:xfrm>
            <a:off x="10296144" y="384048"/>
            <a:ext cx="173736" cy="173736"/>
          </a:xfrm>
          <a:prstGeom prst="ellipse">
            <a:avLst/>
          </a:prstGeom>
          <a:solidFill>
            <a:schemeClr val="accent2"/>
          </a:solidFill>
          <a:ln w="12700">
            <a:solidFill>
              <a:schemeClr val="accent2"/>
            </a:solidFill>
            <a:prstDash val="solid"/>
          </a:ln>
        </p:spPr>
      </p:sp>
      <p:sp>
        <p:nvSpPr>
          <p:cNvPr id="12" name="progress todo"/>
          <p:cNvSpPr/>
          <p:nvPr/>
        </p:nvSpPr>
        <p:spPr>
          <a:xfrm>
            <a:off x="10556748" y="411480"/>
            <a:ext cx="118872" cy="118872"/>
          </a:xfrm>
          <a:prstGeom prst="ellipse">
            <a:avLst/>
          </a:prstGeom>
          <a:solidFill>
            <a:schemeClr val="tx1"/>
          </a:solidFill>
          <a:ln w="12700">
            <a:solidFill>
              <a:schemeClr val="bg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v8</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Task queue</a:t>
            </a:r>
            <a:pPr indent="0" marL="0">
              <a:buNone/>
            </a:pPr>
            <a:r>
              <a:rPr lang="en-US" sz="1400" dirty="0">
                <a:solidFill>
                  <a:schemeClr val="bg2"/>
                </a:solidFill>
                <a:latin typeface="Consolas" pitchFamily="34" charset="0"/>
                <a:ea typeface="Consolas" pitchFamily="34" charset="-122"/>
                <a:cs typeface="Consolas" pitchFamily="34" charset="-120"/>
              </a:rPr>
              <a:t>   ·   task_queue.hpp (new) · 2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4"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5"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6"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7"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8"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9"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0" name="diff gutter"/>
          <p:cNvSpPr txBox="1"/>
          <p:nvPr/>
        </p:nvSpPr>
        <p:spPr>
          <a:xfrm>
            <a:off x="576072" y="1371600"/>
            <a:ext cx="228600" cy="2564892"/>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1" name="code"/>
          <p:cNvSpPr txBox="1"/>
          <p:nvPr/>
        </p:nvSpPr>
        <p:spPr>
          <a:xfrm>
            <a:off x="850392" y="1371600"/>
            <a:ext cx="6812280" cy="2564892"/>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delete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operator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delete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submit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shutdown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drain, then the worker leaves</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worker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join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2" name="Text 30"/>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3" name="Text 31"/>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The worker must finish, then join</a:t>
            </a:r>
            <a:endParaRPr lang="en-US" sz="1600" dirty="0"/>
          </a:p>
        </p:txBody>
      </p:sp>
      <p:sp>
        <p:nvSpPr>
          <p:cNvPr id="34" name="Text 32"/>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5"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6" name="Text 34"/>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7" name="explanation 1"/>
          <p:cNvSpPr txBox="1"/>
          <p:nvPr/>
        </p:nvSpPr>
        <p:spPr>
          <a:xfrm>
            <a:off x="8430768" y="2450592"/>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submit() pushes a task, and returns false once the queue is shut down.</a:t>
            </a:r>
            <a:endParaRPr lang="en-US" sz="1400" dirty="0"/>
          </a:p>
        </p:txBody>
      </p:sp>
      <p:sp>
        <p:nvSpPr>
          <p:cNvPr id="38" name="step 2"/>
          <p:cNvSpPr/>
          <p:nvPr/>
        </p:nvSpPr>
        <p:spPr>
          <a:xfrm>
            <a:off x="8046720" y="2996184"/>
            <a:ext cx="256032" cy="256032"/>
          </a:xfrm>
          <a:prstGeom prst="ellipse">
            <a:avLst/>
          </a:prstGeom>
          <a:solidFill>
            <a:schemeClr val="tx2"/>
          </a:solidFill>
          <a:ln w="15875">
            <a:solidFill>
              <a:schemeClr val="accent1"/>
            </a:solidFill>
            <a:prstDash val="solid"/>
          </a:ln>
        </p:spPr>
      </p:sp>
      <p:sp>
        <p:nvSpPr>
          <p:cNvPr id="39" name="Text 37"/>
          <p:cNvSpPr txBox="1"/>
          <p:nvPr/>
        </p:nvSpPr>
        <p:spPr>
          <a:xfrm>
            <a:off x="8046720" y="299618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0" name="explanation 2"/>
          <p:cNvSpPr txBox="1"/>
          <p:nvPr/>
        </p:nvSpPr>
        <p:spPr>
          <a:xfrm>
            <a:off x="8430768" y="298704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destructor shuts the queue down: the worker drains what's left, wait_and_pop() returns nothing, and work() returns.</a:t>
            </a:r>
            <a:endParaRPr lang="en-US" sz="1400" dirty="0"/>
          </a:p>
        </p:txBody>
      </p:sp>
      <p:sp>
        <p:nvSpPr>
          <p:cNvPr id="41"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2" name="Text 40"/>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3" name="explanation 3"/>
          <p:cNvSpPr txBox="1"/>
          <p:nvPr/>
        </p:nvSpPr>
        <p:spPr>
          <a:xfrm>
            <a:off x="8430768" y="373684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worker.join() then waits for that thread to end. Copying is deleted because a copy would share the same worker.</a:t>
            </a:r>
            <a:endParaRPr lang="en-US" sz="1400" dirty="0"/>
          </a:p>
        </p:txBody>
      </p:sp>
      <p:sp>
        <p:nvSpPr>
          <p:cNvPr id="44" name="tag shutdown"/>
          <p:cNvSpPr/>
          <p:nvPr/>
        </p:nvSpPr>
        <p:spPr>
          <a:xfrm>
            <a:off x="2606040" y="6510528"/>
            <a:ext cx="896112" cy="256032"/>
          </a:xfrm>
          <a:prstGeom prst="roundRect">
            <a:avLst>
              <a:gd name="adj" fmla="val 50000"/>
            </a:avLst>
          </a:prstGeom>
          <a:solidFill>
            <a:schemeClr val="tx1"/>
          </a:solidFill>
          <a:ln w="12700">
            <a:solidFill>
              <a:schemeClr val="accent2"/>
            </a:solidFill>
            <a:prstDash val="solid"/>
          </a:ln>
        </p:spPr>
      </p:sp>
      <p:sp>
        <p:nvSpPr>
          <p:cNvPr id="45" name="Text 43"/>
          <p:cNvSpPr txBox="1"/>
          <p:nvPr/>
        </p:nvSpPr>
        <p:spPr>
          <a:xfrm>
            <a:off x="2606040" y="6510528"/>
            <a:ext cx="896112" cy="256032"/>
          </a:xfrm>
          <a:prstGeom prst="rect">
            <a:avLst/>
          </a:prstGeom>
          <a:noFill/>
          <a:ln/>
        </p:spPr>
        <p:txBody>
          <a:bodyPr wrap="square" lIns="0" tIns="0" rIns="0" bIns="0" rtlCol="0" anchor="ctr"/>
          <a:lstStyle/>
          <a:p>
            <a:pPr algn="ctr" indent="0" marL="0">
              <a:buNone/>
            </a:pPr>
            <a:r>
              <a:rPr lang="en-US" sz="1100" dirty="0">
                <a:solidFill>
                  <a:schemeClr val="accent2"/>
                </a:solidFill>
              </a:rPr>
              <a:t>shutdown</a:t>
            </a:r>
            <a:endParaRPr lang="en-US" sz="1100" dirty="0"/>
          </a:p>
        </p:txBody>
      </p:sp>
      <p:sp>
        <p:nvSpPr>
          <p:cNvPr id="46" name="tag join"/>
          <p:cNvSpPr/>
          <p:nvPr/>
        </p:nvSpPr>
        <p:spPr>
          <a:xfrm>
            <a:off x="3593592" y="6510528"/>
            <a:ext cx="585216" cy="256032"/>
          </a:xfrm>
          <a:prstGeom prst="roundRect">
            <a:avLst>
              <a:gd name="adj" fmla="val 50000"/>
            </a:avLst>
          </a:prstGeom>
          <a:solidFill>
            <a:schemeClr val="tx1"/>
          </a:solidFill>
          <a:ln w="12700">
            <a:solidFill>
              <a:schemeClr val="accent2"/>
            </a:solidFill>
            <a:prstDash val="solid"/>
          </a:ln>
        </p:spPr>
      </p:sp>
      <p:sp>
        <p:nvSpPr>
          <p:cNvPr id="47" name="Text 45"/>
          <p:cNvSpPr txBox="1"/>
          <p:nvPr/>
        </p:nvSpPr>
        <p:spPr>
          <a:xfrm>
            <a:off x="3593592" y="6510528"/>
            <a:ext cx="585216" cy="256032"/>
          </a:xfrm>
          <a:prstGeom prst="rect">
            <a:avLst/>
          </a:prstGeom>
          <a:noFill/>
          <a:ln/>
        </p:spPr>
        <p:txBody>
          <a:bodyPr wrap="square" lIns="0" tIns="0" rIns="0" bIns="0" rtlCol="0" anchor="ctr"/>
          <a:lstStyle/>
          <a:p>
            <a:pPr algn="ctr" indent="0" marL="0">
              <a:buNone/>
            </a:pPr>
            <a:r>
              <a:rPr lang="en-US" sz="1100" dirty="0">
                <a:solidFill>
                  <a:schemeClr val="accent2"/>
                </a:solidFill>
              </a:rPr>
              <a:t>join</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One worker becomes a group</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current"/>
          <p:cNvSpPr/>
          <p:nvPr/>
        </p:nvSpPr>
        <p:spPr>
          <a:xfrm>
            <a:off x="10529316" y="384048"/>
            <a:ext cx="173736" cy="173736"/>
          </a:xfrm>
          <a:prstGeom prst="ellipse">
            <a:avLst/>
          </a:prstGeom>
          <a:solidFill>
            <a:schemeClr val="accent2"/>
          </a:solidFill>
          <a:ln w="12700">
            <a:solidFill>
              <a:schemeClr val="accent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v9</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Thread pool</a:t>
            </a:r>
            <a:pPr indent="0" marL="0">
              <a:buNone/>
            </a:pPr>
            <a:r>
              <a:rPr lang="en-US" sz="1400" dirty="0">
                <a:solidFill>
                  <a:schemeClr val="bg2"/>
                </a:solidFill>
                <a:latin typeface="Consolas" pitchFamily="34" charset="0"/>
                <a:ea typeface="Consolas" pitchFamily="34" charset="-122"/>
                <a:cs typeface="Consolas" pitchFamily="34" charset="-120"/>
              </a:rPr>
              <a:t>   ·   pool.hpp · 1 of 3</a:t>
            </a:r>
            <a:endParaRPr lang="en-US" sz="1400" dirty="0"/>
          </a:p>
        </p:txBody>
      </p:sp>
      <p:sp>
        <p:nvSpPr>
          <p:cNvPr id="21" name="removed line 1"/>
          <p:cNvSpPr/>
          <p:nvPr/>
        </p:nvSpPr>
        <p:spPr>
          <a:xfrm>
            <a:off x="502920" y="1371600"/>
            <a:ext cx="7178040" cy="219456"/>
          </a:xfrm>
          <a:prstGeom prst="rect">
            <a:avLst/>
          </a:prstGeom>
          <a:solidFill>
            <a:schemeClr val="accent5"/>
          </a:solidFill>
          <a:ln w="12700">
            <a:solidFill>
              <a:schemeClr val="accent5"/>
            </a:solidFill>
            <a:prstDash val="solid"/>
          </a:ln>
        </p:spPr>
      </p:sp>
      <p:sp>
        <p:nvSpPr>
          <p:cNvPr id="22" name="removed line 2"/>
          <p:cNvSpPr/>
          <p:nvPr/>
        </p:nvSpPr>
        <p:spPr>
          <a:xfrm>
            <a:off x="502920" y="1591056"/>
            <a:ext cx="7178040" cy="219456"/>
          </a:xfrm>
          <a:prstGeom prst="rect">
            <a:avLst/>
          </a:prstGeom>
          <a:solidFill>
            <a:schemeClr val="accent5"/>
          </a:solidFill>
          <a:ln w="12700">
            <a:solidFill>
              <a:schemeClr val="accent5"/>
            </a:solidFill>
            <a:prstDash val="solid"/>
          </a:ln>
        </p:spPr>
      </p:sp>
      <p:sp>
        <p:nvSpPr>
          <p:cNvPr id="23" name="removed line 3"/>
          <p:cNvSpPr/>
          <p:nvPr/>
        </p:nvSpPr>
        <p:spPr>
          <a:xfrm>
            <a:off x="502920" y="1810512"/>
            <a:ext cx="7178040" cy="219456"/>
          </a:xfrm>
          <a:prstGeom prst="rect">
            <a:avLst/>
          </a:prstGeom>
          <a:solidFill>
            <a:schemeClr val="accent5"/>
          </a:solidFill>
          <a:ln w="12700">
            <a:solidFill>
              <a:schemeClr val="accent5"/>
            </a:solidFill>
            <a:prstDash val="solid"/>
          </a:ln>
        </p:spPr>
      </p:sp>
      <p:sp>
        <p:nvSpPr>
          <p:cNvPr id="24" name="removed line 4"/>
          <p:cNvSpPr/>
          <p:nvPr/>
        </p:nvSpPr>
        <p:spPr>
          <a:xfrm>
            <a:off x="502920" y="2029968"/>
            <a:ext cx="7178040" cy="219456"/>
          </a:xfrm>
          <a:prstGeom prst="rect">
            <a:avLst/>
          </a:prstGeom>
          <a:solidFill>
            <a:schemeClr val="accent5"/>
          </a:solidFill>
          <a:ln w="12700">
            <a:solidFill>
              <a:schemeClr val="accent5"/>
            </a:solidFill>
            <a:prstDash val="solid"/>
          </a:ln>
        </p:spPr>
      </p:sp>
      <p:sp>
        <p:nvSpPr>
          <p:cNvPr id="25" name="added line 6"/>
          <p:cNvSpPr/>
          <p:nvPr/>
        </p:nvSpPr>
        <p:spPr>
          <a:xfrm>
            <a:off x="502920" y="2468880"/>
            <a:ext cx="7178040" cy="219456"/>
          </a:xfrm>
          <a:prstGeom prst="rect">
            <a:avLst/>
          </a:prstGeom>
          <a:solidFill>
            <a:schemeClr val="accent4"/>
          </a:solidFill>
          <a:ln w="12700">
            <a:solidFill>
              <a:schemeClr val="accent4"/>
            </a:solidFill>
            <a:prstDash val="solid"/>
          </a:ln>
        </p:spPr>
      </p:sp>
      <p:sp>
        <p:nvSpPr>
          <p:cNvPr id="26" name="added line 9"/>
          <p:cNvSpPr/>
          <p:nvPr/>
        </p:nvSpPr>
        <p:spPr>
          <a:xfrm>
            <a:off x="502920" y="3127248"/>
            <a:ext cx="7178040" cy="219456"/>
          </a:xfrm>
          <a:prstGeom prst="rect">
            <a:avLst/>
          </a:prstGeom>
          <a:solidFill>
            <a:schemeClr val="accent4"/>
          </a:solidFill>
          <a:ln w="12700">
            <a:solidFill>
              <a:schemeClr val="accent4"/>
            </a:solidFill>
            <a:prstDash val="solid"/>
          </a:ln>
        </p:spPr>
      </p:sp>
      <p:sp>
        <p:nvSpPr>
          <p:cNvPr id="27" name="removed line 11"/>
          <p:cNvSpPr/>
          <p:nvPr/>
        </p:nvSpPr>
        <p:spPr>
          <a:xfrm>
            <a:off x="502920" y="3566160"/>
            <a:ext cx="7178040" cy="219456"/>
          </a:xfrm>
          <a:prstGeom prst="rect">
            <a:avLst/>
          </a:prstGeom>
          <a:solidFill>
            <a:schemeClr val="accent5"/>
          </a:solidFill>
          <a:ln w="12700">
            <a:solidFill>
              <a:schemeClr val="accent5"/>
            </a:solidFill>
            <a:prstDash val="solid"/>
          </a:ln>
        </p:spPr>
      </p:sp>
      <p:sp>
        <p:nvSpPr>
          <p:cNvPr id="28" name="removed line 12"/>
          <p:cNvSpPr/>
          <p:nvPr/>
        </p:nvSpPr>
        <p:spPr>
          <a:xfrm>
            <a:off x="502920" y="3785616"/>
            <a:ext cx="7178040" cy="219456"/>
          </a:xfrm>
          <a:prstGeom prst="rect">
            <a:avLst/>
          </a:prstGeom>
          <a:solidFill>
            <a:schemeClr val="accent5"/>
          </a:solidFill>
          <a:ln w="12700">
            <a:solidFill>
              <a:schemeClr val="accent5"/>
            </a:solidFill>
            <a:prstDash val="solid"/>
          </a:ln>
        </p:spPr>
      </p:sp>
      <p:sp>
        <p:nvSpPr>
          <p:cNvPr id="29" name="removed line 13"/>
          <p:cNvSpPr/>
          <p:nvPr/>
        </p:nvSpPr>
        <p:spPr>
          <a:xfrm>
            <a:off x="502920" y="4005072"/>
            <a:ext cx="7178040" cy="219456"/>
          </a:xfrm>
          <a:prstGeom prst="rect">
            <a:avLst/>
          </a:prstGeom>
          <a:solidFill>
            <a:schemeClr val="accent5"/>
          </a:solidFill>
          <a:ln w="12700">
            <a:solidFill>
              <a:schemeClr val="accent5"/>
            </a:solidFill>
            <a:prstDash val="solid"/>
          </a:ln>
        </p:spPr>
      </p:sp>
      <p:sp>
        <p:nvSpPr>
          <p:cNvPr id="30" name="removed line 14"/>
          <p:cNvSpPr/>
          <p:nvPr/>
        </p:nvSpPr>
        <p:spPr>
          <a:xfrm>
            <a:off x="502920" y="4224528"/>
            <a:ext cx="7178040" cy="219456"/>
          </a:xfrm>
          <a:prstGeom prst="rect">
            <a:avLst/>
          </a:prstGeom>
          <a:solidFill>
            <a:schemeClr val="accent5"/>
          </a:solidFill>
          <a:ln w="12700">
            <a:solidFill>
              <a:schemeClr val="accent5"/>
            </a:solidFill>
            <a:prstDash val="solid"/>
          </a:ln>
        </p:spPr>
      </p:sp>
      <p:sp>
        <p:nvSpPr>
          <p:cNvPr id="31" name="added line 16"/>
          <p:cNvSpPr/>
          <p:nvPr/>
        </p:nvSpPr>
        <p:spPr>
          <a:xfrm>
            <a:off x="502920" y="4663440"/>
            <a:ext cx="7178040" cy="219456"/>
          </a:xfrm>
          <a:prstGeom prst="rect">
            <a:avLst/>
          </a:prstGeom>
          <a:solidFill>
            <a:schemeClr val="accent4"/>
          </a:solidFill>
          <a:ln w="12700">
            <a:solidFill>
              <a:schemeClr val="accent4"/>
            </a:solidFill>
            <a:prstDash val="solid"/>
          </a:ln>
        </p:spPr>
      </p:sp>
      <p:sp>
        <p:nvSpPr>
          <p:cNvPr id="32" name="added line 17"/>
          <p:cNvSpPr/>
          <p:nvPr/>
        </p:nvSpPr>
        <p:spPr>
          <a:xfrm>
            <a:off x="502920" y="4882896"/>
            <a:ext cx="7178040" cy="219456"/>
          </a:xfrm>
          <a:prstGeom prst="rect">
            <a:avLst/>
          </a:prstGeom>
          <a:solidFill>
            <a:schemeClr val="accent4"/>
          </a:solidFill>
          <a:ln w="12700">
            <a:solidFill>
              <a:schemeClr val="accent4"/>
            </a:solidFill>
            <a:prstDash val="solid"/>
          </a:ln>
        </p:spPr>
      </p:sp>
      <p:sp>
        <p:nvSpPr>
          <p:cNvPr id="33" name="added line 19"/>
          <p:cNvSpPr/>
          <p:nvPr/>
        </p:nvSpPr>
        <p:spPr>
          <a:xfrm>
            <a:off x="502920" y="5321808"/>
            <a:ext cx="7178040" cy="219456"/>
          </a:xfrm>
          <a:prstGeom prst="rect">
            <a:avLst/>
          </a:prstGeom>
          <a:solidFill>
            <a:schemeClr val="accent4"/>
          </a:solidFill>
          <a:ln w="12700">
            <a:solidFill>
              <a:schemeClr val="accent4"/>
            </a:solidFill>
            <a:prstDash val="solid"/>
          </a:ln>
        </p:spPr>
      </p:sp>
      <p:sp>
        <p:nvSpPr>
          <p:cNvPr id="34" name="added line 20"/>
          <p:cNvSpPr/>
          <p:nvPr/>
        </p:nvSpPr>
        <p:spPr>
          <a:xfrm>
            <a:off x="502920" y="5541264"/>
            <a:ext cx="7178040" cy="219456"/>
          </a:xfrm>
          <a:prstGeom prst="rect">
            <a:avLst/>
          </a:prstGeom>
          <a:solidFill>
            <a:schemeClr val="accent4"/>
          </a:solidFill>
          <a:ln w="12700">
            <a:solidFill>
              <a:schemeClr val="accent4"/>
            </a:solidFill>
            <a:prstDash val="solid"/>
          </a:ln>
        </p:spPr>
      </p:sp>
      <p:sp>
        <p:nvSpPr>
          <p:cNvPr id="35" name="added line 21"/>
          <p:cNvSpPr/>
          <p:nvPr/>
        </p:nvSpPr>
        <p:spPr>
          <a:xfrm>
            <a:off x="502920" y="5760720"/>
            <a:ext cx="7178040" cy="219456"/>
          </a:xfrm>
          <a:prstGeom prst="rect">
            <a:avLst/>
          </a:prstGeom>
          <a:solidFill>
            <a:schemeClr val="accent4"/>
          </a:solidFill>
          <a:ln w="12700">
            <a:solidFill>
              <a:schemeClr val="accent4"/>
            </a:solidFill>
            <a:prstDash val="solid"/>
          </a:ln>
        </p:spPr>
      </p:sp>
      <p:sp>
        <p:nvSpPr>
          <p:cNvPr id="36" name="diff gutter"/>
          <p:cNvSpPr txBox="1"/>
          <p:nvPr/>
        </p:nvSpPr>
        <p:spPr>
          <a:xfrm>
            <a:off x="576072" y="1371600"/>
            <a:ext cx="228600" cy="4608576"/>
          </a:xfrm>
          <a:prstGeom prst="rect">
            <a:avLst/>
          </a:prstGeom>
          <a:noFill/>
          <a:ln/>
        </p:spPr>
        <p:txBody>
          <a:bodyPr wrap="square" lIns="0" tIns="0" rIns="0" bIns="0" rtlCol="0" anchor="t"/>
          <a:lstStyle/>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7" name="code"/>
          <p:cNvSpPr txBox="1"/>
          <p:nvPr/>
        </p:nvSpPr>
        <p:spPr>
          <a:xfrm>
            <a:off x="850392" y="1371600"/>
            <a:ext cx="6812280" cy="4608576"/>
          </a:xfrm>
          <a:prstGeom prst="rect">
            <a:avLst/>
          </a:prstGeom>
          <a:noFill/>
          <a:ln/>
        </p:spPr>
        <p:txBody>
          <a:bodyPr wrap="square" lIns="0" tIns="0" rIns="0" bIns="0" rtlCol="0" anchor="t"/>
          <a:lstStyle/>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class TaskQueue {</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ThreadSafeQueue&lt;Task&gt; tasks;</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ErrorHandler on_error;</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std::thread worker;</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ThreadSafeQueue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destroyed last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ErrorHandler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on_error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workers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destroyed (joined) first</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explicit TaskQueue(ErrorHandler handler = ignore_error)</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 on_error(std::move(handler)) {</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worker = std::thread([this] { work(); });</a:t>
            </a:r>
            <a:endParaRPr lang="en-US" sz="1300" dirty="0"/>
          </a:p>
          <a:p>
            <a:pPr indent="0" marL="0">
              <a:lnSpc>
                <a:spcPts val="1728"/>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explicit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unsigned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default_workers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ErrorHandler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handler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ignore_error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on_error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handler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unsigned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workers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add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thread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this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work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8" name="Text 36"/>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9" name="Text 37"/>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One worker runs one task at a time</a:t>
            </a:r>
            <a:endParaRPr lang="en-US" sz="1600" dirty="0"/>
          </a:p>
        </p:txBody>
      </p:sp>
      <p:sp>
        <p:nvSpPr>
          <p:cNvPr id="40"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1"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./tiny_workers  # 64 sleepy</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 worker:   6.86 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20 workers: 0.44 s</a:t>
            </a:r>
            <a:endParaRPr lang="en-US" sz="1200" dirty="0"/>
          </a:p>
        </p:txBody>
      </p:sp>
      <p:sp>
        <p:nvSpPr>
          <p:cNvPr id="42" name="Text 40"/>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3"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5"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single std::thread becomes a ThreadGroup (from v1). The constructor starts n threads, all running the same work() loop.</a:t>
            </a:r>
            <a:endParaRPr lang="en-US" sz="1400" dirty="0"/>
          </a:p>
        </p:txBody>
      </p:sp>
      <p:sp>
        <p:nvSpPr>
          <p:cNvPr id="46"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8"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Members are destroyed in reverse order of declaration: workers is last, so its threads are joined before the queue is destroyed.</a:t>
            </a:r>
            <a:endParaRPr lang="en-US" sz="1400" dirty="0"/>
          </a:p>
        </p:txBody>
      </p:sp>
      <p:sp>
        <p:nvSpPr>
          <p:cNvPr id="49"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50" name="Text 48"/>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1" name="explanation 3"/>
          <p:cNvSpPr txBox="1"/>
          <p:nvPr/>
        </p:nvSpPr>
        <p:spPr>
          <a:xfrm>
            <a:off x="8430768" y="437692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default_workers() uses hardware_concurrency(), which returns 0 when unknown, so it falls back to 4.</a:t>
            </a:r>
            <a:endParaRPr lang="en-US" sz="1400" dirty="0"/>
          </a:p>
        </p:txBody>
      </p:sp>
      <p:sp>
        <p:nvSpPr>
          <p:cNvPr id="52" name="tag pool sizing"/>
          <p:cNvSpPr/>
          <p:nvPr/>
        </p:nvSpPr>
        <p:spPr>
          <a:xfrm>
            <a:off x="2606040" y="6510528"/>
            <a:ext cx="1129284" cy="256032"/>
          </a:xfrm>
          <a:prstGeom prst="roundRect">
            <a:avLst>
              <a:gd name="adj" fmla="val 50000"/>
            </a:avLst>
          </a:prstGeom>
          <a:solidFill>
            <a:schemeClr val="tx1"/>
          </a:solidFill>
          <a:ln w="12700">
            <a:solidFill>
              <a:schemeClr val="accent2"/>
            </a:solidFill>
            <a:prstDash val="solid"/>
          </a:ln>
        </p:spPr>
      </p:sp>
      <p:sp>
        <p:nvSpPr>
          <p:cNvPr id="53" name="Text 51"/>
          <p:cNvSpPr txBox="1"/>
          <p:nvPr/>
        </p:nvSpPr>
        <p:spPr>
          <a:xfrm>
            <a:off x="2606040" y="6510528"/>
            <a:ext cx="1129284" cy="256032"/>
          </a:xfrm>
          <a:prstGeom prst="rect">
            <a:avLst/>
          </a:prstGeom>
          <a:noFill/>
          <a:ln/>
        </p:spPr>
        <p:txBody>
          <a:bodyPr wrap="square" lIns="0" tIns="0" rIns="0" bIns="0" rtlCol="0" anchor="ctr"/>
          <a:lstStyle/>
          <a:p>
            <a:pPr algn="ctr" indent="0" marL="0">
              <a:buNone/>
            </a:pPr>
            <a:r>
              <a:rPr lang="en-US" sz="1100" dirty="0">
                <a:solidFill>
                  <a:schemeClr val="accent2"/>
                </a:solidFill>
              </a:rPr>
              <a:t>pool sizing</a:t>
            </a:r>
            <a:endParaRPr lang="en-US" sz="1100" dirty="0"/>
          </a:p>
        </p:txBody>
      </p:sp>
      <p:sp>
        <p:nvSpPr>
          <p:cNvPr id="54" name="tag member order"/>
          <p:cNvSpPr/>
          <p:nvPr/>
        </p:nvSpPr>
        <p:spPr>
          <a:xfrm>
            <a:off x="3826764" y="6510528"/>
            <a:ext cx="1207008" cy="256032"/>
          </a:xfrm>
          <a:prstGeom prst="roundRect">
            <a:avLst>
              <a:gd name="adj" fmla="val 50000"/>
            </a:avLst>
          </a:prstGeom>
          <a:solidFill>
            <a:schemeClr val="tx1"/>
          </a:solidFill>
          <a:ln w="12700">
            <a:solidFill>
              <a:schemeClr val="accent2"/>
            </a:solidFill>
            <a:prstDash val="solid"/>
          </a:ln>
        </p:spPr>
      </p:sp>
      <p:sp>
        <p:nvSpPr>
          <p:cNvPr id="55" name="Text 53"/>
          <p:cNvSpPr txBox="1"/>
          <p:nvPr/>
        </p:nvSpPr>
        <p:spPr>
          <a:xfrm>
            <a:off x="3826764" y="6510528"/>
            <a:ext cx="1207008" cy="256032"/>
          </a:xfrm>
          <a:prstGeom prst="rect">
            <a:avLst/>
          </a:prstGeom>
          <a:noFill/>
          <a:ln/>
        </p:spPr>
        <p:txBody>
          <a:bodyPr wrap="square" lIns="0" tIns="0" rIns="0" bIns="0" rtlCol="0" anchor="ctr"/>
          <a:lstStyle/>
          <a:p>
            <a:pPr algn="ctr" indent="0" marL="0">
              <a:buNone/>
            </a:pPr>
            <a:r>
              <a:rPr lang="en-US" sz="1100" dirty="0">
                <a:solidFill>
                  <a:schemeClr val="accent2"/>
                </a:solidFill>
              </a:rPr>
              <a:t>member order</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Shut down first, then join</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current"/>
          <p:cNvSpPr/>
          <p:nvPr/>
        </p:nvSpPr>
        <p:spPr>
          <a:xfrm>
            <a:off x="10529316" y="384048"/>
            <a:ext cx="173736" cy="173736"/>
          </a:xfrm>
          <a:prstGeom prst="ellipse">
            <a:avLst/>
          </a:prstGeom>
          <a:solidFill>
            <a:schemeClr val="accent2"/>
          </a:solidFill>
          <a:ln w="12700">
            <a:solidFill>
              <a:schemeClr val="accent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v9</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Thread pool</a:t>
            </a:r>
            <a:pPr indent="0" marL="0">
              <a:buNone/>
            </a:pPr>
            <a:r>
              <a:rPr lang="en-US" sz="1400" dirty="0">
                <a:solidFill>
                  <a:schemeClr val="bg2"/>
                </a:solidFill>
                <a:latin typeface="Consolas" pitchFamily="34" charset="0"/>
                <a:ea typeface="Consolas" pitchFamily="34" charset="-122"/>
                <a:cs typeface="Consolas" pitchFamily="34" charset="-120"/>
              </a:rPr>
              <a:t>   ·   pool.hpp · 2 of 3</a:t>
            </a:r>
            <a:endParaRPr lang="en-US" sz="1400" dirty="0"/>
          </a:p>
        </p:txBody>
      </p:sp>
      <p:sp>
        <p:nvSpPr>
          <p:cNvPr id="21" name="removed line 5"/>
          <p:cNvSpPr/>
          <p:nvPr/>
        </p:nvSpPr>
        <p:spPr>
          <a:xfrm>
            <a:off x="502920" y="2304288"/>
            <a:ext cx="7178040" cy="233172"/>
          </a:xfrm>
          <a:prstGeom prst="rect">
            <a:avLst/>
          </a:prstGeom>
          <a:solidFill>
            <a:schemeClr val="accent5"/>
          </a:solidFill>
          <a:ln w="12700">
            <a:solidFill>
              <a:schemeClr val="accent5"/>
            </a:solidFill>
            <a:prstDash val="solid"/>
          </a:ln>
        </p:spPr>
      </p:sp>
      <p:sp>
        <p:nvSpPr>
          <p:cNvPr id="22" name="removed line 6"/>
          <p:cNvSpPr/>
          <p:nvPr/>
        </p:nvSpPr>
        <p:spPr>
          <a:xfrm>
            <a:off x="502920" y="2537460"/>
            <a:ext cx="7178040" cy="233172"/>
          </a:xfrm>
          <a:prstGeom prst="rect">
            <a:avLst/>
          </a:prstGeom>
          <a:solidFill>
            <a:schemeClr val="accent5"/>
          </a:solidFill>
          <a:ln w="12700">
            <a:solidFill>
              <a:schemeClr val="accent5"/>
            </a:solidFill>
            <a:prstDash val="solid"/>
          </a:ln>
        </p:spPr>
      </p:sp>
      <p:sp>
        <p:nvSpPr>
          <p:cNvPr id="23" name="removed line 7"/>
          <p:cNvSpPr/>
          <p:nvPr/>
        </p:nvSpPr>
        <p:spPr>
          <a:xfrm>
            <a:off x="502920" y="2770632"/>
            <a:ext cx="7178040" cy="233172"/>
          </a:xfrm>
          <a:prstGeom prst="rect">
            <a:avLst/>
          </a:prstGeom>
          <a:solidFill>
            <a:schemeClr val="accent5"/>
          </a:solidFill>
          <a:ln w="12700">
            <a:solidFill>
              <a:schemeClr val="accent5"/>
            </a:solidFill>
            <a:prstDash val="solid"/>
          </a:ln>
        </p:spPr>
      </p:sp>
      <p:sp>
        <p:nvSpPr>
          <p:cNvPr id="24" name="removed line 8"/>
          <p:cNvSpPr/>
          <p:nvPr/>
        </p:nvSpPr>
        <p:spPr>
          <a:xfrm>
            <a:off x="502920" y="3003804"/>
            <a:ext cx="7178040" cy="233172"/>
          </a:xfrm>
          <a:prstGeom prst="rect">
            <a:avLst/>
          </a:prstGeom>
          <a:solidFill>
            <a:schemeClr val="accent5"/>
          </a:solidFill>
          <a:ln w="12700">
            <a:solidFill>
              <a:schemeClr val="accent5"/>
            </a:solidFill>
            <a:prstDash val="solid"/>
          </a:ln>
        </p:spPr>
      </p:sp>
      <p:sp>
        <p:nvSpPr>
          <p:cNvPr id="25"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6"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27"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28"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29"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0"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1" name="diff gutter"/>
          <p:cNvSpPr txBox="1"/>
          <p:nvPr/>
        </p:nvSpPr>
        <p:spPr>
          <a:xfrm>
            <a:off x="576072" y="1371600"/>
            <a:ext cx="228600" cy="3963924"/>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2" name="code"/>
          <p:cNvSpPr txBox="1"/>
          <p:nvPr/>
        </p:nvSpPr>
        <p:spPr>
          <a:xfrm>
            <a:off x="850392" y="1371600"/>
            <a:ext cx="6812280" cy="3963924"/>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submit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~TaskQueue()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tasks.shutdown();                 // drain, then the worker leaves</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worker.join();</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shutdown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then ~workers joins them all</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inline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default_pool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static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built once, thread-safely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3" name="Text 31"/>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4" name="Text 32"/>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Joining sleeping workers hangs</a:t>
            </a:r>
            <a:endParaRPr lang="en-US" sz="1600" dirty="0"/>
          </a:p>
        </p:txBody>
      </p:sp>
      <p:sp>
        <p:nvSpPr>
          <p:cNvPr id="35" name="Text 33"/>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6"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7" name="Text 35"/>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8"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destructor only calls tasks.shutdown(). The workers wake, drain the queue and return.</a:t>
            </a:r>
            <a:endParaRPr lang="en-US" sz="1400" dirty="0"/>
          </a:p>
        </p:txBody>
      </p:sp>
      <p:sp>
        <p:nvSpPr>
          <p:cNvPr id="39"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1"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Then the members' destructors run, and ThreadGroup joins every worker. Joining first would hang: sleeping workers never wake.</a:t>
            </a:r>
            <a:endParaRPr lang="en-US" sz="1400" dirty="0"/>
          </a:p>
        </p:txBody>
      </p:sp>
      <p:sp>
        <p:nvSpPr>
          <p:cNvPr id="42"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4"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default_pool() is a function-local static. C++11 guarantees it is built exactly once, even if several threads call it first at the same time.</a:t>
            </a:r>
            <a:endParaRPr lang="en-US" sz="1400" dirty="0"/>
          </a:p>
        </p:txBody>
      </p:sp>
      <p:sp>
        <p:nvSpPr>
          <p:cNvPr id="45" name="tag destruction order"/>
          <p:cNvSpPr/>
          <p:nvPr/>
        </p:nvSpPr>
        <p:spPr>
          <a:xfrm>
            <a:off x="2606040" y="6510528"/>
            <a:ext cx="1595628" cy="256032"/>
          </a:xfrm>
          <a:prstGeom prst="roundRect">
            <a:avLst>
              <a:gd name="adj" fmla="val 50000"/>
            </a:avLst>
          </a:prstGeom>
          <a:solidFill>
            <a:schemeClr val="tx1"/>
          </a:solidFill>
          <a:ln w="12700">
            <a:solidFill>
              <a:schemeClr val="accent2"/>
            </a:solidFill>
            <a:prstDash val="solid"/>
          </a:ln>
        </p:spPr>
      </p:sp>
      <p:sp>
        <p:nvSpPr>
          <p:cNvPr id="46" name="Text 44"/>
          <p:cNvSpPr txBox="1"/>
          <p:nvPr/>
        </p:nvSpPr>
        <p:spPr>
          <a:xfrm>
            <a:off x="2606040" y="6510528"/>
            <a:ext cx="1595628" cy="256032"/>
          </a:xfrm>
          <a:prstGeom prst="rect">
            <a:avLst/>
          </a:prstGeom>
          <a:noFill/>
          <a:ln/>
        </p:spPr>
        <p:txBody>
          <a:bodyPr wrap="square" lIns="0" tIns="0" rIns="0" bIns="0" rtlCol="0" anchor="ctr"/>
          <a:lstStyle/>
          <a:p>
            <a:pPr algn="ctr" indent="0" marL="0">
              <a:buNone/>
            </a:pPr>
            <a:r>
              <a:rPr lang="en-US" sz="1100" dirty="0">
                <a:solidFill>
                  <a:schemeClr val="accent2"/>
                </a:solidFill>
              </a:rPr>
              <a:t>destruction order</a:t>
            </a:r>
            <a:endParaRPr lang="en-US" sz="1100" dirty="0"/>
          </a:p>
        </p:txBody>
      </p:sp>
      <p:sp>
        <p:nvSpPr>
          <p:cNvPr id="47" name="tag static init"/>
          <p:cNvSpPr/>
          <p:nvPr/>
        </p:nvSpPr>
        <p:spPr>
          <a:xfrm>
            <a:off x="4293108" y="6510528"/>
            <a:ext cx="1129284" cy="256032"/>
          </a:xfrm>
          <a:prstGeom prst="roundRect">
            <a:avLst>
              <a:gd name="adj" fmla="val 50000"/>
            </a:avLst>
          </a:prstGeom>
          <a:solidFill>
            <a:schemeClr val="tx1"/>
          </a:solidFill>
          <a:ln w="12700">
            <a:solidFill>
              <a:schemeClr val="accent2"/>
            </a:solidFill>
            <a:prstDash val="solid"/>
          </a:ln>
        </p:spPr>
      </p:sp>
      <p:sp>
        <p:nvSpPr>
          <p:cNvPr id="48" name="Text 46"/>
          <p:cNvSpPr txBox="1"/>
          <p:nvPr/>
        </p:nvSpPr>
        <p:spPr>
          <a:xfrm>
            <a:off x="4293108" y="6510528"/>
            <a:ext cx="1129284" cy="256032"/>
          </a:xfrm>
          <a:prstGeom prst="rect">
            <a:avLst/>
          </a:prstGeom>
          <a:noFill/>
          <a:ln/>
        </p:spPr>
        <p:txBody>
          <a:bodyPr wrap="square" lIns="0" tIns="0" rIns="0" bIns="0" rtlCol="0" anchor="ctr"/>
          <a:lstStyle/>
          <a:p>
            <a:pPr algn="ctr" indent="0" marL="0">
              <a:buNone/>
            </a:pPr>
            <a:r>
              <a:rPr lang="en-US" sz="1100" dirty="0">
                <a:solidFill>
                  <a:schemeClr val="accent2"/>
                </a:solidFill>
              </a:rPr>
              <a:t>static init</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Many readers, one writer</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current"/>
          <p:cNvSpPr/>
          <p:nvPr/>
        </p:nvSpPr>
        <p:spPr>
          <a:xfrm>
            <a:off x="10529316" y="384048"/>
            <a:ext cx="173736" cy="173736"/>
          </a:xfrm>
          <a:prstGeom prst="ellipse">
            <a:avLst/>
          </a:prstGeom>
          <a:solidFill>
            <a:schemeClr val="accent2"/>
          </a:solidFill>
          <a:ln w="12700">
            <a:solidFill>
              <a:schemeClr val="accent2"/>
            </a:solidFill>
            <a:prstDash val="solid"/>
          </a:ln>
        </p:spPr>
      </p:sp>
      <p:sp>
        <p:nvSpPr>
          <p:cNvPr id="13" name="progress todo"/>
          <p:cNvSpPr/>
          <p:nvPr/>
        </p:nvSpPr>
        <p:spPr>
          <a:xfrm>
            <a:off x="10789920" y="411480"/>
            <a:ext cx="118872" cy="118872"/>
          </a:xfrm>
          <a:prstGeom prst="ellipse">
            <a:avLst/>
          </a:prstGeom>
          <a:solidFill>
            <a:schemeClr val="tx1"/>
          </a:solidFill>
          <a:ln w="12700">
            <a:solidFill>
              <a:schemeClr val="bg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493776"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493776"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v9</a:t>
            </a:r>
            <a:endParaRPr lang="en-US" sz="1400" dirty="0"/>
          </a:p>
        </p:txBody>
      </p:sp>
      <p:sp>
        <p:nvSpPr>
          <p:cNvPr id="20" name="Text 18"/>
          <p:cNvSpPr txBox="1"/>
          <p:nvPr/>
        </p:nvSpPr>
        <p:spPr>
          <a:xfrm>
            <a:off x="1042416"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Thread pool</a:t>
            </a:r>
            <a:pPr indent="0" marL="0">
              <a:buNone/>
            </a:pPr>
            <a:r>
              <a:rPr lang="en-US" sz="1400" dirty="0">
                <a:solidFill>
                  <a:schemeClr val="bg2"/>
                </a:solidFill>
                <a:latin typeface="Consolas" pitchFamily="34" charset="0"/>
                <a:ea typeface="Consolas" pitchFamily="34" charset="-122"/>
                <a:cs typeface="Consolas" pitchFamily="34" charset="-120"/>
              </a:rPr>
              <a:t>   ·   dns_cache.hpp (new) · 3 of 3</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4"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5" name="diff gutter"/>
          <p:cNvSpPr txBox="1"/>
          <p:nvPr/>
        </p:nvSpPr>
        <p:spPr>
          <a:xfrm>
            <a:off x="576072" y="1371600"/>
            <a:ext cx="228600" cy="3264408"/>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6" name="code"/>
          <p:cNvSpPr txBox="1"/>
          <p:nvPr/>
        </p:nvSpPr>
        <p:spPr>
          <a:xfrm>
            <a:off x="850392" y="1371600"/>
            <a:ext cx="6812280" cy="3264408"/>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DnsCache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map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entries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mutable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shared_mutex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public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find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host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shared_lock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readers share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entries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find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host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entries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end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ECC48D"/>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second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update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host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unique_lock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writer alone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entries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host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7" name="Text 3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8" name="Text 3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Every task reads one shared cache</a:t>
            </a:r>
            <a:endParaRPr lang="en-US" sz="1600" dirty="0"/>
          </a:p>
        </p:txBody>
      </p:sp>
      <p:sp>
        <p:nvSpPr>
          <p:cNvPr id="39"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0"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./tiny_granularity</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lock everything: 4.04 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lock push_back:  0.55 s</a:t>
            </a:r>
            <a:endParaRPr lang="en-US" sz="1200" dirty="0"/>
          </a:p>
        </p:txBody>
      </p:sp>
      <p:sp>
        <p:nvSpPr>
          <p:cNvPr id="41" name="Text 39"/>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2"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4"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std::shared_mutex has two kinds of lock: shared (many holders at once) and unique (one holder, nobody else).</a:t>
            </a:r>
            <a:endParaRPr lang="en-US" sz="1400" dirty="0"/>
          </a:p>
        </p:txBody>
      </p:sp>
      <p:sp>
        <p:nvSpPr>
          <p:cNvPr id="45"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7"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find() takes a shared_lock, so any number of tasks can read together; update() takes a unique_lock and waits until no reader holds it.</a:t>
            </a:r>
            <a:endParaRPr lang="en-US" sz="1400" dirty="0"/>
          </a:p>
        </p:txBody>
      </p:sp>
      <p:sp>
        <p:nvSpPr>
          <p:cNvPr id="48"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9" name="Text 47"/>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0"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It only pays off for read-mostly data. The queue itself shouldn't use it: push and pop both write.</a:t>
            </a:r>
            <a:endParaRPr lang="en-US" sz="1400" dirty="0"/>
          </a:p>
        </p:txBody>
      </p:sp>
      <p:sp>
        <p:nvSpPr>
          <p:cNvPr id="51" name="tag shared_mutex"/>
          <p:cNvSpPr/>
          <p:nvPr/>
        </p:nvSpPr>
        <p:spPr>
          <a:xfrm>
            <a:off x="2606040" y="6510528"/>
            <a:ext cx="1207008" cy="256032"/>
          </a:xfrm>
          <a:prstGeom prst="roundRect">
            <a:avLst>
              <a:gd name="adj" fmla="val 50000"/>
            </a:avLst>
          </a:prstGeom>
          <a:solidFill>
            <a:schemeClr val="tx1"/>
          </a:solidFill>
          <a:ln w="12700">
            <a:solidFill>
              <a:schemeClr val="accent2"/>
            </a:solidFill>
            <a:prstDash val="solid"/>
          </a:ln>
        </p:spPr>
      </p:sp>
      <p:sp>
        <p:nvSpPr>
          <p:cNvPr id="52" name="Text 50"/>
          <p:cNvSpPr txBox="1"/>
          <p:nvPr/>
        </p:nvSpPr>
        <p:spPr>
          <a:xfrm>
            <a:off x="2606040" y="6510528"/>
            <a:ext cx="1207008" cy="256032"/>
          </a:xfrm>
          <a:prstGeom prst="rect">
            <a:avLst/>
          </a:prstGeom>
          <a:noFill/>
          <a:ln/>
        </p:spPr>
        <p:txBody>
          <a:bodyPr wrap="square" lIns="0" tIns="0" rIns="0" bIns="0" rtlCol="0" anchor="ctr"/>
          <a:lstStyle/>
          <a:p>
            <a:pPr algn="ctr" indent="0" marL="0">
              <a:buNone/>
            </a:pPr>
            <a:r>
              <a:rPr lang="en-US" sz="1100" dirty="0">
                <a:solidFill>
                  <a:schemeClr val="accent2"/>
                </a:solidFill>
              </a:rPr>
              <a:t>shared_mutex</a:t>
            </a:r>
            <a:endParaRPr lang="en-US" sz="1100" dirty="0"/>
          </a:p>
        </p:txBody>
      </p:sp>
      <p:sp>
        <p:nvSpPr>
          <p:cNvPr id="53" name="tag granularity"/>
          <p:cNvSpPr/>
          <p:nvPr/>
        </p:nvSpPr>
        <p:spPr>
          <a:xfrm>
            <a:off x="3904488" y="6510528"/>
            <a:ext cx="1129284" cy="256032"/>
          </a:xfrm>
          <a:prstGeom prst="roundRect">
            <a:avLst>
              <a:gd name="adj" fmla="val 50000"/>
            </a:avLst>
          </a:prstGeom>
          <a:solidFill>
            <a:schemeClr val="tx1"/>
          </a:solidFill>
          <a:ln w="12700">
            <a:solidFill>
              <a:schemeClr val="accent2"/>
            </a:solidFill>
            <a:prstDash val="solid"/>
          </a:ln>
        </p:spPr>
      </p:sp>
      <p:sp>
        <p:nvSpPr>
          <p:cNvPr id="54" name="Text 52"/>
          <p:cNvSpPr txBox="1"/>
          <p:nvPr/>
        </p:nvSpPr>
        <p:spPr>
          <a:xfrm>
            <a:off x="3904488" y="6510528"/>
            <a:ext cx="1129284" cy="256032"/>
          </a:xfrm>
          <a:prstGeom prst="rect">
            <a:avLst/>
          </a:prstGeom>
          <a:noFill/>
          <a:ln/>
        </p:spPr>
        <p:txBody>
          <a:bodyPr wrap="square" lIns="0" tIns="0" rIns="0" bIns="0" rtlCol="0" anchor="ctr"/>
          <a:lstStyle/>
          <a:p>
            <a:pPr algn="ctr" indent="0" marL="0">
              <a:buNone/>
            </a:pPr>
            <a:r>
              <a:rPr lang="en-US" sz="1100" dirty="0">
                <a:solidFill>
                  <a:schemeClr val="accent2"/>
                </a:solidFill>
              </a:rPr>
              <a:t>granularity</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One less member, one less parameter</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current"/>
          <p:cNvSpPr/>
          <p:nvPr/>
        </p:nvSpPr>
        <p:spPr>
          <a:xfrm>
            <a:off x="10762488" y="384048"/>
            <a:ext cx="173736" cy="173736"/>
          </a:xfrm>
          <a:prstGeom prst="ellipse">
            <a:avLst/>
          </a:prstGeom>
          <a:solidFill>
            <a:schemeClr val="accent2"/>
          </a:solidFill>
          <a:ln w="12700">
            <a:solidFill>
              <a:schemeClr val="accent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v10</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Future-based results</a:t>
            </a:r>
            <a:pPr indent="0" marL="0">
              <a:buNone/>
            </a:pPr>
            <a:r>
              <a:rPr lang="en-US" sz="1400" dirty="0">
                <a:solidFill>
                  <a:schemeClr val="bg2"/>
                </a:solidFill>
                <a:latin typeface="Consolas" pitchFamily="34" charset="0"/>
                <a:ea typeface="Consolas" pitchFamily="34" charset="-122"/>
                <a:cs typeface="Consolas" pitchFamily="34" charset="-120"/>
              </a:rPr>
              <a:t>   ·   pool.hpp · 1 of 4</a:t>
            </a:r>
            <a:endParaRPr lang="en-US" sz="1400" dirty="0"/>
          </a:p>
        </p:txBody>
      </p:sp>
      <p:sp>
        <p:nvSpPr>
          <p:cNvPr id="21"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2" name="removed line 5"/>
          <p:cNvSpPr/>
          <p:nvPr/>
        </p:nvSpPr>
        <p:spPr>
          <a:xfrm>
            <a:off x="502920" y="2304288"/>
            <a:ext cx="7178040" cy="233172"/>
          </a:xfrm>
          <a:prstGeom prst="rect">
            <a:avLst/>
          </a:prstGeom>
          <a:solidFill>
            <a:schemeClr val="accent5"/>
          </a:solidFill>
          <a:ln w="12700">
            <a:solidFill>
              <a:schemeClr val="accent5"/>
            </a:solidFill>
            <a:prstDash val="solid"/>
          </a:ln>
        </p:spPr>
      </p:sp>
      <p:sp>
        <p:nvSpPr>
          <p:cNvPr id="23" name="removed line 6"/>
          <p:cNvSpPr/>
          <p:nvPr/>
        </p:nvSpPr>
        <p:spPr>
          <a:xfrm>
            <a:off x="502920" y="2537460"/>
            <a:ext cx="7178040" cy="233172"/>
          </a:xfrm>
          <a:prstGeom prst="rect">
            <a:avLst/>
          </a:prstGeom>
          <a:solidFill>
            <a:schemeClr val="accent5"/>
          </a:solidFill>
          <a:ln w="12700">
            <a:solidFill>
              <a:schemeClr val="accent5"/>
            </a:solidFill>
            <a:prstDash val="solid"/>
          </a:ln>
        </p:spPr>
      </p:sp>
      <p:sp>
        <p:nvSpPr>
          <p:cNvPr id="24" name="removed line 7"/>
          <p:cNvSpPr/>
          <p:nvPr/>
        </p:nvSpPr>
        <p:spPr>
          <a:xfrm>
            <a:off x="502920" y="2770632"/>
            <a:ext cx="7178040" cy="233172"/>
          </a:xfrm>
          <a:prstGeom prst="rect">
            <a:avLst/>
          </a:prstGeom>
          <a:solidFill>
            <a:schemeClr val="accent5"/>
          </a:solidFill>
          <a:ln w="12700">
            <a:solidFill>
              <a:schemeClr val="accent5"/>
            </a:solidFill>
            <a:prstDash val="solid"/>
          </a:ln>
        </p:spPr>
      </p:sp>
      <p:sp>
        <p:nvSpPr>
          <p:cNvPr id="25"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6"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27" name="diff gutter"/>
          <p:cNvSpPr txBox="1"/>
          <p:nvPr/>
        </p:nvSpPr>
        <p:spPr>
          <a:xfrm>
            <a:off x="576072" y="1371600"/>
            <a:ext cx="228600" cy="2564892"/>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28" name="code"/>
          <p:cNvSpPr txBox="1"/>
          <p:nvPr/>
        </p:nvSpPr>
        <p:spPr>
          <a:xfrm>
            <a:off x="850392" y="1371600"/>
            <a:ext cx="6812280" cy="2564892"/>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ThreadSafeQueue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destroyed last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ErrorHandler on_error;</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workers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destroyed (joined) first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explicit ThreadPool(unsigned n = default_workers(),</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ErrorHandler handler = ignore_error)</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 on_error(std::move(handler))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explicit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ThreadPool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unsigned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default_workers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unsigned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workers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add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thread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this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work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29" name="Text 27"/>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0" name="Text 28"/>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Results and errors never came back</a:t>
            </a:r>
            <a:endParaRPr lang="en-US" sz="1600" dirty="0"/>
          </a:p>
        </p:txBody>
      </p:sp>
      <p:sp>
        <p:nvSpPr>
          <p:cNvPr id="31"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2"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v9</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how would main get the 42?</a:t>
            </a:r>
            <a:endParaRPr lang="en-US" sz="1200" dirty="0"/>
          </a:p>
        </p:txBody>
      </p:sp>
      <p:sp>
        <p:nvSpPr>
          <p:cNvPr id="33" name="Text 31"/>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4"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6"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error handler is removed: errors will travel back to whoever submitted the task, inside its future.</a:t>
            </a:r>
            <a:endParaRPr lang="en-US" sz="1400" dirty="0"/>
          </a:p>
        </p:txBody>
      </p:sp>
      <p:sp>
        <p:nvSpPr>
          <p:cNvPr id="37"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8" name="Text 36"/>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9" name="explanation 2"/>
          <p:cNvSpPr txBox="1"/>
          <p:nvPr/>
        </p:nvSpPr>
        <p:spPr>
          <a:xfrm>
            <a:off x="8430768" y="3200400"/>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constructor now only takes the number of workers.</a:t>
            </a:r>
            <a:endParaRPr lang="en-US" sz="1400" dirty="0"/>
          </a:p>
        </p:txBody>
      </p:sp>
      <p:sp>
        <p:nvSpPr>
          <p:cNvPr id="40"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2" name="explanation 3"/>
          <p:cNvSpPr txBox="1"/>
          <p:nvPr/>
        </p:nvSpPr>
        <p:spPr>
          <a:xfrm>
            <a:off x="8430768" y="3736848"/>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tasks and workers keep their order, so v9's destruction order still holds.</a:t>
            </a:r>
            <a:endParaRPr lang="en-US" sz="1400" dirty="0"/>
          </a:p>
        </p:txBody>
      </p:sp>
      <p:sp>
        <p:nvSpPr>
          <p:cNvPr id="43" name="tag packaged_task"/>
          <p:cNvSpPr/>
          <p:nvPr/>
        </p:nvSpPr>
        <p:spPr>
          <a:xfrm>
            <a:off x="2606040" y="6510528"/>
            <a:ext cx="1284732" cy="256032"/>
          </a:xfrm>
          <a:prstGeom prst="roundRect">
            <a:avLst>
              <a:gd name="adj" fmla="val 50000"/>
            </a:avLst>
          </a:prstGeom>
          <a:solidFill>
            <a:schemeClr val="tx1"/>
          </a:solidFill>
          <a:ln w="12700">
            <a:solidFill>
              <a:schemeClr val="accent2"/>
            </a:solidFill>
            <a:prstDash val="solid"/>
          </a:ln>
        </p:spPr>
      </p:sp>
      <p:sp>
        <p:nvSpPr>
          <p:cNvPr id="44" name="Text 42"/>
          <p:cNvSpPr txBox="1"/>
          <p:nvPr/>
        </p:nvSpPr>
        <p:spPr>
          <a:xfrm>
            <a:off x="2606040" y="6510528"/>
            <a:ext cx="1284732" cy="256032"/>
          </a:xfrm>
          <a:prstGeom prst="rect">
            <a:avLst/>
          </a:prstGeom>
          <a:noFill/>
          <a:ln/>
        </p:spPr>
        <p:txBody>
          <a:bodyPr wrap="square" lIns="0" tIns="0" rIns="0" bIns="0" rtlCol="0" anchor="ctr"/>
          <a:lstStyle/>
          <a:p>
            <a:pPr algn="ctr" indent="0" marL="0">
              <a:buNone/>
            </a:pPr>
            <a:r>
              <a:rPr lang="en-US" sz="1100" dirty="0">
                <a:solidFill>
                  <a:schemeClr val="accent2"/>
                </a:solidFill>
              </a:rPr>
              <a:t>packaged_task</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The worker stops catching</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current"/>
          <p:cNvSpPr/>
          <p:nvPr/>
        </p:nvSpPr>
        <p:spPr>
          <a:xfrm>
            <a:off x="10762488" y="384048"/>
            <a:ext cx="173736" cy="173736"/>
          </a:xfrm>
          <a:prstGeom prst="ellipse">
            <a:avLst/>
          </a:prstGeom>
          <a:solidFill>
            <a:schemeClr val="accent2"/>
          </a:solidFill>
          <a:ln w="12700">
            <a:solidFill>
              <a:schemeClr val="accent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v10</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Future-based results</a:t>
            </a:r>
            <a:pPr indent="0" marL="0">
              <a:buNone/>
            </a:pPr>
            <a:r>
              <a:rPr lang="en-US" sz="1400" dirty="0">
                <a:solidFill>
                  <a:schemeClr val="bg2"/>
                </a:solidFill>
                <a:latin typeface="Consolas" pitchFamily="34" charset="0"/>
                <a:ea typeface="Consolas" pitchFamily="34" charset="-122"/>
                <a:cs typeface="Consolas" pitchFamily="34" charset="-120"/>
              </a:rPr>
              <a:t>   ·   pool.hpp · 2 of 4</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3" name="removed line 3"/>
          <p:cNvSpPr/>
          <p:nvPr/>
        </p:nvSpPr>
        <p:spPr>
          <a:xfrm>
            <a:off x="502920" y="1837944"/>
            <a:ext cx="7178040" cy="233172"/>
          </a:xfrm>
          <a:prstGeom prst="rect">
            <a:avLst/>
          </a:prstGeom>
          <a:solidFill>
            <a:schemeClr val="accent5"/>
          </a:solidFill>
          <a:ln w="12700">
            <a:solidFill>
              <a:schemeClr val="accent5"/>
            </a:solidFill>
            <a:prstDash val="solid"/>
          </a:ln>
        </p:spPr>
      </p:sp>
      <p:sp>
        <p:nvSpPr>
          <p:cNvPr id="24" name="removed line 4"/>
          <p:cNvSpPr/>
          <p:nvPr/>
        </p:nvSpPr>
        <p:spPr>
          <a:xfrm>
            <a:off x="502920" y="2071116"/>
            <a:ext cx="7178040" cy="233172"/>
          </a:xfrm>
          <a:prstGeom prst="rect">
            <a:avLst/>
          </a:prstGeom>
          <a:solidFill>
            <a:schemeClr val="accent5"/>
          </a:solidFill>
          <a:ln w="12700">
            <a:solidFill>
              <a:schemeClr val="accent5"/>
            </a:solidFill>
            <a:prstDash val="solid"/>
          </a:ln>
        </p:spPr>
      </p:sp>
      <p:sp>
        <p:nvSpPr>
          <p:cNvPr id="25" name="removed line 5"/>
          <p:cNvSpPr/>
          <p:nvPr/>
        </p:nvSpPr>
        <p:spPr>
          <a:xfrm>
            <a:off x="502920" y="2304288"/>
            <a:ext cx="7178040" cy="233172"/>
          </a:xfrm>
          <a:prstGeom prst="rect">
            <a:avLst/>
          </a:prstGeom>
          <a:solidFill>
            <a:schemeClr val="accent5"/>
          </a:solidFill>
          <a:ln w="12700">
            <a:solidFill>
              <a:schemeClr val="accent5"/>
            </a:solidFill>
            <a:prstDash val="solid"/>
          </a:ln>
        </p:spPr>
      </p:sp>
      <p:sp>
        <p:nvSpPr>
          <p:cNvPr id="26" name="removed line 6"/>
          <p:cNvSpPr/>
          <p:nvPr/>
        </p:nvSpPr>
        <p:spPr>
          <a:xfrm>
            <a:off x="502920" y="2537460"/>
            <a:ext cx="7178040" cy="233172"/>
          </a:xfrm>
          <a:prstGeom prst="rect">
            <a:avLst/>
          </a:prstGeom>
          <a:solidFill>
            <a:schemeClr val="accent5"/>
          </a:solidFill>
          <a:ln w="12700">
            <a:solidFill>
              <a:schemeClr val="accent5"/>
            </a:solidFill>
            <a:prstDash val="solid"/>
          </a:ln>
        </p:spPr>
      </p:sp>
      <p:sp>
        <p:nvSpPr>
          <p:cNvPr id="27" name="removed line 7"/>
          <p:cNvSpPr/>
          <p:nvPr/>
        </p:nvSpPr>
        <p:spPr>
          <a:xfrm>
            <a:off x="502920" y="2770632"/>
            <a:ext cx="7178040" cy="233172"/>
          </a:xfrm>
          <a:prstGeom prst="rect">
            <a:avLst/>
          </a:prstGeom>
          <a:solidFill>
            <a:schemeClr val="accent5"/>
          </a:solidFill>
          <a:ln w="12700">
            <a:solidFill>
              <a:schemeClr val="accent5"/>
            </a:solidFill>
            <a:prstDash val="solid"/>
          </a:ln>
        </p:spPr>
      </p:sp>
      <p:sp>
        <p:nvSpPr>
          <p:cNvPr id="28" name="removed line 8"/>
          <p:cNvSpPr/>
          <p:nvPr/>
        </p:nvSpPr>
        <p:spPr>
          <a:xfrm>
            <a:off x="502920" y="3003804"/>
            <a:ext cx="7178040" cy="233172"/>
          </a:xfrm>
          <a:prstGeom prst="rect">
            <a:avLst/>
          </a:prstGeom>
          <a:solidFill>
            <a:schemeClr val="accent5"/>
          </a:solidFill>
          <a:ln w="12700">
            <a:solidFill>
              <a:schemeClr val="accent5"/>
            </a:solidFill>
            <a:prstDash val="solid"/>
          </a:ln>
        </p:spPr>
      </p:sp>
      <p:sp>
        <p:nvSpPr>
          <p:cNvPr id="29" name="removed line 9"/>
          <p:cNvSpPr/>
          <p:nvPr/>
        </p:nvSpPr>
        <p:spPr>
          <a:xfrm>
            <a:off x="502920" y="3236976"/>
            <a:ext cx="7178040" cy="233172"/>
          </a:xfrm>
          <a:prstGeom prst="rect">
            <a:avLst/>
          </a:prstGeom>
          <a:solidFill>
            <a:schemeClr val="accent5"/>
          </a:solidFill>
          <a:ln w="12700">
            <a:solidFill>
              <a:schemeClr val="accent5"/>
            </a:solidFill>
            <a:prstDash val="solid"/>
          </a:ln>
        </p:spPr>
      </p:sp>
      <p:sp>
        <p:nvSpPr>
          <p:cNvPr id="30"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1" name="diff gutter"/>
          <p:cNvSpPr txBox="1"/>
          <p:nvPr/>
        </p:nvSpPr>
        <p:spPr>
          <a:xfrm>
            <a:off x="576072" y="1371600"/>
            <a:ext cx="228600" cy="3264408"/>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32" name="code"/>
          <p:cNvSpPr txBox="1"/>
          <p:nvPr/>
        </p:nvSpPr>
        <p:spPr>
          <a:xfrm>
            <a:off x="850392" y="1371600"/>
            <a:ext cx="6812280" cy="3264408"/>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void work()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while (auto task = tasks.wait_and_pop())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try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(*task)();</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 catch (...)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on_error(std::current_exception());</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work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the future stores exceptions</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3" name="Text 31"/>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4" name="Text 32"/>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The future carries the exception now</a:t>
            </a:r>
            <a:endParaRPr lang="en-US" sz="1600" dirty="0"/>
          </a:p>
        </p:txBody>
      </p:sp>
      <p:sp>
        <p:nvSpPr>
          <p:cNvPr id="35" name="Text 33"/>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6"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7" name="Text 35"/>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8" name="explanation 1"/>
          <p:cNvSpPr txBox="1"/>
          <p:nvPr/>
        </p:nvSpPr>
        <p:spPr>
          <a:xfrm>
            <a:off x="8430768" y="2450592"/>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Every task in the queue is now a wrapper around a std::packaged_task (next slide).</a:t>
            </a:r>
            <a:endParaRPr lang="en-US" sz="1400" dirty="0"/>
          </a:p>
        </p:txBody>
      </p:sp>
      <p:sp>
        <p:nvSpPr>
          <p:cNvPr id="39" name="step 2"/>
          <p:cNvSpPr/>
          <p:nvPr/>
        </p:nvSpPr>
        <p:spPr>
          <a:xfrm>
            <a:off x="8046720" y="2996184"/>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299618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1" name="explanation 2"/>
          <p:cNvSpPr txBox="1"/>
          <p:nvPr/>
        </p:nvSpPr>
        <p:spPr>
          <a:xfrm>
            <a:off x="8430768" y="298704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packaged_task catches any exception thrown by its callable and stores it in its future instead of letting it escape.</a:t>
            </a:r>
            <a:endParaRPr lang="en-US" sz="1400" dirty="0"/>
          </a:p>
        </p:txBody>
      </p:sp>
      <p:sp>
        <p:nvSpPr>
          <p:cNvPr id="42" name="step 3"/>
          <p:cNvSpPr/>
          <p:nvPr/>
        </p:nvSpPr>
        <p:spPr>
          <a:xfrm>
            <a:off x="8046720" y="3745992"/>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374599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4" name="explanation 3"/>
          <p:cNvSpPr txBox="1"/>
          <p:nvPr/>
        </p:nvSpPr>
        <p:spPr>
          <a:xfrm>
            <a:off x="8430768" y="3736848"/>
            <a:ext cx="3337560" cy="42672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So (*task)() never throws, and work() no longer needs a try/catch.</a:t>
            </a:r>
            <a:endParaRPr lang="en-US" sz="1400" dirty="0"/>
          </a:p>
        </p:txBody>
      </p:sp>
      <p:sp>
        <p:nvSpPr>
          <p:cNvPr id="45" name="tag exception transport"/>
          <p:cNvSpPr/>
          <p:nvPr/>
        </p:nvSpPr>
        <p:spPr>
          <a:xfrm>
            <a:off x="2606040" y="6510528"/>
            <a:ext cx="1751076" cy="256032"/>
          </a:xfrm>
          <a:prstGeom prst="roundRect">
            <a:avLst>
              <a:gd name="adj" fmla="val 50000"/>
            </a:avLst>
          </a:prstGeom>
          <a:solidFill>
            <a:schemeClr val="tx1"/>
          </a:solidFill>
          <a:ln w="12700">
            <a:solidFill>
              <a:schemeClr val="accent2"/>
            </a:solidFill>
            <a:prstDash val="solid"/>
          </a:ln>
        </p:spPr>
      </p:sp>
      <p:sp>
        <p:nvSpPr>
          <p:cNvPr id="46" name="Text 44"/>
          <p:cNvSpPr txBox="1"/>
          <p:nvPr/>
        </p:nvSpPr>
        <p:spPr>
          <a:xfrm>
            <a:off x="2606040" y="6510528"/>
            <a:ext cx="1751076" cy="256032"/>
          </a:xfrm>
          <a:prstGeom prst="rect">
            <a:avLst/>
          </a:prstGeom>
          <a:noFill/>
          <a:ln/>
        </p:spPr>
        <p:txBody>
          <a:bodyPr wrap="square" lIns="0" tIns="0" rIns="0" bIns="0" rtlCol="0" anchor="ctr"/>
          <a:lstStyle/>
          <a:p>
            <a:pPr algn="ctr" indent="0" marL="0">
              <a:buNone/>
            </a:pPr>
            <a:r>
              <a:rPr lang="en-US" sz="1100" dirty="0">
                <a:solidFill>
                  <a:schemeClr val="accent2"/>
                </a:solidFill>
              </a:rPr>
              <a:t>exception transport</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submit() returns a future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current"/>
          <p:cNvSpPr/>
          <p:nvPr/>
        </p:nvSpPr>
        <p:spPr>
          <a:xfrm>
            <a:off x="10762488" y="384048"/>
            <a:ext cx="173736" cy="173736"/>
          </a:xfrm>
          <a:prstGeom prst="ellipse">
            <a:avLst/>
          </a:prstGeom>
          <a:solidFill>
            <a:schemeClr val="accent2"/>
          </a:solidFill>
          <a:ln w="12700">
            <a:solidFill>
              <a:schemeClr val="accent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v10</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Future-based results</a:t>
            </a:r>
            <a:pPr indent="0" marL="0">
              <a:buNone/>
            </a:pPr>
            <a:r>
              <a:rPr lang="en-US" sz="1400" dirty="0">
                <a:solidFill>
                  <a:schemeClr val="bg2"/>
                </a:solidFill>
                <a:latin typeface="Consolas" pitchFamily="34" charset="0"/>
                <a:ea typeface="Consolas" pitchFamily="34" charset="-122"/>
                <a:cs typeface="Consolas" pitchFamily="34" charset="-120"/>
              </a:rPr>
              <a:t>   ·   pool.hpp · 3 of 4</a:t>
            </a:r>
            <a:endParaRPr lang="en-US" sz="1400" dirty="0"/>
          </a:p>
        </p:txBody>
      </p:sp>
      <p:sp>
        <p:nvSpPr>
          <p:cNvPr id="21" name="removed line 1"/>
          <p:cNvSpPr/>
          <p:nvPr/>
        </p:nvSpPr>
        <p:spPr>
          <a:xfrm>
            <a:off x="502920" y="1371600"/>
            <a:ext cx="7178040" cy="233172"/>
          </a:xfrm>
          <a:prstGeom prst="rect">
            <a:avLst/>
          </a:prstGeom>
          <a:solidFill>
            <a:schemeClr val="accent5"/>
          </a:solidFill>
          <a:ln w="12700">
            <a:solidFill>
              <a:schemeClr val="accent5"/>
            </a:solidFill>
            <a:prstDash val="solid"/>
          </a:ln>
        </p:spPr>
      </p:sp>
      <p:sp>
        <p:nvSpPr>
          <p:cNvPr id="22" name="removed line 2"/>
          <p:cNvSpPr/>
          <p:nvPr/>
        </p:nvSpPr>
        <p:spPr>
          <a:xfrm>
            <a:off x="502920" y="1604772"/>
            <a:ext cx="7178040" cy="233172"/>
          </a:xfrm>
          <a:prstGeom prst="rect">
            <a:avLst/>
          </a:prstGeom>
          <a:solidFill>
            <a:schemeClr val="accent5"/>
          </a:solidFill>
          <a:ln w="12700">
            <a:solidFill>
              <a:schemeClr val="accent5"/>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2798064"/>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4" name="code"/>
          <p:cNvSpPr txBox="1"/>
          <p:nvPr/>
        </p:nvSpPr>
        <p:spPr>
          <a:xfrm>
            <a:off x="850392" y="1371600"/>
            <a:ext cx="6812280" cy="2798064"/>
          </a:xfrm>
          <a:prstGeom prst="rect">
            <a:avLst/>
          </a:prstGeom>
          <a:noFill/>
          <a:ln/>
        </p:spPr>
        <p:txBody>
          <a:bodyPr wrap="square" lIns="0" tIns="0" rIns="0" bIns="0" rtlCol="0" anchor="t"/>
          <a:lstStyle/>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bool submit(Task t) {</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return tasks.push(std::move(t));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template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submit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-&gt;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future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decltype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using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decltype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using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packaged_task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move-only, so shared</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make_shared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future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result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get_future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job</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throw</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runtime_error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ECC48D"/>
                </a:solidFill>
                <a:latin typeface="Consolas" pitchFamily="34" charset="0"/>
                <a:ea typeface="Consolas" pitchFamily="34" charset="-122"/>
                <a:cs typeface="Consolas" pitchFamily="34" charset="-120"/>
              </a:rPr>
              <a:t>"submit() after shutdown"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result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The caller needs the value or the error</a:t>
            </a:r>
            <a:endParaRPr lang="en-US" sz="1600" dirty="0"/>
          </a:p>
        </p:txBody>
      </p:sp>
      <p:sp>
        <p:nvSpPr>
          <p:cNvPr id="37"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8"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f.get()   -&gt; 42</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bad.get() -&gt; rethrows "bad job"</a:t>
            </a:r>
            <a:endParaRPr lang="en-US" sz="12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submit() wraps f in a std::packaged_task&lt;R()&gt;, where R is what f returns, and keeps its std::future.</a:t>
            </a:r>
            <a:endParaRPr lang="en-US" sz="1400" dirty="0"/>
          </a:p>
        </p:txBody>
      </p:sp>
      <p:sp>
        <p:nvSpPr>
          <p:cNvPr id="43"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packaged_task can be moved but not copied, and std::function needs a copyable callable, so the job lives in a shared_ptr that the lambda copies.</a:t>
            </a:r>
            <a:endParaRPr lang="en-US" sz="1400" dirty="0"/>
          </a:p>
        </p:txBody>
      </p:sp>
      <p:sp>
        <p:nvSpPr>
          <p:cNvPr id="46"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caller gets the future: get() waits, then returns the value, or rethrows the exception the task threw.</a:t>
            </a:r>
            <a:endParaRPr lang="en-US" sz="1400" dirty="0"/>
          </a:p>
        </p:txBody>
      </p:sp>
      <p:sp>
        <p:nvSpPr>
          <p:cNvPr id="49" name="tag future"/>
          <p:cNvSpPr/>
          <p:nvPr/>
        </p:nvSpPr>
        <p:spPr>
          <a:xfrm>
            <a:off x="2606040" y="6510528"/>
            <a:ext cx="740664" cy="256032"/>
          </a:xfrm>
          <a:prstGeom prst="roundRect">
            <a:avLst>
              <a:gd name="adj" fmla="val 50000"/>
            </a:avLst>
          </a:prstGeom>
          <a:solidFill>
            <a:schemeClr val="tx1"/>
          </a:solidFill>
          <a:ln w="12700">
            <a:solidFill>
              <a:schemeClr val="accent2"/>
            </a:solidFill>
            <a:prstDash val="solid"/>
          </a:ln>
        </p:spPr>
      </p:sp>
      <p:sp>
        <p:nvSpPr>
          <p:cNvPr id="50" name="Text 48"/>
          <p:cNvSpPr txBox="1"/>
          <p:nvPr/>
        </p:nvSpPr>
        <p:spPr>
          <a:xfrm>
            <a:off x="2606040" y="6510528"/>
            <a:ext cx="740664" cy="256032"/>
          </a:xfrm>
          <a:prstGeom prst="rect">
            <a:avLst/>
          </a:prstGeom>
          <a:noFill/>
          <a:ln/>
        </p:spPr>
        <p:txBody>
          <a:bodyPr wrap="square" lIns="0" tIns="0" rIns="0" bIns="0" rtlCol="0" anchor="ctr"/>
          <a:lstStyle/>
          <a:p>
            <a:pPr algn="ctr" indent="0" marL="0">
              <a:buNone/>
            </a:pPr>
            <a:r>
              <a:rPr lang="en-US" sz="1100" dirty="0">
                <a:solidFill>
                  <a:schemeClr val="accent2"/>
                </a:solidFill>
              </a:rPr>
              <a:t>future</a:t>
            </a:r>
            <a:endParaRPr lang="en-US" sz="1100" dirty="0"/>
          </a:p>
        </p:txBody>
      </p:sp>
      <p:sp>
        <p:nvSpPr>
          <p:cNvPr id="51" name="tag packaged_task"/>
          <p:cNvSpPr/>
          <p:nvPr/>
        </p:nvSpPr>
        <p:spPr>
          <a:xfrm>
            <a:off x="3438144" y="6510528"/>
            <a:ext cx="1284732" cy="256032"/>
          </a:xfrm>
          <a:prstGeom prst="roundRect">
            <a:avLst>
              <a:gd name="adj" fmla="val 50000"/>
            </a:avLst>
          </a:prstGeom>
          <a:solidFill>
            <a:schemeClr val="tx1"/>
          </a:solidFill>
          <a:ln w="12700">
            <a:solidFill>
              <a:schemeClr val="accent2"/>
            </a:solidFill>
            <a:prstDash val="solid"/>
          </a:ln>
        </p:spPr>
      </p:sp>
      <p:sp>
        <p:nvSpPr>
          <p:cNvPr id="52" name="Text 50"/>
          <p:cNvSpPr txBox="1"/>
          <p:nvPr/>
        </p:nvSpPr>
        <p:spPr>
          <a:xfrm>
            <a:off x="3438144" y="6510528"/>
            <a:ext cx="1284732" cy="256032"/>
          </a:xfrm>
          <a:prstGeom prst="rect">
            <a:avLst/>
          </a:prstGeom>
          <a:noFill/>
          <a:ln/>
        </p:spPr>
        <p:txBody>
          <a:bodyPr wrap="square" lIns="0" tIns="0" rIns="0" bIns="0" rtlCol="0" anchor="ctr"/>
          <a:lstStyle/>
          <a:p>
            <a:pPr algn="ctr" indent="0" marL="0">
              <a:buNone/>
            </a:pPr>
            <a:r>
              <a:rPr lang="en-US" sz="1100" dirty="0">
                <a:solidFill>
                  <a:schemeClr val="accent2"/>
                </a:solidFill>
              </a:rPr>
              <a:t>packaged_task</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Help instead of blocking</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current"/>
          <p:cNvSpPr/>
          <p:nvPr/>
        </p:nvSpPr>
        <p:spPr>
          <a:xfrm>
            <a:off x="10762488" y="384048"/>
            <a:ext cx="173736" cy="173736"/>
          </a:xfrm>
          <a:prstGeom prst="ellipse">
            <a:avLst/>
          </a:prstGeom>
          <a:solidFill>
            <a:schemeClr val="accent2"/>
          </a:solidFill>
          <a:ln w="12700">
            <a:solidFill>
              <a:schemeClr val="accent2"/>
            </a:solidFill>
            <a:prstDash val="solid"/>
          </a:ln>
        </p:spPr>
      </p:sp>
      <p:sp>
        <p:nvSpPr>
          <p:cNvPr id="14" name="progress todo"/>
          <p:cNvSpPr/>
          <p:nvPr/>
        </p:nvSpPr>
        <p:spPr>
          <a:xfrm>
            <a:off x="11023092" y="411480"/>
            <a:ext cx="118872" cy="118872"/>
          </a:xfrm>
          <a:prstGeom prst="ellipse">
            <a:avLst/>
          </a:prstGeom>
          <a:solidFill>
            <a:schemeClr val="tx1"/>
          </a:solidFill>
          <a:ln w="12700">
            <a:solidFill>
              <a:schemeClr val="bg2"/>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v10</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Future-based results</a:t>
            </a:r>
            <a:pPr indent="0" marL="0">
              <a:buNone/>
            </a:pPr>
            <a:r>
              <a:rPr lang="en-US" sz="1400" dirty="0">
                <a:solidFill>
                  <a:schemeClr val="bg2"/>
                </a:solidFill>
                <a:latin typeface="Consolas" pitchFamily="34" charset="0"/>
                <a:ea typeface="Consolas" pitchFamily="34" charset="-122"/>
                <a:cs typeface="Consolas" pitchFamily="34" charset="-120"/>
              </a:rPr>
              <a:t>   ·   pool.hpp · 4 of 4</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diff gutter"/>
          <p:cNvSpPr txBox="1"/>
          <p:nvPr/>
        </p:nvSpPr>
        <p:spPr>
          <a:xfrm>
            <a:off x="576072" y="1371600"/>
            <a:ext cx="228600" cy="279806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4" name="code"/>
          <p:cNvSpPr txBox="1"/>
          <p:nvPr/>
        </p:nvSpPr>
        <p:spPr>
          <a:xfrm>
            <a:off x="850392" y="1371600"/>
            <a:ext cx="6812280" cy="2798064"/>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template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wait_helping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future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use instead of get() in tasks</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using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namespace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chrono_literals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future_status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ready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try_pop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help: run a queued task</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else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this_thread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yield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get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5" name="Text 3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6" name="Text 3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Tasks waiting on tasks froze the pool</a:t>
            </a:r>
            <a:endParaRPr lang="en-US" sz="1600" dirty="0"/>
          </a:p>
        </p:txBody>
      </p:sp>
      <p:sp>
        <p:nvSpPr>
          <p:cNvPr id="37"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8"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./tiny_nested   -&gt; frozen</a:t>
            </a:r>
            <a:endParaRPr lang="en-US" sz="1200" dirty="0"/>
          </a:p>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./tiny_nested helping</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2</a:t>
            </a:r>
            <a:endParaRPr lang="en-US" sz="1200" dirty="0"/>
          </a:p>
        </p:txBody>
      </p:sp>
      <p:sp>
        <p:nvSpPr>
          <p:cNvPr id="39" name="Text 3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2"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If a task calls get() on another task's future and every worker does the same, nobody is left to run the tasks they're waiting for.</a:t>
            </a:r>
            <a:endParaRPr lang="en-US" sz="1400" dirty="0"/>
          </a:p>
        </p:txBody>
      </p:sp>
      <p:sp>
        <p:nvSpPr>
          <p:cNvPr id="43"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5" name="explanation 2"/>
          <p:cNvSpPr txBox="1"/>
          <p:nvPr/>
        </p:nvSpPr>
        <p:spPr>
          <a:xfrm>
            <a:off x="8430768" y="341376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wait_helping() checks the future without blocking (wait_for(0s)). While it isn't ready, it pops a queued task and runs it.</a:t>
            </a:r>
            <a:endParaRPr lang="en-US" sz="1400" dirty="0"/>
          </a:p>
        </p:txBody>
      </p:sp>
      <p:sp>
        <p:nvSpPr>
          <p:cNvPr id="46"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8"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task it waits for will eventually run, possibly on this very thread, so the wait always finishes.</a:t>
            </a:r>
            <a:endParaRPr lang="en-US" sz="1400" dirty="0"/>
          </a:p>
        </p:txBody>
      </p:sp>
      <p:sp>
        <p:nvSpPr>
          <p:cNvPr id="49" name="tag nested waits"/>
          <p:cNvSpPr/>
          <p:nvPr/>
        </p:nvSpPr>
        <p:spPr>
          <a:xfrm>
            <a:off x="2606040" y="6510528"/>
            <a:ext cx="1207008" cy="256032"/>
          </a:xfrm>
          <a:prstGeom prst="roundRect">
            <a:avLst>
              <a:gd name="adj" fmla="val 50000"/>
            </a:avLst>
          </a:prstGeom>
          <a:solidFill>
            <a:schemeClr val="tx1"/>
          </a:solidFill>
          <a:ln w="12700">
            <a:solidFill>
              <a:schemeClr val="accent2"/>
            </a:solidFill>
            <a:prstDash val="solid"/>
          </a:ln>
        </p:spPr>
      </p:sp>
      <p:sp>
        <p:nvSpPr>
          <p:cNvPr id="50" name="Text 48"/>
          <p:cNvSpPr txBox="1"/>
          <p:nvPr/>
        </p:nvSpPr>
        <p:spPr>
          <a:xfrm>
            <a:off x="2606040" y="6510528"/>
            <a:ext cx="1207008" cy="256032"/>
          </a:xfrm>
          <a:prstGeom prst="rect">
            <a:avLst/>
          </a:prstGeom>
          <a:noFill/>
          <a:ln/>
        </p:spPr>
        <p:txBody>
          <a:bodyPr wrap="square" lIns="0" tIns="0" rIns="0" bIns="0" rtlCol="0" anchor="ctr"/>
          <a:lstStyle/>
          <a:p>
            <a:pPr algn="ctr" indent="0" marL="0">
              <a:buNone/>
            </a:pPr>
            <a:r>
              <a:rPr lang="en-US" sz="1100" dirty="0">
                <a:solidFill>
                  <a:schemeClr val="accent2"/>
                </a:solidFill>
              </a:rPr>
              <a:t>nested waits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Counters any thread can read</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current"/>
          <p:cNvSpPr/>
          <p:nvPr/>
        </p:nvSpPr>
        <p:spPr>
          <a:xfrm>
            <a:off x="10995660" y="384048"/>
            <a:ext cx="173736" cy="173736"/>
          </a:xfrm>
          <a:prstGeom prst="ellipse">
            <a:avLst/>
          </a:prstGeom>
          <a:solidFill>
            <a:schemeClr val="accent3"/>
          </a:solidFill>
          <a:ln w="12700">
            <a:solidFill>
              <a:schemeClr val="accent3"/>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v11</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Atomics</a:t>
            </a:r>
            <a:pPr indent="0" marL="0">
              <a:buNone/>
            </a:pPr>
            <a:r>
              <a:rPr lang="en-US" sz="1400" dirty="0">
                <a:solidFill>
                  <a:schemeClr val="bg2"/>
                </a:solidFill>
                <a:latin typeface="Consolas" pitchFamily="34" charset="0"/>
                <a:ea typeface="Consolas" pitchFamily="34" charset="-122"/>
                <a:cs typeface="Consolas" pitchFamily="34" charset="-120"/>
              </a:rPr>
              <a:t>   ·   pool.hpp · 1 of 2</a:t>
            </a:r>
            <a:endParaRPr lang="en-US" sz="1400" dirty="0"/>
          </a:p>
        </p:txBody>
      </p:sp>
      <p:sp>
        <p:nvSpPr>
          <p:cNvPr id="21"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2"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3"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4"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5"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6"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7" name="removed line 13"/>
          <p:cNvSpPr/>
          <p:nvPr/>
        </p:nvSpPr>
        <p:spPr>
          <a:xfrm>
            <a:off x="502920" y="4169664"/>
            <a:ext cx="7178040" cy="233172"/>
          </a:xfrm>
          <a:prstGeom prst="rect">
            <a:avLst/>
          </a:prstGeom>
          <a:solidFill>
            <a:schemeClr val="accent5"/>
          </a:solidFill>
          <a:ln w="12700">
            <a:solidFill>
              <a:schemeClr val="accent5"/>
            </a:solidFill>
            <a:prstDash val="solid"/>
          </a:ln>
        </p:spPr>
      </p:sp>
      <p:sp>
        <p:nvSpPr>
          <p:cNvPr id="28"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29" name="diff gutter"/>
          <p:cNvSpPr txBox="1"/>
          <p:nvPr/>
        </p:nvSpPr>
        <p:spPr>
          <a:xfrm>
            <a:off x="576072" y="1371600"/>
            <a:ext cx="228600" cy="3497580"/>
          </a:xfrm>
          <a:prstGeom prst="rect">
            <a:avLst/>
          </a:prstGeom>
          <a:noFill/>
          <a:ln/>
        </p:spPr>
        <p:txBody>
          <a:bodyPr wrap="square" lIns="0" tIns="0" rIns="0" bIns="0" rtlCol="0" anchor="t"/>
          <a:lstStyle/>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p:txBody>
      </p:sp>
      <p:sp>
        <p:nvSpPr>
          <p:cNvPr id="30" name="code"/>
          <p:cNvSpPr txBox="1"/>
          <p:nvPr/>
        </p:nvSpPr>
        <p:spPr>
          <a:xfrm>
            <a:off x="850392" y="1371600"/>
            <a:ext cx="6812280" cy="3497580"/>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ThreadSafeQueue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destroyed last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atomic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submitted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atomic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completed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ThreadGroup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workers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destroyed (joined) first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run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completed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fetch_add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work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9A48F"/>
                </a:solidFill>
                <a:latin typeface="Consolas" pitchFamily="34" charset="0"/>
                <a:ea typeface="Consolas" pitchFamily="34" charset="-122"/>
                <a:cs typeface="Consolas" pitchFamily="34" charset="-120"/>
              </a:rPr>
              <a:t>            (*task)();                    // the future stores exceptions</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run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task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1" name="Text 29"/>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2" name="Text 30"/>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 monitor wants counts without locking</a:t>
            </a:r>
            <a:endParaRPr lang="en-US" sz="1600" dirty="0"/>
          </a:p>
        </p:txBody>
      </p:sp>
      <p:sp>
        <p:nvSpPr>
          <p:cNvPr id="33"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34"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./tiny_atomic</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std::mutex:  2000000  (114 ms)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std::atomic: 2000000  (30 ms)</a:t>
            </a:r>
            <a:endParaRPr lang="en-US" sz="1200" dirty="0"/>
          </a:p>
        </p:txBody>
      </p:sp>
      <p:sp>
        <p:nvSpPr>
          <p:cNvPr id="35" name="Text 33"/>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6"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7" name="Text 35"/>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8"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submitted and completed are std::atomic&lt;std::size_t&gt;. fetch_add(1) is one indivisible read-add-write, so no increment can ever be lost.</a:t>
            </a:r>
            <a:endParaRPr lang="en-US" sz="1400" dirty="0"/>
          </a:p>
        </p:txBody>
      </p:sp>
      <p:sp>
        <p:nvSpPr>
          <p:cNvPr id="39"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1"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run() executes a task and then counts it. Both work() and wait_helping() call run(), so every task is counted exactly once.</a:t>
            </a:r>
            <a:endParaRPr lang="en-US" sz="1400" dirty="0"/>
          </a:p>
        </p:txBody>
      </p:sp>
      <p:sp>
        <p:nvSpPr>
          <p:cNvPr id="42"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4" name="explanation 3"/>
          <p:cNvSpPr txBox="1"/>
          <p:nvPr/>
        </p:nvSpPr>
        <p:spPr>
          <a:xfrm>
            <a:off x="8430768" y="437692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memory_order_relaxed is enough here: each counter only has to be exact on its own; no other data is published through it.</a:t>
            </a:r>
            <a:endParaRPr lang="en-US" sz="1400" dirty="0"/>
          </a:p>
        </p:txBody>
      </p:sp>
      <p:sp>
        <p:nvSpPr>
          <p:cNvPr id="45" name="tag std::atomic"/>
          <p:cNvSpPr/>
          <p:nvPr/>
        </p:nvSpPr>
        <p:spPr>
          <a:xfrm>
            <a:off x="2606040" y="6510528"/>
            <a:ext cx="1129284" cy="256032"/>
          </a:xfrm>
          <a:prstGeom prst="roundRect">
            <a:avLst>
              <a:gd name="adj" fmla="val 50000"/>
            </a:avLst>
          </a:prstGeom>
          <a:solidFill>
            <a:schemeClr val="tx1"/>
          </a:solidFill>
          <a:ln w="12700">
            <a:solidFill>
              <a:schemeClr val="accent3"/>
            </a:solidFill>
            <a:prstDash val="solid"/>
          </a:ln>
        </p:spPr>
      </p:sp>
      <p:sp>
        <p:nvSpPr>
          <p:cNvPr id="46" name="Text 44"/>
          <p:cNvSpPr txBox="1"/>
          <p:nvPr/>
        </p:nvSpPr>
        <p:spPr>
          <a:xfrm>
            <a:off x="2606040" y="6510528"/>
            <a:ext cx="1129284" cy="256032"/>
          </a:xfrm>
          <a:prstGeom prst="rect">
            <a:avLst/>
          </a:prstGeom>
          <a:noFill/>
          <a:ln/>
        </p:spPr>
        <p:txBody>
          <a:bodyPr wrap="square" lIns="0" tIns="0" rIns="0" bIns="0" rtlCol="0" anchor="ctr"/>
          <a:lstStyle/>
          <a:p>
            <a:pPr algn="ctr" indent="0" marL="0">
              <a:buNone/>
            </a:pPr>
            <a:r>
              <a:rPr lang="en-US" sz="1100" dirty="0">
                <a:solidFill>
                  <a:schemeClr val="accent3"/>
                </a:solidFill>
              </a:rPr>
              <a:t>std::atomic</a:t>
            </a:r>
            <a:endParaRPr lang="en-US" sz="1100" dirty="0"/>
          </a:p>
        </p:txBody>
      </p:sp>
      <p:sp>
        <p:nvSpPr>
          <p:cNvPr id="47" name="tag relaxed"/>
          <p:cNvSpPr/>
          <p:nvPr/>
        </p:nvSpPr>
        <p:spPr>
          <a:xfrm>
            <a:off x="3826764" y="6510528"/>
            <a:ext cx="818388" cy="256032"/>
          </a:xfrm>
          <a:prstGeom prst="roundRect">
            <a:avLst>
              <a:gd name="adj" fmla="val 50000"/>
            </a:avLst>
          </a:prstGeom>
          <a:solidFill>
            <a:schemeClr val="tx1"/>
          </a:solidFill>
          <a:ln w="12700">
            <a:solidFill>
              <a:schemeClr val="accent3"/>
            </a:solidFill>
            <a:prstDash val="solid"/>
          </a:ln>
        </p:spPr>
      </p:sp>
      <p:sp>
        <p:nvSpPr>
          <p:cNvPr id="48" name="Text 46"/>
          <p:cNvSpPr txBox="1"/>
          <p:nvPr/>
        </p:nvSpPr>
        <p:spPr>
          <a:xfrm>
            <a:off x="3826764" y="6510528"/>
            <a:ext cx="818388" cy="256032"/>
          </a:xfrm>
          <a:prstGeom prst="rect">
            <a:avLst/>
          </a:prstGeom>
          <a:noFill/>
          <a:ln/>
        </p:spPr>
        <p:txBody>
          <a:bodyPr wrap="square" lIns="0" tIns="0" rIns="0" bIns="0" rtlCol="0" anchor="ctr"/>
          <a:lstStyle/>
          <a:p>
            <a:pPr algn="ctr" indent="0" marL="0">
              <a:buNone/>
            </a:pPr>
            <a:r>
              <a:rPr lang="en-US" sz="1100" dirty="0">
                <a:solidFill>
                  <a:schemeClr val="accent3"/>
                </a:solidFill>
              </a:rPr>
              <a:t>relaxed</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Count in submit(), read without locks</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current"/>
          <p:cNvSpPr/>
          <p:nvPr/>
        </p:nvSpPr>
        <p:spPr>
          <a:xfrm>
            <a:off x="10995660" y="384048"/>
            <a:ext cx="173736" cy="173736"/>
          </a:xfrm>
          <a:prstGeom prst="ellipse">
            <a:avLst/>
          </a:prstGeom>
          <a:solidFill>
            <a:schemeClr val="accent3"/>
          </a:solidFill>
          <a:ln w="12700">
            <a:solidFill>
              <a:schemeClr val="accent3"/>
            </a:solidFill>
            <a:prstDash val="solid"/>
          </a:ln>
        </p:spPr>
      </p:sp>
      <p:sp>
        <p:nvSpPr>
          <p:cNvPr id="15" name="progress todo"/>
          <p:cNvSpPr/>
          <p:nvPr/>
        </p:nvSpPr>
        <p:spPr>
          <a:xfrm>
            <a:off x="11256264" y="411480"/>
            <a:ext cx="118872" cy="118872"/>
          </a:xfrm>
          <a:prstGeom prst="ellipse">
            <a:avLst/>
          </a:prstGeom>
          <a:solidFill>
            <a:schemeClr val="tx1"/>
          </a:solidFill>
          <a:ln w="12700">
            <a:solidFill>
              <a:schemeClr val="bg2"/>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v11</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Atomics</a:t>
            </a:r>
            <a:pPr indent="0" marL="0">
              <a:buNone/>
            </a:pPr>
            <a:r>
              <a:rPr lang="en-US" sz="1400" dirty="0">
                <a:solidFill>
                  <a:schemeClr val="bg2"/>
                </a:solidFill>
                <a:latin typeface="Consolas" pitchFamily="34" charset="0"/>
                <a:ea typeface="Consolas" pitchFamily="34" charset="-122"/>
                <a:cs typeface="Consolas" pitchFamily="34" charset="-120"/>
              </a:rPr>
              <a:t>   ·   pool.hpp · 2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3"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4"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5"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6"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7"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28" name="diff gutter"/>
          <p:cNvSpPr txBox="1"/>
          <p:nvPr/>
        </p:nvSpPr>
        <p:spPr>
          <a:xfrm>
            <a:off x="576072" y="1371600"/>
            <a:ext cx="228600" cy="2331720"/>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29" name="code"/>
          <p:cNvSpPr txBox="1"/>
          <p:nvPr/>
        </p:nvSpPr>
        <p:spPr>
          <a:xfrm>
            <a:off x="850392" y="1371600"/>
            <a:ext cx="6812280" cy="2331720"/>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submitted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fetch_add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result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tasks_submitted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submitted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tasks_completed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completed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0" name="Text 28"/>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1" name="Text 29"/>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Reading must never block the workers</a:t>
            </a:r>
            <a:endParaRPr lang="en-US" sz="1600" dirty="0"/>
          </a:p>
        </p:txBody>
      </p:sp>
      <p:sp>
        <p:nvSpPr>
          <p:cNvPr id="32" name="Text 30"/>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3"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4" name="Text 32"/>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5"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submit() counts a task only after push() succeeded, so a refused task is never counted.</a:t>
            </a:r>
            <a:endParaRPr lang="en-US" sz="1400" dirty="0"/>
          </a:p>
        </p:txBody>
      </p:sp>
      <p:sp>
        <p:nvSpPr>
          <p:cNvPr id="36"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37" name="Text 35"/>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8"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tasks_submitted() and tasks_completed() just load the atomics: a monitoring thread reads them without touching the queue's mutex.</a:t>
            </a:r>
            <a:endParaRPr lang="en-US" sz="1400" dirty="0"/>
          </a:p>
        </p:txBody>
      </p:sp>
      <p:sp>
        <p:nvSpPr>
          <p:cNvPr id="39"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1"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two loads happen at slightly different moments, so 'submitted minus completed' is a snapshot of pending work, not an exact count.</a:t>
            </a:r>
            <a:endParaRPr lang="en-US" sz="1400" dirty="0"/>
          </a:p>
        </p:txBody>
      </p:sp>
      <p:sp>
        <p:nvSpPr>
          <p:cNvPr id="42" name="tag lock-free reads"/>
          <p:cNvSpPr/>
          <p:nvPr/>
        </p:nvSpPr>
        <p:spPr>
          <a:xfrm>
            <a:off x="2606040" y="6510528"/>
            <a:ext cx="1440180" cy="256032"/>
          </a:xfrm>
          <a:prstGeom prst="roundRect">
            <a:avLst>
              <a:gd name="adj" fmla="val 50000"/>
            </a:avLst>
          </a:prstGeom>
          <a:solidFill>
            <a:schemeClr val="tx1"/>
          </a:solidFill>
          <a:ln w="12700">
            <a:solidFill>
              <a:schemeClr val="accent3"/>
            </a:solidFill>
            <a:prstDash val="solid"/>
          </a:ln>
        </p:spPr>
      </p:sp>
      <p:sp>
        <p:nvSpPr>
          <p:cNvPr id="43" name="Text 41"/>
          <p:cNvSpPr txBox="1"/>
          <p:nvPr/>
        </p:nvSpPr>
        <p:spPr>
          <a:xfrm>
            <a:off x="2606040" y="6510528"/>
            <a:ext cx="1440180" cy="256032"/>
          </a:xfrm>
          <a:prstGeom prst="rect">
            <a:avLst/>
          </a:prstGeom>
          <a:noFill/>
          <a:ln/>
        </p:spPr>
        <p:txBody>
          <a:bodyPr wrap="square" lIns="0" tIns="0" rIns="0" bIns="0" rtlCol="0" anchor="ctr"/>
          <a:lstStyle/>
          <a:p>
            <a:pPr algn="ctr" indent="0" marL="0">
              <a:buNone/>
            </a:pPr>
            <a:r>
              <a:rPr lang="en-US" sz="1100" dirty="0">
                <a:solidFill>
                  <a:schemeClr val="accent3"/>
                </a:solidFill>
              </a:rPr>
              <a:t>lock-free reads</a:t>
            </a:r>
            <a:endParaRPr lang="en-US" sz="1100" dirty="0"/>
          </a:p>
        </p:txBody>
      </p:sp>
      <p:sp>
        <p:nvSpPr>
          <p:cNvPr id="44" name="tag snapshots"/>
          <p:cNvSpPr/>
          <p:nvPr/>
        </p:nvSpPr>
        <p:spPr>
          <a:xfrm>
            <a:off x="4137660" y="6510528"/>
            <a:ext cx="973836" cy="256032"/>
          </a:xfrm>
          <a:prstGeom prst="roundRect">
            <a:avLst>
              <a:gd name="adj" fmla="val 50000"/>
            </a:avLst>
          </a:prstGeom>
          <a:solidFill>
            <a:schemeClr val="tx1"/>
          </a:solidFill>
          <a:ln w="12700">
            <a:solidFill>
              <a:schemeClr val="accent3"/>
            </a:solidFill>
            <a:prstDash val="solid"/>
          </a:ln>
        </p:spPr>
      </p:sp>
      <p:sp>
        <p:nvSpPr>
          <p:cNvPr id="45" name="Text 43"/>
          <p:cNvSpPr txBox="1"/>
          <p:nvPr/>
        </p:nvSpPr>
        <p:spPr>
          <a:xfrm>
            <a:off x="4137660" y="6510528"/>
            <a:ext cx="973836" cy="256032"/>
          </a:xfrm>
          <a:prstGeom prst="rect">
            <a:avLst/>
          </a:prstGeom>
          <a:noFill/>
          <a:ln/>
        </p:spPr>
        <p:txBody>
          <a:bodyPr wrap="square" lIns="0" tIns="0" rIns="0" bIns="0" rtlCol="0" anchor="ctr"/>
          <a:lstStyle/>
          <a:p>
            <a:pPr algn="ctr" indent="0" marL="0">
              <a:buNone/>
            </a:pPr>
            <a:r>
              <a:rPr lang="en-US" sz="1100" dirty="0">
                <a:solidFill>
                  <a:schemeClr val="accent3"/>
                </a:solidFill>
              </a:rPr>
              <a:t>snapshots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A linked list with a dummy node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current"/>
          <p:cNvSpPr/>
          <p:nvPr/>
        </p:nvSpPr>
        <p:spPr>
          <a:xfrm>
            <a:off x="11228832" y="384048"/>
            <a:ext cx="173736" cy="173736"/>
          </a:xfrm>
          <a:prstGeom prst="ellipse">
            <a:avLst/>
          </a:prstGeom>
          <a:solidFill>
            <a:schemeClr val="accent3"/>
          </a:solidFill>
          <a:ln w="12700">
            <a:solidFill>
              <a:schemeClr val="accent3"/>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v12</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Two-lock queue</a:t>
            </a:r>
            <a:pPr indent="0" marL="0">
              <a:buNone/>
            </a:pPr>
            <a:r>
              <a:rPr lang="en-US" sz="1400" dirty="0">
                <a:solidFill>
                  <a:schemeClr val="bg2"/>
                </a:solidFill>
                <a:latin typeface="Consolas" pitchFamily="34" charset="0"/>
                <a:ea typeface="Consolas" pitchFamily="34" charset="-122"/>
                <a:cs typeface="Consolas" pitchFamily="34" charset="-120"/>
              </a:rPr>
              <a:t>   ·   two_lock_queue.hpp (new) · 1 of 3</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6"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7"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8"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29"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0"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1"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2"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3"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4"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5" name="diff gutter"/>
          <p:cNvSpPr txBox="1"/>
          <p:nvPr/>
        </p:nvSpPr>
        <p:spPr>
          <a:xfrm>
            <a:off x="576072" y="1371600"/>
            <a:ext cx="228600" cy="3730752"/>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6" name="code"/>
          <p:cNvSpPr txBox="1"/>
          <p:nvPr/>
        </p:nvSpPr>
        <p:spPr>
          <a:xfrm>
            <a:off x="850392" y="1371600"/>
            <a:ext cx="6812280" cy="3730752"/>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struct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optional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value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empty in the dummy node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unique_ptr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unique_ptr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head_m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guarded by tail_m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head_m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tail_m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condition_variable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waits under head_m</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atomic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TwoLockQueue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a loop, not recursion</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7" name="Text 35"/>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8" name="Text 36"/>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One mutex: 6.3 to 2.7 M/s as threads grow</a:t>
            </a:r>
            <a:endParaRPr lang="en-US" sz="1600" dirty="0"/>
          </a:p>
        </p:txBody>
      </p:sp>
      <p:sp>
        <p:nvSpPr>
          <p:cNvPr id="39"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0"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v11</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 producers x 1 consumers: 6.30 M/s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4 producers x 4 consumers: 2.70 M/s</a:t>
            </a:r>
            <a:endParaRPr lang="en-US" sz="1200" dirty="0"/>
          </a:p>
        </p:txBody>
      </p:sp>
      <p:sp>
        <p:nvSpPr>
          <p:cNvPr id="41" name="Text 39"/>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2"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4"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Items live in a singly linked list whose last node is always an empty 'dummy', so head and tail never point at the same real item.</a:t>
            </a:r>
            <a:endParaRPr lang="en-US" sz="1400" dirty="0"/>
          </a:p>
        </p:txBody>
      </p:sp>
      <p:sp>
        <p:nvSpPr>
          <p:cNvPr id="45"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7"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head is only touched under head_m and tail only under tail_m: consumers work at the front, producers at the back, each with its own lock.</a:t>
            </a:r>
            <a:endParaRPr lang="en-US" sz="1400" dirty="0"/>
          </a:p>
        </p:txBody>
      </p:sp>
      <p:sp>
        <p:nvSpPr>
          <p:cNvPr id="48"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49" name="Text 47"/>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0" name="explanation 3"/>
          <p:cNvSpPr txBox="1"/>
          <p:nvPr/>
        </p:nvSpPr>
        <p:spPr>
          <a:xfrm>
            <a:off x="8430768" y="437692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destructor frees nodes in a loop. Letting the unique_ptr chain destroy itself would recurse once per node and could overflow the stack.</a:t>
            </a:r>
            <a:endParaRPr lang="en-US" sz="1400" dirty="0"/>
          </a:p>
        </p:txBody>
      </p:sp>
      <p:sp>
        <p:nvSpPr>
          <p:cNvPr id="51" name="tag fine-grained locking"/>
          <p:cNvSpPr/>
          <p:nvPr/>
        </p:nvSpPr>
        <p:spPr>
          <a:xfrm>
            <a:off x="2606040" y="6510528"/>
            <a:ext cx="1828800" cy="256032"/>
          </a:xfrm>
          <a:prstGeom prst="roundRect">
            <a:avLst>
              <a:gd name="adj" fmla="val 50000"/>
            </a:avLst>
          </a:prstGeom>
          <a:solidFill>
            <a:schemeClr val="tx1"/>
          </a:solidFill>
          <a:ln w="12700">
            <a:solidFill>
              <a:schemeClr val="accent3"/>
            </a:solidFill>
            <a:prstDash val="solid"/>
          </a:ln>
        </p:spPr>
      </p:sp>
      <p:sp>
        <p:nvSpPr>
          <p:cNvPr id="52" name="Text 50"/>
          <p:cNvSpPr txBox="1"/>
          <p:nvPr/>
        </p:nvSpPr>
        <p:spPr>
          <a:xfrm>
            <a:off x="2606040" y="6510528"/>
            <a:ext cx="1828800" cy="256032"/>
          </a:xfrm>
          <a:prstGeom prst="rect">
            <a:avLst/>
          </a:prstGeom>
          <a:noFill/>
          <a:ln/>
        </p:spPr>
        <p:txBody>
          <a:bodyPr wrap="square" lIns="0" tIns="0" rIns="0" bIns="0" rtlCol="0" anchor="ctr"/>
          <a:lstStyle/>
          <a:p>
            <a:pPr algn="ctr" indent="0" marL="0">
              <a:buNone/>
            </a:pPr>
            <a:r>
              <a:rPr lang="en-US" sz="1100" dirty="0">
                <a:solidFill>
                  <a:schemeClr val="accent3"/>
                </a:solidFill>
              </a:rPr>
              <a:t>fine-grained locking</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push() locks only the tail</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current"/>
          <p:cNvSpPr/>
          <p:nvPr/>
        </p:nvSpPr>
        <p:spPr>
          <a:xfrm>
            <a:off x="11228832" y="384048"/>
            <a:ext cx="173736" cy="173736"/>
          </a:xfrm>
          <a:prstGeom prst="ellipse">
            <a:avLst/>
          </a:prstGeom>
          <a:solidFill>
            <a:schemeClr val="accent3"/>
          </a:solidFill>
          <a:ln w="12700">
            <a:solidFill>
              <a:schemeClr val="accent3"/>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v12</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Two-lock queue</a:t>
            </a:r>
            <a:pPr indent="0" marL="0">
              <a:buNone/>
            </a:pPr>
            <a:r>
              <a:rPr lang="en-US" sz="1400" dirty="0">
                <a:solidFill>
                  <a:schemeClr val="bg2"/>
                </a:solidFill>
                <a:latin typeface="Consolas" pitchFamily="34" charset="0"/>
                <a:ea typeface="Consolas" pitchFamily="34" charset="-122"/>
                <a:cs typeface="Consolas" pitchFamily="34" charset="-120"/>
              </a:rPr>
              <a:t>   ·   two_lock_queue.hpp · 2 of 3</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4"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5"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6"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7"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8" name="diff gutter"/>
          <p:cNvSpPr txBox="1"/>
          <p:nvPr/>
        </p:nvSpPr>
        <p:spPr>
          <a:xfrm>
            <a:off x="576072" y="1371600"/>
            <a:ext cx="228600" cy="396392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9" name="code"/>
          <p:cNvSpPr txBox="1"/>
          <p:nvPr/>
        </p:nvSpPr>
        <p:spPr>
          <a:xfrm>
            <a:off x="850392" y="1371600"/>
            <a:ext cx="6812280" cy="3963924"/>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dummy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make_unique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no lock held yet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tail_m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value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the old dummy gets it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Node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new_tail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dummy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get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dummy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new_tail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the new node is the dummy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head_m</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see below</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notify_one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40" name="Text 38"/>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1" name="Text 39"/>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Producers shouldn't wait for consumers</a:t>
            </a:r>
            <a:endParaRPr lang="en-US" sz="1600" dirty="0"/>
          </a:p>
        </p:txBody>
      </p:sp>
      <p:sp>
        <p:nvSpPr>
          <p:cNvPr id="42" name="Text 40"/>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3"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4" name="Text 42"/>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5"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new node is allocated before taking any lock, so no mutex is held during the allocation.</a:t>
            </a:r>
            <a:endParaRPr lang="en-US" sz="1400" dirty="0"/>
          </a:p>
        </p:txBody>
      </p:sp>
      <p:sp>
        <p:nvSpPr>
          <p:cNvPr id="46"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7" name="Text 45"/>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8"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Under tail_m, the value goes into the current dummy; the new node is linked after it and becomes the new dummy.</a:t>
            </a:r>
            <a:endParaRPr lang="en-US" sz="1400" dirty="0"/>
          </a:p>
        </p:txBody>
      </p:sp>
      <p:sp>
        <p:nvSpPr>
          <p:cNvPr id="49"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50" name="Text 48"/>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1" name="explanation 3"/>
          <p:cNvSpPr txBox="1"/>
          <p:nvPr/>
        </p:nvSpPr>
        <p:spPr>
          <a:xfrm>
            <a:off x="8430768" y="395020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Then push() briefly locks head_m before notify_one(). A consumer checks for data and falls asleep while holding head_m, so the wake-up can't slip in between.</a:t>
            </a:r>
            <a:endParaRPr lang="en-US" sz="1400" dirty="0"/>
          </a:p>
        </p:txBody>
      </p:sp>
      <p:sp>
        <p:nvSpPr>
          <p:cNvPr id="52" name="tag lost wake-ups"/>
          <p:cNvSpPr/>
          <p:nvPr/>
        </p:nvSpPr>
        <p:spPr>
          <a:xfrm>
            <a:off x="2606040" y="6510528"/>
            <a:ext cx="1284732" cy="256032"/>
          </a:xfrm>
          <a:prstGeom prst="roundRect">
            <a:avLst>
              <a:gd name="adj" fmla="val 50000"/>
            </a:avLst>
          </a:prstGeom>
          <a:solidFill>
            <a:schemeClr val="tx1"/>
          </a:solidFill>
          <a:ln w="12700">
            <a:solidFill>
              <a:schemeClr val="accent3"/>
            </a:solidFill>
            <a:prstDash val="solid"/>
          </a:ln>
        </p:spPr>
      </p:sp>
      <p:sp>
        <p:nvSpPr>
          <p:cNvPr id="53" name="Text 51"/>
          <p:cNvSpPr txBox="1"/>
          <p:nvPr/>
        </p:nvSpPr>
        <p:spPr>
          <a:xfrm>
            <a:off x="2606040" y="6510528"/>
            <a:ext cx="1284732" cy="256032"/>
          </a:xfrm>
          <a:prstGeom prst="rect">
            <a:avLst/>
          </a:prstGeom>
          <a:noFill/>
          <a:ln/>
        </p:spPr>
        <p:txBody>
          <a:bodyPr wrap="square" lIns="0" tIns="0" rIns="0" bIns="0" rtlCol="0" anchor="ctr"/>
          <a:lstStyle/>
          <a:p>
            <a:pPr algn="ctr" indent="0" marL="0">
              <a:buNone/>
            </a:pPr>
            <a:r>
              <a:rPr lang="en-US" sz="1100" dirty="0">
                <a:solidFill>
                  <a:schemeClr val="accent3"/>
                </a:solidFill>
              </a:rPr>
              <a:t>lost wake-ups</a:t>
            </a:r>
            <a:endParaRPr lang="en-US" sz="1100" dirty="0"/>
          </a:p>
        </p:txBody>
      </p:sp>
      <p:sp>
        <p:nvSpPr>
          <p:cNvPr id="54" name="tag dummy node"/>
          <p:cNvSpPr/>
          <p:nvPr/>
        </p:nvSpPr>
        <p:spPr>
          <a:xfrm>
            <a:off x="3982212" y="6510528"/>
            <a:ext cx="1051560" cy="256032"/>
          </a:xfrm>
          <a:prstGeom prst="roundRect">
            <a:avLst>
              <a:gd name="adj" fmla="val 50000"/>
            </a:avLst>
          </a:prstGeom>
          <a:solidFill>
            <a:schemeClr val="tx1"/>
          </a:solidFill>
          <a:ln w="12700">
            <a:solidFill>
              <a:schemeClr val="accent3"/>
            </a:solidFill>
            <a:prstDash val="solid"/>
          </a:ln>
        </p:spPr>
      </p:sp>
      <p:sp>
        <p:nvSpPr>
          <p:cNvPr id="55" name="Text 53"/>
          <p:cNvSpPr txBox="1"/>
          <p:nvPr/>
        </p:nvSpPr>
        <p:spPr>
          <a:xfrm>
            <a:off x="3982212" y="6510528"/>
            <a:ext cx="1051560" cy="256032"/>
          </a:xfrm>
          <a:prstGeom prst="rect">
            <a:avLst/>
          </a:prstGeom>
          <a:noFill/>
          <a:ln/>
        </p:spPr>
        <p:txBody>
          <a:bodyPr wrap="square" lIns="0" tIns="0" rIns="0" bIns="0" rtlCol="0" anchor="ctr"/>
          <a:lstStyle/>
          <a:p>
            <a:pPr algn="ctr" indent="0" marL="0">
              <a:buNone/>
            </a:pPr>
            <a:r>
              <a:rPr lang="en-US" sz="1100" dirty="0">
                <a:solidFill>
                  <a:schemeClr val="accent3"/>
                </a:solidFill>
              </a:rPr>
              <a:t>dummy node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Consumers lock only the head</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current"/>
          <p:cNvSpPr/>
          <p:nvPr/>
        </p:nvSpPr>
        <p:spPr>
          <a:xfrm>
            <a:off x="11228832" y="384048"/>
            <a:ext cx="173736" cy="173736"/>
          </a:xfrm>
          <a:prstGeom prst="ellipse">
            <a:avLst/>
          </a:prstGeom>
          <a:solidFill>
            <a:schemeClr val="accent3"/>
          </a:solidFill>
          <a:ln w="12700">
            <a:solidFill>
              <a:schemeClr val="accent3"/>
            </a:solidFill>
            <a:prstDash val="solid"/>
          </a:ln>
        </p:spPr>
      </p:sp>
      <p:sp>
        <p:nvSpPr>
          <p:cNvPr id="16" name="progress todo"/>
          <p:cNvSpPr/>
          <p:nvPr/>
        </p:nvSpPr>
        <p:spPr>
          <a:xfrm>
            <a:off x="11489436" y="411480"/>
            <a:ext cx="118872" cy="118872"/>
          </a:xfrm>
          <a:prstGeom prst="ellipse">
            <a:avLst/>
          </a:prstGeom>
          <a:solidFill>
            <a:schemeClr val="tx1"/>
          </a:solidFill>
          <a:ln w="12700">
            <a:solidFill>
              <a:schemeClr val="bg2"/>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v12</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Two-lock queue</a:t>
            </a:r>
            <a:pPr indent="0" marL="0">
              <a:buNone/>
            </a:pPr>
            <a:r>
              <a:rPr lang="en-US" sz="1400" dirty="0">
                <a:solidFill>
                  <a:schemeClr val="bg2"/>
                </a:solidFill>
                <a:latin typeface="Consolas" pitchFamily="34" charset="0"/>
                <a:ea typeface="Consolas" pitchFamily="34" charset="-122"/>
                <a:cs typeface="Consolas" pitchFamily="34" charset="-120"/>
              </a:rPr>
              <a:t>   ·   two_lock_queue.hpp · 3 of 3</a:t>
            </a:r>
            <a:endParaRPr lang="en-US" sz="1400" dirty="0"/>
          </a:p>
        </p:txBody>
      </p:sp>
      <p:sp>
        <p:nvSpPr>
          <p:cNvPr id="21" name="added line 1"/>
          <p:cNvSpPr/>
          <p:nvPr/>
        </p:nvSpPr>
        <p:spPr>
          <a:xfrm>
            <a:off x="502920" y="1371600"/>
            <a:ext cx="7178040" cy="219456"/>
          </a:xfrm>
          <a:prstGeom prst="rect">
            <a:avLst/>
          </a:prstGeom>
          <a:solidFill>
            <a:schemeClr val="accent4"/>
          </a:solidFill>
          <a:ln w="12700">
            <a:solidFill>
              <a:schemeClr val="accent4"/>
            </a:solidFill>
            <a:prstDash val="solid"/>
          </a:ln>
        </p:spPr>
      </p:sp>
      <p:sp>
        <p:nvSpPr>
          <p:cNvPr id="22" name="added line 2"/>
          <p:cNvSpPr/>
          <p:nvPr/>
        </p:nvSpPr>
        <p:spPr>
          <a:xfrm>
            <a:off x="502920" y="1591056"/>
            <a:ext cx="7178040" cy="219456"/>
          </a:xfrm>
          <a:prstGeom prst="rect">
            <a:avLst/>
          </a:prstGeom>
          <a:solidFill>
            <a:schemeClr val="accent4"/>
          </a:solidFill>
          <a:ln w="12700">
            <a:solidFill>
              <a:schemeClr val="accent4"/>
            </a:solidFill>
            <a:prstDash val="solid"/>
          </a:ln>
        </p:spPr>
      </p:sp>
      <p:sp>
        <p:nvSpPr>
          <p:cNvPr id="23" name="added line 3"/>
          <p:cNvSpPr/>
          <p:nvPr/>
        </p:nvSpPr>
        <p:spPr>
          <a:xfrm>
            <a:off x="502920" y="1810512"/>
            <a:ext cx="7178040" cy="219456"/>
          </a:xfrm>
          <a:prstGeom prst="rect">
            <a:avLst/>
          </a:prstGeom>
          <a:solidFill>
            <a:schemeClr val="accent4"/>
          </a:solidFill>
          <a:ln w="12700">
            <a:solidFill>
              <a:schemeClr val="accent4"/>
            </a:solidFill>
            <a:prstDash val="solid"/>
          </a:ln>
        </p:spPr>
      </p:sp>
      <p:sp>
        <p:nvSpPr>
          <p:cNvPr id="24" name="added line 4"/>
          <p:cNvSpPr/>
          <p:nvPr/>
        </p:nvSpPr>
        <p:spPr>
          <a:xfrm>
            <a:off x="502920" y="2029968"/>
            <a:ext cx="7178040" cy="219456"/>
          </a:xfrm>
          <a:prstGeom prst="rect">
            <a:avLst/>
          </a:prstGeom>
          <a:solidFill>
            <a:schemeClr val="accent4"/>
          </a:solidFill>
          <a:ln w="12700">
            <a:solidFill>
              <a:schemeClr val="accent4"/>
            </a:solidFill>
            <a:prstDash val="solid"/>
          </a:ln>
        </p:spPr>
      </p:sp>
      <p:sp>
        <p:nvSpPr>
          <p:cNvPr id="25" name="added line 5"/>
          <p:cNvSpPr/>
          <p:nvPr/>
        </p:nvSpPr>
        <p:spPr>
          <a:xfrm>
            <a:off x="502920" y="2249424"/>
            <a:ext cx="7178040" cy="219456"/>
          </a:xfrm>
          <a:prstGeom prst="rect">
            <a:avLst/>
          </a:prstGeom>
          <a:solidFill>
            <a:schemeClr val="accent4"/>
          </a:solidFill>
          <a:ln w="12700">
            <a:solidFill>
              <a:schemeClr val="accent4"/>
            </a:solidFill>
            <a:prstDash val="solid"/>
          </a:ln>
        </p:spPr>
      </p:sp>
      <p:sp>
        <p:nvSpPr>
          <p:cNvPr id="26" name="added line 7"/>
          <p:cNvSpPr/>
          <p:nvPr/>
        </p:nvSpPr>
        <p:spPr>
          <a:xfrm>
            <a:off x="502920" y="2688336"/>
            <a:ext cx="7178040" cy="219456"/>
          </a:xfrm>
          <a:prstGeom prst="rect">
            <a:avLst/>
          </a:prstGeom>
          <a:solidFill>
            <a:schemeClr val="accent4"/>
          </a:solidFill>
          <a:ln w="12700">
            <a:solidFill>
              <a:schemeClr val="accent4"/>
            </a:solidFill>
            <a:prstDash val="solid"/>
          </a:ln>
        </p:spPr>
      </p:sp>
      <p:sp>
        <p:nvSpPr>
          <p:cNvPr id="27" name="added line 8"/>
          <p:cNvSpPr/>
          <p:nvPr/>
        </p:nvSpPr>
        <p:spPr>
          <a:xfrm>
            <a:off x="502920" y="2907792"/>
            <a:ext cx="7178040" cy="219456"/>
          </a:xfrm>
          <a:prstGeom prst="rect">
            <a:avLst/>
          </a:prstGeom>
          <a:solidFill>
            <a:schemeClr val="accent4"/>
          </a:solidFill>
          <a:ln w="12700">
            <a:solidFill>
              <a:schemeClr val="accent4"/>
            </a:solidFill>
            <a:prstDash val="solid"/>
          </a:ln>
        </p:spPr>
      </p:sp>
      <p:sp>
        <p:nvSpPr>
          <p:cNvPr id="28" name="added line 9"/>
          <p:cNvSpPr/>
          <p:nvPr/>
        </p:nvSpPr>
        <p:spPr>
          <a:xfrm>
            <a:off x="502920" y="3127248"/>
            <a:ext cx="7178040" cy="219456"/>
          </a:xfrm>
          <a:prstGeom prst="rect">
            <a:avLst/>
          </a:prstGeom>
          <a:solidFill>
            <a:schemeClr val="accent4"/>
          </a:solidFill>
          <a:ln w="12700">
            <a:solidFill>
              <a:schemeClr val="accent4"/>
            </a:solidFill>
            <a:prstDash val="solid"/>
          </a:ln>
        </p:spPr>
      </p:sp>
      <p:sp>
        <p:nvSpPr>
          <p:cNvPr id="29" name="added line 10"/>
          <p:cNvSpPr/>
          <p:nvPr/>
        </p:nvSpPr>
        <p:spPr>
          <a:xfrm>
            <a:off x="502920" y="3346704"/>
            <a:ext cx="7178040" cy="219456"/>
          </a:xfrm>
          <a:prstGeom prst="rect">
            <a:avLst/>
          </a:prstGeom>
          <a:solidFill>
            <a:schemeClr val="accent4"/>
          </a:solidFill>
          <a:ln w="12700">
            <a:solidFill>
              <a:schemeClr val="accent4"/>
            </a:solidFill>
            <a:prstDash val="solid"/>
          </a:ln>
        </p:spPr>
      </p:sp>
      <p:sp>
        <p:nvSpPr>
          <p:cNvPr id="30" name="added line 11"/>
          <p:cNvSpPr/>
          <p:nvPr/>
        </p:nvSpPr>
        <p:spPr>
          <a:xfrm>
            <a:off x="502920" y="3566160"/>
            <a:ext cx="7178040" cy="219456"/>
          </a:xfrm>
          <a:prstGeom prst="rect">
            <a:avLst/>
          </a:prstGeom>
          <a:solidFill>
            <a:schemeClr val="accent4"/>
          </a:solidFill>
          <a:ln w="12700">
            <a:solidFill>
              <a:schemeClr val="accent4"/>
            </a:solidFill>
            <a:prstDash val="solid"/>
          </a:ln>
        </p:spPr>
      </p:sp>
      <p:sp>
        <p:nvSpPr>
          <p:cNvPr id="31" name="added line 12"/>
          <p:cNvSpPr/>
          <p:nvPr/>
        </p:nvSpPr>
        <p:spPr>
          <a:xfrm>
            <a:off x="502920" y="3785616"/>
            <a:ext cx="7178040" cy="219456"/>
          </a:xfrm>
          <a:prstGeom prst="rect">
            <a:avLst/>
          </a:prstGeom>
          <a:solidFill>
            <a:schemeClr val="accent4"/>
          </a:solidFill>
          <a:ln w="12700">
            <a:solidFill>
              <a:schemeClr val="accent4"/>
            </a:solidFill>
            <a:prstDash val="solid"/>
          </a:ln>
        </p:spPr>
      </p:sp>
      <p:sp>
        <p:nvSpPr>
          <p:cNvPr id="32" name="added line 13"/>
          <p:cNvSpPr/>
          <p:nvPr/>
        </p:nvSpPr>
        <p:spPr>
          <a:xfrm>
            <a:off x="502920" y="4005072"/>
            <a:ext cx="7178040" cy="219456"/>
          </a:xfrm>
          <a:prstGeom prst="rect">
            <a:avLst/>
          </a:prstGeom>
          <a:solidFill>
            <a:schemeClr val="accent4"/>
          </a:solidFill>
          <a:ln w="12700">
            <a:solidFill>
              <a:schemeClr val="accent4"/>
            </a:solidFill>
            <a:prstDash val="solid"/>
          </a:ln>
        </p:spPr>
      </p:sp>
      <p:sp>
        <p:nvSpPr>
          <p:cNvPr id="33" name="added line 15"/>
          <p:cNvSpPr/>
          <p:nvPr/>
        </p:nvSpPr>
        <p:spPr>
          <a:xfrm>
            <a:off x="502920" y="4443984"/>
            <a:ext cx="7178040" cy="219456"/>
          </a:xfrm>
          <a:prstGeom prst="rect">
            <a:avLst/>
          </a:prstGeom>
          <a:solidFill>
            <a:schemeClr val="accent4"/>
          </a:solidFill>
          <a:ln w="12700">
            <a:solidFill>
              <a:schemeClr val="accent4"/>
            </a:solidFill>
            <a:prstDash val="solid"/>
          </a:ln>
        </p:spPr>
      </p:sp>
      <p:sp>
        <p:nvSpPr>
          <p:cNvPr id="34" name="added line 16"/>
          <p:cNvSpPr/>
          <p:nvPr/>
        </p:nvSpPr>
        <p:spPr>
          <a:xfrm>
            <a:off x="502920" y="4663440"/>
            <a:ext cx="7178040" cy="219456"/>
          </a:xfrm>
          <a:prstGeom prst="rect">
            <a:avLst/>
          </a:prstGeom>
          <a:solidFill>
            <a:schemeClr val="accent4"/>
          </a:solidFill>
          <a:ln w="12700">
            <a:solidFill>
              <a:schemeClr val="accent4"/>
            </a:solidFill>
            <a:prstDash val="solid"/>
          </a:ln>
        </p:spPr>
      </p:sp>
      <p:sp>
        <p:nvSpPr>
          <p:cNvPr id="35" name="added line 17"/>
          <p:cNvSpPr/>
          <p:nvPr/>
        </p:nvSpPr>
        <p:spPr>
          <a:xfrm>
            <a:off x="502920" y="4882896"/>
            <a:ext cx="7178040" cy="219456"/>
          </a:xfrm>
          <a:prstGeom prst="rect">
            <a:avLst/>
          </a:prstGeom>
          <a:solidFill>
            <a:schemeClr val="accent4"/>
          </a:solidFill>
          <a:ln w="12700">
            <a:solidFill>
              <a:schemeClr val="accent4"/>
            </a:solidFill>
            <a:prstDash val="solid"/>
          </a:ln>
        </p:spPr>
      </p:sp>
      <p:sp>
        <p:nvSpPr>
          <p:cNvPr id="36" name="added line 18"/>
          <p:cNvSpPr/>
          <p:nvPr/>
        </p:nvSpPr>
        <p:spPr>
          <a:xfrm>
            <a:off x="502920" y="5102352"/>
            <a:ext cx="7178040" cy="219456"/>
          </a:xfrm>
          <a:prstGeom prst="rect">
            <a:avLst/>
          </a:prstGeom>
          <a:solidFill>
            <a:schemeClr val="accent4"/>
          </a:solidFill>
          <a:ln w="12700">
            <a:solidFill>
              <a:schemeClr val="accent4"/>
            </a:solidFill>
            <a:prstDash val="solid"/>
          </a:ln>
        </p:spPr>
      </p:sp>
      <p:sp>
        <p:nvSpPr>
          <p:cNvPr id="37" name="added line 19"/>
          <p:cNvSpPr/>
          <p:nvPr/>
        </p:nvSpPr>
        <p:spPr>
          <a:xfrm>
            <a:off x="502920" y="5321808"/>
            <a:ext cx="7178040" cy="219456"/>
          </a:xfrm>
          <a:prstGeom prst="rect">
            <a:avLst/>
          </a:prstGeom>
          <a:solidFill>
            <a:schemeClr val="accent4"/>
          </a:solidFill>
          <a:ln w="12700">
            <a:solidFill>
              <a:schemeClr val="accent4"/>
            </a:solidFill>
            <a:prstDash val="solid"/>
          </a:ln>
        </p:spPr>
      </p:sp>
      <p:sp>
        <p:nvSpPr>
          <p:cNvPr id="38" name="added line 20"/>
          <p:cNvSpPr/>
          <p:nvPr/>
        </p:nvSpPr>
        <p:spPr>
          <a:xfrm>
            <a:off x="502920" y="5541264"/>
            <a:ext cx="7178040" cy="219456"/>
          </a:xfrm>
          <a:prstGeom prst="rect">
            <a:avLst/>
          </a:prstGeom>
          <a:solidFill>
            <a:schemeClr val="accent4"/>
          </a:solidFill>
          <a:ln w="12700">
            <a:solidFill>
              <a:schemeClr val="accent4"/>
            </a:solidFill>
            <a:prstDash val="solid"/>
          </a:ln>
        </p:spPr>
      </p:sp>
      <p:sp>
        <p:nvSpPr>
          <p:cNvPr id="39" name="added line 21"/>
          <p:cNvSpPr/>
          <p:nvPr/>
        </p:nvSpPr>
        <p:spPr>
          <a:xfrm>
            <a:off x="502920" y="5760720"/>
            <a:ext cx="7178040" cy="219456"/>
          </a:xfrm>
          <a:prstGeom prst="rect">
            <a:avLst/>
          </a:prstGeom>
          <a:solidFill>
            <a:schemeClr val="accent4"/>
          </a:solidFill>
          <a:ln w="12700">
            <a:solidFill>
              <a:schemeClr val="accent4"/>
            </a:solidFill>
            <a:prstDash val="solid"/>
          </a:ln>
        </p:spPr>
      </p:sp>
      <p:sp>
        <p:nvSpPr>
          <p:cNvPr id="40" name="diff gutter"/>
          <p:cNvSpPr txBox="1"/>
          <p:nvPr/>
        </p:nvSpPr>
        <p:spPr>
          <a:xfrm>
            <a:off x="576072" y="1371600"/>
            <a:ext cx="228600" cy="4608576"/>
          </a:xfrm>
          <a:prstGeom prst="rect">
            <a:avLst/>
          </a:prstGeom>
          <a:noFill/>
          <a:ln/>
        </p:spPr>
        <p:txBody>
          <a:bodyPr wrap="square" lIns="0" tIns="0" rIns="0" bIns="0" rtlCol="0" anchor="t"/>
          <a:lstStyle/>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41" name="code"/>
          <p:cNvSpPr txBox="1"/>
          <p:nvPr/>
        </p:nvSpPr>
        <p:spPr>
          <a:xfrm>
            <a:off x="850392" y="1371600"/>
            <a:ext cx="6812280" cy="4608576"/>
          </a:xfrm>
          <a:prstGeom prst="rect">
            <a:avLst/>
          </a:prstGeom>
          <a:noFill/>
          <a:ln/>
        </p:spPr>
        <p:txBody>
          <a:bodyPr wrap="square" lIns="0" tIns="0" rIns="0" bIns="0" rtlCol="0" anchor="t"/>
          <a:lstStyle/>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pop_head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caller holds head_m</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value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frees the old first node</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try_pop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lock_guard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head_m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has_items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pop_head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optional</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wait_and_pop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unique_lock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mutex</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head_m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cv</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wait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lock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[&amp;] {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has_items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closed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has_items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closed and drained</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nullopt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pop_head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42" name="Text 40"/>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3" name="Text 41"/>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Slower here, and that's the lesson</a:t>
            </a:r>
            <a:endParaRPr lang="en-US" sz="1600" dirty="0"/>
          </a:p>
        </p:txBody>
      </p:sp>
      <p:sp>
        <p:nvSpPr>
          <p:cNvPr id="44"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5"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./tiny_contention</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1x1 one mutex: 6.71  two: 2.23</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4x4 one mutex: 2.09  two: 1.67</a:t>
            </a:r>
            <a:endParaRPr lang="en-US" sz="1200" dirty="0"/>
          </a:p>
        </p:txBody>
      </p:sp>
      <p:sp>
        <p:nvSpPr>
          <p:cNvPr id="46" name="Text 44"/>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7"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8" name="Text 46"/>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9"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queue is empty when head is the tail (read through get_tail(), which locks tail_m for a moment): only the dummy is left.</a:t>
            </a:r>
            <a:endParaRPr lang="en-US" sz="1400" dirty="0"/>
          </a:p>
        </p:txBody>
      </p:sp>
      <p:sp>
        <p:nvSpPr>
          <p:cNvPr id="50"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51" name="Text 49"/>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52" name="explanation 2"/>
          <p:cNvSpPr txBox="1"/>
          <p:nvPr/>
        </p:nvSpPr>
        <p:spPr>
          <a:xfrm>
            <a:off x="8430768" y="341376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pop_head() moves the value out and advances head; the old node is freed by its unique_ptr.</a:t>
            </a:r>
            <a:endParaRPr lang="en-US" sz="1400" dirty="0"/>
          </a:p>
        </p:txBody>
      </p:sp>
      <p:sp>
        <p:nvSpPr>
          <p:cNvPr id="53"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54" name="Text 52"/>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5" name="explanation 3"/>
          <p:cNvSpPr txBox="1"/>
          <p:nvPr/>
        </p:nvSpPr>
        <p:spPr>
          <a:xfrm>
            <a:off x="8430768" y="416356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On this machine it's slower than one mutex, because every push allocates a node. Finer locks pay off only when the time saved beats the extra work.</a:t>
            </a:r>
            <a:endParaRPr lang="en-US" sz="1400" dirty="0"/>
          </a:p>
        </p:txBody>
      </p:sp>
      <p:sp>
        <p:nvSpPr>
          <p:cNvPr id="56" name="tag measure first"/>
          <p:cNvSpPr/>
          <p:nvPr/>
        </p:nvSpPr>
        <p:spPr>
          <a:xfrm>
            <a:off x="2606040" y="6510528"/>
            <a:ext cx="1284732" cy="256032"/>
          </a:xfrm>
          <a:prstGeom prst="roundRect">
            <a:avLst>
              <a:gd name="adj" fmla="val 50000"/>
            </a:avLst>
          </a:prstGeom>
          <a:solidFill>
            <a:schemeClr val="tx1"/>
          </a:solidFill>
          <a:ln w="12700">
            <a:solidFill>
              <a:schemeClr val="accent3"/>
            </a:solidFill>
            <a:prstDash val="solid"/>
          </a:ln>
        </p:spPr>
      </p:sp>
      <p:sp>
        <p:nvSpPr>
          <p:cNvPr id="57" name="Text 55"/>
          <p:cNvSpPr txBox="1"/>
          <p:nvPr/>
        </p:nvSpPr>
        <p:spPr>
          <a:xfrm>
            <a:off x="2606040" y="6510528"/>
            <a:ext cx="1284732" cy="256032"/>
          </a:xfrm>
          <a:prstGeom prst="rect">
            <a:avLst/>
          </a:prstGeom>
          <a:noFill/>
          <a:ln/>
        </p:spPr>
        <p:txBody>
          <a:bodyPr wrap="square" lIns="0" tIns="0" rIns="0" bIns="0" rtlCol="0" anchor="ctr"/>
          <a:lstStyle/>
          <a:p>
            <a:pPr algn="ctr" indent="0" marL="0">
              <a:buNone/>
            </a:pPr>
            <a:r>
              <a:rPr lang="en-US" sz="1100" dirty="0">
                <a:solidFill>
                  <a:schemeClr val="accent3"/>
                </a:solidFill>
              </a:rPr>
              <a:t>measure first</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Two indices, each on its own cache line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done"/>
          <p:cNvSpPr/>
          <p:nvPr/>
        </p:nvSpPr>
        <p:spPr>
          <a:xfrm>
            <a:off x="11256264" y="411480"/>
            <a:ext cx="118872" cy="118872"/>
          </a:xfrm>
          <a:prstGeom prst="ellipse">
            <a:avLst/>
          </a:prstGeom>
          <a:solidFill>
            <a:schemeClr val="bg2"/>
          </a:solidFill>
          <a:ln w="12700">
            <a:solidFill>
              <a:schemeClr val="bg2"/>
            </a:solidFill>
            <a:prstDash val="solid"/>
          </a:ln>
        </p:spPr>
      </p:sp>
      <p:sp>
        <p:nvSpPr>
          <p:cNvPr id="16" name="progress current"/>
          <p:cNvSpPr/>
          <p:nvPr/>
        </p:nvSpPr>
        <p:spPr>
          <a:xfrm>
            <a:off x="11462004" y="384048"/>
            <a:ext cx="173736" cy="173736"/>
          </a:xfrm>
          <a:prstGeom prst="ellipse">
            <a:avLst/>
          </a:prstGeom>
          <a:solidFill>
            <a:schemeClr val="accent3"/>
          </a:solidFill>
          <a:ln w="12700">
            <a:solidFill>
              <a:schemeClr val="accent3"/>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v13</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Lock-free SPSC ring</a:t>
            </a:r>
            <a:pPr indent="0" marL="0">
              <a:buNone/>
            </a:pPr>
            <a:r>
              <a:rPr lang="en-US" sz="1400" dirty="0">
                <a:solidFill>
                  <a:schemeClr val="bg2"/>
                </a:solidFill>
                <a:latin typeface="Consolas" pitchFamily="34" charset="0"/>
                <a:ea typeface="Consolas" pitchFamily="34" charset="-122"/>
                <a:cs typeface="Consolas" pitchFamily="34" charset="-120"/>
              </a:rPr>
              <a:t>   ·   spsc_ring.hpp (new) · 1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5"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6"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7" name="diff gutter"/>
          <p:cNvSpPr txBox="1"/>
          <p:nvPr/>
        </p:nvSpPr>
        <p:spPr>
          <a:xfrm>
            <a:off x="576072" y="1371600"/>
            <a:ext cx="228600" cy="163220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28" name="code"/>
          <p:cNvSpPr txBox="1"/>
          <p:nvPr/>
        </p:nvSpPr>
        <p:spPr>
          <a:xfrm>
            <a:off x="850392" y="1371600"/>
            <a:ext cx="6812280" cy="1632204"/>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template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N: a power of two</a:t>
            </a:r>
            <a:endParaRPr lang="en-US" sz="1300" dirty="0"/>
          </a:p>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class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SpscRing</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static_assert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&gt;=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2</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&amp;&amp;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ECC48D"/>
                </a:solidFill>
                <a:latin typeface="Consolas" pitchFamily="34" charset="0"/>
                <a:ea typeface="Consolas" pitchFamily="34" charset="-122"/>
                <a:cs typeface="Consolas" pitchFamily="34" charset="-120"/>
              </a:rPr>
              <a:t>"N: power of two"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alignas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64</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atomic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next to read</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alignas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64</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atomic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next to write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alignas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64</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array</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slots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29" name="Text 27"/>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0" name="Text 28"/>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A feed needs ~100 ns per item, not 410</a:t>
            </a:r>
            <a:endParaRPr lang="en-US" sz="1600" dirty="0"/>
          </a:p>
        </p:txBody>
      </p:sp>
      <p:sp>
        <p:nvSpPr>
          <p:cNvPr id="31"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2"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./next_bug   # v12</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410 ns per item (1P, 1C)</a:t>
            </a:r>
            <a:endParaRPr lang="en-US" sz="1200" dirty="0"/>
          </a:p>
        </p:txBody>
      </p:sp>
      <p:sp>
        <p:nvSpPr>
          <p:cNvPr id="33" name="Text 31"/>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4"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35" name="Text 33"/>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36" name="explanation 1"/>
          <p:cNvSpPr txBox="1"/>
          <p:nvPr/>
        </p:nvSpPr>
        <p:spPr>
          <a:xfrm>
            <a:off x="8430768" y="2450592"/>
            <a:ext cx="3337560" cy="106680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fixed array of N slots and two counters that only grow: tail (next slot to write) and head (next slot to read). The slot is index &amp; (N - 1), so N must be a power of two.</a:t>
            </a:r>
            <a:endParaRPr lang="en-US" sz="1400" dirty="0"/>
          </a:p>
        </p:txBody>
      </p:sp>
      <p:sp>
        <p:nvSpPr>
          <p:cNvPr id="37" name="step 2"/>
          <p:cNvSpPr/>
          <p:nvPr/>
        </p:nvSpPr>
        <p:spPr>
          <a:xfrm>
            <a:off x="8046720" y="3636264"/>
            <a:ext cx="256032" cy="256032"/>
          </a:xfrm>
          <a:prstGeom prst="ellipse">
            <a:avLst/>
          </a:prstGeom>
          <a:solidFill>
            <a:schemeClr val="tx2"/>
          </a:solidFill>
          <a:ln w="15875">
            <a:solidFill>
              <a:schemeClr val="accent1"/>
            </a:solidFill>
            <a:prstDash val="solid"/>
          </a:ln>
        </p:spPr>
      </p:sp>
      <p:sp>
        <p:nvSpPr>
          <p:cNvPr id="38" name="Text 36"/>
          <p:cNvSpPr txBox="1"/>
          <p:nvPr/>
        </p:nvSpPr>
        <p:spPr>
          <a:xfrm>
            <a:off x="8046720" y="363626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39" name="explanation 2"/>
          <p:cNvSpPr txBox="1"/>
          <p:nvPr/>
        </p:nvSpPr>
        <p:spPr>
          <a:xfrm>
            <a:off x="8430768" y="362712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Only the producer writes tail and only the consumer writes head. Each index has a single writer, so no lock is needed.</a:t>
            </a:r>
            <a:endParaRPr lang="en-US" sz="1400" dirty="0"/>
          </a:p>
        </p:txBody>
      </p:sp>
      <p:sp>
        <p:nvSpPr>
          <p:cNvPr id="40"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41" name="Text 39"/>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2" name="explanation 3"/>
          <p:cNvSpPr txBox="1"/>
          <p:nvPr/>
        </p:nvSpPr>
        <p:spPr>
          <a:xfrm>
            <a:off x="8430768" y="437692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alignas(64) puts each index on its own cache line. Sharing one line, two cores keep stealing it from each other: 1.52 s vs 0.38 s in the tiny example.</a:t>
            </a:r>
            <a:endParaRPr lang="en-US" sz="1400" dirty="0"/>
          </a:p>
        </p:txBody>
      </p:sp>
      <p:sp>
        <p:nvSpPr>
          <p:cNvPr id="43" name="tag lock-free"/>
          <p:cNvSpPr/>
          <p:nvPr/>
        </p:nvSpPr>
        <p:spPr>
          <a:xfrm>
            <a:off x="2606040" y="6510528"/>
            <a:ext cx="973836" cy="256032"/>
          </a:xfrm>
          <a:prstGeom prst="roundRect">
            <a:avLst>
              <a:gd name="adj" fmla="val 50000"/>
            </a:avLst>
          </a:prstGeom>
          <a:solidFill>
            <a:schemeClr val="tx1"/>
          </a:solidFill>
          <a:ln w="12700">
            <a:solidFill>
              <a:schemeClr val="accent3"/>
            </a:solidFill>
            <a:prstDash val="solid"/>
          </a:ln>
        </p:spPr>
      </p:sp>
      <p:sp>
        <p:nvSpPr>
          <p:cNvPr id="44" name="Text 42"/>
          <p:cNvSpPr txBox="1"/>
          <p:nvPr/>
        </p:nvSpPr>
        <p:spPr>
          <a:xfrm>
            <a:off x="2606040" y="6510528"/>
            <a:ext cx="973836" cy="256032"/>
          </a:xfrm>
          <a:prstGeom prst="rect">
            <a:avLst/>
          </a:prstGeom>
          <a:noFill/>
          <a:ln/>
        </p:spPr>
        <p:txBody>
          <a:bodyPr wrap="square" lIns="0" tIns="0" rIns="0" bIns="0" rtlCol="0" anchor="ctr"/>
          <a:lstStyle/>
          <a:p>
            <a:pPr algn="ctr" indent="0" marL="0">
              <a:buNone/>
            </a:pPr>
            <a:r>
              <a:rPr lang="en-US" sz="1100" dirty="0">
                <a:solidFill>
                  <a:schemeClr val="accent3"/>
                </a:solidFill>
              </a:rPr>
              <a:t>lock-free</a:t>
            </a:r>
            <a:endParaRPr lang="en-US" sz="1100" dirty="0"/>
          </a:p>
        </p:txBody>
      </p:sp>
      <p:sp>
        <p:nvSpPr>
          <p:cNvPr id="45" name="tag cache lines"/>
          <p:cNvSpPr/>
          <p:nvPr/>
        </p:nvSpPr>
        <p:spPr>
          <a:xfrm>
            <a:off x="3671316" y="6510528"/>
            <a:ext cx="1129284" cy="256032"/>
          </a:xfrm>
          <a:prstGeom prst="roundRect">
            <a:avLst>
              <a:gd name="adj" fmla="val 50000"/>
            </a:avLst>
          </a:prstGeom>
          <a:solidFill>
            <a:schemeClr val="tx1"/>
          </a:solidFill>
          <a:ln w="12700">
            <a:solidFill>
              <a:schemeClr val="accent3"/>
            </a:solidFill>
            <a:prstDash val="solid"/>
          </a:ln>
        </p:spPr>
      </p:sp>
      <p:sp>
        <p:nvSpPr>
          <p:cNvPr id="46" name="Text 44"/>
          <p:cNvSpPr txBox="1"/>
          <p:nvPr/>
        </p:nvSpPr>
        <p:spPr>
          <a:xfrm>
            <a:off x="3671316" y="6510528"/>
            <a:ext cx="1129284" cy="256032"/>
          </a:xfrm>
          <a:prstGeom prst="rect">
            <a:avLst/>
          </a:prstGeom>
          <a:noFill/>
          <a:ln/>
        </p:spPr>
        <p:txBody>
          <a:bodyPr wrap="square" lIns="0" tIns="0" rIns="0" bIns="0" rtlCol="0" anchor="ctr"/>
          <a:lstStyle/>
          <a:p>
            <a:pPr algn="ctr" indent="0" marL="0">
              <a:buNone/>
            </a:pPr>
            <a:r>
              <a:rPr lang="en-US" sz="1100" dirty="0">
                <a:solidFill>
                  <a:schemeClr val="accent3"/>
                </a:solidFill>
              </a:rPr>
              <a:t>cache lines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Write the slot, then publish it</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done"/>
          <p:cNvSpPr/>
          <p:nvPr/>
        </p:nvSpPr>
        <p:spPr>
          <a:xfrm>
            <a:off x="11256264" y="411480"/>
            <a:ext cx="118872" cy="118872"/>
          </a:xfrm>
          <a:prstGeom prst="ellipse">
            <a:avLst/>
          </a:prstGeom>
          <a:solidFill>
            <a:schemeClr val="bg2"/>
          </a:solidFill>
          <a:ln w="12700">
            <a:solidFill>
              <a:schemeClr val="bg2"/>
            </a:solidFill>
            <a:prstDash val="solid"/>
          </a:ln>
        </p:spPr>
      </p:sp>
      <p:sp>
        <p:nvSpPr>
          <p:cNvPr id="16" name="progress current"/>
          <p:cNvSpPr/>
          <p:nvPr/>
        </p:nvSpPr>
        <p:spPr>
          <a:xfrm>
            <a:off x="11462004" y="384048"/>
            <a:ext cx="173736" cy="173736"/>
          </a:xfrm>
          <a:prstGeom prst="ellipse">
            <a:avLst/>
          </a:prstGeom>
          <a:solidFill>
            <a:schemeClr val="accent3"/>
          </a:solidFill>
          <a:ln w="12700">
            <a:solidFill>
              <a:schemeClr val="accent3"/>
            </a:solidFill>
            <a:prstDash val="solid"/>
          </a:ln>
        </p:spPr>
      </p:sp>
      <p:sp>
        <p:nvSpPr>
          <p:cNvPr id="17" name="progress todo"/>
          <p:cNvSpPr/>
          <p:nvPr/>
        </p:nvSpPr>
        <p:spPr>
          <a:xfrm>
            <a:off x="11722608" y="411480"/>
            <a:ext cx="118872" cy="118872"/>
          </a:xfrm>
          <a:prstGeom prst="ellipse">
            <a:avLst/>
          </a:prstGeom>
          <a:solidFill>
            <a:schemeClr val="tx1"/>
          </a:solidFill>
          <a:ln w="12700">
            <a:solidFill>
              <a:schemeClr val="bg2"/>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v13</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Lock-free SPSC ring</a:t>
            </a:r>
            <a:pPr indent="0" marL="0">
              <a:buNone/>
            </a:pPr>
            <a:r>
              <a:rPr lang="en-US" sz="1400" dirty="0">
                <a:solidFill>
                  <a:schemeClr val="bg2"/>
                </a:solidFill>
                <a:latin typeface="Consolas" pitchFamily="34" charset="0"/>
                <a:ea typeface="Consolas" pitchFamily="34" charset="-122"/>
                <a:cs typeface="Consolas" pitchFamily="34" charset="-120"/>
              </a:rPr>
              <a:t>   ·   spsc_ring.hpp · 2 of 2</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0"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1"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2"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3"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4"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5"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6"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7" name="diff gutter"/>
          <p:cNvSpPr txBox="1"/>
          <p:nvPr/>
        </p:nvSpPr>
        <p:spPr>
          <a:xfrm>
            <a:off x="576072" y="1371600"/>
            <a:ext cx="228600" cy="396392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3"/>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8" name="code"/>
          <p:cNvSpPr txBox="1"/>
          <p:nvPr/>
        </p:nvSpPr>
        <p:spPr>
          <a:xfrm>
            <a:off x="850392" y="1371600"/>
            <a:ext cx="6812280" cy="3963924"/>
          </a:xfrm>
          <a:prstGeom prst="rect">
            <a:avLst/>
          </a:prstGeom>
          <a:noFill/>
          <a:ln/>
        </p:spPr>
        <p:txBody>
          <a:bodyPr wrap="square" lIns="0" tIns="0" rIns="0" bIns="0" rtlCol="0" anchor="t"/>
          <a:lstStyle/>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try_push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producer thread only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memory_order_acquire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full</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slots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v</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store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memory_order_release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publish</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bool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try_pop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consumer thread only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memory_order_relaxed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if</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tail</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load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memory_order_acquire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false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empty</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move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slots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&amp;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store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memory_order_release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free slot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p:txBody>
      </p:sp>
      <p:sp>
        <p:nvSpPr>
          <p:cNvPr id="39" name="Text 37"/>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0" name="Text 38"/>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No allocation, no mutex</a:t>
            </a:r>
            <a:endParaRPr lang="en-US" sz="1600" dirty="0"/>
          </a:p>
        </p:txBody>
      </p:sp>
      <p:sp>
        <p:nvSpPr>
          <p:cNvPr id="41"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2"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./bench   # saturated, 1P/1C</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mutex queue:   5-7 M msg/s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SPSC ring:  11-219 M msg/s</a:t>
            </a:r>
            <a:endParaRPr lang="en-US" sz="1200" dirty="0"/>
          </a:p>
        </p:txBody>
      </p:sp>
      <p:sp>
        <p:nvSpPr>
          <p:cNvPr id="43" name="Text 41"/>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4"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5" name="Text 43"/>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6" name="explanation 1"/>
          <p:cNvSpPr txBox="1"/>
          <p:nvPr/>
        </p:nvSpPr>
        <p:spPr>
          <a:xfrm>
            <a:off x="8430768" y="2450592"/>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try_push() checks for space (tail - head == N means full), writes the slot, and only then stores tail + 1 with memory_order_release.</a:t>
            </a:r>
            <a:endParaRPr lang="en-US" sz="1400" dirty="0"/>
          </a:p>
        </p:txBody>
      </p:sp>
      <p:sp>
        <p:nvSpPr>
          <p:cNvPr id="47" name="step 2"/>
          <p:cNvSpPr/>
          <p:nvPr/>
        </p:nvSpPr>
        <p:spPr>
          <a:xfrm>
            <a:off x="8046720" y="3422904"/>
            <a:ext cx="256032" cy="256032"/>
          </a:xfrm>
          <a:prstGeom prst="ellipse">
            <a:avLst/>
          </a:prstGeom>
          <a:solidFill>
            <a:schemeClr val="tx2"/>
          </a:solidFill>
          <a:ln w="15875">
            <a:solidFill>
              <a:schemeClr val="accent1"/>
            </a:solidFill>
            <a:prstDash val="solid"/>
          </a:ln>
        </p:spPr>
      </p:sp>
      <p:sp>
        <p:nvSpPr>
          <p:cNvPr id="48" name="Text 46"/>
          <p:cNvSpPr txBox="1"/>
          <p:nvPr/>
        </p:nvSpPr>
        <p:spPr>
          <a:xfrm>
            <a:off x="8046720" y="342290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9" name="explanation 2"/>
          <p:cNvSpPr txBox="1"/>
          <p:nvPr/>
        </p:nvSpPr>
        <p:spPr>
          <a:xfrm>
            <a:off x="8430768" y="341376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try_pop() loads tail with memory_order_acquire. Seeing the new tail guarantees it also sees the slot written before the release.</a:t>
            </a:r>
            <a:endParaRPr lang="en-US" sz="1400" dirty="0"/>
          </a:p>
        </p:txBody>
      </p:sp>
      <p:sp>
        <p:nvSpPr>
          <p:cNvPr id="50" name="step 3"/>
          <p:cNvSpPr/>
          <p:nvPr/>
        </p:nvSpPr>
        <p:spPr>
          <a:xfrm>
            <a:off x="8046720" y="4386072"/>
            <a:ext cx="256032" cy="256032"/>
          </a:xfrm>
          <a:prstGeom prst="ellipse">
            <a:avLst/>
          </a:prstGeom>
          <a:solidFill>
            <a:schemeClr val="tx2"/>
          </a:solidFill>
          <a:ln w="15875">
            <a:solidFill>
              <a:schemeClr val="accent1"/>
            </a:solidFill>
            <a:prstDash val="solid"/>
          </a:ln>
        </p:spPr>
      </p:sp>
      <p:sp>
        <p:nvSpPr>
          <p:cNvPr id="51" name="Text 49"/>
          <p:cNvSpPr txBox="1"/>
          <p:nvPr/>
        </p:nvSpPr>
        <p:spPr>
          <a:xfrm>
            <a:off x="8046720" y="438607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2" name="explanation 3"/>
          <p:cNvSpPr txBox="1"/>
          <p:nvPr/>
        </p:nvSpPr>
        <p:spPr>
          <a:xfrm>
            <a:off x="8430768" y="437692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After reading, the consumer frees the slot by storing head + 1. One producer and one consumer only: two producers lost 47% of the items.</a:t>
            </a:r>
            <a:endParaRPr lang="en-US" sz="1400" dirty="0"/>
          </a:p>
        </p:txBody>
      </p:sp>
      <p:sp>
        <p:nvSpPr>
          <p:cNvPr id="53" name="tag release/acquire"/>
          <p:cNvSpPr/>
          <p:nvPr/>
        </p:nvSpPr>
        <p:spPr>
          <a:xfrm>
            <a:off x="2606040" y="6510528"/>
            <a:ext cx="1440180" cy="256032"/>
          </a:xfrm>
          <a:prstGeom prst="roundRect">
            <a:avLst>
              <a:gd name="adj" fmla="val 50000"/>
            </a:avLst>
          </a:prstGeom>
          <a:solidFill>
            <a:schemeClr val="tx1"/>
          </a:solidFill>
          <a:ln w="12700">
            <a:solidFill>
              <a:schemeClr val="accent3"/>
            </a:solidFill>
            <a:prstDash val="solid"/>
          </a:ln>
        </p:spPr>
      </p:sp>
      <p:sp>
        <p:nvSpPr>
          <p:cNvPr id="54" name="Text 52"/>
          <p:cNvSpPr txBox="1"/>
          <p:nvPr/>
        </p:nvSpPr>
        <p:spPr>
          <a:xfrm>
            <a:off x="2606040" y="6510528"/>
            <a:ext cx="1440180" cy="256032"/>
          </a:xfrm>
          <a:prstGeom prst="rect">
            <a:avLst/>
          </a:prstGeom>
          <a:noFill/>
          <a:ln/>
        </p:spPr>
        <p:txBody>
          <a:bodyPr wrap="square" lIns="0" tIns="0" rIns="0" bIns="0" rtlCol="0" anchor="ctr"/>
          <a:lstStyle/>
          <a:p>
            <a:pPr algn="ctr" indent="0" marL="0">
              <a:buNone/>
            </a:pPr>
            <a:r>
              <a:rPr lang="en-US" sz="1100" dirty="0">
                <a:solidFill>
                  <a:schemeClr val="accent3"/>
                </a:solidFill>
              </a:rPr>
              <a:t>release/acquire</a:t>
            </a:r>
            <a:endParaRPr lang="en-US" sz="1100" dirty="0"/>
          </a:p>
        </p:txBody>
      </p:sp>
      <p:sp>
        <p:nvSpPr>
          <p:cNvPr id="55" name="tag SPSC"/>
          <p:cNvSpPr/>
          <p:nvPr/>
        </p:nvSpPr>
        <p:spPr>
          <a:xfrm>
            <a:off x="4137660" y="6510528"/>
            <a:ext cx="585216" cy="256032"/>
          </a:xfrm>
          <a:prstGeom prst="roundRect">
            <a:avLst>
              <a:gd name="adj" fmla="val 50000"/>
            </a:avLst>
          </a:prstGeom>
          <a:solidFill>
            <a:schemeClr val="tx1"/>
          </a:solidFill>
          <a:ln w="12700">
            <a:solidFill>
              <a:schemeClr val="accent3"/>
            </a:solidFill>
            <a:prstDash val="solid"/>
          </a:ln>
        </p:spPr>
      </p:sp>
      <p:sp>
        <p:nvSpPr>
          <p:cNvPr id="56" name="Text 54"/>
          <p:cNvSpPr txBox="1"/>
          <p:nvPr/>
        </p:nvSpPr>
        <p:spPr>
          <a:xfrm>
            <a:off x="4137660" y="6510528"/>
            <a:ext cx="585216" cy="256032"/>
          </a:xfrm>
          <a:prstGeom prst="rect">
            <a:avLst/>
          </a:prstGeom>
          <a:noFill/>
          <a:ln/>
        </p:spPr>
        <p:txBody>
          <a:bodyPr wrap="square" lIns="0" tIns="0" rIns="0" bIns="0" rtlCol="0" anchor="ctr"/>
          <a:lstStyle/>
          <a:p>
            <a:pPr algn="ctr" indent="0" marL="0">
              <a:buNone/>
            </a:pPr>
            <a:r>
              <a:rPr lang="en-US" sz="1100" dirty="0">
                <a:solidFill>
                  <a:schemeClr val="accent3"/>
                </a:solidFill>
              </a:rPr>
              <a:t>SPSC</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Throughput and latency, measured separately</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done"/>
          <p:cNvSpPr/>
          <p:nvPr/>
        </p:nvSpPr>
        <p:spPr>
          <a:xfrm>
            <a:off x="11256264" y="411480"/>
            <a:ext cx="118872" cy="118872"/>
          </a:xfrm>
          <a:prstGeom prst="ellipse">
            <a:avLst/>
          </a:prstGeom>
          <a:solidFill>
            <a:schemeClr val="bg2"/>
          </a:solidFill>
          <a:ln w="12700">
            <a:solidFill>
              <a:schemeClr val="bg2"/>
            </a:solidFill>
            <a:prstDash val="solid"/>
          </a:ln>
        </p:spPr>
      </p:sp>
      <p:sp>
        <p:nvSpPr>
          <p:cNvPr id="16" name="progress done"/>
          <p:cNvSpPr/>
          <p:nvPr/>
        </p:nvSpPr>
        <p:spPr>
          <a:xfrm>
            <a:off x="11489436" y="411480"/>
            <a:ext cx="118872" cy="118872"/>
          </a:xfrm>
          <a:prstGeom prst="ellipse">
            <a:avLst/>
          </a:prstGeom>
          <a:solidFill>
            <a:schemeClr val="bg2"/>
          </a:solidFill>
          <a:ln w="12700">
            <a:solidFill>
              <a:schemeClr val="bg2"/>
            </a:solidFill>
            <a:prstDash val="solid"/>
          </a:ln>
        </p:spPr>
      </p:sp>
      <p:sp>
        <p:nvSpPr>
          <p:cNvPr id="17" name="progress current"/>
          <p:cNvSpPr/>
          <p:nvPr/>
        </p:nvSpPr>
        <p:spPr>
          <a:xfrm>
            <a:off x="11695176" y="384048"/>
            <a:ext cx="173736" cy="173736"/>
          </a:xfrm>
          <a:prstGeom prst="ellipse">
            <a:avLst/>
          </a:prstGeom>
          <a:solidFill>
            <a:schemeClr val="accent3"/>
          </a:solidFill>
          <a:ln w="12700">
            <a:solidFill>
              <a:schemeClr val="accent3"/>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v14</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Benchmark harness</a:t>
            </a:r>
            <a:pPr indent="0" marL="0">
              <a:buNone/>
            </a:pPr>
            <a:r>
              <a:rPr lang="en-US" sz="1400" dirty="0">
                <a:solidFill>
                  <a:schemeClr val="bg2"/>
                </a:solidFill>
                <a:latin typeface="Consolas" pitchFamily="34" charset="0"/>
                <a:ea typeface="Consolas" pitchFamily="34" charset="-122"/>
                <a:cs typeface="Consolas" pitchFamily="34" charset="-120"/>
              </a:rPr>
              <a:t>   ·   bench.hpp (new) · 1 of 3</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added line 12"/>
          <p:cNvSpPr/>
          <p:nvPr/>
        </p:nvSpPr>
        <p:spPr>
          <a:xfrm>
            <a:off x="502920" y="3936492"/>
            <a:ext cx="7178040" cy="233172"/>
          </a:xfrm>
          <a:prstGeom prst="rect">
            <a:avLst/>
          </a:prstGeom>
          <a:solidFill>
            <a:schemeClr val="accent4"/>
          </a:solidFill>
          <a:ln w="12700">
            <a:solidFill>
              <a:schemeClr val="accent4"/>
            </a:solidFill>
            <a:prstDash val="solid"/>
          </a:ln>
        </p:spPr>
      </p:sp>
      <p:sp>
        <p:nvSpPr>
          <p:cNvPr id="33" name="added line 13"/>
          <p:cNvSpPr/>
          <p:nvPr/>
        </p:nvSpPr>
        <p:spPr>
          <a:xfrm>
            <a:off x="502920" y="4169664"/>
            <a:ext cx="7178040" cy="233172"/>
          </a:xfrm>
          <a:prstGeom prst="rect">
            <a:avLst/>
          </a:prstGeom>
          <a:solidFill>
            <a:schemeClr val="accent4"/>
          </a:solidFill>
          <a:ln w="12700">
            <a:solidFill>
              <a:schemeClr val="accent4"/>
            </a:solidFill>
            <a:prstDash val="solid"/>
          </a:ln>
        </p:spPr>
      </p:sp>
      <p:sp>
        <p:nvSpPr>
          <p:cNvPr id="34" name="added line 14"/>
          <p:cNvSpPr/>
          <p:nvPr/>
        </p:nvSpPr>
        <p:spPr>
          <a:xfrm>
            <a:off x="502920" y="4402836"/>
            <a:ext cx="7178040" cy="233172"/>
          </a:xfrm>
          <a:prstGeom prst="rect">
            <a:avLst/>
          </a:prstGeom>
          <a:solidFill>
            <a:schemeClr val="accent4"/>
          </a:solidFill>
          <a:ln w="12700">
            <a:solidFill>
              <a:schemeClr val="accent4"/>
            </a:solidFill>
            <a:prstDash val="solid"/>
          </a:ln>
        </p:spPr>
      </p:sp>
      <p:sp>
        <p:nvSpPr>
          <p:cNvPr id="35" name="added line 15"/>
          <p:cNvSpPr/>
          <p:nvPr/>
        </p:nvSpPr>
        <p:spPr>
          <a:xfrm>
            <a:off x="502920" y="4636008"/>
            <a:ext cx="7178040" cy="233172"/>
          </a:xfrm>
          <a:prstGeom prst="rect">
            <a:avLst/>
          </a:prstGeom>
          <a:solidFill>
            <a:schemeClr val="accent4"/>
          </a:solidFill>
          <a:ln w="12700">
            <a:solidFill>
              <a:schemeClr val="accent4"/>
            </a:solidFill>
            <a:prstDash val="solid"/>
          </a:ln>
        </p:spPr>
      </p:sp>
      <p:sp>
        <p:nvSpPr>
          <p:cNvPr id="36" name="added line 16"/>
          <p:cNvSpPr/>
          <p:nvPr/>
        </p:nvSpPr>
        <p:spPr>
          <a:xfrm>
            <a:off x="502920" y="4869180"/>
            <a:ext cx="7178040" cy="233172"/>
          </a:xfrm>
          <a:prstGeom prst="rect">
            <a:avLst/>
          </a:prstGeom>
          <a:solidFill>
            <a:schemeClr val="accent4"/>
          </a:solidFill>
          <a:ln w="12700">
            <a:solidFill>
              <a:schemeClr val="accent4"/>
            </a:solidFill>
            <a:prstDash val="solid"/>
          </a:ln>
        </p:spPr>
      </p:sp>
      <p:sp>
        <p:nvSpPr>
          <p:cNvPr id="37" name="added line 17"/>
          <p:cNvSpPr/>
          <p:nvPr/>
        </p:nvSpPr>
        <p:spPr>
          <a:xfrm>
            <a:off x="502920" y="5102352"/>
            <a:ext cx="7178040" cy="233172"/>
          </a:xfrm>
          <a:prstGeom prst="rect">
            <a:avLst/>
          </a:prstGeom>
          <a:solidFill>
            <a:schemeClr val="accent4"/>
          </a:solidFill>
          <a:ln w="12700">
            <a:solidFill>
              <a:schemeClr val="accent4"/>
            </a:solidFill>
            <a:prstDash val="solid"/>
          </a:ln>
        </p:spPr>
      </p:sp>
      <p:sp>
        <p:nvSpPr>
          <p:cNvPr id="38" name="diff gutter"/>
          <p:cNvSpPr txBox="1"/>
          <p:nvPr/>
        </p:nvSpPr>
        <p:spPr>
          <a:xfrm>
            <a:off x="576072" y="1371600"/>
            <a:ext cx="228600" cy="3963924"/>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9" name="code"/>
          <p:cNvSpPr txBox="1"/>
          <p:nvPr/>
        </p:nvSpPr>
        <p:spPr>
          <a:xfrm>
            <a:off x="850392" y="1371600"/>
            <a:ext cx="6812280" cy="3963924"/>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void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latency_once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double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per_sec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vector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&gt;&amp;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const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gap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static_cast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e9</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per_sec</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thread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producer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([&amp;]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wait for the send time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i="1" dirty="0">
                <a:solidFill>
                  <a:srgbClr val="7D8B9C"/>
                </a:solidFill>
                <a:latin typeface="Consolas" pitchFamily="34" charset="0"/>
                <a:ea typeface="Consolas" pitchFamily="34" charset="-122"/>
                <a:cs typeface="Consolas" pitchFamily="34" charset="-120"/>
              </a:rPr>
              <a:t>// the message: its send time</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next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gap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sent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pop</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q</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out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push_back</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sent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producer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join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40" name="Text 38"/>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1" name="Text 39"/>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Full speed only measures the backlog</a:t>
            </a:r>
            <a:endParaRPr lang="en-US" sz="1600" dirty="0"/>
          </a:p>
        </p:txBody>
      </p:sp>
      <p:sp>
        <p:nvSpPr>
          <p:cNvPr id="42"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3"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latency at 500k msg/s, p50</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mutex queue:   5-10 us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SPSC ring:   &lt; 1 us (reads 0)</a:t>
            </a:r>
            <a:endParaRPr lang="en-US" sz="1200" dirty="0"/>
          </a:p>
        </p:txBody>
      </p:sp>
      <p:sp>
        <p:nvSpPr>
          <p:cNvPr id="44" name="Text 42"/>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45"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7"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throughput_once() (not shown) pushes as fast as it can and counts messages per second.</a:t>
            </a:r>
            <a:endParaRPr lang="en-US" sz="1400" dirty="0"/>
          </a:p>
        </p:txBody>
      </p:sp>
      <p:sp>
        <p:nvSpPr>
          <p:cNvPr id="48"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9" name="Text 47"/>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50"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latency_once() paces the producer: one message every 'gap' nanoseconds, and each message carries the time it was sent.</a:t>
            </a:r>
            <a:endParaRPr lang="en-US" sz="1400" dirty="0"/>
          </a:p>
        </p:txBody>
      </p:sp>
      <p:sp>
        <p:nvSpPr>
          <p:cNvPr id="51"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52" name="Text 50"/>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3" name="explanation 3"/>
          <p:cNvSpPr txBox="1"/>
          <p:nvPr/>
        </p:nvSpPr>
        <p:spPr>
          <a:xfrm>
            <a:off x="8430768" y="3950208"/>
            <a:ext cx="3337560" cy="106680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consumer subtracts that send time from the time it received the message. At full speed this would measure how long messages sat queued, not how fast the queue is.</a:t>
            </a:r>
            <a:endParaRPr lang="en-US" sz="1400" dirty="0"/>
          </a:p>
        </p:txBody>
      </p:sp>
      <p:sp>
        <p:nvSpPr>
          <p:cNvPr id="54" name="tag latency"/>
          <p:cNvSpPr/>
          <p:nvPr/>
        </p:nvSpPr>
        <p:spPr>
          <a:xfrm>
            <a:off x="2606040" y="6510528"/>
            <a:ext cx="818388" cy="256032"/>
          </a:xfrm>
          <a:prstGeom prst="roundRect">
            <a:avLst>
              <a:gd name="adj" fmla="val 50000"/>
            </a:avLst>
          </a:prstGeom>
          <a:solidFill>
            <a:schemeClr val="tx1"/>
          </a:solidFill>
          <a:ln w="12700">
            <a:solidFill>
              <a:schemeClr val="accent3"/>
            </a:solidFill>
            <a:prstDash val="solid"/>
          </a:ln>
        </p:spPr>
      </p:sp>
      <p:sp>
        <p:nvSpPr>
          <p:cNvPr id="55" name="Text 53"/>
          <p:cNvSpPr txBox="1"/>
          <p:nvPr/>
        </p:nvSpPr>
        <p:spPr>
          <a:xfrm>
            <a:off x="2606040" y="6510528"/>
            <a:ext cx="818388" cy="256032"/>
          </a:xfrm>
          <a:prstGeom prst="rect">
            <a:avLst/>
          </a:prstGeom>
          <a:noFill/>
          <a:ln/>
        </p:spPr>
        <p:txBody>
          <a:bodyPr wrap="square" lIns="0" tIns="0" rIns="0" bIns="0" rtlCol="0" anchor="ctr"/>
          <a:lstStyle/>
          <a:p>
            <a:pPr algn="ctr" indent="0" marL="0">
              <a:buNone/>
            </a:pPr>
            <a:r>
              <a:rPr lang="en-US" sz="1100" dirty="0">
                <a:solidFill>
                  <a:schemeClr val="accent3"/>
                </a:solidFill>
              </a:rPr>
              <a:t>latency</a:t>
            </a:r>
            <a:endParaRPr lang="en-US" sz="1100" dirty="0"/>
          </a:p>
        </p:txBody>
      </p:sp>
      <p:sp>
        <p:nvSpPr>
          <p:cNvPr id="56" name="tag pacing"/>
          <p:cNvSpPr/>
          <p:nvPr/>
        </p:nvSpPr>
        <p:spPr>
          <a:xfrm>
            <a:off x="3515868" y="6510528"/>
            <a:ext cx="740664" cy="256032"/>
          </a:xfrm>
          <a:prstGeom prst="roundRect">
            <a:avLst>
              <a:gd name="adj" fmla="val 50000"/>
            </a:avLst>
          </a:prstGeom>
          <a:solidFill>
            <a:schemeClr val="tx1"/>
          </a:solidFill>
          <a:ln w="12700">
            <a:solidFill>
              <a:schemeClr val="accent3"/>
            </a:solidFill>
            <a:prstDash val="solid"/>
          </a:ln>
        </p:spPr>
      </p:sp>
      <p:sp>
        <p:nvSpPr>
          <p:cNvPr id="57" name="Text 55"/>
          <p:cNvSpPr txBox="1"/>
          <p:nvPr/>
        </p:nvSpPr>
        <p:spPr>
          <a:xfrm>
            <a:off x="3515868" y="6510528"/>
            <a:ext cx="740664" cy="256032"/>
          </a:xfrm>
          <a:prstGeom prst="rect">
            <a:avLst/>
          </a:prstGeom>
          <a:noFill/>
          <a:ln/>
        </p:spPr>
        <p:txBody>
          <a:bodyPr wrap="square" lIns="0" tIns="0" rIns="0" bIns="0" rtlCol="0" anchor="ctr"/>
          <a:lstStyle/>
          <a:p>
            <a:pPr algn="ctr" indent="0" marL="0">
              <a:buNone/>
            </a:pPr>
            <a:r>
              <a:rPr lang="en-US" sz="1100" dirty="0">
                <a:solidFill>
                  <a:schemeClr val="accent3"/>
                </a:solidFill>
              </a:rPr>
              <a:t>pacing</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Warm up, repeat, take the median</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done"/>
          <p:cNvSpPr/>
          <p:nvPr/>
        </p:nvSpPr>
        <p:spPr>
          <a:xfrm>
            <a:off x="11256264" y="411480"/>
            <a:ext cx="118872" cy="118872"/>
          </a:xfrm>
          <a:prstGeom prst="ellipse">
            <a:avLst/>
          </a:prstGeom>
          <a:solidFill>
            <a:schemeClr val="bg2"/>
          </a:solidFill>
          <a:ln w="12700">
            <a:solidFill>
              <a:schemeClr val="bg2"/>
            </a:solidFill>
            <a:prstDash val="solid"/>
          </a:ln>
        </p:spPr>
      </p:sp>
      <p:sp>
        <p:nvSpPr>
          <p:cNvPr id="16" name="progress done"/>
          <p:cNvSpPr/>
          <p:nvPr/>
        </p:nvSpPr>
        <p:spPr>
          <a:xfrm>
            <a:off x="11489436" y="411480"/>
            <a:ext cx="118872" cy="118872"/>
          </a:xfrm>
          <a:prstGeom prst="ellipse">
            <a:avLst/>
          </a:prstGeom>
          <a:solidFill>
            <a:schemeClr val="bg2"/>
          </a:solidFill>
          <a:ln w="12700">
            <a:solidFill>
              <a:schemeClr val="bg2"/>
            </a:solidFill>
            <a:prstDash val="solid"/>
          </a:ln>
        </p:spPr>
      </p:sp>
      <p:sp>
        <p:nvSpPr>
          <p:cNvPr id="17" name="progress current"/>
          <p:cNvSpPr/>
          <p:nvPr/>
        </p:nvSpPr>
        <p:spPr>
          <a:xfrm>
            <a:off x="11695176" y="384048"/>
            <a:ext cx="173736" cy="173736"/>
          </a:xfrm>
          <a:prstGeom prst="ellipse">
            <a:avLst/>
          </a:prstGeom>
          <a:solidFill>
            <a:schemeClr val="accent3"/>
          </a:solidFill>
          <a:ln w="12700">
            <a:solidFill>
              <a:schemeClr val="accent3"/>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v14</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Benchmark harness</a:t>
            </a:r>
            <a:pPr indent="0" marL="0">
              <a:buNone/>
            </a:pPr>
            <a:r>
              <a:rPr lang="en-US" sz="1400" dirty="0">
                <a:solidFill>
                  <a:schemeClr val="bg2"/>
                </a:solidFill>
                <a:latin typeface="Consolas" pitchFamily="34" charset="0"/>
                <a:ea typeface="Consolas" pitchFamily="34" charset="-122"/>
                <a:cs typeface="Consolas" pitchFamily="34" charset="-120"/>
              </a:rPr>
              <a:t>   ·   bench.hpp · 2 of 3</a:t>
            </a:r>
            <a:endParaRPr lang="en-US" sz="1400" dirty="0"/>
          </a:p>
        </p:txBody>
      </p:sp>
      <p:sp>
        <p:nvSpPr>
          <p:cNvPr id="21" name="added line 1"/>
          <p:cNvSpPr/>
          <p:nvPr/>
        </p:nvSpPr>
        <p:spPr>
          <a:xfrm>
            <a:off x="502920" y="1371600"/>
            <a:ext cx="7178040" cy="219456"/>
          </a:xfrm>
          <a:prstGeom prst="rect">
            <a:avLst/>
          </a:prstGeom>
          <a:solidFill>
            <a:schemeClr val="accent4"/>
          </a:solidFill>
          <a:ln w="12700">
            <a:solidFill>
              <a:schemeClr val="accent4"/>
            </a:solidFill>
            <a:prstDash val="solid"/>
          </a:ln>
        </p:spPr>
      </p:sp>
      <p:sp>
        <p:nvSpPr>
          <p:cNvPr id="22" name="added line 2"/>
          <p:cNvSpPr/>
          <p:nvPr/>
        </p:nvSpPr>
        <p:spPr>
          <a:xfrm>
            <a:off x="502920" y="1591056"/>
            <a:ext cx="7178040" cy="219456"/>
          </a:xfrm>
          <a:prstGeom prst="rect">
            <a:avLst/>
          </a:prstGeom>
          <a:solidFill>
            <a:schemeClr val="accent4"/>
          </a:solidFill>
          <a:ln w="12700">
            <a:solidFill>
              <a:schemeClr val="accent4"/>
            </a:solidFill>
            <a:prstDash val="solid"/>
          </a:ln>
        </p:spPr>
      </p:sp>
      <p:sp>
        <p:nvSpPr>
          <p:cNvPr id="23" name="added line 3"/>
          <p:cNvSpPr/>
          <p:nvPr/>
        </p:nvSpPr>
        <p:spPr>
          <a:xfrm>
            <a:off x="502920" y="1810512"/>
            <a:ext cx="7178040" cy="219456"/>
          </a:xfrm>
          <a:prstGeom prst="rect">
            <a:avLst/>
          </a:prstGeom>
          <a:solidFill>
            <a:schemeClr val="accent4"/>
          </a:solidFill>
          <a:ln w="12700">
            <a:solidFill>
              <a:schemeClr val="accent4"/>
            </a:solidFill>
            <a:prstDash val="solid"/>
          </a:ln>
        </p:spPr>
      </p:sp>
      <p:sp>
        <p:nvSpPr>
          <p:cNvPr id="24" name="added line 4"/>
          <p:cNvSpPr/>
          <p:nvPr/>
        </p:nvSpPr>
        <p:spPr>
          <a:xfrm>
            <a:off x="502920" y="2029968"/>
            <a:ext cx="7178040" cy="219456"/>
          </a:xfrm>
          <a:prstGeom prst="rect">
            <a:avLst/>
          </a:prstGeom>
          <a:solidFill>
            <a:schemeClr val="accent4"/>
          </a:solidFill>
          <a:ln w="12700">
            <a:solidFill>
              <a:schemeClr val="accent4"/>
            </a:solidFill>
            <a:prstDash val="solid"/>
          </a:ln>
        </p:spPr>
      </p:sp>
      <p:sp>
        <p:nvSpPr>
          <p:cNvPr id="25" name="added line 5"/>
          <p:cNvSpPr/>
          <p:nvPr/>
        </p:nvSpPr>
        <p:spPr>
          <a:xfrm>
            <a:off x="502920" y="2249424"/>
            <a:ext cx="7178040" cy="219456"/>
          </a:xfrm>
          <a:prstGeom prst="rect">
            <a:avLst/>
          </a:prstGeom>
          <a:solidFill>
            <a:schemeClr val="accent4"/>
          </a:solidFill>
          <a:ln w="12700">
            <a:solidFill>
              <a:schemeClr val="accent4"/>
            </a:solidFill>
            <a:prstDash val="solid"/>
          </a:ln>
        </p:spPr>
      </p:sp>
      <p:sp>
        <p:nvSpPr>
          <p:cNvPr id="26" name="added line 6"/>
          <p:cNvSpPr/>
          <p:nvPr/>
        </p:nvSpPr>
        <p:spPr>
          <a:xfrm>
            <a:off x="502920" y="2468880"/>
            <a:ext cx="7178040" cy="219456"/>
          </a:xfrm>
          <a:prstGeom prst="rect">
            <a:avLst/>
          </a:prstGeom>
          <a:solidFill>
            <a:schemeClr val="accent4"/>
          </a:solidFill>
          <a:ln w="12700">
            <a:solidFill>
              <a:schemeClr val="accent4"/>
            </a:solidFill>
            <a:prstDash val="solid"/>
          </a:ln>
        </p:spPr>
      </p:sp>
      <p:sp>
        <p:nvSpPr>
          <p:cNvPr id="27" name="added line 7"/>
          <p:cNvSpPr/>
          <p:nvPr/>
        </p:nvSpPr>
        <p:spPr>
          <a:xfrm>
            <a:off x="502920" y="2688336"/>
            <a:ext cx="7178040" cy="219456"/>
          </a:xfrm>
          <a:prstGeom prst="rect">
            <a:avLst/>
          </a:prstGeom>
          <a:solidFill>
            <a:schemeClr val="accent4"/>
          </a:solidFill>
          <a:ln w="12700">
            <a:solidFill>
              <a:schemeClr val="accent4"/>
            </a:solidFill>
            <a:prstDash val="solid"/>
          </a:ln>
        </p:spPr>
      </p:sp>
      <p:sp>
        <p:nvSpPr>
          <p:cNvPr id="28" name="added line 8"/>
          <p:cNvSpPr/>
          <p:nvPr/>
        </p:nvSpPr>
        <p:spPr>
          <a:xfrm>
            <a:off x="502920" y="2907792"/>
            <a:ext cx="7178040" cy="219456"/>
          </a:xfrm>
          <a:prstGeom prst="rect">
            <a:avLst/>
          </a:prstGeom>
          <a:solidFill>
            <a:schemeClr val="accent4"/>
          </a:solidFill>
          <a:ln w="12700">
            <a:solidFill>
              <a:schemeClr val="accent4"/>
            </a:solidFill>
            <a:prstDash val="solid"/>
          </a:ln>
        </p:spPr>
      </p:sp>
      <p:sp>
        <p:nvSpPr>
          <p:cNvPr id="29" name="added line 9"/>
          <p:cNvSpPr/>
          <p:nvPr/>
        </p:nvSpPr>
        <p:spPr>
          <a:xfrm>
            <a:off x="502920" y="3127248"/>
            <a:ext cx="7178040" cy="219456"/>
          </a:xfrm>
          <a:prstGeom prst="rect">
            <a:avLst/>
          </a:prstGeom>
          <a:solidFill>
            <a:schemeClr val="accent4"/>
          </a:solidFill>
          <a:ln w="12700">
            <a:solidFill>
              <a:schemeClr val="accent4"/>
            </a:solidFill>
            <a:prstDash val="solid"/>
          </a:ln>
        </p:spPr>
      </p:sp>
      <p:sp>
        <p:nvSpPr>
          <p:cNvPr id="30" name="added line 10"/>
          <p:cNvSpPr/>
          <p:nvPr/>
        </p:nvSpPr>
        <p:spPr>
          <a:xfrm>
            <a:off x="502920" y="3346704"/>
            <a:ext cx="7178040" cy="219456"/>
          </a:xfrm>
          <a:prstGeom prst="rect">
            <a:avLst/>
          </a:prstGeom>
          <a:solidFill>
            <a:schemeClr val="accent4"/>
          </a:solidFill>
          <a:ln w="12700">
            <a:solidFill>
              <a:schemeClr val="accent4"/>
            </a:solidFill>
            <a:prstDash val="solid"/>
          </a:ln>
        </p:spPr>
      </p:sp>
      <p:sp>
        <p:nvSpPr>
          <p:cNvPr id="31" name="added line 11"/>
          <p:cNvSpPr/>
          <p:nvPr/>
        </p:nvSpPr>
        <p:spPr>
          <a:xfrm>
            <a:off x="502920" y="3566160"/>
            <a:ext cx="7178040" cy="219456"/>
          </a:xfrm>
          <a:prstGeom prst="rect">
            <a:avLst/>
          </a:prstGeom>
          <a:solidFill>
            <a:schemeClr val="accent4"/>
          </a:solidFill>
          <a:ln w="12700">
            <a:solidFill>
              <a:schemeClr val="accent4"/>
            </a:solidFill>
            <a:prstDash val="solid"/>
          </a:ln>
        </p:spPr>
      </p:sp>
      <p:sp>
        <p:nvSpPr>
          <p:cNvPr id="32" name="added line 12"/>
          <p:cNvSpPr/>
          <p:nvPr/>
        </p:nvSpPr>
        <p:spPr>
          <a:xfrm>
            <a:off x="502920" y="3785616"/>
            <a:ext cx="7178040" cy="219456"/>
          </a:xfrm>
          <a:prstGeom prst="rect">
            <a:avLst/>
          </a:prstGeom>
          <a:solidFill>
            <a:schemeClr val="accent4"/>
          </a:solidFill>
          <a:ln w="12700">
            <a:solidFill>
              <a:schemeClr val="accent4"/>
            </a:solidFill>
            <a:prstDash val="solid"/>
          </a:ln>
        </p:spPr>
      </p:sp>
      <p:sp>
        <p:nvSpPr>
          <p:cNvPr id="33" name="added line 13"/>
          <p:cNvSpPr/>
          <p:nvPr/>
        </p:nvSpPr>
        <p:spPr>
          <a:xfrm>
            <a:off x="502920" y="4005072"/>
            <a:ext cx="7178040" cy="219456"/>
          </a:xfrm>
          <a:prstGeom prst="rect">
            <a:avLst/>
          </a:prstGeom>
          <a:solidFill>
            <a:schemeClr val="accent4"/>
          </a:solidFill>
          <a:ln w="12700">
            <a:solidFill>
              <a:schemeClr val="accent4"/>
            </a:solidFill>
            <a:prstDash val="solid"/>
          </a:ln>
        </p:spPr>
      </p:sp>
      <p:sp>
        <p:nvSpPr>
          <p:cNvPr id="34" name="added line 14"/>
          <p:cNvSpPr/>
          <p:nvPr/>
        </p:nvSpPr>
        <p:spPr>
          <a:xfrm>
            <a:off x="502920" y="4224528"/>
            <a:ext cx="7178040" cy="219456"/>
          </a:xfrm>
          <a:prstGeom prst="rect">
            <a:avLst/>
          </a:prstGeom>
          <a:solidFill>
            <a:schemeClr val="accent4"/>
          </a:solidFill>
          <a:ln w="12700">
            <a:solidFill>
              <a:schemeClr val="accent4"/>
            </a:solidFill>
            <a:prstDash val="solid"/>
          </a:ln>
        </p:spPr>
      </p:sp>
      <p:sp>
        <p:nvSpPr>
          <p:cNvPr id="35" name="added line 15"/>
          <p:cNvSpPr/>
          <p:nvPr/>
        </p:nvSpPr>
        <p:spPr>
          <a:xfrm>
            <a:off x="502920" y="4443984"/>
            <a:ext cx="7178040" cy="219456"/>
          </a:xfrm>
          <a:prstGeom prst="rect">
            <a:avLst/>
          </a:prstGeom>
          <a:solidFill>
            <a:schemeClr val="accent4"/>
          </a:solidFill>
          <a:ln w="12700">
            <a:solidFill>
              <a:schemeClr val="accent4"/>
            </a:solidFill>
            <a:prstDash val="solid"/>
          </a:ln>
        </p:spPr>
      </p:sp>
      <p:sp>
        <p:nvSpPr>
          <p:cNvPr id="36" name="added line 16"/>
          <p:cNvSpPr/>
          <p:nvPr/>
        </p:nvSpPr>
        <p:spPr>
          <a:xfrm>
            <a:off x="502920" y="4663440"/>
            <a:ext cx="7178040" cy="219456"/>
          </a:xfrm>
          <a:prstGeom prst="rect">
            <a:avLst/>
          </a:prstGeom>
          <a:solidFill>
            <a:schemeClr val="accent4"/>
          </a:solidFill>
          <a:ln w="12700">
            <a:solidFill>
              <a:schemeClr val="accent4"/>
            </a:solidFill>
            <a:prstDash val="solid"/>
          </a:ln>
        </p:spPr>
      </p:sp>
      <p:sp>
        <p:nvSpPr>
          <p:cNvPr id="37" name="added line 17"/>
          <p:cNvSpPr/>
          <p:nvPr/>
        </p:nvSpPr>
        <p:spPr>
          <a:xfrm>
            <a:off x="502920" y="4882896"/>
            <a:ext cx="7178040" cy="219456"/>
          </a:xfrm>
          <a:prstGeom prst="rect">
            <a:avLst/>
          </a:prstGeom>
          <a:solidFill>
            <a:schemeClr val="accent4"/>
          </a:solidFill>
          <a:ln w="12700">
            <a:solidFill>
              <a:schemeClr val="accent4"/>
            </a:solidFill>
            <a:prstDash val="solid"/>
          </a:ln>
        </p:spPr>
      </p:sp>
      <p:sp>
        <p:nvSpPr>
          <p:cNvPr id="38" name="added line 18"/>
          <p:cNvSpPr/>
          <p:nvPr/>
        </p:nvSpPr>
        <p:spPr>
          <a:xfrm>
            <a:off x="502920" y="5102352"/>
            <a:ext cx="7178040" cy="219456"/>
          </a:xfrm>
          <a:prstGeom prst="rect">
            <a:avLst/>
          </a:prstGeom>
          <a:solidFill>
            <a:schemeClr val="accent4"/>
          </a:solidFill>
          <a:ln w="12700">
            <a:solidFill>
              <a:schemeClr val="accent4"/>
            </a:solidFill>
            <a:prstDash val="solid"/>
          </a:ln>
        </p:spPr>
      </p:sp>
      <p:sp>
        <p:nvSpPr>
          <p:cNvPr id="39" name="added line 19"/>
          <p:cNvSpPr/>
          <p:nvPr/>
        </p:nvSpPr>
        <p:spPr>
          <a:xfrm>
            <a:off x="502920" y="5321808"/>
            <a:ext cx="7178040" cy="219456"/>
          </a:xfrm>
          <a:prstGeom prst="rect">
            <a:avLst/>
          </a:prstGeom>
          <a:solidFill>
            <a:schemeClr val="accent4"/>
          </a:solidFill>
          <a:ln w="12700">
            <a:solidFill>
              <a:schemeClr val="accent4"/>
            </a:solidFill>
            <a:prstDash val="solid"/>
          </a:ln>
        </p:spPr>
      </p:sp>
      <p:sp>
        <p:nvSpPr>
          <p:cNvPr id="40" name="added line 20"/>
          <p:cNvSpPr/>
          <p:nvPr/>
        </p:nvSpPr>
        <p:spPr>
          <a:xfrm>
            <a:off x="502920" y="5541264"/>
            <a:ext cx="7178040" cy="219456"/>
          </a:xfrm>
          <a:prstGeom prst="rect">
            <a:avLst/>
          </a:prstGeom>
          <a:solidFill>
            <a:schemeClr val="accent4"/>
          </a:solidFill>
          <a:ln w="12700">
            <a:solidFill>
              <a:schemeClr val="accent4"/>
            </a:solidFill>
            <a:prstDash val="solid"/>
          </a:ln>
        </p:spPr>
      </p:sp>
      <p:sp>
        <p:nvSpPr>
          <p:cNvPr id="41" name="added line 21"/>
          <p:cNvSpPr/>
          <p:nvPr/>
        </p:nvSpPr>
        <p:spPr>
          <a:xfrm>
            <a:off x="502920" y="5760720"/>
            <a:ext cx="7178040" cy="219456"/>
          </a:xfrm>
          <a:prstGeom prst="rect">
            <a:avLst/>
          </a:prstGeom>
          <a:solidFill>
            <a:schemeClr val="accent4"/>
          </a:solidFill>
          <a:ln w="12700">
            <a:solidFill>
              <a:schemeClr val="accent4"/>
            </a:solidFill>
            <a:prstDash val="solid"/>
          </a:ln>
        </p:spPr>
      </p:sp>
      <p:sp>
        <p:nvSpPr>
          <p:cNvPr id="42" name="added line 22"/>
          <p:cNvSpPr/>
          <p:nvPr/>
        </p:nvSpPr>
        <p:spPr>
          <a:xfrm>
            <a:off x="502920" y="5980176"/>
            <a:ext cx="7178040" cy="219456"/>
          </a:xfrm>
          <a:prstGeom prst="rect">
            <a:avLst/>
          </a:prstGeom>
          <a:solidFill>
            <a:schemeClr val="accent4"/>
          </a:solidFill>
          <a:ln w="12700">
            <a:solidFill>
              <a:schemeClr val="accent4"/>
            </a:solidFill>
            <a:prstDash val="solid"/>
          </a:ln>
        </p:spPr>
      </p:sp>
      <p:sp>
        <p:nvSpPr>
          <p:cNvPr id="43" name="diff gutter"/>
          <p:cNvSpPr txBox="1"/>
          <p:nvPr/>
        </p:nvSpPr>
        <p:spPr>
          <a:xfrm>
            <a:off x="576072" y="1371600"/>
            <a:ext cx="228600" cy="4828032"/>
          </a:xfrm>
          <a:prstGeom prst="rect">
            <a:avLst/>
          </a:prstGeom>
          <a:noFill/>
          <a:ln/>
        </p:spPr>
        <p:txBody>
          <a:bodyPr wrap="square" lIns="0" tIns="0" rIns="0" bIns="0" rtlCol="0" anchor="t"/>
          <a:lstStyle/>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44" name="code"/>
          <p:cNvSpPr txBox="1"/>
          <p:nvPr/>
        </p:nvSpPr>
        <p:spPr>
          <a:xfrm>
            <a:off x="850392" y="1371600"/>
            <a:ext cx="6812280" cy="4828032"/>
          </a:xfrm>
          <a:prstGeom prst="rect">
            <a:avLst/>
          </a:prstGeom>
          <a:noFill/>
          <a:ln/>
        </p:spPr>
        <p:txBody>
          <a:bodyPr wrap="square" lIns="0" tIns="0" rIns="0" bIns="0" rtlCol="0" anchor="t"/>
          <a:lstStyle/>
          <a:p>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Result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measure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MakeQueue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make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size_t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runs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double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per_sec</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warm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make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warm-up run, discarded</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throughput_once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warm</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10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vector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double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vector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&lt;</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&gt;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runs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q1</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make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push_back</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throughput_once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q1</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auto</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q2</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make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latency_once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q2</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10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per_sec</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push</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pop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sort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begin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end</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7FDBCA"/>
                </a:solidFill>
                <a:latin typeface="Consolas" pitchFamily="34" charset="0"/>
                <a:ea typeface="Consolas" pitchFamily="34" charset="-122"/>
                <a:cs typeface="Consolas" pitchFamily="34" charset="-120"/>
              </a:rPr>
              <a:t>Result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million_per_sec</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tp</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size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2</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i="1" dirty="0">
                <a:solidFill>
                  <a:srgbClr val="7D8B9C"/>
                </a:solidFill>
                <a:latin typeface="Consolas" pitchFamily="34" charset="0"/>
                <a:ea typeface="Consolas" pitchFamily="34" charset="-122"/>
                <a:cs typeface="Consolas" pitchFamily="34" charset="-120"/>
              </a:rPr>
              <a:t>// the median run</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p50_ns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percentile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50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p99_ns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percentile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99</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p999_ns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728"/>
              </a:lnSpc>
              <a:buNone/>
            </a:pPr>
            <a:r>
              <a:rPr lang="en-US" sz="1300" dirty="0">
                <a:solidFill>
                  <a:srgbClr val="82AAFF"/>
                </a:solidFill>
                <a:latin typeface="Consolas" pitchFamily="34" charset="0"/>
                <a:ea typeface="Consolas" pitchFamily="34" charset="-122"/>
                <a:cs typeface="Consolas" pitchFamily="34" charset="-120"/>
              </a:rPr>
              <a:t>percentile</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lat</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728"/>
              </a:lnSpc>
              <a:buNone/>
            </a:pPr>
            <a:r>
              <a:rPr lang="en-US" sz="1300" dirty="0">
                <a:solidFill>
                  <a:srgbClr val="F78C6C"/>
                </a:solidFill>
                <a:latin typeface="Consolas" pitchFamily="34" charset="0"/>
                <a:ea typeface="Consolas" pitchFamily="34" charset="-122"/>
                <a:cs typeface="Consolas" pitchFamily="34" charset="-120"/>
              </a:rPr>
              <a:t>999</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res</a:t>
            </a:r>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728"/>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45" name="Text 43"/>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46" name="Text 44"/>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One run proves nothing</a:t>
            </a:r>
            <a:endParaRPr lang="en-US" sz="1600" dirty="0"/>
          </a:p>
        </p:txBody>
      </p:sp>
      <p:sp>
        <p:nvSpPr>
          <p:cNvPr id="47" name="terminal"/>
          <p:cNvSpPr/>
          <p:nvPr/>
        </p:nvSpPr>
        <p:spPr>
          <a:xfrm>
            <a:off x="8046720" y="5577840"/>
            <a:ext cx="3749040" cy="868680"/>
          </a:xfrm>
          <a:prstGeom prst="rect">
            <a:avLst/>
          </a:prstGeom>
          <a:solidFill>
            <a:schemeClr val="tx1"/>
          </a:solidFill>
          <a:ln w="9525">
            <a:solidFill>
              <a:schemeClr val="bg2"/>
            </a:solidFill>
            <a:prstDash val="solid"/>
          </a:ln>
        </p:spPr>
      </p:sp>
      <p:sp>
        <p:nvSpPr>
          <p:cNvPr id="48" name="terminal text"/>
          <p:cNvSpPr txBox="1"/>
          <p:nvPr/>
        </p:nvSpPr>
        <p:spPr>
          <a:xfrm>
            <a:off x="8174736" y="5669280"/>
            <a:ext cx="3493008" cy="685800"/>
          </a:xfrm>
          <a:prstGeom prst="rect">
            <a:avLst/>
          </a:prstGeom>
          <a:noFill/>
          <a:ln/>
        </p:spPr>
        <p:txBody>
          <a:bodyPr wrap="square" lIns="0" tIns="0" rIns="0" bIns="0" rtlCol="0" anchor="t"/>
          <a:lstStyle/>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SPSC p99, same code, 8 runs: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12 us ... 1.9 ms</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(scheduler noise, battery power)</a:t>
            </a:r>
            <a:endParaRPr lang="en-US" sz="1200" dirty="0"/>
          </a:p>
        </p:txBody>
      </p:sp>
      <p:sp>
        <p:nvSpPr>
          <p:cNvPr id="49" name="Text 47"/>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50"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51" name="Text 49"/>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52"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A warm-up run comes first and is thrown away: caches, page faults and lazy setup make the first run slower.</a:t>
            </a:r>
            <a:endParaRPr lang="en-US" sz="1400" dirty="0"/>
          </a:p>
        </p:txBody>
      </p:sp>
      <p:sp>
        <p:nvSpPr>
          <p:cNvPr id="53"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54" name="Text 52"/>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55" name="explanation 2"/>
          <p:cNvSpPr txBox="1"/>
          <p:nvPr/>
        </p:nvSpPr>
        <p:spPr>
          <a:xfrm>
            <a:off x="8430768" y="3200400"/>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Five runs follow. Throughput reports the median run, so one lucky or unlucky run can't decide the result.</a:t>
            </a:r>
            <a:endParaRPr lang="en-US" sz="1400" dirty="0"/>
          </a:p>
        </p:txBody>
      </p:sp>
      <p:sp>
        <p:nvSpPr>
          <p:cNvPr id="56" name="step 3"/>
          <p:cNvSpPr/>
          <p:nvPr/>
        </p:nvSpPr>
        <p:spPr>
          <a:xfrm>
            <a:off x="8046720" y="3959352"/>
            <a:ext cx="256032" cy="256032"/>
          </a:xfrm>
          <a:prstGeom prst="ellipse">
            <a:avLst/>
          </a:prstGeom>
          <a:solidFill>
            <a:schemeClr val="tx2"/>
          </a:solidFill>
          <a:ln w="15875">
            <a:solidFill>
              <a:schemeClr val="accent1"/>
            </a:solidFill>
            <a:prstDash val="solid"/>
          </a:ln>
        </p:spPr>
      </p:sp>
      <p:sp>
        <p:nvSpPr>
          <p:cNvPr id="57" name="Text 55"/>
          <p:cNvSpPr txBox="1"/>
          <p:nvPr/>
        </p:nvSpPr>
        <p:spPr>
          <a:xfrm>
            <a:off x="8046720" y="395935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58" name="explanation 3"/>
          <p:cNvSpPr txBox="1"/>
          <p:nvPr/>
        </p:nvSpPr>
        <p:spPr>
          <a:xfrm>
            <a:off x="8430768" y="3950208"/>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Latency is reported as percentiles: p50 is the typical message; p99 and p99.9 are the slow tail a trading system cares about.</a:t>
            </a:r>
            <a:endParaRPr lang="en-US" sz="1400" dirty="0"/>
          </a:p>
        </p:txBody>
      </p:sp>
      <p:sp>
        <p:nvSpPr>
          <p:cNvPr id="59" name="tag percentiles"/>
          <p:cNvSpPr/>
          <p:nvPr/>
        </p:nvSpPr>
        <p:spPr>
          <a:xfrm>
            <a:off x="2606040" y="6510528"/>
            <a:ext cx="1129284" cy="256032"/>
          </a:xfrm>
          <a:prstGeom prst="roundRect">
            <a:avLst>
              <a:gd name="adj" fmla="val 50000"/>
            </a:avLst>
          </a:prstGeom>
          <a:solidFill>
            <a:schemeClr val="tx1"/>
          </a:solidFill>
          <a:ln w="12700">
            <a:solidFill>
              <a:schemeClr val="accent3"/>
            </a:solidFill>
            <a:prstDash val="solid"/>
          </a:ln>
        </p:spPr>
      </p:sp>
      <p:sp>
        <p:nvSpPr>
          <p:cNvPr id="60" name="Text 58"/>
          <p:cNvSpPr txBox="1"/>
          <p:nvPr/>
        </p:nvSpPr>
        <p:spPr>
          <a:xfrm>
            <a:off x="2606040" y="6510528"/>
            <a:ext cx="1129284" cy="256032"/>
          </a:xfrm>
          <a:prstGeom prst="rect">
            <a:avLst/>
          </a:prstGeom>
          <a:noFill/>
          <a:ln/>
        </p:spPr>
        <p:txBody>
          <a:bodyPr wrap="square" lIns="0" tIns="0" rIns="0" bIns="0" rtlCol="0" anchor="ctr"/>
          <a:lstStyle/>
          <a:p>
            <a:pPr algn="ctr" indent="0" marL="0">
              <a:buNone/>
            </a:pPr>
            <a:r>
              <a:rPr lang="en-US" sz="1100" dirty="0">
                <a:solidFill>
                  <a:schemeClr val="accent3"/>
                </a:solidFill>
              </a:rPr>
              <a:t>percentiles</a:t>
            </a:r>
            <a:endParaRPr lang="en-US" sz="1100" dirty="0"/>
          </a:p>
        </p:txBody>
      </p:sp>
      <p:sp>
        <p:nvSpPr>
          <p:cNvPr id="61" name="tag median"/>
          <p:cNvSpPr/>
          <p:nvPr/>
        </p:nvSpPr>
        <p:spPr>
          <a:xfrm>
            <a:off x="3826764" y="6510528"/>
            <a:ext cx="740664" cy="256032"/>
          </a:xfrm>
          <a:prstGeom prst="roundRect">
            <a:avLst>
              <a:gd name="adj" fmla="val 50000"/>
            </a:avLst>
          </a:prstGeom>
          <a:solidFill>
            <a:schemeClr val="tx1"/>
          </a:solidFill>
          <a:ln w="12700">
            <a:solidFill>
              <a:schemeClr val="accent3"/>
            </a:solidFill>
            <a:prstDash val="solid"/>
          </a:ln>
        </p:spPr>
      </p:sp>
      <p:sp>
        <p:nvSpPr>
          <p:cNvPr id="62" name="Text 60"/>
          <p:cNvSpPr txBox="1"/>
          <p:nvPr/>
        </p:nvSpPr>
        <p:spPr>
          <a:xfrm>
            <a:off x="3826764" y="6510528"/>
            <a:ext cx="740664" cy="256032"/>
          </a:xfrm>
          <a:prstGeom prst="rect">
            <a:avLst/>
          </a:prstGeom>
          <a:noFill/>
          <a:ln/>
        </p:spPr>
        <p:txBody>
          <a:bodyPr wrap="square" lIns="0" tIns="0" rIns="0" bIns="0" rtlCol="0" anchor="ctr"/>
          <a:lstStyle/>
          <a:p>
            <a:pPr algn="ctr" indent="0" marL="0">
              <a:buNone/>
            </a:pPr>
            <a:r>
              <a:rPr lang="en-US" sz="1100" dirty="0">
                <a:solidFill>
                  <a:schemeClr val="accent3"/>
                </a:solidFill>
              </a:rPr>
              <a:t>median</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5"/>
          <p:cNvSpPr/>
          <p:nvPr>
            <p:ph idx="105" type="title" hasCustomPrompt="1"/>
          </p:nvPr>
        </p:nvSpPr>
        <p:spPr>
          <a:xfrm>
            <a:off x="411480" y="201168"/>
            <a:ext cx="7772400" cy="566928"/>
          </a:xfrm>
          <a:prstGeom prst="rect">
            <a:avLst/>
          </a:prstGeom>
          <a:noFill/>
          <a:ln/>
        </p:spPr>
        <p:txBody>
          <a:bodyPr wrap="square" lIns="0" tIns="0" rIns="0" bIns="0" rtlCol="0" anchor="ctr"/>
          <a:lstStyle/>
          <a:p>
            <a:pPr algn="l" indent="0" marL="0">
              <a:buNone/>
            </a:pPr>
            <a:r>
              <a:rPr lang="en-US" sz="2600" b="1" dirty="0">
                <a:solidFill>
                  <a:schemeClr val="bg1"/>
                </a:solidFill>
              </a:rPr>
              <a:t>Know what your clock can measure</a:t>
            </a:r>
            <a:endParaRPr lang="en-US" sz="2600" dirty="0"/>
          </a:p>
        </p:txBody>
      </p:sp>
      <p:sp>
        <p:nvSpPr>
          <p:cNvPr id="3" name="progress done"/>
          <p:cNvSpPr/>
          <p:nvPr/>
        </p:nvSpPr>
        <p:spPr>
          <a:xfrm>
            <a:off x="8458200" y="411480"/>
            <a:ext cx="118872" cy="118872"/>
          </a:xfrm>
          <a:prstGeom prst="ellipse">
            <a:avLst/>
          </a:prstGeom>
          <a:solidFill>
            <a:schemeClr val="bg2"/>
          </a:solidFill>
          <a:ln w="12700">
            <a:solidFill>
              <a:schemeClr val="bg2"/>
            </a:solidFill>
            <a:prstDash val="solid"/>
          </a:ln>
        </p:spPr>
      </p:sp>
      <p:sp>
        <p:nvSpPr>
          <p:cNvPr id="4" name="progress done"/>
          <p:cNvSpPr/>
          <p:nvPr/>
        </p:nvSpPr>
        <p:spPr>
          <a:xfrm>
            <a:off x="8691372" y="411480"/>
            <a:ext cx="118872" cy="118872"/>
          </a:xfrm>
          <a:prstGeom prst="ellipse">
            <a:avLst/>
          </a:prstGeom>
          <a:solidFill>
            <a:schemeClr val="bg2"/>
          </a:solidFill>
          <a:ln w="12700">
            <a:solidFill>
              <a:schemeClr val="bg2"/>
            </a:solidFill>
            <a:prstDash val="solid"/>
          </a:ln>
        </p:spPr>
      </p:sp>
      <p:sp>
        <p:nvSpPr>
          <p:cNvPr id="5" name="progress done"/>
          <p:cNvSpPr/>
          <p:nvPr/>
        </p:nvSpPr>
        <p:spPr>
          <a:xfrm>
            <a:off x="8924544" y="411480"/>
            <a:ext cx="118872" cy="118872"/>
          </a:xfrm>
          <a:prstGeom prst="ellipse">
            <a:avLst/>
          </a:prstGeom>
          <a:solidFill>
            <a:schemeClr val="bg2"/>
          </a:solidFill>
          <a:ln w="12700">
            <a:solidFill>
              <a:schemeClr val="bg2"/>
            </a:solidFill>
            <a:prstDash val="solid"/>
          </a:ln>
        </p:spPr>
      </p:sp>
      <p:sp>
        <p:nvSpPr>
          <p:cNvPr id="6" name="progress done"/>
          <p:cNvSpPr/>
          <p:nvPr/>
        </p:nvSpPr>
        <p:spPr>
          <a:xfrm>
            <a:off x="9157716" y="411480"/>
            <a:ext cx="118872" cy="118872"/>
          </a:xfrm>
          <a:prstGeom prst="ellipse">
            <a:avLst/>
          </a:prstGeom>
          <a:solidFill>
            <a:schemeClr val="bg2"/>
          </a:solidFill>
          <a:ln w="12700">
            <a:solidFill>
              <a:schemeClr val="bg2"/>
            </a:solidFill>
            <a:prstDash val="solid"/>
          </a:ln>
        </p:spPr>
      </p:sp>
      <p:sp>
        <p:nvSpPr>
          <p:cNvPr id="7" name="progress done"/>
          <p:cNvSpPr/>
          <p:nvPr/>
        </p:nvSpPr>
        <p:spPr>
          <a:xfrm>
            <a:off x="9390888" y="411480"/>
            <a:ext cx="118872" cy="118872"/>
          </a:xfrm>
          <a:prstGeom prst="ellipse">
            <a:avLst/>
          </a:prstGeom>
          <a:solidFill>
            <a:schemeClr val="bg2"/>
          </a:solidFill>
          <a:ln w="12700">
            <a:solidFill>
              <a:schemeClr val="bg2"/>
            </a:solidFill>
            <a:prstDash val="solid"/>
          </a:ln>
        </p:spPr>
      </p:sp>
      <p:sp>
        <p:nvSpPr>
          <p:cNvPr id="8" name="progress done"/>
          <p:cNvSpPr/>
          <p:nvPr/>
        </p:nvSpPr>
        <p:spPr>
          <a:xfrm>
            <a:off x="9624060" y="411480"/>
            <a:ext cx="118872" cy="118872"/>
          </a:xfrm>
          <a:prstGeom prst="ellipse">
            <a:avLst/>
          </a:prstGeom>
          <a:solidFill>
            <a:schemeClr val="bg2"/>
          </a:solidFill>
          <a:ln w="12700">
            <a:solidFill>
              <a:schemeClr val="bg2"/>
            </a:solidFill>
            <a:prstDash val="solid"/>
          </a:ln>
        </p:spPr>
      </p:sp>
      <p:sp>
        <p:nvSpPr>
          <p:cNvPr id="9" name="progress done"/>
          <p:cNvSpPr/>
          <p:nvPr/>
        </p:nvSpPr>
        <p:spPr>
          <a:xfrm>
            <a:off x="9857232" y="411480"/>
            <a:ext cx="118872" cy="118872"/>
          </a:xfrm>
          <a:prstGeom prst="ellipse">
            <a:avLst/>
          </a:prstGeom>
          <a:solidFill>
            <a:schemeClr val="bg2"/>
          </a:solidFill>
          <a:ln w="12700">
            <a:solidFill>
              <a:schemeClr val="bg2"/>
            </a:solidFill>
            <a:prstDash val="solid"/>
          </a:ln>
        </p:spPr>
      </p:sp>
      <p:sp>
        <p:nvSpPr>
          <p:cNvPr id="10" name="progress done"/>
          <p:cNvSpPr/>
          <p:nvPr/>
        </p:nvSpPr>
        <p:spPr>
          <a:xfrm>
            <a:off x="10090404" y="411480"/>
            <a:ext cx="118872" cy="118872"/>
          </a:xfrm>
          <a:prstGeom prst="ellipse">
            <a:avLst/>
          </a:prstGeom>
          <a:solidFill>
            <a:schemeClr val="bg2"/>
          </a:solidFill>
          <a:ln w="12700">
            <a:solidFill>
              <a:schemeClr val="bg2"/>
            </a:solidFill>
            <a:prstDash val="solid"/>
          </a:ln>
        </p:spPr>
      </p:sp>
      <p:sp>
        <p:nvSpPr>
          <p:cNvPr id="11" name="progress done"/>
          <p:cNvSpPr/>
          <p:nvPr/>
        </p:nvSpPr>
        <p:spPr>
          <a:xfrm>
            <a:off x="10323576" y="411480"/>
            <a:ext cx="118872" cy="118872"/>
          </a:xfrm>
          <a:prstGeom prst="ellipse">
            <a:avLst/>
          </a:prstGeom>
          <a:solidFill>
            <a:schemeClr val="bg2"/>
          </a:solidFill>
          <a:ln w="12700">
            <a:solidFill>
              <a:schemeClr val="bg2"/>
            </a:solidFill>
            <a:prstDash val="solid"/>
          </a:ln>
        </p:spPr>
      </p:sp>
      <p:sp>
        <p:nvSpPr>
          <p:cNvPr id="12" name="progress done"/>
          <p:cNvSpPr/>
          <p:nvPr/>
        </p:nvSpPr>
        <p:spPr>
          <a:xfrm>
            <a:off x="10556748" y="411480"/>
            <a:ext cx="118872" cy="118872"/>
          </a:xfrm>
          <a:prstGeom prst="ellipse">
            <a:avLst/>
          </a:prstGeom>
          <a:solidFill>
            <a:schemeClr val="bg2"/>
          </a:solidFill>
          <a:ln w="12700">
            <a:solidFill>
              <a:schemeClr val="bg2"/>
            </a:solidFill>
            <a:prstDash val="solid"/>
          </a:ln>
        </p:spPr>
      </p:sp>
      <p:sp>
        <p:nvSpPr>
          <p:cNvPr id="13" name="progress done"/>
          <p:cNvSpPr/>
          <p:nvPr/>
        </p:nvSpPr>
        <p:spPr>
          <a:xfrm>
            <a:off x="10789920" y="411480"/>
            <a:ext cx="118872" cy="118872"/>
          </a:xfrm>
          <a:prstGeom prst="ellipse">
            <a:avLst/>
          </a:prstGeom>
          <a:solidFill>
            <a:schemeClr val="bg2"/>
          </a:solidFill>
          <a:ln w="12700">
            <a:solidFill>
              <a:schemeClr val="bg2"/>
            </a:solidFill>
            <a:prstDash val="solid"/>
          </a:ln>
        </p:spPr>
      </p:sp>
      <p:sp>
        <p:nvSpPr>
          <p:cNvPr id="14" name="progress done"/>
          <p:cNvSpPr/>
          <p:nvPr/>
        </p:nvSpPr>
        <p:spPr>
          <a:xfrm>
            <a:off x="11023092" y="411480"/>
            <a:ext cx="118872" cy="118872"/>
          </a:xfrm>
          <a:prstGeom prst="ellipse">
            <a:avLst/>
          </a:prstGeom>
          <a:solidFill>
            <a:schemeClr val="bg2"/>
          </a:solidFill>
          <a:ln w="12700">
            <a:solidFill>
              <a:schemeClr val="bg2"/>
            </a:solidFill>
            <a:prstDash val="solid"/>
          </a:ln>
        </p:spPr>
      </p:sp>
      <p:sp>
        <p:nvSpPr>
          <p:cNvPr id="15" name="progress done"/>
          <p:cNvSpPr/>
          <p:nvPr/>
        </p:nvSpPr>
        <p:spPr>
          <a:xfrm>
            <a:off x="11256264" y="411480"/>
            <a:ext cx="118872" cy="118872"/>
          </a:xfrm>
          <a:prstGeom prst="ellipse">
            <a:avLst/>
          </a:prstGeom>
          <a:solidFill>
            <a:schemeClr val="bg2"/>
          </a:solidFill>
          <a:ln w="12700">
            <a:solidFill>
              <a:schemeClr val="bg2"/>
            </a:solidFill>
            <a:prstDash val="solid"/>
          </a:ln>
        </p:spPr>
      </p:sp>
      <p:sp>
        <p:nvSpPr>
          <p:cNvPr id="16" name="progress done"/>
          <p:cNvSpPr/>
          <p:nvPr/>
        </p:nvSpPr>
        <p:spPr>
          <a:xfrm>
            <a:off x="11489436" y="411480"/>
            <a:ext cx="118872" cy="118872"/>
          </a:xfrm>
          <a:prstGeom prst="ellipse">
            <a:avLst/>
          </a:prstGeom>
          <a:solidFill>
            <a:schemeClr val="bg2"/>
          </a:solidFill>
          <a:ln w="12700">
            <a:solidFill>
              <a:schemeClr val="bg2"/>
            </a:solidFill>
            <a:prstDash val="solid"/>
          </a:ln>
        </p:spPr>
      </p:sp>
      <p:sp>
        <p:nvSpPr>
          <p:cNvPr id="17" name="progress current"/>
          <p:cNvSpPr/>
          <p:nvPr/>
        </p:nvSpPr>
        <p:spPr>
          <a:xfrm>
            <a:off x="11695176" y="384048"/>
            <a:ext cx="173736" cy="173736"/>
          </a:xfrm>
          <a:prstGeom prst="ellipse">
            <a:avLst/>
          </a:prstGeom>
          <a:solidFill>
            <a:schemeClr val="accent3"/>
          </a:solidFill>
          <a:ln w="12700">
            <a:solidFill>
              <a:schemeClr val="accent3"/>
            </a:solidFill>
            <a:prstDash val="solid"/>
          </a:ln>
        </p:spPr>
      </p:sp>
      <p:sp>
        <p:nvSpPr>
          <p:cNvPr id="18" name="version pill"/>
          <p:cNvSpPr/>
          <p:nvPr/>
        </p:nvSpPr>
        <p:spPr>
          <a:xfrm>
            <a:off x="411480" y="841248"/>
            <a:ext cx="603504" cy="292608"/>
          </a:xfrm>
          <a:prstGeom prst="roundRect">
            <a:avLst>
              <a:gd name="adj" fmla="val 50000"/>
            </a:avLst>
          </a:prstGeom>
          <a:solidFill>
            <a:schemeClr val="accent3"/>
          </a:solidFill>
          <a:ln w="12700">
            <a:solidFill>
              <a:schemeClr val="accent3"/>
            </a:solidFill>
            <a:prstDash val="solid"/>
          </a:ln>
        </p:spPr>
      </p:sp>
      <p:sp>
        <p:nvSpPr>
          <p:cNvPr id="19" name="Text 17"/>
          <p:cNvSpPr txBox="1"/>
          <p:nvPr/>
        </p:nvSpPr>
        <p:spPr>
          <a:xfrm>
            <a:off x="411480" y="841248"/>
            <a:ext cx="603504" cy="292608"/>
          </a:xfrm>
          <a:prstGeom prst="rect">
            <a:avLst/>
          </a:prstGeom>
          <a:noFill/>
          <a:ln/>
        </p:spPr>
        <p:txBody>
          <a:bodyPr wrap="square" lIns="0" tIns="0" rIns="0" bIns="0" rtlCol="0" anchor="ctr"/>
          <a:lstStyle/>
          <a:p>
            <a:pPr algn="ctr" indent="0" marL="0">
              <a:buNone/>
            </a:pPr>
            <a:r>
              <a:rPr lang="en-US" sz="1400" b="1" dirty="0">
                <a:solidFill>
                  <a:schemeClr val="tx1"/>
                </a:solidFill>
                <a:latin typeface="Consolas" pitchFamily="34" charset="0"/>
                <a:ea typeface="Consolas" pitchFamily="34" charset="-122"/>
                <a:cs typeface="Consolas" pitchFamily="34" charset="-120"/>
              </a:rPr>
              <a:t>v14</a:t>
            </a:r>
            <a:endParaRPr lang="en-US" sz="1400" dirty="0"/>
          </a:p>
        </p:txBody>
      </p:sp>
      <p:sp>
        <p:nvSpPr>
          <p:cNvPr id="20" name="Text 18"/>
          <p:cNvSpPr txBox="1"/>
          <p:nvPr/>
        </p:nvSpPr>
        <p:spPr>
          <a:xfrm>
            <a:off x="1152144" y="841248"/>
            <a:ext cx="7315200" cy="292608"/>
          </a:xfrm>
          <a:prstGeom prst="rect">
            <a:avLst/>
          </a:prstGeom>
          <a:noFill/>
          <a:ln/>
        </p:spPr>
        <p:txBody>
          <a:bodyPr wrap="square" lIns="0" tIns="0" rIns="0" bIns="0" rtlCol="0" anchor="ctr"/>
          <a:lstStyle/>
          <a:p>
            <a:pPr indent="0" marL="0">
              <a:buNone/>
            </a:pPr>
            <a:r>
              <a:rPr lang="en-US" sz="1400" b="1" dirty="0">
                <a:solidFill>
                  <a:schemeClr val="bg1"/>
                </a:solidFill>
              </a:rPr>
              <a:t>Benchmark harness</a:t>
            </a:r>
            <a:pPr indent="0" marL="0">
              <a:buNone/>
            </a:pPr>
            <a:r>
              <a:rPr lang="en-US" sz="1400" dirty="0">
                <a:solidFill>
                  <a:schemeClr val="bg2"/>
                </a:solidFill>
                <a:latin typeface="Consolas" pitchFamily="34" charset="0"/>
                <a:ea typeface="Consolas" pitchFamily="34" charset="-122"/>
                <a:cs typeface="Consolas" pitchFamily="34" charset="-120"/>
              </a:rPr>
              <a:t>   ·   bench.hpp · 3 of 3</a:t>
            </a:r>
            <a:endParaRPr lang="en-US" sz="1400" dirty="0"/>
          </a:p>
        </p:txBody>
      </p:sp>
      <p:sp>
        <p:nvSpPr>
          <p:cNvPr id="21" name="added line 1"/>
          <p:cNvSpPr/>
          <p:nvPr/>
        </p:nvSpPr>
        <p:spPr>
          <a:xfrm>
            <a:off x="502920" y="1371600"/>
            <a:ext cx="7178040" cy="233172"/>
          </a:xfrm>
          <a:prstGeom prst="rect">
            <a:avLst/>
          </a:prstGeom>
          <a:solidFill>
            <a:schemeClr val="accent4"/>
          </a:solidFill>
          <a:ln w="12700">
            <a:solidFill>
              <a:schemeClr val="accent4"/>
            </a:solidFill>
            <a:prstDash val="solid"/>
          </a:ln>
        </p:spPr>
      </p:sp>
      <p:sp>
        <p:nvSpPr>
          <p:cNvPr id="22" name="added line 2"/>
          <p:cNvSpPr/>
          <p:nvPr/>
        </p:nvSpPr>
        <p:spPr>
          <a:xfrm>
            <a:off x="502920" y="1604772"/>
            <a:ext cx="7178040" cy="233172"/>
          </a:xfrm>
          <a:prstGeom prst="rect">
            <a:avLst/>
          </a:prstGeom>
          <a:solidFill>
            <a:schemeClr val="accent4"/>
          </a:solidFill>
          <a:ln w="12700">
            <a:solidFill>
              <a:schemeClr val="accent4"/>
            </a:solidFill>
            <a:prstDash val="solid"/>
          </a:ln>
        </p:spPr>
      </p:sp>
      <p:sp>
        <p:nvSpPr>
          <p:cNvPr id="23" name="added line 3"/>
          <p:cNvSpPr/>
          <p:nvPr/>
        </p:nvSpPr>
        <p:spPr>
          <a:xfrm>
            <a:off x="502920" y="1837944"/>
            <a:ext cx="7178040" cy="233172"/>
          </a:xfrm>
          <a:prstGeom prst="rect">
            <a:avLst/>
          </a:prstGeom>
          <a:solidFill>
            <a:schemeClr val="accent4"/>
          </a:solidFill>
          <a:ln w="12700">
            <a:solidFill>
              <a:schemeClr val="accent4"/>
            </a:solidFill>
            <a:prstDash val="solid"/>
          </a:ln>
        </p:spPr>
      </p:sp>
      <p:sp>
        <p:nvSpPr>
          <p:cNvPr id="24" name="added line 4"/>
          <p:cNvSpPr/>
          <p:nvPr/>
        </p:nvSpPr>
        <p:spPr>
          <a:xfrm>
            <a:off x="502920" y="2071116"/>
            <a:ext cx="7178040" cy="233172"/>
          </a:xfrm>
          <a:prstGeom prst="rect">
            <a:avLst/>
          </a:prstGeom>
          <a:solidFill>
            <a:schemeClr val="accent4"/>
          </a:solidFill>
          <a:ln w="12700">
            <a:solidFill>
              <a:schemeClr val="accent4"/>
            </a:solidFill>
            <a:prstDash val="solid"/>
          </a:ln>
        </p:spPr>
      </p:sp>
      <p:sp>
        <p:nvSpPr>
          <p:cNvPr id="25" name="added line 5"/>
          <p:cNvSpPr/>
          <p:nvPr/>
        </p:nvSpPr>
        <p:spPr>
          <a:xfrm>
            <a:off x="502920" y="2304288"/>
            <a:ext cx="7178040" cy="233172"/>
          </a:xfrm>
          <a:prstGeom prst="rect">
            <a:avLst/>
          </a:prstGeom>
          <a:solidFill>
            <a:schemeClr val="accent4"/>
          </a:solidFill>
          <a:ln w="12700">
            <a:solidFill>
              <a:schemeClr val="accent4"/>
            </a:solidFill>
            <a:prstDash val="solid"/>
          </a:ln>
        </p:spPr>
      </p:sp>
      <p:sp>
        <p:nvSpPr>
          <p:cNvPr id="26" name="added line 6"/>
          <p:cNvSpPr/>
          <p:nvPr/>
        </p:nvSpPr>
        <p:spPr>
          <a:xfrm>
            <a:off x="502920" y="2537460"/>
            <a:ext cx="7178040" cy="233172"/>
          </a:xfrm>
          <a:prstGeom prst="rect">
            <a:avLst/>
          </a:prstGeom>
          <a:solidFill>
            <a:schemeClr val="accent4"/>
          </a:solidFill>
          <a:ln w="12700">
            <a:solidFill>
              <a:schemeClr val="accent4"/>
            </a:solidFill>
            <a:prstDash val="solid"/>
          </a:ln>
        </p:spPr>
      </p:sp>
      <p:sp>
        <p:nvSpPr>
          <p:cNvPr id="27" name="added line 7"/>
          <p:cNvSpPr/>
          <p:nvPr/>
        </p:nvSpPr>
        <p:spPr>
          <a:xfrm>
            <a:off x="502920" y="2770632"/>
            <a:ext cx="7178040" cy="233172"/>
          </a:xfrm>
          <a:prstGeom prst="rect">
            <a:avLst/>
          </a:prstGeom>
          <a:solidFill>
            <a:schemeClr val="accent4"/>
          </a:solidFill>
          <a:ln w="12700">
            <a:solidFill>
              <a:schemeClr val="accent4"/>
            </a:solidFill>
            <a:prstDash val="solid"/>
          </a:ln>
        </p:spPr>
      </p:sp>
      <p:sp>
        <p:nvSpPr>
          <p:cNvPr id="28" name="added line 8"/>
          <p:cNvSpPr/>
          <p:nvPr/>
        </p:nvSpPr>
        <p:spPr>
          <a:xfrm>
            <a:off x="502920" y="3003804"/>
            <a:ext cx="7178040" cy="233172"/>
          </a:xfrm>
          <a:prstGeom prst="rect">
            <a:avLst/>
          </a:prstGeom>
          <a:solidFill>
            <a:schemeClr val="accent4"/>
          </a:solidFill>
          <a:ln w="12700">
            <a:solidFill>
              <a:schemeClr val="accent4"/>
            </a:solidFill>
            <a:prstDash val="solid"/>
          </a:ln>
        </p:spPr>
      </p:sp>
      <p:sp>
        <p:nvSpPr>
          <p:cNvPr id="29" name="added line 9"/>
          <p:cNvSpPr/>
          <p:nvPr/>
        </p:nvSpPr>
        <p:spPr>
          <a:xfrm>
            <a:off x="502920" y="3236976"/>
            <a:ext cx="7178040" cy="233172"/>
          </a:xfrm>
          <a:prstGeom prst="rect">
            <a:avLst/>
          </a:prstGeom>
          <a:solidFill>
            <a:schemeClr val="accent4"/>
          </a:solidFill>
          <a:ln w="12700">
            <a:solidFill>
              <a:schemeClr val="accent4"/>
            </a:solidFill>
            <a:prstDash val="solid"/>
          </a:ln>
        </p:spPr>
      </p:sp>
      <p:sp>
        <p:nvSpPr>
          <p:cNvPr id="30" name="added line 10"/>
          <p:cNvSpPr/>
          <p:nvPr/>
        </p:nvSpPr>
        <p:spPr>
          <a:xfrm>
            <a:off x="502920" y="3470148"/>
            <a:ext cx="7178040" cy="233172"/>
          </a:xfrm>
          <a:prstGeom prst="rect">
            <a:avLst/>
          </a:prstGeom>
          <a:solidFill>
            <a:schemeClr val="accent4"/>
          </a:solidFill>
          <a:ln w="12700">
            <a:solidFill>
              <a:schemeClr val="accent4"/>
            </a:solidFill>
            <a:prstDash val="solid"/>
          </a:ln>
        </p:spPr>
      </p:sp>
      <p:sp>
        <p:nvSpPr>
          <p:cNvPr id="31" name="added line 11"/>
          <p:cNvSpPr/>
          <p:nvPr/>
        </p:nvSpPr>
        <p:spPr>
          <a:xfrm>
            <a:off x="502920" y="3703320"/>
            <a:ext cx="7178040" cy="233172"/>
          </a:xfrm>
          <a:prstGeom prst="rect">
            <a:avLst/>
          </a:prstGeom>
          <a:solidFill>
            <a:schemeClr val="accent4"/>
          </a:solidFill>
          <a:ln w="12700">
            <a:solidFill>
              <a:schemeClr val="accent4"/>
            </a:solidFill>
            <a:prstDash val="solid"/>
          </a:ln>
        </p:spPr>
      </p:sp>
      <p:sp>
        <p:nvSpPr>
          <p:cNvPr id="32" name="diff gutter"/>
          <p:cNvSpPr txBox="1"/>
          <p:nvPr/>
        </p:nvSpPr>
        <p:spPr>
          <a:xfrm>
            <a:off x="576072" y="1371600"/>
            <a:ext cx="228600" cy="2564892"/>
          </a:xfrm>
          <a:prstGeom prst="rect">
            <a:avLst/>
          </a:prstGeom>
          <a:noFill/>
          <a:ln/>
        </p:spPr>
        <p:txBody>
          <a:bodyPr wrap="square" lIns="0" tIns="0" rIns="0" bIns="0" rtlCol="0" anchor="t"/>
          <a:lstStyle/>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b="1" dirty="0">
                <a:solidFill>
                  <a:schemeClr val="accent1"/>
                </a:solidFill>
                <a:latin typeface="Consolas" pitchFamily="34" charset="0"/>
                <a:ea typeface="Consolas" pitchFamily="34" charset="-122"/>
                <a:cs typeface="Consolas" pitchFamily="34" charset="-120"/>
              </a:rPr>
              <a:t>+</a:t>
            </a:r>
            <a:endParaRPr lang="en-US" sz="1300" dirty="0"/>
          </a:p>
        </p:txBody>
      </p:sp>
      <p:sp>
        <p:nvSpPr>
          <p:cNvPr id="33" name="code"/>
          <p:cNvSpPr txBox="1"/>
          <p:nvPr/>
        </p:nvSpPr>
        <p:spPr>
          <a:xfrm>
            <a:off x="850392" y="1371600"/>
            <a:ext cx="6812280" cy="2564892"/>
          </a:xfrm>
          <a:prstGeom prst="rect">
            <a:avLst/>
          </a:prstGeom>
          <a:noFill/>
          <a:ln/>
        </p:spPr>
        <p:txBody>
          <a:bodyPr wrap="square" lIns="0" tIns="0" rIns="0" bIns="0" rtlCol="0" anchor="t"/>
          <a:lstStyle/>
          <a:p>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inline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clock_resolution_ns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best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1'000'000'000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for</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&lt; </a:t>
            </a:r>
            <a:pPr indent="0" marL="0">
              <a:lnSpc>
                <a:spcPts val="1836"/>
              </a:lnSpc>
              <a:buNone/>
            </a:pPr>
            <a:r>
              <a:rPr lang="en-US" sz="1300" dirty="0">
                <a:solidFill>
                  <a:srgbClr val="F78C6C"/>
                </a:solidFill>
                <a:latin typeface="Consolas" pitchFamily="34" charset="0"/>
                <a:ea typeface="Consolas" pitchFamily="34" charset="-122"/>
                <a:cs typeface="Consolas" pitchFamily="34" charset="-120"/>
              </a:rPr>
              <a:t>1000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i</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int64_t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while</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now_ns</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best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7FDBCA"/>
                </a:solidFill>
                <a:latin typeface="Consolas" pitchFamily="34" charset="0"/>
                <a:ea typeface="Consolas" pitchFamily="34" charset="-122"/>
                <a:cs typeface="Consolas" pitchFamily="34" charset="-120"/>
              </a:rPr>
              <a:t>std</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82AAFF"/>
                </a:solidFill>
                <a:latin typeface="Consolas" pitchFamily="34" charset="0"/>
                <a:ea typeface="Consolas" pitchFamily="34" charset="-122"/>
                <a:cs typeface="Consolas" pitchFamily="34" charset="-120"/>
              </a:rPr>
              <a:t>min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best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t1</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t0</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 </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best</a:t>
            </a:r>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a:p>
            <a:pPr indent="0" marL="0">
              <a:lnSpc>
                <a:spcPts val="1836"/>
              </a:lnSpc>
              <a:buNone/>
            </a:pPr>
            <a:r>
              <a:rPr lang="en-US" sz="1300" dirty="0">
                <a:solidFill>
                  <a:srgbClr val="D4DCE8"/>
                </a:solidFill>
                <a:latin typeface="Consolas" pitchFamily="34" charset="0"/>
                <a:ea typeface="Consolas" pitchFamily="34" charset="-122"/>
                <a:cs typeface="Consolas" pitchFamily="34" charset="-120"/>
              </a:rPr>
              <a:t>}</a:t>
            </a:r>
            <a:endParaRPr lang="en-US" sz="1300" dirty="0"/>
          </a:p>
        </p:txBody>
      </p:sp>
      <p:sp>
        <p:nvSpPr>
          <p:cNvPr id="34" name="Text 32"/>
          <p:cNvSpPr txBox="1"/>
          <p:nvPr/>
        </p:nvSpPr>
        <p:spPr>
          <a:xfrm>
            <a:off x="8046720" y="1234440"/>
            <a:ext cx="3749040" cy="256032"/>
          </a:xfrm>
          <a:prstGeom prst="rect">
            <a:avLst/>
          </a:prstGeom>
          <a:noFill/>
          <a:ln/>
        </p:spPr>
        <p:txBody>
          <a:bodyPr wrap="square" lIns="0" tIns="0" rIns="0" bIns="0" rtlCol="0" anchor="ctr"/>
          <a:lstStyle/>
          <a:p>
            <a:pPr indent="0" marL="0">
              <a:buNone/>
            </a:pPr>
            <a:r>
              <a:rPr lang="en-US" sz="1200" b="1" spc="200" kern="0" dirty="0">
                <a:solidFill>
                  <a:schemeClr val="accent2"/>
                </a:solidFill>
              </a:rPr>
              <a:t>WHY</a:t>
            </a:r>
            <a:endParaRPr lang="en-US" sz="1200" dirty="0"/>
          </a:p>
        </p:txBody>
      </p:sp>
      <p:sp>
        <p:nvSpPr>
          <p:cNvPr id="35" name="Text 33"/>
          <p:cNvSpPr txBox="1"/>
          <p:nvPr/>
        </p:nvSpPr>
        <p:spPr>
          <a:xfrm>
            <a:off x="8046720" y="1490472"/>
            <a:ext cx="3749040" cy="566928"/>
          </a:xfrm>
          <a:prstGeom prst="rect">
            <a:avLst/>
          </a:prstGeom>
          <a:noFill/>
          <a:ln/>
        </p:spPr>
        <p:txBody>
          <a:bodyPr wrap="square" lIns="0" tIns="0" rIns="0" bIns="0" rtlCol="0" anchor="t"/>
          <a:lstStyle/>
          <a:p>
            <a:pPr indent="0" marL="0">
              <a:buNone/>
            </a:pPr>
            <a:r>
              <a:rPr lang="en-US" sz="1600" b="1" dirty="0">
                <a:solidFill>
                  <a:schemeClr val="bg1"/>
                </a:solidFill>
              </a:rPr>
              <a:t>The SPSC ring's p50 read as 0 ns</a:t>
            </a:r>
            <a:endParaRPr lang="en-US" sz="1600" dirty="0"/>
          </a:p>
        </p:txBody>
      </p:sp>
      <p:sp>
        <p:nvSpPr>
          <p:cNvPr id="36" name="terminal"/>
          <p:cNvSpPr/>
          <p:nvPr/>
        </p:nvSpPr>
        <p:spPr>
          <a:xfrm>
            <a:off x="8046720" y="5806440"/>
            <a:ext cx="3749040" cy="640080"/>
          </a:xfrm>
          <a:prstGeom prst="rect">
            <a:avLst/>
          </a:prstGeom>
          <a:solidFill>
            <a:schemeClr val="tx1"/>
          </a:solidFill>
          <a:ln w="9525">
            <a:solidFill>
              <a:schemeClr val="bg2"/>
            </a:solidFill>
            <a:prstDash val="solid"/>
          </a:ln>
        </p:spPr>
      </p:sp>
      <p:sp>
        <p:nvSpPr>
          <p:cNvPr id="37" name="terminal text"/>
          <p:cNvSpPr txBox="1"/>
          <p:nvPr/>
        </p:nvSpPr>
        <p:spPr>
          <a:xfrm>
            <a:off x="8174736" y="5897880"/>
            <a:ext cx="3493008" cy="457200"/>
          </a:xfrm>
          <a:prstGeom prst="rect">
            <a:avLst/>
          </a:prstGeom>
          <a:noFill/>
          <a:ln/>
        </p:spPr>
        <p:txBody>
          <a:bodyPr wrap="square" lIns="0" tIns="0" rIns="0" bIns="0" rtlCol="0" anchor="t"/>
          <a:lstStyle/>
          <a:p>
            <a:pPr indent="0" marL="0">
              <a:lnSpc>
                <a:spcPts val="1800"/>
              </a:lnSpc>
              <a:buNone/>
            </a:pPr>
            <a:r>
              <a:rPr lang="en-US" sz="1200" dirty="0">
                <a:solidFill>
                  <a:schemeClr val="bg2"/>
                </a:solidFill>
                <a:latin typeface="Consolas" pitchFamily="34" charset="0"/>
                <a:ea typeface="Consolas" pitchFamily="34" charset="-122"/>
                <a:cs typeface="Consolas" pitchFamily="34" charset="-120"/>
              </a:rPr>
              <a:t>$ ./bench</a:t>
            </a:r>
            <a:endParaRPr lang="en-US" sz="1200" dirty="0"/>
          </a:p>
          <a:p>
            <a:pPr indent="0" marL="0">
              <a:lnSpc>
                <a:spcPts val="1800"/>
              </a:lnSpc>
              <a:buNone/>
            </a:pPr>
            <a:r>
              <a:rPr lang="en-US" sz="1200" dirty="0">
                <a:solidFill>
                  <a:schemeClr val="bg1"/>
                </a:solidFill>
                <a:latin typeface="Consolas" pitchFamily="34" charset="0"/>
                <a:ea typeface="Consolas" pitchFamily="34" charset="-122"/>
                <a:cs typeface="Consolas" pitchFamily="34" charset="-120"/>
              </a:rPr>
              <a:t>clock resolution: 1000 ns</a:t>
            </a:r>
            <a:endParaRPr lang="en-US" sz="1200" dirty="0"/>
          </a:p>
        </p:txBody>
      </p:sp>
      <p:sp>
        <p:nvSpPr>
          <p:cNvPr id="38" name="Text 36"/>
          <p:cNvSpPr txBox="1"/>
          <p:nvPr/>
        </p:nvSpPr>
        <p:spPr>
          <a:xfrm>
            <a:off x="8046720" y="2148840"/>
            <a:ext cx="374904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9" name="step 1"/>
          <p:cNvSpPr/>
          <p:nvPr/>
        </p:nvSpPr>
        <p:spPr>
          <a:xfrm>
            <a:off x="8046720" y="2459736"/>
            <a:ext cx="256032" cy="256032"/>
          </a:xfrm>
          <a:prstGeom prst="ellipse">
            <a:avLst/>
          </a:prstGeom>
          <a:solidFill>
            <a:schemeClr val="tx2"/>
          </a:solidFill>
          <a:ln w="15875">
            <a:solidFill>
              <a:schemeClr val="accent1"/>
            </a:solidFill>
            <a:prstDash val="solid"/>
          </a:ln>
        </p:spPr>
      </p:sp>
      <p:sp>
        <p:nvSpPr>
          <p:cNvPr id="40" name="Text 38"/>
          <p:cNvSpPr txBox="1"/>
          <p:nvPr/>
        </p:nvSpPr>
        <p:spPr>
          <a:xfrm>
            <a:off x="8046720" y="2459736"/>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41" name="explanation 1"/>
          <p:cNvSpPr txBox="1"/>
          <p:nvPr/>
        </p:nvSpPr>
        <p:spPr>
          <a:xfrm>
            <a:off x="8430768" y="2450592"/>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clock_resolution_ns() reads the clock until the value changes and keeps the smallest step it ever sees.</a:t>
            </a:r>
            <a:endParaRPr lang="en-US" sz="1400" dirty="0"/>
          </a:p>
        </p:txBody>
      </p:sp>
      <p:sp>
        <p:nvSpPr>
          <p:cNvPr id="42" name="step 2"/>
          <p:cNvSpPr/>
          <p:nvPr/>
        </p:nvSpPr>
        <p:spPr>
          <a:xfrm>
            <a:off x="8046720" y="3209544"/>
            <a:ext cx="256032" cy="256032"/>
          </a:xfrm>
          <a:prstGeom prst="ellipse">
            <a:avLst/>
          </a:prstGeom>
          <a:solidFill>
            <a:schemeClr val="tx2"/>
          </a:solidFill>
          <a:ln w="15875">
            <a:solidFill>
              <a:schemeClr val="accent1"/>
            </a:solidFill>
            <a:prstDash val="solid"/>
          </a:ln>
        </p:spPr>
      </p:sp>
      <p:sp>
        <p:nvSpPr>
          <p:cNvPr id="43" name="Text 41"/>
          <p:cNvSpPr txBox="1"/>
          <p:nvPr/>
        </p:nvSpPr>
        <p:spPr>
          <a:xfrm>
            <a:off x="8046720" y="3209544"/>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44" name="explanation 2"/>
          <p:cNvSpPr txBox="1"/>
          <p:nvPr/>
        </p:nvSpPr>
        <p:spPr>
          <a:xfrm>
            <a:off x="8430768" y="3200400"/>
            <a:ext cx="3337560" cy="85344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Here steady_clock moves in 1,000 ns steps, so any latency below 1 microsecond reads as 0. The ring's '0' means 'under 1 us', not free.</a:t>
            </a:r>
            <a:endParaRPr lang="en-US" sz="1400" dirty="0"/>
          </a:p>
        </p:txBody>
      </p:sp>
      <p:sp>
        <p:nvSpPr>
          <p:cNvPr id="45" name="step 3"/>
          <p:cNvSpPr/>
          <p:nvPr/>
        </p:nvSpPr>
        <p:spPr>
          <a:xfrm>
            <a:off x="8046720" y="4172712"/>
            <a:ext cx="256032" cy="256032"/>
          </a:xfrm>
          <a:prstGeom prst="ellipse">
            <a:avLst/>
          </a:prstGeom>
          <a:solidFill>
            <a:schemeClr val="tx2"/>
          </a:solidFill>
          <a:ln w="15875">
            <a:solidFill>
              <a:schemeClr val="accent1"/>
            </a:solidFill>
            <a:prstDash val="solid"/>
          </a:ln>
        </p:spPr>
      </p:sp>
      <p:sp>
        <p:nvSpPr>
          <p:cNvPr id="46" name="Text 44"/>
          <p:cNvSpPr txBox="1"/>
          <p:nvPr/>
        </p:nvSpPr>
        <p:spPr>
          <a:xfrm>
            <a:off x="8046720" y="4172712"/>
            <a:ext cx="256032" cy="256032"/>
          </a:xfrm>
          <a:prstGeom prst="rect">
            <a:avLst/>
          </a:prstGeom>
          <a:no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47" name="explanation 3"/>
          <p:cNvSpPr txBox="1"/>
          <p:nvPr/>
        </p:nvSpPr>
        <p:spPr>
          <a:xfrm>
            <a:off x="8430768" y="4163568"/>
            <a:ext cx="3337560" cy="640080"/>
          </a:xfrm>
          <a:prstGeom prst="rect">
            <a:avLst/>
          </a:prstGeom>
          <a:noFill/>
          <a:ln/>
        </p:spPr>
        <p:txBody>
          <a:bodyPr wrap="square" lIns="0" tIns="0" rIns="0" bIns="0" rtlCol="0" anchor="t"/>
          <a:lstStyle/>
          <a:p>
            <a:pPr indent="0" marL="0">
              <a:lnSpc>
                <a:spcPct val="98000"/>
              </a:lnSpc>
              <a:buNone/>
            </a:pPr>
            <a:r>
              <a:rPr lang="en-US" sz="1400" dirty="0">
                <a:solidFill>
                  <a:schemeClr val="bg1"/>
                </a:solidFill>
              </a:rPr>
              <a:t>The benchmark prints the resolution with every result, so nobody trusts a number the clock can't measure.</a:t>
            </a:r>
            <a:endParaRPr lang="en-US" sz="1400" dirty="0"/>
          </a:p>
        </p:txBody>
      </p:sp>
      <p:sp>
        <p:nvSpPr>
          <p:cNvPr id="48" name="tag clock resolution"/>
          <p:cNvSpPr/>
          <p:nvPr/>
        </p:nvSpPr>
        <p:spPr>
          <a:xfrm>
            <a:off x="2606040" y="6510528"/>
            <a:ext cx="1517904" cy="256032"/>
          </a:xfrm>
          <a:prstGeom prst="roundRect">
            <a:avLst>
              <a:gd name="adj" fmla="val 50000"/>
            </a:avLst>
          </a:prstGeom>
          <a:solidFill>
            <a:schemeClr val="tx1"/>
          </a:solidFill>
          <a:ln w="12700">
            <a:solidFill>
              <a:schemeClr val="accent3"/>
            </a:solidFill>
            <a:prstDash val="solid"/>
          </a:ln>
        </p:spPr>
      </p:sp>
      <p:sp>
        <p:nvSpPr>
          <p:cNvPr id="49" name="Text 47"/>
          <p:cNvSpPr txBox="1"/>
          <p:nvPr/>
        </p:nvSpPr>
        <p:spPr>
          <a:xfrm>
            <a:off x="2606040" y="6510528"/>
            <a:ext cx="1517904" cy="256032"/>
          </a:xfrm>
          <a:prstGeom prst="rect">
            <a:avLst/>
          </a:prstGeom>
          <a:noFill/>
          <a:ln/>
        </p:spPr>
        <p:txBody>
          <a:bodyPr wrap="square" lIns="0" tIns="0" rIns="0" bIns="0" rtlCol="0" anchor="ctr"/>
          <a:lstStyle/>
          <a:p>
            <a:pPr algn="ctr" indent="0" marL="0">
              <a:buNone/>
            </a:pPr>
            <a:r>
              <a:rPr lang="en-US" sz="1100" dirty="0">
                <a:solidFill>
                  <a:schemeClr val="accent3"/>
                </a:solidFill>
              </a:rPr>
              <a:t>clock resolution</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11480" y="292608"/>
            <a:ext cx="11338560" cy="685800"/>
          </a:xfrm>
          <a:prstGeom prst="rect">
            <a:avLst/>
          </a:prstGeom>
          <a:noFill/>
          <a:ln/>
        </p:spPr>
        <p:txBody>
          <a:bodyPr wrap="square" lIns="0" tIns="0" rIns="0" bIns="0" rtlCol="0" anchor="ctr"/>
          <a:lstStyle/>
          <a:p>
            <a:pPr algn="l" indent="0" marL="0">
              <a:buNone/>
            </a:pPr>
            <a:r>
              <a:rPr lang="en-US" sz="2800" b="1" dirty="0">
                <a:solidFill>
                  <a:schemeClr val="bg1"/>
                </a:solidFill>
              </a:rPr>
              <a:t>Where each version lives in the final pool</a:t>
            </a:r>
            <a:endParaRPr lang="en-US" sz="2800" dirty="0"/>
          </a:p>
        </p:txBody>
      </p:sp>
      <p:sp>
        <p:nvSpPr>
          <p:cNvPr id="3" name="box submit(f)"/>
          <p:cNvSpPr/>
          <p:nvPr/>
        </p:nvSpPr>
        <p:spPr>
          <a:xfrm>
            <a:off x="457200" y="1828800"/>
            <a:ext cx="2377440" cy="1463040"/>
          </a:xfrm>
          <a:prstGeom prst="roundRect">
            <a:avLst>
              <a:gd name="adj" fmla="val 7500"/>
            </a:avLst>
          </a:prstGeom>
          <a:solidFill>
            <a:schemeClr val="tx2"/>
          </a:solidFill>
          <a:ln w="19050">
            <a:solidFill>
              <a:schemeClr val="accent2"/>
            </a:solidFill>
            <a:prstDash val="solid"/>
          </a:ln>
        </p:spPr>
      </p:sp>
      <p:sp>
        <p:nvSpPr>
          <p:cNvPr id="4" name="Text 2"/>
          <p:cNvSpPr txBox="1"/>
          <p:nvPr/>
        </p:nvSpPr>
        <p:spPr>
          <a:xfrm>
            <a:off x="640080" y="1965960"/>
            <a:ext cx="201168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submit(f)</a:t>
            </a:r>
            <a:endParaRPr lang="en-US" sz="2000" dirty="0"/>
          </a:p>
        </p:txBody>
      </p:sp>
      <p:sp>
        <p:nvSpPr>
          <p:cNvPr id="5" name="Text 3"/>
          <p:cNvSpPr txBox="1"/>
          <p:nvPr/>
        </p:nvSpPr>
        <p:spPr>
          <a:xfrm>
            <a:off x="640080" y="2423160"/>
            <a:ext cx="2011680" cy="731520"/>
          </a:xfrm>
          <a:prstGeom prst="rect">
            <a:avLst/>
          </a:prstGeom>
          <a:noFill/>
          <a:ln/>
        </p:spPr>
        <p:txBody>
          <a:bodyPr wrap="square" lIns="0" tIns="0" rIns="0" bIns="0" rtlCol="0" anchor="t"/>
          <a:lstStyle/>
          <a:p>
            <a:pPr indent="0" marL="0">
              <a:buNone/>
            </a:pPr>
            <a:r>
              <a:rPr lang="en-US" sz="1400" dirty="0">
                <a:solidFill>
                  <a:schemeClr val="bg2"/>
                </a:solidFill>
              </a:rPr>
              <a:t>packaged_task → future</a:t>
            </a:r>
            <a:endParaRPr lang="en-US" sz="1400" dirty="0"/>
          </a:p>
        </p:txBody>
      </p:sp>
      <p:sp>
        <p:nvSpPr>
          <p:cNvPr id="6" name="Text 4"/>
          <p:cNvSpPr txBox="1"/>
          <p:nvPr/>
        </p:nvSpPr>
        <p:spPr>
          <a:xfrm>
            <a:off x="1691640" y="1499616"/>
            <a:ext cx="1143000"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v10</a:t>
            </a:r>
            <a:endParaRPr lang="en-US" sz="1300" dirty="0"/>
          </a:p>
        </p:txBody>
      </p:sp>
      <p:sp>
        <p:nvSpPr>
          <p:cNvPr id="7" name="Shape 5"/>
          <p:cNvSpPr/>
          <p:nvPr/>
        </p:nvSpPr>
        <p:spPr>
          <a:xfrm>
            <a:off x="2971800" y="2331720"/>
            <a:ext cx="548640" cy="411480"/>
          </a:xfrm>
          <a:prstGeom prst="rightArrow">
            <a:avLst/>
          </a:prstGeom>
          <a:solidFill>
            <a:schemeClr val="bg2"/>
          </a:solidFill>
          <a:ln w="12700">
            <a:solidFill>
              <a:schemeClr val="bg2"/>
            </a:solidFill>
            <a:prstDash val="solid"/>
          </a:ln>
        </p:spPr>
      </p:sp>
      <p:sp>
        <p:nvSpPr>
          <p:cNvPr id="8" name="box ThreadSafeQueue&lt;Task&gt;"/>
          <p:cNvSpPr/>
          <p:nvPr/>
        </p:nvSpPr>
        <p:spPr>
          <a:xfrm>
            <a:off x="3657600" y="1371600"/>
            <a:ext cx="3657600" cy="2377440"/>
          </a:xfrm>
          <a:prstGeom prst="roundRect">
            <a:avLst>
              <a:gd name="adj" fmla="val 4615"/>
            </a:avLst>
          </a:prstGeom>
          <a:solidFill>
            <a:schemeClr val="tx2"/>
          </a:solidFill>
          <a:ln w="19050">
            <a:solidFill>
              <a:schemeClr val="accent1"/>
            </a:solidFill>
            <a:prstDash val="solid"/>
          </a:ln>
        </p:spPr>
      </p:sp>
      <p:sp>
        <p:nvSpPr>
          <p:cNvPr id="9" name="Text 7"/>
          <p:cNvSpPr txBox="1"/>
          <p:nvPr/>
        </p:nvSpPr>
        <p:spPr>
          <a:xfrm>
            <a:off x="3840480" y="1508760"/>
            <a:ext cx="329184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ThreadSafeQueue&lt;Task&gt;</a:t>
            </a:r>
            <a:endParaRPr lang="en-US" sz="2000" dirty="0"/>
          </a:p>
        </p:txBody>
      </p:sp>
      <p:sp>
        <p:nvSpPr>
          <p:cNvPr id="10" name="Text 8"/>
          <p:cNvSpPr txBox="1"/>
          <p:nvPr/>
        </p:nvSpPr>
        <p:spPr>
          <a:xfrm>
            <a:off x="3840480" y="1965960"/>
            <a:ext cx="3291840" cy="1645920"/>
          </a:xfrm>
          <a:prstGeom prst="rect">
            <a:avLst/>
          </a:prstGeom>
          <a:noFill/>
          <a:ln/>
        </p:spPr>
        <p:txBody>
          <a:bodyPr wrap="square" lIns="0" tIns="0" rIns="0" bIns="0" rtlCol="0" anchor="t"/>
          <a:lstStyle/>
          <a:p>
            <a:pPr indent="0" marL="0">
              <a:buNone/>
            </a:pPr>
            <a:r>
              <a:rPr lang="en-US" sz="1400" dirty="0">
                <a:solidFill>
                  <a:schemeClr val="bg2"/>
                </a:solidFill>
              </a:rPr>
              <a:t>mutex (v2) · lock_guard (v3)</a:t>
            </a:r>
            <a:endParaRPr lang="en-US" sz="1400" dirty="0"/>
          </a:p>
          <a:p>
            <a:pPr indent="0" marL="0">
              <a:buNone/>
            </a:pPr>
            <a:r>
              <a:rPr lang="en-US" sz="1400" dirty="0">
                <a:solidFill>
                  <a:schemeClr val="bg2"/>
                </a:solidFill>
              </a:rPr>
              <a:t>condition_variable (v4)</a:t>
            </a:r>
            <a:endParaRPr lang="en-US" sz="1400" dirty="0"/>
          </a:p>
          <a:p>
            <a:pPr indent="0" marL="0">
              <a:buNone/>
            </a:pPr>
            <a:r>
              <a:rPr lang="en-US" sz="1400" dirty="0">
                <a:solidFill>
                  <a:schemeClr val="bg2"/>
                </a:solidFill>
              </a:rPr>
              <a:t>shutdown + notify_all (v6)</a:t>
            </a:r>
            <a:endParaRPr lang="en-US" sz="1400" dirty="0"/>
          </a:p>
          <a:p>
            <a:pPr indent="0" marL="0">
              <a:buNone/>
            </a:pPr>
            <a:r>
              <a:rPr lang="en-US" sz="1400" dirty="0">
                <a:solidFill>
                  <a:schemeClr val="bg2"/>
                </a:solidFill>
              </a:rPr>
              <a:t>moves values (v7)</a:t>
            </a:r>
            <a:endParaRPr lang="en-US" sz="1400" dirty="0"/>
          </a:p>
        </p:txBody>
      </p:sp>
      <p:sp>
        <p:nvSpPr>
          <p:cNvPr id="11" name="Text 9"/>
          <p:cNvSpPr txBox="1"/>
          <p:nvPr/>
        </p:nvSpPr>
        <p:spPr>
          <a:xfrm>
            <a:off x="6172200" y="1042416"/>
            <a:ext cx="1143000" cy="274320"/>
          </a:xfrm>
          <a:prstGeom prst="rect">
            <a:avLst/>
          </a:prstGeom>
          <a:noFill/>
          <a:ln/>
        </p:spPr>
        <p:txBody>
          <a:bodyPr wrap="square" lIns="0" tIns="0" rIns="0" bIns="0" rtlCol="0" anchor="ctr"/>
          <a:lstStyle/>
          <a:p>
            <a:pPr algn="r" indent="0" marL="0">
              <a:buNone/>
            </a:pPr>
            <a:r>
              <a:rPr lang="en-US" sz="1300" b="1" dirty="0">
                <a:solidFill>
                  <a:schemeClr val="accent1"/>
                </a:solidFill>
                <a:latin typeface="Consolas" pitchFamily="34" charset="0"/>
                <a:ea typeface="Consolas" pitchFamily="34" charset="-122"/>
                <a:cs typeface="Consolas" pitchFamily="34" charset="-120"/>
              </a:rPr>
              <a:t>v2–v7</a:t>
            </a:r>
            <a:endParaRPr lang="en-US" sz="1300" dirty="0"/>
          </a:p>
        </p:txBody>
      </p:sp>
      <p:sp>
        <p:nvSpPr>
          <p:cNvPr id="12" name="Shape 10"/>
          <p:cNvSpPr/>
          <p:nvPr/>
        </p:nvSpPr>
        <p:spPr>
          <a:xfrm>
            <a:off x="7452360" y="2331720"/>
            <a:ext cx="548640" cy="411480"/>
          </a:xfrm>
          <a:prstGeom prst="rightArrow">
            <a:avLst/>
          </a:prstGeom>
          <a:solidFill>
            <a:schemeClr val="bg2"/>
          </a:solidFill>
          <a:ln w="12700">
            <a:solidFill>
              <a:schemeClr val="bg2"/>
            </a:solidFill>
            <a:prstDash val="solid"/>
          </a:ln>
        </p:spPr>
      </p:sp>
      <p:sp>
        <p:nvSpPr>
          <p:cNvPr id="13" name="Shape 11"/>
          <p:cNvSpPr/>
          <p:nvPr/>
        </p:nvSpPr>
        <p:spPr>
          <a:xfrm>
            <a:off x="8138160" y="1371600"/>
            <a:ext cx="1828800" cy="475488"/>
          </a:xfrm>
          <a:prstGeom prst="roundRect">
            <a:avLst>
              <a:gd name="adj" fmla="val 15385"/>
            </a:avLst>
          </a:prstGeom>
          <a:solidFill>
            <a:schemeClr val="tx2"/>
          </a:solidFill>
          <a:ln w="15875">
            <a:solidFill>
              <a:schemeClr val="accent2"/>
            </a:solidFill>
            <a:prstDash val="solid"/>
          </a:ln>
        </p:spPr>
      </p:sp>
      <p:sp>
        <p:nvSpPr>
          <p:cNvPr id="14" name="Text 12"/>
          <p:cNvSpPr txBox="1"/>
          <p:nvPr/>
        </p:nvSpPr>
        <p:spPr>
          <a:xfrm>
            <a:off x="8138160" y="1371600"/>
            <a:ext cx="1828800" cy="475488"/>
          </a:xfrm>
          <a:prstGeom prst="rect">
            <a:avLst/>
          </a:prstGeom>
          <a:noFill/>
          <a:ln/>
        </p:spPr>
        <p:txBody>
          <a:bodyPr wrap="square" lIns="0" tIns="0" rIns="0" bIns="0" rtlCol="0" anchor="ctr"/>
          <a:lstStyle/>
          <a:p>
            <a:pPr algn="ctr" indent="0" marL="0">
              <a:buNone/>
            </a:pPr>
            <a:r>
              <a:rPr lang="en-US" sz="1500" dirty="0">
                <a:solidFill>
                  <a:schemeClr val="bg1"/>
                </a:solidFill>
                <a:latin typeface="Consolas" pitchFamily="34" charset="0"/>
                <a:ea typeface="Consolas" pitchFamily="34" charset="-122"/>
                <a:cs typeface="Consolas" pitchFamily="34" charset="-120"/>
              </a:rPr>
              <a:t>worker 1</a:t>
            </a:r>
            <a:endParaRPr lang="en-US" sz="1500" dirty="0"/>
          </a:p>
        </p:txBody>
      </p:sp>
      <p:sp>
        <p:nvSpPr>
          <p:cNvPr id="15" name="Shape 13"/>
          <p:cNvSpPr/>
          <p:nvPr/>
        </p:nvSpPr>
        <p:spPr>
          <a:xfrm>
            <a:off x="8138160" y="1984248"/>
            <a:ext cx="1828800" cy="475488"/>
          </a:xfrm>
          <a:prstGeom prst="roundRect">
            <a:avLst>
              <a:gd name="adj" fmla="val 15385"/>
            </a:avLst>
          </a:prstGeom>
          <a:solidFill>
            <a:schemeClr val="tx2"/>
          </a:solidFill>
          <a:ln w="15875">
            <a:solidFill>
              <a:schemeClr val="accent2"/>
            </a:solidFill>
            <a:prstDash val="solid"/>
          </a:ln>
        </p:spPr>
      </p:sp>
      <p:sp>
        <p:nvSpPr>
          <p:cNvPr id="16" name="Text 14"/>
          <p:cNvSpPr txBox="1"/>
          <p:nvPr/>
        </p:nvSpPr>
        <p:spPr>
          <a:xfrm>
            <a:off x="8138160" y="1984248"/>
            <a:ext cx="1828800" cy="475488"/>
          </a:xfrm>
          <a:prstGeom prst="rect">
            <a:avLst/>
          </a:prstGeom>
          <a:noFill/>
          <a:ln/>
        </p:spPr>
        <p:txBody>
          <a:bodyPr wrap="square" lIns="0" tIns="0" rIns="0" bIns="0" rtlCol="0" anchor="ctr"/>
          <a:lstStyle/>
          <a:p>
            <a:pPr algn="ctr" indent="0" marL="0">
              <a:buNone/>
            </a:pPr>
            <a:r>
              <a:rPr lang="en-US" sz="1500" dirty="0">
                <a:solidFill>
                  <a:schemeClr val="bg1"/>
                </a:solidFill>
                <a:latin typeface="Consolas" pitchFamily="34" charset="0"/>
                <a:ea typeface="Consolas" pitchFamily="34" charset="-122"/>
                <a:cs typeface="Consolas" pitchFamily="34" charset="-120"/>
              </a:rPr>
              <a:t>worker 2</a:t>
            </a:r>
            <a:endParaRPr lang="en-US" sz="1500" dirty="0"/>
          </a:p>
        </p:txBody>
      </p:sp>
      <p:sp>
        <p:nvSpPr>
          <p:cNvPr id="17" name="Shape 15"/>
          <p:cNvSpPr/>
          <p:nvPr/>
        </p:nvSpPr>
        <p:spPr>
          <a:xfrm>
            <a:off x="8138160" y="2596896"/>
            <a:ext cx="1828800" cy="475488"/>
          </a:xfrm>
          <a:prstGeom prst="roundRect">
            <a:avLst>
              <a:gd name="adj" fmla="val 15385"/>
            </a:avLst>
          </a:prstGeom>
          <a:solidFill>
            <a:schemeClr val="tx2"/>
          </a:solidFill>
          <a:ln w="15875">
            <a:solidFill>
              <a:schemeClr val="accent2"/>
            </a:solidFill>
            <a:prstDash val="solid"/>
          </a:ln>
        </p:spPr>
      </p:sp>
      <p:sp>
        <p:nvSpPr>
          <p:cNvPr id="18" name="Text 16"/>
          <p:cNvSpPr txBox="1"/>
          <p:nvPr/>
        </p:nvSpPr>
        <p:spPr>
          <a:xfrm>
            <a:off x="8138160" y="2596896"/>
            <a:ext cx="1828800" cy="475488"/>
          </a:xfrm>
          <a:prstGeom prst="rect">
            <a:avLst/>
          </a:prstGeom>
          <a:noFill/>
          <a:ln/>
        </p:spPr>
        <p:txBody>
          <a:bodyPr wrap="square" lIns="0" tIns="0" rIns="0" bIns="0" rtlCol="0" anchor="ctr"/>
          <a:lstStyle/>
          <a:p>
            <a:pPr algn="ctr" indent="0" marL="0">
              <a:buNone/>
            </a:pPr>
            <a:r>
              <a:rPr lang="en-US" sz="1500" dirty="0">
                <a:solidFill>
                  <a:schemeClr val="bg1"/>
                </a:solidFill>
                <a:latin typeface="Consolas" pitchFamily="34" charset="0"/>
                <a:ea typeface="Consolas" pitchFamily="34" charset="-122"/>
                <a:cs typeface="Consolas" pitchFamily="34" charset="-120"/>
              </a:rPr>
              <a:t>worker 3</a:t>
            </a:r>
            <a:endParaRPr lang="en-US" sz="1500" dirty="0"/>
          </a:p>
        </p:txBody>
      </p:sp>
      <p:sp>
        <p:nvSpPr>
          <p:cNvPr id="19" name="Shape 17"/>
          <p:cNvSpPr/>
          <p:nvPr/>
        </p:nvSpPr>
        <p:spPr>
          <a:xfrm>
            <a:off x="8138160" y="3209544"/>
            <a:ext cx="1828800" cy="475488"/>
          </a:xfrm>
          <a:prstGeom prst="roundRect">
            <a:avLst>
              <a:gd name="adj" fmla="val 15385"/>
            </a:avLst>
          </a:prstGeom>
          <a:solidFill>
            <a:schemeClr val="tx2"/>
          </a:solidFill>
          <a:ln w="15875">
            <a:solidFill>
              <a:schemeClr val="accent2"/>
            </a:solidFill>
            <a:prstDash val="solid"/>
          </a:ln>
        </p:spPr>
      </p:sp>
      <p:sp>
        <p:nvSpPr>
          <p:cNvPr id="20" name="Text 18"/>
          <p:cNvSpPr txBox="1"/>
          <p:nvPr/>
        </p:nvSpPr>
        <p:spPr>
          <a:xfrm>
            <a:off x="8138160" y="3209544"/>
            <a:ext cx="1828800" cy="475488"/>
          </a:xfrm>
          <a:prstGeom prst="rect">
            <a:avLst/>
          </a:prstGeom>
          <a:noFill/>
          <a:ln/>
        </p:spPr>
        <p:txBody>
          <a:bodyPr wrap="square" lIns="0" tIns="0" rIns="0" bIns="0" rtlCol="0" anchor="ctr"/>
          <a:lstStyle/>
          <a:p>
            <a:pPr algn="ctr" indent="0" marL="0">
              <a:buNone/>
            </a:pPr>
            <a:r>
              <a:rPr lang="en-US" sz="1500" dirty="0">
                <a:solidFill>
                  <a:schemeClr val="bg1"/>
                </a:solidFill>
                <a:latin typeface="Consolas" pitchFamily="34" charset="0"/>
                <a:ea typeface="Consolas" pitchFamily="34" charset="-122"/>
                <a:cs typeface="Consolas" pitchFamily="34" charset="-120"/>
              </a:rPr>
              <a:t>worker 4</a:t>
            </a:r>
            <a:endParaRPr lang="en-US" sz="1500" dirty="0"/>
          </a:p>
        </p:txBody>
      </p:sp>
      <p:sp>
        <p:nvSpPr>
          <p:cNvPr id="21" name="Text 19"/>
          <p:cNvSpPr txBox="1"/>
          <p:nvPr/>
        </p:nvSpPr>
        <p:spPr>
          <a:xfrm>
            <a:off x="10058400" y="1371600"/>
            <a:ext cx="731520" cy="274320"/>
          </a:xfrm>
          <a:prstGeom prst="rect">
            <a:avLst/>
          </a:prstGeom>
          <a:noFill/>
          <a:ln/>
        </p:spPr>
        <p:txBody>
          <a:bodyPr wrap="square" lIns="0" tIns="0" rIns="0" bIns="0" rtlCol="0" anchor="ctr"/>
          <a:lstStyle/>
          <a:p>
            <a:pPr indent="0" marL="0">
              <a:buNone/>
            </a:pPr>
            <a:r>
              <a:rPr lang="en-US" sz="1300" b="1" dirty="0">
                <a:solidFill>
                  <a:schemeClr val="accent2"/>
                </a:solidFill>
                <a:latin typeface="Consolas" pitchFamily="34" charset="0"/>
                <a:ea typeface="Consolas" pitchFamily="34" charset="-122"/>
                <a:cs typeface="Consolas" pitchFamily="34" charset="-120"/>
              </a:rPr>
              <a:t>v9</a:t>
            </a:r>
            <a:endParaRPr lang="en-US" sz="1300" dirty="0"/>
          </a:p>
        </p:txBody>
      </p:sp>
      <p:sp>
        <p:nvSpPr>
          <p:cNvPr id="22" name="Text 20"/>
          <p:cNvSpPr txBox="1"/>
          <p:nvPr/>
        </p:nvSpPr>
        <p:spPr>
          <a:xfrm>
            <a:off x="8138160" y="3886200"/>
            <a:ext cx="2743200" cy="274320"/>
          </a:xfrm>
          <a:prstGeom prst="rect">
            <a:avLst/>
          </a:prstGeom>
          <a:noFill/>
          <a:ln/>
        </p:spPr>
        <p:txBody>
          <a:bodyPr wrap="square" lIns="0" tIns="0" rIns="0" bIns="0" rtlCol="0" anchor="ctr"/>
          <a:lstStyle/>
          <a:p>
            <a:pPr indent="0" marL="0">
              <a:buNone/>
            </a:pPr>
            <a:r>
              <a:rPr lang="en-US" sz="1300" dirty="0">
                <a:solidFill>
                  <a:schemeClr val="bg2"/>
                </a:solidFill>
              </a:rPr>
              <a:t>ThreadGroup (v1)</a:t>
            </a:r>
            <a:endParaRPr lang="en-US" sz="1300" dirty="0"/>
          </a:p>
        </p:txBody>
      </p:sp>
      <p:sp>
        <p:nvSpPr>
          <p:cNvPr id="23" name="box std::future&lt;R&gt;"/>
          <p:cNvSpPr/>
          <p:nvPr/>
        </p:nvSpPr>
        <p:spPr>
          <a:xfrm>
            <a:off x="3657600" y="4572000"/>
            <a:ext cx="3657600" cy="1371600"/>
          </a:xfrm>
          <a:prstGeom prst="roundRect">
            <a:avLst>
              <a:gd name="adj" fmla="val 8000"/>
            </a:avLst>
          </a:prstGeom>
          <a:solidFill>
            <a:schemeClr val="tx2"/>
          </a:solidFill>
          <a:ln w="19050">
            <a:solidFill>
              <a:schemeClr val="accent2"/>
            </a:solidFill>
            <a:prstDash val="solid"/>
          </a:ln>
        </p:spPr>
      </p:sp>
      <p:sp>
        <p:nvSpPr>
          <p:cNvPr id="24" name="Text 22"/>
          <p:cNvSpPr txBox="1"/>
          <p:nvPr/>
        </p:nvSpPr>
        <p:spPr>
          <a:xfrm>
            <a:off x="3840480" y="4709160"/>
            <a:ext cx="329184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std::future&lt;R&gt;</a:t>
            </a:r>
            <a:endParaRPr lang="en-US" sz="2000" dirty="0"/>
          </a:p>
        </p:txBody>
      </p:sp>
      <p:sp>
        <p:nvSpPr>
          <p:cNvPr id="25" name="Text 23"/>
          <p:cNvSpPr txBox="1"/>
          <p:nvPr/>
        </p:nvSpPr>
        <p:spPr>
          <a:xfrm>
            <a:off x="3840480" y="5166360"/>
            <a:ext cx="3291840" cy="640080"/>
          </a:xfrm>
          <a:prstGeom prst="rect">
            <a:avLst/>
          </a:prstGeom>
          <a:noFill/>
          <a:ln/>
        </p:spPr>
        <p:txBody>
          <a:bodyPr wrap="square" lIns="0" tIns="0" rIns="0" bIns="0" rtlCol="0" anchor="t"/>
          <a:lstStyle/>
          <a:p>
            <a:pPr indent="0" marL="0">
              <a:buNone/>
            </a:pPr>
            <a:r>
              <a:rPr lang="en-US" sz="1400" dirty="0">
                <a:solidFill>
                  <a:schemeClr val="bg2"/>
                </a:solidFill>
              </a:rPr>
              <a:t>value or exception back to the caller</a:t>
            </a:r>
            <a:endParaRPr lang="en-US" sz="1400" dirty="0"/>
          </a:p>
        </p:txBody>
      </p:sp>
      <p:sp>
        <p:nvSpPr>
          <p:cNvPr id="26" name="Text 24"/>
          <p:cNvSpPr txBox="1"/>
          <p:nvPr/>
        </p:nvSpPr>
        <p:spPr>
          <a:xfrm>
            <a:off x="6172200" y="4242816"/>
            <a:ext cx="1143000" cy="274320"/>
          </a:xfrm>
          <a:prstGeom prst="rect">
            <a:avLst/>
          </a:prstGeom>
          <a:noFill/>
          <a:ln/>
        </p:spPr>
        <p:txBody>
          <a:bodyPr wrap="square" lIns="0" tIns="0" rIns="0" bIns="0" rtlCol="0" anchor="ctr"/>
          <a:lstStyle/>
          <a:p>
            <a:pPr algn="r" indent="0" marL="0">
              <a:buNone/>
            </a:pPr>
            <a:r>
              <a:rPr lang="en-US" sz="1300" b="1" dirty="0">
                <a:solidFill>
                  <a:schemeClr val="accent2"/>
                </a:solidFill>
                <a:latin typeface="Consolas" pitchFamily="34" charset="0"/>
                <a:ea typeface="Consolas" pitchFamily="34" charset="-122"/>
                <a:cs typeface="Consolas" pitchFamily="34" charset="-120"/>
              </a:rPr>
              <a:t>v10</a:t>
            </a:r>
            <a:endParaRPr lang="en-US" sz="1300" dirty="0"/>
          </a:p>
        </p:txBody>
      </p:sp>
      <p:sp>
        <p:nvSpPr>
          <p:cNvPr id="27" name="box counters"/>
          <p:cNvSpPr/>
          <p:nvPr/>
        </p:nvSpPr>
        <p:spPr>
          <a:xfrm>
            <a:off x="457200" y="4572000"/>
            <a:ext cx="2377440" cy="1371600"/>
          </a:xfrm>
          <a:prstGeom prst="roundRect">
            <a:avLst>
              <a:gd name="adj" fmla="val 8000"/>
            </a:avLst>
          </a:prstGeom>
          <a:solidFill>
            <a:schemeClr val="tx2"/>
          </a:solidFill>
          <a:ln w="19050">
            <a:solidFill>
              <a:schemeClr val="accent3"/>
            </a:solidFill>
            <a:prstDash val="solid"/>
          </a:ln>
        </p:spPr>
      </p:sp>
      <p:sp>
        <p:nvSpPr>
          <p:cNvPr id="28" name="Text 26"/>
          <p:cNvSpPr txBox="1"/>
          <p:nvPr/>
        </p:nvSpPr>
        <p:spPr>
          <a:xfrm>
            <a:off x="640080" y="4709160"/>
            <a:ext cx="201168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counters</a:t>
            </a:r>
            <a:endParaRPr lang="en-US" sz="2000" dirty="0"/>
          </a:p>
        </p:txBody>
      </p:sp>
      <p:sp>
        <p:nvSpPr>
          <p:cNvPr id="29" name="Text 27"/>
          <p:cNvSpPr txBox="1"/>
          <p:nvPr/>
        </p:nvSpPr>
        <p:spPr>
          <a:xfrm>
            <a:off x="640080" y="5166360"/>
            <a:ext cx="2011680" cy="640080"/>
          </a:xfrm>
          <a:prstGeom prst="rect">
            <a:avLst/>
          </a:prstGeom>
          <a:noFill/>
          <a:ln/>
        </p:spPr>
        <p:txBody>
          <a:bodyPr wrap="square" lIns="0" tIns="0" rIns="0" bIns="0" rtlCol="0" anchor="t"/>
          <a:lstStyle/>
          <a:p>
            <a:pPr indent="0" marL="0">
              <a:buNone/>
            </a:pPr>
            <a:r>
              <a:rPr lang="en-US" sz="1400" dirty="0">
                <a:solidFill>
                  <a:schemeClr val="bg2"/>
                </a:solidFill>
              </a:rPr>
              <a:t>atomic submitted / completed, read without a lock</a:t>
            </a:r>
            <a:endParaRPr lang="en-US" sz="1400" dirty="0"/>
          </a:p>
        </p:txBody>
      </p:sp>
      <p:sp>
        <p:nvSpPr>
          <p:cNvPr id="30" name="Text 28"/>
          <p:cNvSpPr txBox="1"/>
          <p:nvPr/>
        </p:nvSpPr>
        <p:spPr>
          <a:xfrm>
            <a:off x="1691640" y="4242816"/>
            <a:ext cx="1143000" cy="274320"/>
          </a:xfrm>
          <a:prstGeom prst="rect">
            <a:avLst/>
          </a:prstGeom>
          <a:noFill/>
          <a:ln/>
        </p:spPr>
        <p:txBody>
          <a:bodyPr wrap="square" lIns="0" tIns="0" rIns="0" bIns="0" rtlCol="0" anchor="ctr"/>
          <a:lstStyle/>
          <a:p>
            <a:pPr algn="r" indent="0" marL="0">
              <a:buNone/>
            </a:pPr>
            <a:r>
              <a:rPr lang="en-US" sz="1300" b="1" dirty="0">
                <a:solidFill>
                  <a:schemeClr val="accent3"/>
                </a:solidFill>
                <a:latin typeface="Consolas" pitchFamily="34" charset="0"/>
                <a:ea typeface="Consolas" pitchFamily="34" charset="-122"/>
                <a:cs typeface="Consolas" pitchFamily="34" charset="-120"/>
              </a:rPr>
              <a:t>v11</a:t>
            </a:r>
            <a:endParaRPr lang="en-US" sz="1300" dirty="0"/>
          </a:p>
        </p:txBody>
      </p:sp>
      <p:sp>
        <p:nvSpPr>
          <p:cNvPr id="31" name="Shape 29"/>
          <p:cNvSpPr/>
          <p:nvPr/>
        </p:nvSpPr>
        <p:spPr>
          <a:xfrm>
            <a:off x="9052560" y="4251960"/>
            <a:ext cx="0" cy="1005840"/>
          </a:xfrm>
          <a:prstGeom prst="line">
            <a:avLst/>
          </a:prstGeom>
          <a:noFill/>
          <a:ln w="25400">
            <a:solidFill>
              <a:schemeClr val="bg2"/>
            </a:solidFill>
            <a:prstDash val="solid"/>
          </a:ln>
        </p:spPr>
      </p:sp>
      <p:sp>
        <p:nvSpPr>
          <p:cNvPr id="32" name="Shape 30"/>
          <p:cNvSpPr/>
          <p:nvPr/>
        </p:nvSpPr>
        <p:spPr>
          <a:xfrm>
            <a:off x="7315200" y="5257800"/>
            <a:ext cx="1737360" cy="0"/>
          </a:xfrm>
          <a:prstGeom prst="line">
            <a:avLst/>
          </a:prstGeom>
          <a:noFill/>
          <a:ln w="25400">
            <a:solidFill>
              <a:schemeClr val="bg2"/>
            </a:solidFill>
            <a:prstDash val="solid"/>
            <a:headEnd type="triangle"/>
          </a:ln>
        </p:spPr>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11480" y="292608"/>
            <a:ext cx="11338560" cy="685800"/>
          </a:xfrm>
          <a:prstGeom prst="rect">
            <a:avLst/>
          </a:prstGeom>
          <a:noFill/>
          <a:ln/>
        </p:spPr>
        <p:txBody>
          <a:bodyPr wrap="square" lIns="0" tIns="0" rIns="0" bIns="0" rtlCol="0" anchor="ctr"/>
          <a:lstStyle/>
          <a:p>
            <a:pPr algn="l" indent="0" marL="0">
              <a:buNone/>
            </a:pPr>
            <a:r>
              <a:rPr lang="en-US" sz="2800" b="1" dirty="0">
                <a:solidFill>
                  <a:schemeClr val="bg1"/>
                </a:solidFill>
              </a:rPr>
              <a:t>The queue, three ways: measured, not guessed</a:t>
            </a:r>
            <a:endParaRPr lang="en-US" sz="2800" dirty="0"/>
          </a:p>
        </p:txBody>
      </p:sp>
      <p:sp>
        <p:nvSpPr>
          <p:cNvPr id="3" name="card ThreadSafeQueue"/>
          <p:cNvSpPr/>
          <p:nvPr/>
        </p:nvSpPr>
        <p:spPr>
          <a:xfrm>
            <a:off x="411480" y="1325880"/>
            <a:ext cx="3611880" cy="4251960"/>
          </a:xfrm>
          <a:prstGeom prst="roundRect">
            <a:avLst>
              <a:gd name="adj" fmla="val 3038"/>
            </a:avLst>
          </a:prstGeom>
          <a:solidFill>
            <a:schemeClr val="tx2"/>
          </a:solidFill>
          <a:ln w="19050">
            <a:solidFill>
              <a:schemeClr val="accent1"/>
            </a:solidFill>
            <a:prstDash val="solid"/>
          </a:ln>
        </p:spPr>
      </p:sp>
      <p:sp>
        <p:nvSpPr>
          <p:cNvPr id="4" name="Text 2"/>
          <p:cNvSpPr txBox="1"/>
          <p:nvPr/>
        </p:nvSpPr>
        <p:spPr>
          <a:xfrm>
            <a:off x="640080" y="1508760"/>
            <a:ext cx="251460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ThreadSafeQueue</a:t>
            </a:r>
            <a:endParaRPr lang="en-US" sz="2000" dirty="0"/>
          </a:p>
        </p:txBody>
      </p:sp>
      <p:sp>
        <p:nvSpPr>
          <p:cNvPr id="5" name="Text 3"/>
          <p:cNvSpPr txBox="1"/>
          <p:nvPr/>
        </p:nvSpPr>
        <p:spPr>
          <a:xfrm>
            <a:off x="3108960" y="1508760"/>
            <a:ext cx="685800" cy="411480"/>
          </a:xfrm>
          <a:prstGeom prst="rect">
            <a:avLst/>
          </a:prstGeom>
          <a:noFill/>
          <a:ln/>
        </p:spPr>
        <p:txBody>
          <a:bodyPr wrap="square" lIns="0" tIns="0" rIns="0" bIns="0" rtlCol="0" anchor="ctr"/>
          <a:lstStyle/>
          <a:p>
            <a:pPr algn="r" indent="0" marL="0">
              <a:buNone/>
            </a:pPr>
            <a:r>
              <a:rPr lang="en-US" sz="1600" b="1" dirty="0">
                <a:solidFill>
                  <a:schemeClr val="accent1"/>
                </a:solidFill>
                <a:latin typeface="Consolas" pitchFamily="34" charset="0"/>
                <a:ea typeface="Consolas" pitchFamily="34" charset="-122"/>
                <a:cs typeface="Consolas" pitchFamily="34" charset="-120"/>
              </a:rPr>
              <a:t>v7</a:t>
            </a:r>
            <a:endParaRPr lang="en-US" sz="1600" dirty="0"/>
          </a:p>
        </p:txBody>
      </p:sp>
      <p:sp>
        <p:nvSpPr>
          <p:cNvPr id="6" name="Text 4"/>
          <p:cNvSpPr txBox="1"/>
          <p:nvPr/>
        </p:nvSpPr>
        <p:spPr>
          <a:xfrm>
            <a:off x="640080" y="2103120"/>
            <a:ext cx="3154680" cy="868680"/>
          </a:xfrm>
          <a:prstGeom prst="rect">
            <a:avLst/>
          </a:prstGeom>
          <a:noFill/>
          <a:ln/>
        </p:spPr>
        <p:txBody>
          <a:bodyPr wrap="square" lIns="0" tIns="0" rIns="0" bIns="0" rtlCol="0" anchor="ctr"/>
          <a:lstStyle/>
          <a:p>
            <a:pPr indent="0" marL="0">
              <a:buNone/>
            </a:pPr>
            <a:r>
              <a:rPr lang="en-US" sz="5400" b="1" dirty="0">
                <a:solidFill>
                  <a:schemeClr val="accent1"/>
                </a:solidFill>
              </a:rPr>
              <a:t>5–7</a:t>
            </a:r>
            <a:endParaRPr lang="en-US" sz="5400" dirty="0"/>
          </a:p>
        </p:txBody>
      </p:sp>
      <p:sp>
        <p:nvSpPr>
          <p:cNvPr id="7" name="Text 5"/>
          <p:cNvSpPr txBox="1"/>
          <p:nvPr/>
        </p:nvSpPr>
        <p:spPr>
          <a:xfrm>
            <a:off x="640080" y="2971800"/>
            <a:ext cx="3154680" cy="274320"/>
          </a:xfrm>
          <a:prstGeom prst="rect">
            <a:avLst/>
          </a:prstGeom>
          <a:noFill/>
          <a:ln/>
        </p:spPr>
        <p:txBody>
          <a:bodyPr wrap="square" lIns="0" tIns="0" rIns="0" bIns="0" rtlCol="0" anchor="ctr"/>
          <a:lstStyle/>
          <a:p>
            <a:pPr indent="0" marL="0">
              <a:buNone/>
            </a:pPr>
            <a:r>
              <a:rPr lang="en-US" sz="1300" dirty="0">
                <a:solidFill>
                  <a:schemeClr val="bg2"/>
                </a:solidFill>
              </a:rPr>
              <a:t>million msg/s, saturated</a:t>
            </a:r>
            <a:endParaRPr lang="en-US" sz="1300" dirty="0"/>
          </a:p>
        </p:txBody>
      </p:sp>
      <p:sp>
        <p:nvSpPr>
          <p:cNvPr id="8" name="Text 6"/>
          <p:cNvSpPr txBox="1"/>
          <p:nvPr/>
        </p:nvSpPr>
        <p:spPr>
          <a:xfrm>
            <a:off x="640080" y="3383280"/>
            <a:ext cx="3154680" cy="457200"/>
          </a:xfrm>
          <a:prstGeom prst="rect">
            <a:avLst/>
          </a:prstGeom>
          <a:noFill/>
          <a:ln/>
        </p:spPr>
        <p:txBody>
          <a:bodyPr wrap="square" lIns="0" tIns="0" rIns="0" bIns="0" rtlCol="0" anchor="ctr"/>
          <a:lstStyle/>
          <a:p>
            <a:pPr indent="0" marL="0">
              <a:buNone/>
            </a:pPr>
            <a:r>
              <a:rPr lang="en-US" sz="2600" b="1" dirty="0">
                <a:solidFill>
                  <a:schemeClr val="bg1"/>
                </a:solidFill>
              </a:rPr>
              <a:t>5–10 µs</a:t>
            </a:r>
            <a:endParaRPr lang="en-US" sz="2600" dirty="0"/>
          </a:p>
        </p:txBody>
      </p:sp>
      <p:sp>
        <p:nvSpPr>
          <p:cNvPr id="9" name="Text 7"/>
          <p:cNvSpPr txBox="1"/>
          <p:nvPr/>
        </p:nvSpPr>
        <p:spPr>
          <a:xfrm>
            <a:off x="640080" y="3840480"/>
            <a:ext cx="3154680" cy="274320"/>
          </a:xfrm>
          <a:prstGeom prst="rect">
            <a:avLst/>
          </a:prstGeom>
          <a:noFill/>
          <a:ln/>
        </p:spPr>
        <p:txBody>
          <a:bodyPr wrap="square" lIns="0" tIns="0" rIns="0" bIns="0" rtlCol="0" anchor="ctr"/>
          <a:lstStyle/>
          <a:p>
            <a:pPr indent="0" marL="0">
              <a:buNone/>
            </a:pPr>
            <a:r>
              <a:rPr lang="en-US" sz="1300" dirty="0">
                <a:solidFill>
                  <a:schemeClr val="bg2"/>
                </a:solidFill>
              </a:rPr>
              <a:t>typical latency at 500k msg/s</a:t>
            </a:r>
            <a:endParaRPr lang="en-US" sz="1300" dirty="0"/>
          </a:p>
        </p:txBody>
      </p:sp>
      <p:sp>
        <p:nvSpPr>
          <p:cNvPr id="10" name="Text 8"/>
          <p:cNvSpPr txBox="1"/>
          <p:nvPr/>
        </p:nvSpPr>
        <p:spPr>
          <a:xfrm>
            <a:off x="640080" y="4297680"/>
            <a:ext cx="3154680" cy="1143000"/>
          </a:xfrm>
          <a:prstGeom prst="rect">
            <a:avLst/>
          </a:prstGeom>
          <a:noFill/>
          <a:ln/>
        </p:spPr>
        <p:txBody>
          <a:bodyPr wrap="square" lIns="0" tIns="0" rIns="0" bIns="0" rtlCol="0" anchor="t"/>
          <a:lstStyle/>
          <a:p>
            <a:pPr indent="0" marL="0">
              <a:buNone/>
            </a:pPr>
            <a:r>
              <a:rPr lang="en-US" sz="1500" dirty="0">
                <a:solidFill>
                  <a:schemeClr val="bg1"/>
                </a:solidFill>
              </a:rPr>
              <a:t>Any number of producers and consumers. One mutex guards everything.</a:t>
            </a:r>
            <a:endParaRPr lang="en-US" sz="1500" dirty="0"/>
          </a:p>
        </p:txBody>
      </p:sp>
      <p:sp>
        <p:nvSpPr>
          <p:cNvPr id="11" name="card TwoLockQueue"/>
          <p:cNvSpPr/>
          <p:nvPr/>
        </p:nvSpPr>
        <p:spPr>
          <a:xfrm>
            <a:off x="4251960" y="1325880"/>
            <a:ext cx="3611880" cy="4251960"/>
          </a:xfrm>
          <a:prstGeom prst="roundRect">
            <a:avLst>
              <a:gd name="adj" fmla="val 3038"/>
            </a:avLst>
          </a:prstGeom>
          <a:solidFill>
            <a:schemeClr val="tx2"/>
          </a:solidFill>
          <a:ln w="19050">
            <a:solidFill>
              <a:schemeClr val="accent3"/>
            </a:solidFill>
            <a:prstDash val="solid"/>
          </a:ln>
        </p:spPr>
      </p:sp>
      <p:sp>
        <p:nvSpPr>
          <p:cNvPr id="12" name="Text 10"/>
          <p:cNvSpPr txBox="1"/>
          <p:nvPr/>
        </p:nvSpPr>
        <p:spPr>
          <a:xfrm>
            <a:off x="4480560" y="1508760"/>
            <a:ext cx="251460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TwoLockQueue</a:t>
            </a:r>
            <a:endParaRPr lang="en-US" sz="2000" dirty="0"/>
          </a:p>
        </p:txBody>
      </p:sp>
      <p:sp>
        <p:nvSpPr>
          <p:cNvPr id="13" name="Text 11"/>
          <p:cNvSpPr txBox="1"/>
          <p:nvPr/>
        </p:nvSpPr>
        <p:spPr>
          <a:xfrm>
            <a:off x="6949440" y="1508760"/>
            <a:ext cx="685800" cy="411480"/>
          </a:xfrm>
          <a:prstGeom prst="rect">
            <a:avLst/>
          </a:prstGeom>
          <a:noFill/>
          <a:ln/>
        </p:spPr>
        <p:txBody>
          <a:bodyPr wrap="square" lIns="0" tIns="0" rIns="0" bIns="0" rtlCol="0" anchor="ctr"/>
          <a:lstStyle/>
          <a:p>
            <a:pPr algn="r" indent="0" marL="0">
              <a:buNone/>
            </a:pPr>
            <a:r>
              <a:rPr lang="en-US" sz="1600" b="1" dirty="0">
                <a:solidFill>
                  <a:schemeClr val="accent3"/>
                </a:solidFill>
                <a:latin typeface="Consolas" pitchFamily="34" charset="0"/>
                <a:ea typeface="Consolas" pitchFamily="34" charset="-122"/>
                <a:cs typeface="Consolas" pitchFamily="34" charset="-120"/>
              </a:rPr>
              <a:t>v12</a:t>
            </a:r>
            <a:endParaRPr lang="en-US" sz="1600" dirty="0"/>
          </a:p>
        </p:txBody>
      </p:sp>
      <p:sp>
        <p:nvSpPr>
          <p:cNvPr id="14" name="Text 12"/>
          <p:cNvSpPr txBox="1"/>
          <p:nvPr/>
        </p:nvSpPr>
        <p:spPr>
          <a:xfrm>
            <a:off x="4480560" y="2103120"/>
            <a:ext cx="3154680" cy="868680"/>
          </a:xfrm>
          <a:prstGeom prst="rect">
            <a:avLst/>
          </a:prstGeom>
          <a:noFill/>
          <a:ln/>
        </p:spPr>
        <p:txBody>
          <a:bodyPr wrap="square" lIns="0" tIns="0" rIns="0" bIns="0" rtlCol="0" anchor="ctr"/>
          <a:lstStyle/>
          <a:p>
            <a:pPr indent="0" marL="0">
              <a:buNone/>
            </a:pPr>
            <a:r>
              <a:rPr lang="en-US" sz="5400" b="1" dirty="0">
                <a:solidFill>
                  <a:schemeClr val="accent3"/>
                </a:solidFill>
              </a:rPr>
              <a:t>2.2–2.4</a:t>
            </a:r>
            <a:endParaRPr lang="en-US" sz="5400" dirty="0"/>
          </a:p>
        </p:txBody>
      </p:sp>
      <p:sp>
        <p:nvSpPr>
          <p:cNvPr id="15" name="Text 13"/>
          <p:cNvSpPr txBox="1"/>
          <p:nvPr/>
        </p:nvSpPr>
        <p:spPr>
          <a:xfrm>
            <a:off x="4480560" y="2971800"/>
            <a:ext cx="3154680" cy="274320"/>
          </a:xfrm>
          <a:prstGeom prst="rect">
            <a:avLst/>
          </a:prstGeom>
          <a:noFill/>
          <a:ln/>
        </p:spPr>
        <p:txBody>
          <a:bodyPr wrap="square" lIns="0" tIns="0" rIns="0" bIns="0" rtlCol="0" anchor="ctr"/>
          <a:lstStyle/>
          <a:p>
            <a:pPr indent="0" marL="0">
              <a:buNone/>
            </a:pPr>
            <a:r>
              <a:rPr lang="en-US" sz="1300" dirty="0">
                <a:solidFill>
                  <a:schemeClr val="bg2"/>
                </a:solidFill>
              </a:rPr>
              <a:t>million msg/s, saturated</a:t>
            </a:r>
            <a:endParaRPr lang="en-US" sz="1300" dirty="0"/>
          </a:p>
        </p:txBody>
      </p:sp>
      <p:sp>
        <p:nvSpPr>
          <p:cNvPr id="16" name="Text 14"/>
          <p:cNvSpPr txBox="1"/>
          <p:nvPr/>
        </p:nvSpPr>
        <p:spPr>
          <a:xfrm>
            <a:off x="4480560" y="3383280"/>
            <a:ext cx="3154680" cy="457200"/>
          </a:xfrm>
          <a:prstGeom prst="rect">
            <a:avLst/>
          </a:prstGeom>
          <a:noFill/>
          <a:ln/>
        </p:spPr>
        <p:txBody>
          <a:bodyPr wrap="square" lIns="0" tIns="0" rIns="0" bIns="0" rtlCol="0" anchor="ctr"/>
          <a:lstStyle/>
          <a:p>
            <a:pPr indent="0" marL="0">
              <a:buNone/>
            </a:pPr>
            <a:r>
              <a:rPr lang="en-US" sz="2600" b="1" dirty="0">
                <a:solidFill>
                  <a:schemeClr val="bg1"/>
                </a:solidFill>
              </a:rPr>
              <a:t>&gt; 1 ms</a:t>
            </a:r>
            <a:endParaRPr lang="en-US" sz="2600" dirty="0"/>
          </a:p>
        </p:txBody>
      </p:sp>
      <p:sp>
        <p:nvSpPr>
          <p:cNvPr id="17" name="Text 15"/>
          <p:cNvSpPr txBox="1"/>
          <p:nvPr/>
        </p:nvSpPr>
        <p:spPr>
          <a:xfrm>
            <a:off x="4480560" y="3840480"/>
            <a:ext cx="3154680" cy="274320"/>
          </a:xfrm>
          <a:prstGeom prst="rect">
            <a:avLst/>
          </a:prstGeom>
          <a:noFill/>
          <a:ln/>
        </p:spPr>
        <p:txBody>
          <a:bodyPr wrap="square" lIns="0" tIns="0" rIns="0" bIns="0" rtlCol="0" anchor="ctr"/>
          <a:lstStyle/>
          <a:p>
            <a:pPr indent="0" marL="0">
              <a:buNone/>
            </a:pPr>
            <a:r>
              <a:rPr lang="en-US" sz="1300" dirty="0">
                <a:solidFill>
                  <a:schemeClr val="bg2"/>
                </a:solidFill>
              </a:rPr>
              <a:t>typical latency at 500k msg/s</a:t>
            </a:r>
            <a:endParaRPr lang="en-US" sz="1300" dirty="0"/>
          </a:p>
        </p:txBody>
      </p:sp>
      <p:sp>
        <p:nvSpPr>
          <p:cNvPr id="18" name="Text 16"/>
          <p:cNvSpPr txBox="1"/>
          <p:nvPr/>
        </p:nvSpPr>
        <p:spPr>
          <a:xfrm>
            <a:off x="4480560" y="4297680"/>
            <a:ext cx="3154680" cy="1143000"/>
          </a:xfrm>
          <a:prstGeom prst="rect">
            <a:avLst/>
          </a:prstGeom>
          <a:noFill/>
          <a:ln/>
        </p:spPr>
        <p:txBody>
          <a:bodyPr wrap="square" lIns="0" tIns="0" rIns="0" bIns="0" rtlCol="0" anchor="t"/>
          <a:lstStyle/>
          <a:p>
            <a:pPr indent="0" marL="0">
              <a:buNone/>
            </a:pPr>
            <a:r>
              <a:rPr lang="en-US" sz="1500" dirty="0">
                <a:solidFill>
                  <a:schemeClr val="bg1"/>
                </a:solidFill>
              </a:rPr>
              <a:t>Separate head and tail locks, but every push allocates a node. Finer locks lost here.</a:t>
            </a:r>
            <a:endParaRPr lang="en-US" sz="1500" dirty="0"/>
          </a:p>
        </p:txBody>
      </p:sp>
      <p:sp>
        <p:nvSpPr>
          <p:cNvPr id="19" name="card SpscRing"/>
          <p:cNvSpPr/>
          <p:nvPr/>
        </p:nvSpPr>
        <p:spPr>
          <a:xfrm>
            <a:off x="8092440" y="1325880"/>
            <a:ext cx="3611880" cy="4251960"/>
          </a:xfrm>
          <a:prstGeom prst="roundRect">
            <a:avLst>
              <a:gd name="adj" fmla="val 3038"/>
            </a:avLst>
          </a:prstGeom>
          <a:solidFill>
            <a:schemeClr val="tx2"/>
          </a:solidFill>
          <a:ln w="19050">
            <a:solidFill>
              <a:schemeClr val="accent2"/>
            </a:solidFill>
            <a:prstDash val="solid"/>
          </a:ln>
        </p:spPr>
      </p:sp>
      <p:sp>
        <p:nvSpPr>
          <p:cNvPr id="20" name="Text 18"/>
          <p:cNvSpPr txBox="1"/>
          <p:nvPr/>
        </p:nvSpPr>
        <p:spPr>
          <a:xfrm>
            <a:off x="8321040" y="1508760"/>
            <a:ext cx="2514600" cy="411480"/>
          </a:xfrm>
          <a:prstGeom prst="rect">
            <a:avLst/>
          </a:prstGeom>
          <a:noFill/>
          <a:ln/>
        </p:spPr>
        <p:txBody>
          <a:bodyPr wrap="square" lIns="0" tIns="0" rIns="0" bIns="0" rtlCol="0" anchor="ctr"/>
          <a:lstStyle/>
          <a:p>
            <a:pPr indent="0" marL="0">
              <a:buNone/>
            </a:pPr>
            <a:r>
              <a:rPr lang="en-US" sz="2000" b="1" dirty="0">
                <a:solidFill>
                  <a:schemeClr val="bg1"/>
                </a:solidFill>
                <a:latin typeface="Consolas" pitchFamily="34" charset="0"/>
                <a:ea typeface="Consolas" pitchFamily="34" charset="-122"/>
                <a:cs typeface="Consolas" pitchFamily="34" charset="-120"/>
              </a:rPr>
              <a:t>SpscRing</a:t>
            </a:r>
            <a:endParaRPr lang="en-US" sz="2000" dirty="0"/>
          </a:p>
        </p:txBody>
      </p:sp>
      <p:sp>
        <p:nvSpPr>
          <p:cNvPr id="21" name="Text 19"/>
          <p:cNvSpPr txBox="1"/>
          <p:nvPr/>
        </p:nvSpPr>
        <p:spPr>
          <a:xfrm>
            <a:off x="10789920" y="1508760"/>
            <a:ext cx="685800" cy="411480"/>
          </a:xfrm>
          <a:prstGeom prst="rect">
            <a:avLst/>
          </a:prstGeom>
          <a:noFill/>
          <a:ln/>
        </p:spPr>
        <p:txBody>
          <a:bodyPr wrap="square" lIns="0" tIns="0" rIns="0" bIns="0" rtlCol="0" anchor="ctr"/>
          <a:lstStyle/>
          <a:p>
            <a:pPr algn="r" indent="0" marL="0">
              <a:buNone/>
            </a:pPr>
            <a:r>
              <a:rPr lang="en-US" sz="1600" b="1" dirty="0">
                <a:solidFill>
                  <a:schemeClr val="accent2"/>
                </a:solidFill>
                <a:latin typeface="Consolas" pitchFamily="34" charset="0"/>
                <a:ea typeface="Consolas" pitchFamily="34" charset="-122"/>
                <a:cs typeface="Consolas" pitchFamily="34" charset="-120"/>
              </a:rPr>
              <a:t>v13</a:t>
            </a:r>
            <a:endParaRPr lang="en-US" sz="1600" dirty="0"/>
          </a:p>
        </p:txBody>
      </p:sp>
      <p:sp>
        <p:nvSpPr>
          <p:cNvPr id="22" name="Text 20"/>
          <p:cNvSpPr txBox="1"/>
          <p:nvPr/>
        </p:nvSpPr>
        <p:spPr>
          <a:xfrm>
            <a:off x="8321040" y="2103120"/>
            <a:ext cx="3154680" cy="868680"/>
          </a:xfrm>
          <a:prstGeom prst="rect">
            <a:avLst/>
          </a:prstGeom>
          <a:noFill/>
          <a:ln/>
        </p:spPr>
        <p:txBody>
          <a:bodyPr wrap="square" lIns="0" tIns="0" rIns="0" bIns="0" rtlCol="0" anchor="ctr"/>
          <a:lstStyle/>
          <a:p>
            <a:pPr indent="0" marL="0">
              <a:buNone/>
            </a:pPr>
            <a:r>
              <a:rPr lang="en-US" sz="5400" b="1" dirty="0">
                <a:solidFill>
                  <a:schemeClr val="accent2"/>
                </a:solidFill>
              </a:rPr>
              <a:t>11–219</a:t>
            </a:r>
            <a:endParaRPr lang="en-US" sz="5400" dirty="0"/>
          </a:p>
        </p:txBody>
      </p:sp>
      <p:sp>
        <p:nvSpPr>
          <p:cNvPr id="23" name="Text 21"/>
          <p:cNvSpPr txBox="1"/>
          <p:nvPr/>
        </p:nvSpPr>
        <p:spPr>
          <a:xfrm>
            <a:off x="8321040" y="2971800"/>
            <a:ext cx="3154680" cy="274320"/>
          </a:xfrm>
          <a:prstGeom prst="rect">
            <a:avLst/>
          </a:prstGeom>
          <a:noFill/>
          <a:ln/>
        </p:spPr>
        <p:txBody>
          <a:bodyPr wrap="square" lIns="0" tIns="0" rIns="0" bIns="0" rtlCol="0" anchor="ctr"/>
          <a:lstStyle/>
          <a:p>
            <a:pPr indent="0" marL="0">
              <a:buNone/>
            </a:pPr>
            <a:r>
              <a:rPr lang="en-US" sz="1300" dirty="0">
                <a:solidFill>
                  <a:schemeClr val="bg2"/>
                </a:solidFill>
              </a:rPr>
              <a:t>million msg/s, saturated</a:t>
            </a:r>
            <a:endParaRPr lang="en-US" sz="1300" dirty="0"/>
          </a:p>
        </p:txBody>
      </p:sp>
      <p:sp>
        <p:nvSpPr>
          <p:cNvPr id="24" name="Text 22"/>
          <p:cNvSpPr txBox="1"/>
          <p:nvPr/>
        </p:nvSpPr>
        <p:spPr>
          <a:xfrm>
            <a:off x="8321040" y="3383280"/>
            <a:ext cx="3154680" cy="457200"/>
          </a:xfrm>
          <a:prstGeom prst="rect">
            <a:avLst/>
          </a:prstGeom>
          <a:noFill/>
          <a:ln/>
        </p:spPr>
        <p:txBody>
          <a:bodyPr wrap="square" lIns="0" tIns="0" rIns="0" bIns="0" rtlCol="0" anchor="ctr"/>
          <a:lstStyle/>
          <a:p>
            <a:pPr indent="0" marL="0">
              <a:buNone/>
            </a:pPr>
            <a:r>
              <a:rPr lang="en-US" sz="2600" b="1" dirty="0">
                <a:solidFill>
                  <a:schemeClr val="bg1"/>
                </a:solidFill>
              </a:rPr>
              <a:t>&lt; 1 µs</a:t>
            </a:r>
            <a:endParaRPr lang="en-US" sz="2600" dirty="0"/>
          </a:p>
        </p:txBody>
      </p:sp>
      <p:sp>
        <p:nvSpPr>
          <p:cNvPr id="25" name="Text 23"/>
          <p:cNvSpPr txBox="1"/>
          <p:nvPr/>
        </p:nvSpPr>
        <p:spPr>
          <a:xfrm>
            <a:off x="8321040" y="3840480"/>
            <a:ext cx="3154680" cy="274320"/>
          </a:xfrm>
          <a:prstGeom prst="rect">
            <a:avLst/>
          </a:prstGeom>
          <a:noFill/>
          <a:ln/>
        </p:spPr>
        <p:txBody>
          <a:bodyPr wrap="square" lIns="0" tIns="0" rIns="0" bIns="0" rtlCol="0" anchor="ctr"/>
          <a:lstStyle/>
          <a:p>
            <a:pPr indent="0" marL="0">
              <a:buNone/>
            </a:pPr>
            <a:r>
              <a:rPr lang="en-US" sz="1300" dirty="0">
                <a:solidFill>
                  <a:schemeClr val="bg2"/>
                </a:solidFill>
              </a:rPr>
              <a:t>typical latency at 500k msg/s</a:t>
            </a:r>
            <a:endParaRPr lang="en-US" sz="1300" dirty="0"/>
          </a:p>
        </p:txBody>
      </p:sp>
      <p:sp>
        <p:nvSpPr>
          <p:cNvPr id="26" name="Text 24"/>
          <p:cNvSpPr txBox="1"/>
          <p:nvPr/>
        </p:nvSpPr>
        <p:spPr>
          <a:xfrm>
            <a:off x="8321040" y="4297680"/>
            <a:ext cx="3154680" cy="1143000"/>
          </a:xfrm>
          <a:prstGeom prst="rect">
            <a:avLst/>
          </a:prstGeom>
          <a:noFill/>
          <a:ln/>
        </p:spPr>
        <p:txBody>
          <a:bodyPr wrap="square" lIns="0" tIns="0" rIns="0" bIns="0" rtlCol="0" anchor="t"/>
          <a:lstStyle/>
          <a:p>
            <a:pPr indent="0" marL="0">
              <a:buNone/>
            </a:pPr>
            <a:r>
              <a:rPr lang="en-US" sz="1500" dirty="0">
                <a:solidFill>
                  <a:schemeClr val="bg1"/>
                </a:solidFill>
              </a:rPr>
              <a:t>No lock, no allocation. Exactly one producer and one consumer, or items are lost.</a:t>
            </a:r>
            <a:endParaRPr lang="en-US" sz="1500" dirty="0"/>
          </a:p>
        </p:txBody>
      </p:sp>
      <p:sp>
        <p:nvSpPr>
          <p:cNvPr id="27" name="Text 25"/>
          <p:cNvSpPr txBox="1"/>
          <p:nvPr/>
        </p:nvSpPr>
        <p:spPr>
          <a:xfrm>
            <a:off x="411480" y="5760720"/>
            <a:ext cx="11338560" cy="457200"/>
          </a:xfrm>
          <a:prstGeom prst="rect">
            <a:avLst/>
          </a:prstGeom>
          <a:noFill/>
          <a:ln/>
        </p:spPr>
        <p:txBody>
          <a:bodyPr wrap="square" lIns="0" tIns="0" rIns="0" bIns="0" rtlCol="0" anchor="t"/>
          <a:lstStyle/>
          <a:p>
            <a:pPr indent="0" marL="0">
              <a:buNone/>
            </a:pPr>
            <a:r>
              <a:rPr lang="en-US" sz="1400" dirty="0">
                <a:solidFill>
                  <a:schemeClr val="bg2"/>
                </a:solidFill>
              </a:rPr>
              <a:t>1 producer, 1 consumer, master/v14/bench. Ranges span repeated runs on one laptop, on battery and plugged in. Your numbers will differ: run it.</a:t>
            </a:r>
            <a:endParaRPr lang="en-US" sz="14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2011680"/>
          </a:xfrm>
          <a:prstGeom prst="rect">
            <a:avLst/>
          </a:prstGeom>
          <a:noFill/>
          <a:ln/>
        </p:spPr>
        <p:txBody>
          <a:bodyPr wrap="square" lIns="0" tIns="0" rIns="0" bIns="0" rtlCol="0" anchor="b"/>
          <a:lstStyle/>
          <a:p>
            <a:pPr algn="l" indent="0" marL="0">
              <a:buNone/>
            </a:pPr>
            <a:r>
              <a:rPr lang="en-US" sz="5000" b="1" dirty="0">
                <a:solidFill>
                  <a:schemeClr val="bg1"/>
                </a:solidFill>
              </a:rPr>
              <a:t>15 versions, one pool, three queues.</a:t>
            </a:r>
            <a:endParaRPr lang="en-US" sz="5000" dirty="0"/>
          </a:p>
          <a:p>
            <a:pPr algn="l" indent="0" marL="0">
              <a:buNone/>
            </a:pPr>
            <a:r>
              <a:rPr lang="en-US" sz="5000" b="1" dirty="0">
                <a:solidFill>
                  <a:schemeClr val="bg1"/>
                </a:solidFill>
              </a:rPr>
              <a:t>Every line has a reason.</a:t>
            </a:r>
            <a:endParaRPr lang="en-US" sz="5000" dirty="0"/>
          </a:p>
        </p:txBody>
      </p:sp>
      <p:sp>
        <p:nvSpPr>
          <p:cNvPr id="3" name="Text 0"/>
          <p:cNvSpPr/>
          <p:nvPr>
            <p:ph idx="101" type="body" hasCustomPrompt="1"/>
          </p:nvPr>
        </p:nvSpPr>
        <p:spPr>
          <a:xfrm>
            <a:off x="731520" y="3291840"/>
            <a:ext cx="10515600" cy="822960"/>
          </a:xfrm>
          <a:prstGeom prst="rect">
            <a:avLst/>
          </a:prstGeom>
          <a:noFill/>
          <a:ln/>
        </p:spPr>
        <p:txBody>
          <a:bodyPr wrap="square" lIns="0" tIns="0" rIns="0" bIns="0" rtlCol="0" anchor="t"/>
          <a:lstStyle/>
          <a:p>
            <a:pPr algn="l" indent="0" marL="0">
              <a:buNone/>
            </a:pPr>
            <a:r>
              <a:rPr lang="en-US" sz="2000" dirty="0">
                <a:solidFill>
                  <a:schemeClr val="bg2"/>
                </a:solidFill>
                <a:latin typeface="Consolas" pitchFamily="34" charset="0"/>
                <a:ea typeface="Consolas" pitchFamily="34" charset="-122"/>
                <a:cs typeface="Consolas" pitchFamily="34" charset="-120"/>
              </a:rPr>
              <a:t>master/v0 … v14   ·   ./build_all.sh --demos</a:t>
            </a:r>
            <a:endParaRPr lang="en-US" sz="2000" dirty="0"/>
          </a:p>
          <a:p>
            <a:pPr algn="l" indent="0" marL="0">
              <a:buNone/>
            </a:pPr>
            <a:r>
              <a:rPr lang="en-US" sz="2000" dirty="0">
                <a:solidFill>
                  <a:schemeClr val="bg2"/>
                </a:solidFill>
                <a:latin typeface="Consolas" pitchFamily="34" charset="0"/>
                <a:ea typeface="Consolas" pitchFamily="34" charset="-122"/>
                <a:cs typeface="Consolas" pitchFamily="34" charset="-120"/>
              </a:rPr>
              <a:t>Next: Feed Handler · Custom Allocator · Execution Simulator</a:t>
            </a:r>
            <a:endParaRPr lang="en-US" sz="2000" dirty="0"/>
          </a:p>
        </p:txBody>
      </p:sp>
    </p:spTree>
  </p:cSld>
  <p:clrMapOvr>
    <a:masterClrMapping/>
  </p:clrMapOvr>
</p:sld>
</file>

<file path=ppt/theme/theme1.xml><?xml version="1.0" encoding="utf-8"?>
<a:theme xmlns:a="http://schemas.openxmlformats.org/drawingml/2006/main" name="Queue Changelog">
  <a:themeElements>
    <a:clrScheme name="Queue Changelog">
      <a:dk1>
        <a:srgbClr val="0F1624"/>
      </a:dk1>
      <a:lt1>
        <a:srgbClr val="E6EBF2"/>
      </a:lt1>
      <a:dk2>
        <a:srgbClr val="172235"/>
      </a:dk2>
      <a:lt2>
        <a:srgbClr val="9CA8BC"/>
      </a:lt2>
      <a:accent1>
        <a:srgbClr val="62B6EE"/>
      </a:accent1>
      <a:accent2>
        <a:srgbClr val="F4C95D"/>
      </a:accent2>
      <a:accent3>
        <a:srgbClr val="F0A070"/>
      </a:accent3>
      <a:accent4>
        <a:srgbClr val="1B3A57"/>
      </a:accent4>
      <a:accent5>
        <a:srgbClr val="3A2621"/>
      </a:accent5>
      <a:accent6>
        <a:srgbClr val="B9C3D3"/>
      </a:accent6>
      <a:hlink>
        <a:srgbClr val="62B6EE"/>
      </a:hlink>
      <a:folHlink>
        <a:srgbClr val="9CA8BC"/>
      </a:folHlink>
    </a:clrScheme>
    <a:fontScheme name="Queue Changelo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Queue Changelog</dc:title>
  <dc:subject>PptxGenJS Presentation</dc:subject>
  <dc:creator>C++ Club</dc:creator>
  <cp:lastModifiedBy>C++ Club</cp:lastModifiedBy>
  <cp:revision>1</cp:revision>
  <dcterms:created xsi:type="dcterms:W3CDTF">2026-10-04T06:28:20Z</dcterms:created>
  <dcterms:modified xsi:type="dcterms:W3CDTF">2026-10-04T06:28:20Z</dcterms:modified>
</cp:coreProperties>
</file>