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Lst>
  <p:notesMasterIdLst>
    <p:notesMasterId r:id="rId1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e681e489-6e0a-8721-e16f-729fea790325}">
          <p14:sldIdLst>
            <p14:sldId id="256"/>
            <p14:sldId id="257"/>
          </p14:sldIdLst>
        </p14:section>
        <p14:section name="Part 1 · The queue" id="{6cb05938-fcf3-49df-a174-0c2734d80173}">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Lst>
        </p14:section>
        <p14:section name="Part 2 · The pool" id="{93bbab25-59f7-03d6-d1a1-35366652f489}">
          <p14:sldIdLst>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Part 3 · Faster" id="{819d9780-1984-b504-bb38-c983656f1443}">
          <p14:sldIdLst>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Lst>
        </p14:section>
        <p14:section name="Finish" id="{d31f18b5-6c23-25d0-82f1-81cca25a1d9c}">
          <p14:sldIdLst>
            <p14:sldId id="40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notesMaster" Target="notesMasters/notesMaster1.xml"/><Relationship Id="rId153" Type="http://schemas.openxmlformats.org/officeDocument/2006/relationships/presProps" Target="presProps.xml"/><Relationship Id="rId154" Type="http://schemas.openxmlformats.org/officeDocument/2006/relationships/viewProps" Target="viewProps.xml"/><Relationship Id="rId155" Type="http://schemas.openxmlformats.org/officeDocument/2006/relationships/theme" Target="theme/theme1.xml"/><Relationship Id="rId1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rtlCol="0"/>
          <a:lstStyle>
            <a:lvl1pPr algn="l" indent="0" marL="0">
              <a:buNone/>
              <a:defRPr lang="en-US" sz="2600" b="1" dirty="0">
                <a:solidFill>
                  <a:srgbClr val="1C2430"/>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8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rtlCol="0"/>
          <a:lstStyle>
            <a:lvl1pPr algn="l" indent="0" marL="0">
              <a:buNone/>
              <a:defRPr lang="en-US" sz="26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2103120"/>
            <a:ext cx="10058400" cy="201168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From a broken queue</a:t>
            </a:r>
            <a:endParaRPr lang="en-US" sz="5400" dirty="0"/>
          </a:p>
          <a:p>
            <a:pPr indent="0" marL="0">
              <a:buNone/>
            </a:pPr>
            <a:r>
              <a:rPr lang="en-US" sz="5400" b="1" dirty="0">
                <a:solidFill>
                  <a:srgbClr val="FFFFFF"/>
                </a:solidFill>
                <a:latin typeface="Cambria" pitchFamily="34" charset="0"/>
                <a:ea typeface="Cambria" pitchFamily="34" charset="-122"/>
                <a:cs typeface="Cambria" pitchFamily="34" charset="-120"/>
              </a:rPr>
              <a:t>to a thread pool</a:t>
            </a:r>
            <a:endParaRPr lang="en-US" sz="54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Before you start</a:t>
            </a:r>
            <a:endParaRPr lang="en-US" sz="2600" dirty="0"/>
          </a:p>
        </p:txBody>
      </p:sp>
      <p:sp>
        <p:nvSpPr>
          <p:cNvPr id="3" name="Text 1"/>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Each lesson starts from a problem in our queue and a short program that shows it. The slides give you the real output of every program, and the command to run it yourself, so you can see the same thing on your machine.</a:t>
            </a:r>
            <a:endParaRPr lang="en-US" sz="1500" dirty="0"/>
          </a:p>
        </p:txBody>
      </p:sp>
      <p:sp>
        <p:nvSpPr>
          <p:cNvPr id="4" name="Text 2"/>
          <p:cNvSpPr txBox="1"/>
          <p:nvPr/>
        </p:nvSpPr>
        <p:spPr>
          <a:xfrm>
            <a:off x="502920" y="232257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versions build on each other, so go in order. Every lesson ends with three exercises with their answers. Cover the answer, work it out, then compare.</a:t>
            </a:r>
            <a:endParaRPr lang="en-US" sz="1500" dirty="0"/>
          </a:p>
        </p:txBody>
      </p:sp>
      <p:sp>
        <p:nvSpPr>
          <p:cNvPr id="5" name="Text 3"/>
          <p:cNvSpPr txBox="1"/>
          <p:nvPr/>
        </p:nvSpPr>
        <p:spPr>
          <a:xfrm>
            <a:off x="502920" y="318211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the master folder, read each version's main file (queue.hpp, later pool.hpp and the others) and its tiny examples. The helpers in common/ are tools for tests and timing, so you can skip them.</a:t>
            </a:r>
            <a:endParaRPr lang="en-US" sz="1500" dirty="0"/>
          </a:p>
        </p:txBody>
      </p:sp>
      <p:sp>
        <p:nvSpPr>
          <p:cNvPr id="6" name="Text 4"/>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Building the examples</a:t>
            </a:r>
            <a:endParaRPr lang="en-US" sz="1800" dirty="0"/>
          </a:p>
        </p:txBody>
      </p:sp>
      <p:sp>
        <p:nvSpPr>
          <p:cNvPr id="7" name="Shape 5"/>
          <p:cNvSpPr/>
          <p:nvPr/>
        </p:nvSpPr>
        <p:spPr>
          <a:xfrm>
            <a:off x="6301588" y="1764792"/>
            <a:ext cx="5387188" cy="1023620"/>
          </a:xfrm>
          <a:prstGeom prst="roundRect">
            <a:avLst>
              <a:gd name="adj" fmla="val 5360"/>
            </a:avLst>
          </a:prstGeom>
          <a:solidFill>
            <a:srgbClr val="0F1419"/>
          </a:solidFill>
          <a:ln w="12700">
            <a:solidFill>
              <a:srgbClr val="0F1419"/>
            </a:solidFill>
            <a:prstDash val="solid"/>
          </a:ln>
        </p:spPr>
      </p:sp>
      <p:sp>
        <p:nvSpPr>
          <p:cNvPr id="8" name="Text 6"/>
          <p:cNvSpPr txBox="1"/>
          <p:nvPr/>
        </p:nvSpPr>
        <p:spPr>
          <a:xfrm>
            <a:off x="6484468" y="1901952"/>
            <a:ext cx="5021428" cy="749300"/>
          </a:xfrm>
          <a:prstGeom prst="rect">
            <a:avLst/>
          </a:prstGeom>
          <a:noFill/>
          <a:ln/>
        </p:spPr>
        <p:txBody>
          <a:bodyPr wrap="square" lIns="0" tIns="0" rIns="0" bIns="0" rtlCol="0" anchor="t"/>
          <a:lstStyle/>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cd master</a:t>
            </a:r>
            <a:endParaRPr lang="en-US" sz="1250" dirty="0"/>
          </a:p>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./run.sh v0 tiny            # build and run one program</a:t>
            </a:r>
            <a:endParaRPr lang="en-US" sz="1250" dirty="0"/>
          </a:p>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OPT=-O0 ./run.sh v2 tiny   # -O0 to explore races</a:t>
            </a:r>
            <a:endParaRPr lang="en-US" sz="1250" dirty="0"/>
          </a:p>
          <a:p>
            <a:pPr indent="0" marL="0">
              <a:lnSpc>
                <a:spcPct val="100000"/>
              </a:lnSpc>
              <a:buNone/>
            </a:pPr>
            <a:r>
              <a:rPr lang="en-US" sz="1250" dirty="0">
                <a:solidFill>
                  <a:srgbClr val="FFFFFF"/>
                </a:solidFill>
                <a:latin typeface="Consolas" pitchFamily="34" charset="0"/>
                <a:ea typeface="Consolas" pitchFamily="34" charset="-122"/>
                <a:cs typeface="Consolas" pitchFamily="34" charset="-120"/>
              </a:rPr>
              <a:t>$ ./build_all.sh --demos     # everything, with tests</a:t>
            </a:r>
            <a:endParaRPr lang="en-US" sz="1250" dirty="0"/>
          </a:p>
        </p:txBody>
      </p:sp>
      <p:sp>
        <p:nvSpPr>
          <p:cNvPr id="9" name="Text 7"/>
          <p:cNvSpPr txBox="1"/>
          <p:nvPr/>
        </p:nvSpPr>
        <p:spPr>
          <a:xfrm>
            <a:off x="6301588" y="293471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run.sh builds with -O2 unless you set OPT. Use -O0 when you are chasing a race and -O2 when you are timing something. On Windows use run.bat the same way.</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1  ·  v0 to v7</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Building the queue</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v0    What does a second thread buy us?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    Who owns a thread?</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v2    Two threads, one queue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v3    The lock that never unlocks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v3    Every call is safe, the program is not</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v4    Waiting without burning a core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v5    Does it hold up under load?</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v5    Two queues, two locks, frozen</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v6    The producers are done, the program never exits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v7    A queue of anything</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Where we start</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Over the next fifteen versions we will build one thing: a queue that many threads can use at the same time. By the end it will be the heart of a thread pool, and later the core of the projects we build together. We start with the simplest queue possible.</a:t>
            </a:r>
            <a:endParaRPr lang="en-US" sz="1500" dirty="0"/>
          </a:p>
        </p:txBody>
      </p:sp>
      <p:sp>
        <p:nvSpPr>
          <p:cNvPr id="6" name="Shape 4"/>
          <p:cNvSpPr/>
          <p:nvPr/>
        </p:nvSpPr>
        <p:spPr>
          <a:xfrm>
            <a:off x="502920" y="3081528"/>
            <a:ext cx="5387188" cy="2417318"/>
          </a:xfrm>
          <a:prstGeom prst="roundRect">
            <a:avLst>
              <a:gd name="adj" fmla="val 2270"/>
            </a:avLst>
          </a:prstGeom>
          <a:solidFill>
            <a:srgbClr val="1E2230"/>
          </a:solidFill>
          <a:ln w="12700">
            <a:solidFill>
              <a:srgbClr val="1E2230"/>
            </a:solidFill>
            <a:prstDash val="solid"/>
          </a:ln>
        </p:spPr>
      </p:sp>
      <p:sp>
        <p:nvSpPr>
          <p:cNvPr id="7" name="Text 5"/>
          <p:cNvSpPr txBox="1"/>
          <p:nvPr/>
        </p:nvSpPr>
        <p:spPr>
          <a:xfrm>
            <a:off x="685800" y="3218688"/>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read the front item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then remove it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function, the producer, pushes numbers in. Another, the consumer, pops them out. Right now both run on the same thread, so the program does one thing at a time: all the producing first, then all the consuming.</a:t>
            </a:r>
            <a:endParaRPr lang="en-US" sz="1500" dirty="0"/>
          </a:p>
        </p:txBody>
      </p:sp>
      <p:sp>
        <p:nvSpPr>
          <p:cNvPr id="9" name="Shape 7"/>
          <p:cNvSpPr/>
          <p:nvPr/>
        </p:nvSpPr>
        <p:spPr>
          <a:xfrm>
            <a:off x="6301588" y="2322576"/>
            <a:ext cx="5387188" cy="509016"/>
          </a:xfrm>
          <a:prstGeom prst="roundRect">
            <a:avLst>
              <a:gd name="adj" fmla="val 10778"/>
            </a:avLst>
          </a:prstGeom>
          <a:solidFill>
            <a:srgbClr val="FBEDE3"/>
          </a:solidFill>
          <a:ln w="12700">
            <a:solidFill>
              <a:srgbClr val="FBEDE3"/>
            </a:solidFill>
            <a:prstDash val="solid"/>
          </a:ln>
        </p:spPr>
      </p:sp>
      <p:sp>
        <p:nvSpPr>
          <p:cNvPr id="10" name="Text 8"/>
          <p:cNvSpPr txBox="1"/>
          <p:nvPr/>
        </p:nvSpPr>
        <p:spPr>
          <a:xfrm>
            <a:off x="6530188" y="2459736"/>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is a thread, exactly?</a:t>
            </a:r>
            <a:endParaRPr lang="en-US" sz="1600" dirty="0"/>
          </a:p>
        </p:txBody>
      </p:sp>
      <p:sp>
        <p:nvSpPr>
          <p:cNvPr id="11" name="Text 9"/>
          <p:cNvSpPr txBox="1"/>
          <p:nvPr/>
        </p:nvSpPr>
        <p:spPr>
          <a:xfrm>
            <a:off x="6301588" y="297789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thread is a sequence of instructions that the computer runs one after another, like a single worker following a list of steps. Every program starts with one thread, the one that runs main(). If you create a second thread, you now have two workers, each following its own list.</a:t>
            </a:r>
            <a:endParaRPr lang="en-US" sz="1500" dirty="0"/>
          </a:p>
        </p:txBody>
      </p:sp>
      <p:sp>
        <p:nvSpPr>
          <p:cNvPr id="12" name="Shape 10"/>
          <p:cNvSpPr/>
          <p:nvPr/>
        </p:nvSpPr>
        <p:spPr>
          <a:xfrm>
            <a:off x="6301588" y="4294632"/>
            <a:ext cx="5387188" cy="752856"/>
          </a:xfrm>
          <a:prstGeom prst="roundRect">
            <a:avLst>
              <a:gd name="adj" fmla="val 7287"/>
            </a:avLst>
          </a:prstGeom>
          <a:solidFill>
            <a:srgbClr val="FBEDE3"/>
          </a:solidFill>
          <a:ln w="12700">
            <a:solidFill>
              <a:srgbClr val="FBEDE3"/>
            </a:solidFill>
            <a:prstDash val="solid"/>
          </a:ln>
        </p:spPr>
      </p:sp>
      <p:sp>
        <p:nvSpPr>
          <p:cNvPr id="13" name="Text 11"/>
          <p:cNvSpPr txBox="1"/>
          <p:nvPr/>
        </p:nvSpPr>
        <p:spPr>
          <a:xfrm>
            <a:off x="6530188" y="443179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So with two threads, will the program run twice as fast?</a:t>
            </a:r>
            <a:endParaRPr lang="en-US" sz="1600" dirty="0"/>
          </a:p>
        </p:txBody>
      </p:sp>
      <p:sp>
        <p:nvSpPr>
          <p:cNvPr id="14" name="Text 12"/>
          <p:cNvSpPr txBox="1"/>
          <p:nvPr/>
        </p:nvSpPr>
        <p:spPr>
          <a:xfrm>
            <a:off x="6301588" y="5193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the natural guess. Sometimes it is true and sometimes it is not, and knowing which is the first thing to understand. Let us test it with a task that does nothing but wait two seconds, the way a program waits for a file or a network reply.</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Shape 2"/>
          <p:cNvSpPr/>
          <p:nvPr/>
        </p:nvSpPr>
        <p:spPr>
          <a:xfrm>
            <a:off x="502920" y="1234440"/>
            <a:ext cx="5387188" cy="2709545"/>
          </a:xfrm>
          <a:prstGeom prst="roundRect">
            <a:avLst>
              <a:gd name="adj" fmla="val 2025"/>
            </a:avLst>
          </a:prstGeom>
          <a:solidFill>
            <a:srgbClr val="1E2230"/>
          </a:solidFill>
          <a:ln w="12700">
            <a:solidFill>
              <a:srgbClr val="1E2230"/>
            </a:solidFill>
            <a:prstDash val="solid"/>
          </a:ln>
        </p:spPr>
      </p:sp>
      <p:sp>
        <p:nvSpPr>
          <p:cNvPr id="5" name="Text 3"/>
          <p:cNvSpPr txBox="1"/>
          <p:nvPr/>
        </p:nvSpPr>
        <p:spPr>
          <a:xfrm>
            <a:off x="685800" y="1371600"/>
            <a:ext cx="5021428" cy="2435225"/>
          </a:xfrm>
          <a:prstGeom prst="rect">
            <a:avLst/>
          </a:prstGeom>
          <a:noFill/>
          <a:ln/>
        </p:spPr>
        <p:txBody>
          <a:bodyPr wrap="square" lIns="0" tIns="0" rIns="0" bIns="0" rtlCol="0" anchor="t"/>
          <a:lstStyle/>
          <a:p>
            <a:pPr indent="0" marL="0">
              <a:lnSpc>
                <a:spcPct val="100000"/>
              </a:lnSpc>
              <a:buNone/>
            </a:pPr>
            <a:r>
              <a:rPr lang="en-US" sz="125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sleep_for</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F78C6C"/>
                </a:solidFill>
                <a:latin typeface="Consolas" pitchFamily="34" charset="0"/>
                <a:ea typeface="Consolas" pitchFamily="34" charset="-122"/>
                <a:cs typeface="Consolas" pitchFamily="34" charset="-120"/>
              </a:rPr>
              <a:t>2s</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endParaRPr lang="en-US" sz="1250" dirty="0"/>
          </a:p>
          <a:p>
            <a:pPr indent="0" marL="0">
              <a:lnSpc>
                <a:spcPct val="100000"/>
              </a:lnSpc>
              <a:buNone/>
            </a:pPr>
            <a:r>
              <a:rPr lang="en-US" sz="1250" dirty="0">
                <a:solidFill>
                  <a:srgbClr val="7F8AA3"/>
                </a:solidFill>
                <a:latin typeface="Consolas" pitchFamily="34" charset="0"/>
                <a:ea typeface="Consolas" pitchFamily="34" charset="-122"/>
                <a:cs typeface="Consolas" pitchFamily="34" charset="-120"/>
              </a:rPr>
              <a:t>// version 1: one thread</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endParaRPr lang="en-US" sz="1250" dirty="0"/>
          </a:p>
          <a:p>
            <a:pPr indent="0" marL="0">
              <a:lnSpc>
                <a:spcPct val="100000"/>
              </a:lnSpc>
              <a:buNone/>
            </a:pPr>
            <a:r>
              <a:rPr lang="en-US" sz="1250" dirty="0">
                <a:solidFill>
                  <a:srgbClr val="7F8AA3"/>
                </a:solidFill>
                <a:latin typeface="Consolas" pitchFamily="34" charset="0"/>
                <a:ea typeface="Consolas" pitchFamily="34" charset="-122"/>
                <a:cs typeface="Consolas" pitchFamily="34" charset="-120"/>
              </a:rPr>
              <a:t>// version 2: two threads</a:t>
            </a:r>
            <a:endParaRPr lang="en-US" sz="1250" dirty="0"/>
          </a:p>
          <a:p>
            <a:pPr indent="0" marL="0">
              <a:lnSpc>
                <a:spcPct val="100000"/>
              </a:lnSpc>
              <a:buNone/>
            </a:pPr>
            <a:r>
              <a:rPr lang="en-US" sz="125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7F8AA3"/>
                </a:solidFill>
                <a:latin typeface="Consolas" pitchFamily="34" charset="0"/>
                <a:ea typeface="Consolas" pitchFamily="34" charset="-122"/>
                <a:cs typeface="Consolas" pitchFamily="34" charset="-120"/>
              </a:rPr>
              <a:t>// start a thread running task()</a:t>
            </a:r>
            <a:endParaRPr lang="en-US" sz="1250" dirty="0"/>
          </a:p>
          <a:p>
            <a:pPr indent="0" marL="0">
              <a:lnSpc>
                <a:spcPct val="100000"/>
              </a:lnSpc>
              <a:buNone/>
            </a:pPr>
            <a:r>
              <a:rPr lang="en-US" sz="125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7F8AA3"/>
                </a:solidFill>
                <a:latin typeface="Consolas" pitchFamily="34" charset="0"/>
                <a:ea typeface="Consolas" pitchFamily="34" charset="-122"/>
                <a:cs typeface="Consolas" pitchFamily="34" charset="-120"/>
              </a:rPr>
              <a:t>// start another one</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7F8AA3"/>
                </a:solidFill>
                <a:latin typeface="Consolas" pitchFamily="34" charset="0"/>
                <a:ea typeface="Consolas" pitchFamily="34" charset="-122"/>
                <a:cs typeface="Consolas" pitchFamily="34" charset="-120"/>
              </a:rPr>
              <a:t>// wait until t1 has finished</a:t>
            </a:r>
            <a:endParaRPr lang="en-US" sz="1250" dirty="0"/>
          </a:p>
          <a:p>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25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250" dirty="0">
                <a:solidFill>
                  <a:srgbClr val="7F8AA3"/>
                </a:solidFill>
                <a:latin typeface="Consolas" pitchFamily="34" charset="0"/>
                <a:ea typeface="Consolas" pitchFamily="34" charset="-122"/>
                <a:cs typeface="Consolas" pitchFamily="34" charset="-120"/>
              </a:rPr>
              <a:t>// wait until t2 has finished</a:t>
            </a:r>
            <a:endParaRPr lang="en-US" sz="1250" dirty="0"/>
          </a:p>
        </p:txBody>
      </p:sp>
      <p:sp>
        <p:nvSpPr>
          <p:cNvPr id="6" name="Text 4"/>
          <p:cNvSpPr txBox="1"/>
          <p:nvPr/>
        </p:nvSpPr>
        <p:spPr>
          <a:xfrm>
            <a:off x="502920" y="4090289"/>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one-thread version takes 4 seconds and the two-thread version takes 2. You can see it yourself:</a:t>
            </a:r>
            <a:endParaRPr lang="en-US" sz="1500" dirty="0"/>
          </a:p>
        </p:txBody>
      </p:sp>
      <p:sp>
        <p:nvSpPr>
          <p:cNvPr id="7" name="Shape 5"/>
          <p:cNvSpPr/>
          <p:nvPr/>
        </p:nvSpPr>
        <p:spPr>
          <a:xfrm>
            <a:off x="502920" y="4721225"/>
            <a:ext cx="5387188" cy="858774"/>
          </a:xfrm>
          <a:prstGeom prst="roundRect">
            <a:avLst>
              <a:gd name="adj" fmla="val 6389"/>
            </a:avLst>
          </a:prstGeom>
          <a:solidFill>
            <a:srgbClr val="0F1419"/>
          </a:solidFill>
          <a:ln w="12700">
            <a:solidFill>
              <a:srgbClr val="0F1419"/>
            </a:solidFill>
            <a:prstDash val="solid"/>
          </a:ln>
        </p:spPr>
      </p:sp>
      <p:sp>
        <p:nvSpPr>
          <p:cNvPr id="8" name="Text 6"/>
          <p:cNvSpPr txBox="1"/>
          <p:nvPr/>
        </p:nvSpPr>
        <p:spPr>
          <a:xfrm>
            <a:off x="685800" y="4858385"/>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v0 tiny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sequential:  4.00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two threads: 2.00 s</a:t>
            </a:r>
            <a:endParaRPr lang="en-US" sz="1300" dirty="0"/>
          </a:p>
        </p:txBody>
      </p:sp>
      <p:sp>
        <p:nvSpPr>
          <p:cNvPr id="9" name="Shape 7"/>
          <p:cNvSpPr/>
          <p:nvPr/>
        </p:nvSpPr>
        <p:spPr>
          <a:xfrm>
            <a:off x="6301588" y="1234440"/>
            <a:ext cx="5387188" cy="509016"/>
          </a:xfrm>
          <a:prstGeom prst="roundRect">
            <a:avLst>
              <a:gd name="adj" fmla="val 10778"/>
            </a:avLst>
          </a:prstGeom>
          <a:solidFill>
            <a:srgbClr val="FBEDE3"/>
          </a:solidFill>
          <a:ln w="12700">
            <a:solidFill>
              <a:srgbClr val="FBEDE3"/>
            </a:solidFill>
            <a:prstDash val="solid"/>
          </a:ln>
        </p:spPr>
      </p:sp>
      <p:sp>
        <p:nvSpPr>
          <p:cNvPr id="10" name="Text 8"/>
          <p:cNvSpPr txBox="1"/>
          <p:nvPr/>
        </p:nvSpPr>
        <p:spPr>
          <a:xfrm>
            <a:off x="6530188"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Half the time. Did each task get faster?</a:t>
            </a:r>
            <a:endParaRPr lang="en-US" sz="1600" dirty="0"/>
          </a:p>
        </p:txBody>
      </p:sp>
      <p:sp>
        <p:nvSpPr>
          <p:cNvPr id="11" name="Text 9"/>
          <p:cNvSpPr txBox="1"/>
          <p:nvPr/>
        </p:nvSpPr>
        <p:spPr>
          <a:xfrm>
            <a:off x="6301588" y="188976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 and this is the important part. Put both versions on a clock that starts at t = 0. With one thread, the first task() sleeps from 0 to 2 s. The second cannot start until the first returns, so it sleeps from 2 to 4 s.</a:t>
            </a:r>
            <a:endParaRPr lang="en-US" sz="1500" dirty="0"/>
          </a:p>
        </p:txBody>
      </p:sp>
      <p:sp>
        <p:nvSpPr>
          <p:cNvPr id="12" name="Shape 10"/>
          <p:cNvSpPr/>
          <p:nvPr/>
        </p:nvSpPr>
        <p:spPr>
          <a:xfrm>
            <a:off x="6301588" y="2977896"/>
            <a:ext cx="5387188" cy="858774"/>
          </a:xfrm>
          <a:prstGeom prst="roundRect">
            <a:avLst>
              <a:gd name="adj" fmla="val 6389"/>
            </a:avLst>
          </a:prstGeom>
          <a:solidFill>
            <a:srgbClr val="F1F4F7"/>
          </a:solidFill>
          <a:ln w="12700">
            <a:solidFill>
              <a:srgbClr val="F1F4F7"/>
            </a:solidFill>
            <a:prstDash val="solid"/>
          </a:ln>
        </p:spPr>
      </p:sp>
      <p:sp>
        <p:nvSpPr>
          <p:cNvPr id="13" name="Text 11"/>
          <p:cNvSpPr txBox="1"/>
          <p:nvPr/>
        </p:nvSpPr>
        <p:spPr>
          <a:xfrm>
            <a:off x="6484468" y="311505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0s        1s        2s        3s        4s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 task() ==========|== task()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2nd call starts</a:t>
            </a:r>
            <a:endParaRPr lang="en-US" sz="1300" dirty="0"/>
          </a:p>
        </p:txBody>
      </p:sp>
      <p:sp>
        <p:nvSpPr>
          <p:cNvPr id="14" name="Text 12"/>
          <p:cNvSpPr txBox="1"/>
          <p:nvPr/>
        </p:nvSpPr>
        <p:spPr>
          <a:xfrm>
            <a:off x="6301588" y="398297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 two threads, the lines that create t1 and t2 are written one after the other, but creating a thread takes only microseconds. So both threads start sleeping at almost exactly t = 0, side by side.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Shape 2"/>
          <p:cNvSpPr/>
          <p:nvPr/>
        </p:nvSpPr>
        <p:spPr>
          <a:xfrm>
            <a:off x="502920" y="1234440"/>
            <a:ext cx="5387188" cy="1638046"/>
          </a:xfrm>
          <a:prstGeom prst="roundRect">
            <a:avLst>
              <a:gd name="adj" fmla="val 3349"/>
            </a:avLst>
          </a:prstGeom>
          <a:solidFill>
            <a:srgbClr val="F1F4F7"/>
          </a:solidFill>
          <a:ln w="12700">
            <a:solidFill>
              <a:srgbClr val="F1F4F7"/>
            </a:solidFill>
            <a:prstDash val="solid"/>
          </a:ln>
        </p:spPr>
      </p:sp>
      <p:sp>
        <p:nvSpPr>
          <p:cNvPr id="5" name="Text 3"/>
          <p:cNvSpPr txBox="1"/>
          <p:nvPr/>
        </p:nvSpPr>
        <p:spPr>
          <a:xfrm>
            <a:off x="685800"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0s        1s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 sleeping ========|  done at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t2     |== sleeping ========|  done at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creates t1, t2 (microseconds)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t1.join() waits ......| returns at 2s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t2.join(): t2 is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already done, returns</a:t>
            </a:r>
            <a:endParaRPr lang="en-US" sz="1300" dirty="0"/>
          </a:p>
        </p:txBody>
      </p:sp>
      <p:sp>
        <p:nvSpPr>
          <p:cNvPr id="6" name="Text 4"/>
          <p:cNvSpPr txBox="1"/>
          <p:nvPr/>
        </p:nvSpPr>
        <p:spPr>
          <a:xfrm>
            <a:off x="502920" y="301879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main goes straight to t1.join() and waits there. At 2 s, t1 finishes and the join returns. main reaches t2.join(), but t2 started at the same moment and is also finished, so that join returns at once. Each task still slept its full two seconds. We only saved time because the two waits overlapped.</a:t>
            </a:r>
            <a:endParaRPr lang="en-US" sz="1500" dirty="0"/>
          </a:p>
        </p:txBody>
      </p:sp>
      <p:sp>
        <p:nvSpPr>
          <p:cNvPr id="7" name="Shape 5"/>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8" name="Text 6"/>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Would it also halve the time if the task was doing calculations instead of sleeping?</a:t>
            </a:r>
            <a:endParaRPr lang="en-US" sz="1600" dirty="0"/>
          </a:p>
        </p:txBody>
      </p:sp>
      <p:sp>
        <p:nvSpPr>
          <p:cNvPr id="9" name="Text 7"/>
          <p:cNvSpPr txBox="1"/>
          <p:nvPr/>
        </p:nvSpPr>
        <p:spPr>
          <a:xfrm>
            <a:off x="6301588" y="213360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Only if there are free cores. A core is the part of the processor that actually runs instructions, and each core runs one thread at any instant. If two threads share one core, the operating system switches between them many times a second: they take turns.</a:t>
            </a:r>
            <a:endParaRPr lang="en-US" sz="1500" dirty="0"/>
          </a:p>
        </p:txBody>
      </p:sp>
      <p:sp>
        <p:nvSpPr>
          <p:cNvPr id="10" name="Shape 8"/>
          <p:cNvSpPr/>
          <p:nvPr/>
        </p:nvSpPr>
        <p:spPr>
          <a:xfrm>
            <a:off x="6301588" y="3450336"/>
            <a:ext cx="5387188" cy="1443228"/>
          </a:xfrm>
          <a:prstGeom prst="roundRect">
            <a:avLst>
              <a:gd name="adj" fmla="val 3801"/>
            </a:avLst>
          </a:prstGeom>
          <a:solidFill>
            <a:srgbClr val="F1F4F7"/>
          </a:solidFill>
          <a:ln w="12700">
            <a:solidFill>
              <a:srgbClr val="F1F4F7"/>
            </a:solidFill>
            <a:prstDash val="solid"/>
          </a:ln>
        </p:spPr>
      </p:sp>
      <p:sp>
        <p:nvSpPr>
          <p:cNvPr id="11" name="Text 9"/>
          <p:cNvSpPr txBox="1"/>
          <p:nvPr/>
        </p:nvSpPr>
        <p:spPr>
          <a:xfrm>
            <a:off x="6484468" y="3587496"/>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one core, two threads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0 | T1 T1 T2 T1 T2 T2 T1   taking turns</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 cores, two threads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0 | T1 T1 T1 T1 T1 T1 T1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1 | T2 T2 T2 T2 T2 T2 T2   really at once</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sleeping thread does not need the core, so taking turns is enough for waiting tasks. A calculating thread needs the core all the time, so two calculating threads on one core finish no sooner than one. Two tasks in progress at once, even if they take turns, is called concurrency. Two tasks running at the very same instant on different cores is called parallelism.</a:t>
            </a:r>
            <a:endParaRPr lang="en-US" sz="1500" dirty="0"/>
          </a:p>
        </p:txBody>
      </p:sp>
      <p:sp>
        <p:nvSpPr>
          <p:cNvPr id="5" name="Shape 3"/>
          <p:cNvSpPr/>
          <p:nvPr/>
        </p:nvSpPr>
        <p:spPr>
          <a:xfrm>
            <a:off x="502920" y="3008376"/>
            <a:ext cx="5387188" cy="1234440"/>
          </a:xfrm>
          <a:prstGeom prst="roundRect">
            <a:avLst>
              <a:gd name="adj" fmla="val 4444"/>
            </a:avLst>
          </a:prstGeom>
          <a:solidFill>
            <a:srgbClr val="E3F2EF"/>
          </a:solidFill>
          <a:ln w="12700">
            <a:solidFill>
              <a:srgbClr val="E3F2EF"/>
            </a:solidFill>
            <a:prstDash val="solid"/>
          </a:ln>
        </p:spPr>
      </p:sp>
      <p:sp>
        <p:nvSpPr>
          <p:cNvPr id="6" name="Text 4"/>
          <p:cNvSpPr txBox="1"/>
          <p:nvPr/>
        </p:nvSpPr>
        <p:spPr>
          <a:xfrm>
            <a:off x="731520" y="3136392"/>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7" name="Text 5"/>
          <p:cNvSpPr txBox="1"/>
          <p:nvPr/>
        </p:nvSpPr>
        <p:spPr>
          <a:xfrm>
            <a:off x="731520" y="3429000"/>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Our thread pool in v9 will run tasks that wait (like downloads) and tasks that calculate. How many threads we start depends on exactly this difference.</a:t>
            </a:r>
            <a:endParaRPr lang="en-US" sz="1400" dirty="0"/>
          </a:p>
        </p:txBody>
      </p:sp>
      <p:sp>
        <p:nvSpPr>
          <p:cNvPr id="8" name="Text 6"/>
          <p:cNvSpPr txBox="1"/>
          <p:nvPr/>
        </p:nvSpPr>
        <p:spPr>
          <a:xfrm>
            <a:off x="502920" y="444398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we measure before adding threads</a:t>
            </a:r>
            <a:endParaRPr lang="en-US" sz="1800" dirty="0"/>
          </a:p>
        </p:txBody>
      </p:sp>
      <p:sp>
        <p:nvSpPr>
          <p:cNvPr id="9" name="Text 7"/>
          <p:cNvSpPr txBox="1"/>
          <p:nvPr/>
        </p:nvSpPr>
        <p:spPr>
          <a:xfrm>
            <a:off x="502920" y="491947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 version from here on makes the queue safer, and safety costs time. So we take a starting measurement now: about 60 ns for one push plus one pop. Later versions are compared to this number.</a:t>
            </a:r>
            <a:endParaRPr lang="en-US" sz="1500" dirty="0"/>
          </a:p>
        </p:txBody>
      </p:sp>
      <p:sp>
        <p:nvSpPr>
          <p:cNvPr id="10" name="Text 8"/>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1" name="Text 9"/>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tasks each sleep for 100 ms. How long does it take on one thread, and how long on 64 threads?</a:t>
            </a:r>
            <a:endParaRPr lang="en-US" sz="1500" dirty="0"/>
          </a:p>
        </p:txBody>
      </p:sp>
      <p:sp>
        <p:nvSpPr>
          <p:cNvPr id="12" name="Shape 10"/>
          <p:cNvSpPr/>
          <p:nvPr/>
        </p:nvSpPr>
        <p:spPr>
          <a:xfrm>
            <a:off x="6301588" y="2322576"/>
            <a:ext cx="5387188" cy="1709928"/>
          </a:xfrm>
          <a:prstGeom prst="roundRect">
            <a:avLst>
              <a:gd name="adj" fmla="val 3209"/>
            </a:avLst>
          </a:prstGeom>
          <a:solidFill>
            <a:srgbClr val="F1F4F7"/>
          </a:solidFill>
          <a:ln w="12700">
            <a:solidFill>
              <a:srgbClr val="F1F4F7"/>
            </a:solidFill>
            <a:prstDash val="solid"/>
          </a:ln>
        </p:spPr>
      </p:sp>
      <p:sp>
        <p:nvSpPr>
          <p:cNvPr id="13" name="Text 11"/>
          <p:cNvSpPr txBox="1"/>
          <p:nvPr/>
        </p:nvSpPr>
        <p:spPr>
          <a:xfrm>
            <a:off x="6484468"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On one thread the tasks run one after another: 64 x 100 ms = 6.4 seconds. On 64 threads all of them start at about t = 0 and sleep side by side, so all finish at about t = 100 ms. In practice it is a little more than 0.1 s, because starting 64 threads takes some time. This works so well only because the tasks are waiting, not calculating.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What does a second thread buy us?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Two threads each print 1, 2, 3. Can the output be 1 1 2 3 2 3?</a:t>
            </a:r>
            <a:endParaRPr lang="en-US" sz="1500" dirty="0"/>
          </a:p>
        </p:txBody>
      </p:sp>
      <p:sp>
        <p:nvSpPr>
          <p:cNvPr id="5" name="Shape 3"/>
          <p:cNvSpPr/>
          <p:nvPr/>
        </p:nvSpPr>
        <p:spPr>
          <a:xfrm>
            <a:off x="502920" y="1792224"/>
            <a:ext cx="5387188" cy="1709928"/>
          </a:xfrm>
          <a:prstGeom prst="roundRect">
            <a:avLst>
              <a:gd name="adj" fmla="val 3209"/>
            </a:avLst>
          </a:prstGeom>
          <a:solidFill>
            <a:srgbClr val="F1F4F7"/>
          </a:solidFill>
          <a:ln w="12700">
            <a:solidFill>
              <a:srgbClr val="F1F4F7"/>
            </a:solidFill>
            <a:prstDash val="solid"/>
          </a:ln>
        </p:spPr>
      </p:sp>
      <p:sp>
        <p:nvSpPr>
          <p:cNvPr id="6" name="Text 4"/>
          <p:cNvSpPr txBox="1"/>
          <p:nvPr/>
        </p:nvSpPr>
        <p:spPr>
          <a:xfrm>
            <a:off x="685800"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Yes. Each thread prints its own numbers in order, so a thread never prints 2 before its 1. But the operating system decides when each thread runs and can switch at any moment. Here thread A printed 1, then B printed 1, 2, 3, then A printed 2, 3. Any mix that keeps each thread's own order is possible, and it can change every run.</a:t>
            </a:r>
            <a:endParaRPr lang="en-US" sz="1400" dirty="0"/>
          </a:p>
        </p:txBody>
      </p:sp>
      <p:sp>
        <p:nvSpPr>
          <p:cNvPr id="7" name="Text 5"/>
          <p:cNvSpPr txBox="1"/>
          <p:nvPr/>
        </p:nvSpPr>
        <p:spPr>
          <a:xfrm>
            <a:off x="502920" y="364845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program downloads 10 files, then computes a hash of each one. Where do extra threads help?</a:t>
            </a:r>
            <a:endParaRPr lang="en-US" sz="1500" dirty="0"/>
          </a:p>
        </p:txBody>
      </p:sp>
      <p:sp>
        <p:nvSpPr>
          <p:cNvPr id="8" name="Shape 6"/>
          <p:cNvSpPr/>
          <p:nvPr/>
        </p:nvSpPr>
        <p:spPr>
          <a:xfrm>
            <a:off x="502920" y="4206240"/>
            <a:ext cx="5387188" cy="1709928"/>
          </a:xfrm>
          <a:prstGeom prst="roundRect">
            <a:avLst>
              <a:gd name="adj" fmla="val 3209"/>
            </a:avLst>
          </a:prstGeom>
          <a:solidFill>
            <a:srgbClr val="F1F4F7"/>
          </a:solidFill>
          <a:ln w="12700">
            <a:solidFill>
              <a:srgbClr val="F1F4F7"/>
            </a:solidFill>
            <a:prstDash val="solid"/>
          </a:ln>
        </p:spPr>
      </p:sp>
      <p:sp>
        <p:nvSpPr>
          <p:cNvPr id="9" name="Text 7"/>
          <p:cNvSpPr txBox="1"/>
          <p:nvPr/>
        </p:nvSpPr>
        <p:spPr>
          <a:xfrm>
            <a:off x="685800" y="4334256"/>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With the downloads, a lot: a download mostly waits for the network, and ten threads can wait at the same time. Hashing is pure calculation, so it only speeds up if there are free cores to run threads in parallel. On a 4-core machine, hashing 10 files with 10 threads is at most about 4 times faster than with one.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v0: the complete code</a:t>
            </a:r>
            <a:endParaRPr lang="en-US" sz="2600" dirty="0"/>
          </a:p>
        </p:txBody>
      </p:sp>
      <p:sp>
        <p:nvSpPr>
          <p:cNvPr id="4" name="Text 2"/>
          <p:cNvSpPr txBox="1"/>
          <p:nvPr/>
        </p:nvSpPr>
        <p:spPr>
          <a:xfrm>
            <a:off x="502920" y="123444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v0 needs, file by file: queue.hpp, main.cpp. If your version does not work, compare it with this one. Build and run it from the master folder with ./run.sh v0 main.</a:t>
            </a:r>
            <a:endParaRPr lang="en-US" sz="1500" dirty="0"/>
          </a:p>
        </p:txBody>
      </p:sp>
      <p:sp>
        <p:nvSpPr>
          <p:cNvPr id="5" name="Text 3"/>
          <p:cNvSpPr txBox="1"/>
          <p:nvPr/>
        </p:nvSpPr>
        <p:spPr>
          <a:xfrm>
            <a:off x="502920" y="20939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a:t>
            </a:r>
            <a:endParaRPr lang="en-US" sz="1100" dirty="0"/>
          </a:p>
        </p:txBody>
      </p:sp>
      <p:sp>
        <p:nvSpPr>
          <p:cNvPr id="6" name="Shape 4"/>
          <p:cNvSpPr/>
          <p:nvPr/>
        </p:nvSpPr>
        <p:spPr>
          <a:xfrm>
            <a:off x="502920" y="2386584"/>
            <a:ext cx="5387188" cy="3984244"/>
          </a:xfrm>
          <a:prstGeom prst="roundRect">
            <a:avLst>
              <a:gd name="adj" fmla="val 1148"/>
            </a:avLst>
          </a:prstGeom>
          <a:solidFill>
            <a:srgbClr val="1E2230"/>
          </a:solidFill>
          <a:ln w="12700">
            <a:solidFill>
              <a:srgbClr val="1E2230"/>
            </a:solidFill>
            <a:prstDash val="solid"/>
          </a:ln>
        </p:spPr>
      </p:sp>
      <p:sp>
        <p:nvSpPr>
          <p:cNvPr id="7" name="Text 5"/>
          <p:cNvSpPr txBox="1"/>
          <p:nvPr/>
        </p:nvSpPr>
        <p:spPr>
          <a:xfrm>
            <a:off x="612648" y="2505456"/>
            <a:ext cx="5204308" cy="38013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v0 · Ordinary queue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Not thread-safe, on purpose. This is the baseline every later</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version is measured against.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undefined if empty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9" name="Shape 7"/>
          <p:cNvSpPr/>
          <p:nvPr/>
        </p:nvSpPr>
        <p:spPr>
          <a:xfrm>
            <a:off x="6301588" y="1527048"/>
            <a:ext cx="5387188" cy="1586484"/>
          </a:xfrm>
          <a:prstGeom prst="roundRect">
            <a:avLst>
              <a:gd name="adj" fmla="val 2882"/>
            </a:avLst>
          </a:prstGeom>
          <a:solidFill>
            <a:srgbClr val="1E2230"/>
          </a:solidFill>
          <a:ln w="12700">
            <a:solidFill>
              <a:srgbClr val="1E2230"/>
            </a:solidFill>
            <a:prstDash val="solid"/>
          </a:ln>
        </p:spPr>
      </p:sp>
      <p:sp>
        <p:nvSpPr>
          <p:cNvPr id="10" name="Text 8"/>
          <p:cNvSpPr txBox="1"/>
          <p:nvPr/>
        </p:nvSpPr>
        <p:spPr>
          <a:xfrm>
            <a:off x="6411316" y="1645920"/>
            <a:ext cx="5204308" cy="1403604"/>
          </a:xfrm>
          <a:prstGeom prst="rect">
            <a:avLst/>
          </a:prstGeom>
          <a:noFill/>
          <a:ln/>
        </p:spPr>
        <p:txBody>
          <a:bodyPr wrap="square" lIns="0" tIns="0" rIns="0" bIns="0" rtlCol="0" anchor="t"/>
          <a:lstStyle/>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1" name="Text 9"/>
          <p:cNvSpPr txBox="1"/>
          <p:nvPr/>
        </p:nvSpPr>
        <p:spPr>
          <a:xfrm>
            <a:off x="6301588" y="325983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12" name="Shape 10"/>
          <p:cNvSpPr/>
          <p:nvPr/>
        </p:nvSpPr>
        <p:spPr>
          <a:xfrm>
            <a:off x="6301588" y="3552444"/>
            <a:ext cx="5387188" cy="2485644"/>
          </a:xfrm>
          <a:prstGeom prst="roundRect">
            <a:avLst>
              <a:gd name="adj" fmla="val 1839"/>
            </a:avLst>
          </a:prstGeom>
          <a:solidFill>
            <a:srgbClr val="1E2230"/>
          </a:solidFill>
          <a:ln w="12700">
            <a:solidFill>
              <a:srgbClr val="1E2230"/>
            </a:solidFill>
            <a:prstDash val="solid"/>
          </a:ln>
        </p:spPr>
      </p:sp>
      <p:sp>
        <p:nvSpPr>
          <p:cNvPr id="13" name="Text 11"/>
          <p:cNvSpPr txBox="1"/>
          <p:nvPr/>
        </p:nvSpPr>
        <p:spPr>
          <a:xfrm>
            <a:off x="6411316" y="3671316"/>
            <a:ext cx="5204308" cy="230276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v0: the whole program on one thread.</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producer fills the queue, then the consumer empties it.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1'000'000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push 0 .. n-1</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"after producer: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 items\n"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pop them all</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"after consumer: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 items\n"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Giving the producer its own thread</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we want our producer and consumer on their own threads. Before we touch the queue, there is a question that seems too simple to ask, and it trips up almost everyone.</a:t>
            </a:r>
            <a:endParaRPr lang="en-US" sz="1500" dirty="0"/>
          </a:p>
        </p:txBody>
      </p:sp>
      <p:sp>
        <p:nvSpPr>
          <p:cNvPr id="6" name="Shape 4"/>
          <p:cNvSpPr/>
          <p:nvPr/>
        </p:nvSpPr>
        <p:spPr>
          <a:xfrm>
            <a:off x="502920" y="2624328"/>
            <a:ext cx="5387188" cy="752856"/>
          </a:xfrm>
          <a:prstGeom prst="roundRect">
            <a:avLst>
              <a:gd name="adj" fmla="val 7287"/>
            </a:avLst>
          </a:prstGeom>
          <a:solidFill>
            <a:srgbClr val="FBEDE3"/>
          </a:solidFill>
          <a:ln w="12700">
            <a:solidFill>
              <a:srgbClr val="FBEDE3"/>
            </a:solidFill>
            <a:prstDash val="solid"/>
          </a:ln>
        </p:spPr>
      </p:sp>
      <p:sp>
        <p:nvSpPr>
          <p:cNvPr id="7" name="Text 5"/>
          <p:cNvSpPr txBox="1"/>
          <p:nvPr/>
        </p:nvSpPr>
        <p:spPr>
          <a:xfrm>
            <a:off x="731520" y="27614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happens to a thread when the function that started it ends?</a:t>
            </a:r>
            <a:endParaRPr lang="en-US" sz="1600" dirty="0"/>
          </a:p>
        </p:txBody>
      </p:sp>
      <p:sp>
        <p:nvSpPr>
          <p:cNvPr id="8" name="Shape 6"/>
          <p:cNvSpPr/>
          <p:nvPr/>
        </p:nvSpPr>
        <p:spPr>
          <a:xfrm>
            <a:off x="502920" y="3523488"/>
            <a:ext cx="5387188" cy="1638046"/>
          </a:xfrm>
          <a:prstGeom prst="roundRect">
            <a:avLst>
              <a:gd name="adj" fmla="val 3349"/>
            </a:avLst>
          </a:prstGeom>
          <a:solidFill>
            <a:srgbClr val="1E2230"/>
          </a:solidFill>
          <a:ln w="12700">
            <a:solidFill>
              <a:srgbClr val="1E2230"/>
            </a:solidFill>
            <a:prstDash val="solid"/>
          </a:ln>
        </p:spPr>
      </p:sp>
      <p:sp>
        <p:nvSpPr>
          <p:cNvPr id="9" name="Text 7"/>
          <p:cNvSpPr txBox="1"/>
          <p:nvPr/>
        </p:nvSpPr>
        <p:spPr>
          <a:xfrm>
            <a:off x="685800" y="3660648"/>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"working\n"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main ends here</a:t>
            </a:r>
            <a:endParaRPr lang="en-US" sz="1300" dirty="0"/>
          </a:p>
        </p:txBody>
      </p:sp>
      <p:sp>
        <p:nvSpPr>
          <p:cNvPr id="10" name="Text 8"/>
          <p:cNvSpPr txBox="1"/>
          <p:nvPr/>
        </p:nvSpPr>
        <p:spPr>
          <a:xfrm>
            <a:off x="502920" y="530783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might expect "working" and a normal exit. The program aborts instead:</a:t>
            </a:r>
            <a:endParaRPr lang="en-US" sz="1500" dirty="0"/>
          </a:p>
        </p:txBody>
      </p:sp>
      <p:sp>
        <p:nvSpPr>
          <p:cNvPr id="11" name="Shape 9"/>
          <p:cNvSpPr/>
          <p:nvPr/>
        </p:nvSpPr>
        <p:spPr>
          <a:xfrm>
            <a:off x="6301588" y="1234440"/>
            <a:ext cx="5387188" cy="858774"/>
          </a:xfrm>
          <a:prstGeom prst="roundRect">
            <a:avLst>
              <a:gd name="adj" fmla="val 6389"/>
            </a:avLst>
          </a:prstGeom>
          <a:solidFill>
            <a:srgbClr val="0F1419"/>
          </a:solidFill>
          <a:ln w="12700">
            <a:solidFill>
              <a:srgbClr val="0F1419"/>
            </a:solidFill>
            <a:prstDash val="solid"/>
          </a:ln>
        </p:spPr>
      </p:sp>
      <p:sp>
        <p:nvSpPr>
          <p:cNvPr id="12" name="Text 10"/>
          <p:cNvSpPr txBox="1"/>
          <p:nvPr/>
        </p:nvSpPr>
        <p:spPr>
          <a:xfrm>
            <a:off x="6484468"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 tiny terminate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terminate called without an active exception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Aborted</a:t>
            </a:r>
            <a:endParaRPr lang="en-US" sz="1300" dirty="0"/>
          </a:p>
        </p:txBody>
      </p:sp>
      <p:sp>
        <p:nvSpPr>
          <p:cNvPr id="13" name="Text 11"/>
          <p:cNvSpPr txBox="1"/>
          <p:nvPr/>
        </p:nvSpPr>
        <p:spPr>
          <a:xfrm>
            <a:off x="6301588" y="223951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the clock. At t = 0 main creates t and a new thread starts running work(). main has nothing else to do, so a few microseconds later it reaches the closing brace, where every local variable is destroyed, including t. The new thread is still running.</a:t>
            </a:r>
            <a:endParaRPr lang="en-US" sz="1500" dirty="0"/>
          </a:p>
        </p:txBody>
      </p:sp>
      <p:sp>
        <p:nvSpPr>
          <p:cNvPr id="14" name="Shape 12"/>
          <p:cNvSpPr/>
          <p:nvPr/>
        </p:nvSpPr>
        <p:spPr>
          <a:xfrm>
            <a:off x="6301588" y="3556254"/>
            <a:ext cx="5387188" cy="858774"/>
          </a:xfrm>
          <a:prstGeom prst="roundRect">
            <a:avLst>
              <a:gd name="adj" fmla="val 6389"/>
            </a:avLst>
          </a:prstGeom>
          <a:solidFill>
            <a:srgbClr val="F1F4F7"/>
          </a:solidFill>
          <a:ln w="12700">
            <a:solidFill>
              <a:srgbClr val="F1F4F7"/>
            </a:solidFill>
            <a:prstDash val="solid"/>
          </a:ln>
        </p:spPr>
      </p:sp>
      <p:sp>
        <p:nvSpPr>
          <p:cNvPr id="15" name="Text 13"/>
          <p:cNvSpPr txBox="1"/>
          <p:nvPr/>
        </p:nvSpPr>
        <p:spPr>
          <a:xfrm>
            <a:off x="6484468" y="3693414"/>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a few microseconds later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std::thread t(work)  reaches }, t destroyed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           starts work() ...  still running</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Shape 2"/>
          <p:cNvSpPr/>
          <p:nvPr/>
        </p:nvSpPr>
        <p:spPr>
          <a:xfrm>
            <a:off x="502920" y="1234440"/>
            <a:ext cx="5387188" cy="752856"/>
          </a:xfrm>
          <a:prstGeom prst="roundRect">
            <a:avLst>
              <a:gd name="adj" fmla="val 7287"/>
            </a:avLst>
          </a:prstGeom>
          <a:solidFill>
            <a:srgbClr val="FBEDE3"/>
          </a:solidFill>
          <a:ln w="12700">
            <a:solidFill>
              <a:srgbClr val="FBEDE3"/>
            </a:solidFill>
            <a:prstDash val="solid"/>
          </a:ln>
        </p:spPr>
      </p:sp>
      <p:sp>
        <p:nvSpPr>
          <p:cNvPr id="5" name="Text 3"/>
          <p:cNvSpPr txBox="1"/>
          <p:nvPr/>
        </p:nvSpPr>
        <p:spPr>
          <a:xfrm>
            <a:off x="731520"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is destroying t a problem? The thread is still doing its work.</a:t>
            </a:r>
            <a:endParaRPr lang="en-US" sz="1600" dirty="0"/>
          </a:p>
        </p:txBody>
      </p:sp>
      <p:sp>
        <p:nvSpPr>
          <p:cNvPr id="6" name="Text 4"/>
          <p:cNvSpPr txBox="1"/>
          <p:nvPr/>
        </p:nvSpPr>
        <p:spPr>
          <a:xfrm>
            <a:off x="502920" y="213360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Because t is not the thread itself. It is a handle: a small object that owns a running thread inside the operating system. When the handle is destroyed, C++ must decide what happens to the thread it owns, and there are only two choices.</a:t>
            </a:r>
            <a:endParaRPr lang="en-US" sz="1500" dirty="0"/>
          </a:p>
        </p:txBody>
      </p:sp>
      <p:sp>
        <p:nvSpPr>
          <p:cNvPr id="7" name="Shape 5"/>
          <p:cNvSpPr/>
          <p:nvPr/>
        </p:nvSpPr>
        <p:spPr>
          <a:xfrm>
            <a:off x="502920" y="3450336"/>
            <a:ext cx="5387188" cy="1638046"/>
          </a:xfrm>
          <a:prstGeom prst="roundRect">
            <a:avLst>
              <a:gd name="adj" fmla="val 3349"/>
            </a:avLst>
          </a:prstGeom>
          <a:solidFill>
            <a:srgbClr val="F1F4F7"/>
          </a:solidFill>
          <a:ln w="12700">
            <a:solidFill>
              <a:srgbClr val="F1F4F7"/>
            </a:solidFill>
            <a:prstDash val="solid"/>
          </a:ln>
        </p:spPr>
      </p:sp>
      <p:sp>
        <p:nvSpPr>
          <p:cNvPr id="8" name="Text 6"/>
          <p:cNvSpPr txBox="1"/>
          <p:nvPr/>
        </p:nvSpPr>
        <p:spPr>
          <a:xfrm>
            <a:off x="685800" y="3587496"/>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std::thread object  --owns--&gt;  OS thread</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before the object is destroyed, choose: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join()    wait here until the thread finishes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detach()  let it run on with no owner</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destroyed without choosing -&gt; std::terminate</a:t>
            </a:r>
            <a:endParaRPr lang="en-US" sz="1300" dirty="0"/>
          </a:p>
        </p:txBody>
      </p:sp>
      <p:sp>
        <p:nvSpPr>
          <p:cNvPr id="9" name="Shape 7"/>
          <p:cNvSpPr/>
          <p:nvPr/>
        </p:nvSpPr>
        <p:spPr>
          <a:xfrm>
            <a:off x="6301588" y="1234440"/>
            <a:ext cx="5387188" cy="509016"/>
          </a:xfrm>
          <a:prstGeom prst="roundRect">
            <a:avLst>
              <a:gd name="adj" fmla="val 10778"/>
            </a:avLst>
          </a:prstGeom>
          <a:solidFill>
            <a:srgbClr val="FBEDE3"/>
          </a:solidFill>
          <a:ln w="12700">
            <a:solidFill>
              <a:srgbClr val="FBEDE3"/>
            </a:solidFill>
            <a:prstDash val="solid"/>
          </a:ln>
        </p:spPr>
      </p:sp>
      <p:sp>
        <p:nvSpPr>
          <p:cNvPr id="10" name="Text 8"/>
          <p:cNvSpPr txBox="1"/>
          <p:nvPr/>
        </p:nvSpPr>
        <p:spPr>
          <a:xfrm>
            <a:off x="6530188"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doesn't C++ just pick one for me?</a:t>
            </a:r>
            <a:endParaRPr lang="en-US" sz="1600" dirty="0"/>
          </a:p>
        </p:txBody>
      </p:sp>
      <p:sp>
        <p:nvSpPr>
          <p:cNvPr id="11" name="Text 9"/>
          <p:cNvSpPr txBox="1"/>
          <p:nvPr/>
        </p:nvSpPr>
        <p:spPr>
          <a:xfrm>
            <a:off x="6301588" y="188976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automatic choices are dangerous. If it joined automatically, a destructor could block forever and you would never see why. If it detached automatically, the thread could keep running after the variables it uses are gone, reading memory that no longer belongs to it. Both bugs are very hard to find, so C++ stops the program loudly instead and makes you choose.</a:t>
            </a:r>
            <a:endParaRPr lang="en-US" sz="1500" dirty="0"/>
          </a:p>
        </p:txBody>
      </p:sp>
      <p:sp>
        <p:nvSpPr>
          <p:cNvPr id="12" name="Text 10"/>
          <p:cNvSpPr txBox="1"/>
          <p:nvPr/>
        </p:nvSpPr>
        <p:spPr>
          <a:xfrm>
            <a:off x="6301588" y="371856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Arguments are copied</a:t>
            </a:r>
            <a:endParaRPr lang="en-US" sz="1800" dirty="0"/>
          </a:p>
        </p:txBody>
      </p:sp>
      <p:sp>
        <p:nvSpPr>
          <p:cNvPr id="13" name="Text 11"/>
          <p:cNvSpPr txBox="1"/>
          <p:nvPr/>
        </p:nvSpPr>
        <p:spPr>
          <a:xfrm>
            <a:off x="6301588" y="419404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second surprise is quieter. std::thread t(producer, q, n) gives the new thread its own copies of q and n. That is a safety feature, because the thread might outlive the function that started it. But for us it means the producer fills a copy of the queue, and main's queue stays empty. To share the real queue you must say so explicitly: std::ref(q).</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Making sure every thread is joined</a:t>
            </a:r>
            <a:endParaRPr lang="en-US" sz="1800" dirty="0"/>
          </a:p>
        </p:txBody>
      </p:sp>
      <p:sp>
        <p:nvSpPr>
          <p:cNvPr id="5" name="Shape 3"/>
          <p:cNvSpPr/>
          <p:nvPr/>
        </p:nvSpPr>
        <p:spPr>
          <a:xfrm>
            <a:off x="502920" y="1764792"/>
            <a:ext cx="5387188" cy="509016"/>
          </a:xfrm>
          <a:prstGeom prst="roundRect">
            <a:avLst>
              <a:gd name="adj" fmla="val 10778"/>
            </a:avLst>
          </a:prstGeom>
          <a:solidFill>
            <a:srgbClr val="FBEDE3"/>
          </a:solidFill>
          <a:ln w="12700">
            <a:solidFill>
              <a:srgbClr val="FBEDE3"/>
            </a:solidFill>
            <a:prstDash val="solid"/>
          </a:ln>
        </p:spPr>
      </p:sp>
      <p:sp>
        <p:nvSpPr>
          <p:cNvPr id="6" name="Text 4"/>
          <p:cNvSpPr txBox="1"/>
          <p:nvPr/>
        </p:nvSpPr>
        <p:spPr>
          <a:xfrm>
            <a:off x="731520" y="1901952"/>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I'll just remember to call join() then?</a:t>
            </a:r>
            <a:endParaRPr lang="en-US" sz="1600" dirty="0"/>
          </a:p>
        </p:txBody>
      </p:sp>
      <p:sp>
        <p:nvSpPr>
          <p:cNvPr id="7" name="Text 5"/>
          <p:cNvSpPr txBox="1"/>
          <p:nvPr/>
        </p:nvSpPr>
        <p:spPr>
          <a:xfrm>
            <a:off x="502920" y="242011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will forget at some point. Worse, an exception can jump over the line with join() even when you remembered. We need join() to happen however the scope ends.</a:t>
            </a:r>
            <a:endParaRPr lang="en-US" sz="1500" dirty="0"/>
          </a:p>
        </p:txBody>
      </p:sp>
      <p:sp>
        <p:nvSpPr>
          <p:cNvPr id="8" name="Text 6"/>
          <p:cNvSpPr txBox="1"/>
          <p:nvPr/>
        </p:nvSpPr>
        <p:spPr>
          <a:xfrm>
            <a:off x="502920" y="327964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 already has exactly one tool for "this must happen whenever a scope ends": the destructor. A local object's destructor runs when the scope ends normally, and it also runs when an exception passes through. So we write a small class that owns threads and joins them in its destructor.</a:t>
            </a:r>
            <a:endParaRPr lang="en-US" sz="1500" dirty="0"/>
          </a:p>
        </p:txBody>
      </p:sp>
      <p:sp>
        <p:nvSpPr>
          <p:cNvPr id="9" name="Shape 7"/>
          <p:cNvSpPr/>
          <p:nvPr/>
        </p:nvSpPr>
        <p:spPr>
          <a:xfrm>
            <a:off x="6301588" y="1234440"/>
            <a:ext cx="5387188" cy="3391408"/>
          </a:xfrm>
          <a:prstGeom prst="roundRect">
            <a:avLst>
              <a:gd name="adj" fmla="val 1618"/>
            </a:avLst>
          </a:prstGeom>
          <a:solidFill>
            <a:srgbClr val="1E2230"/>
          </a:solidFill>
          <a:ln w="12700">
            <a:solidFill>
              <a:srgbClr val="1E2230"/>
            </a:solidFill>
            <a:prstDash val="solid"/>
          </a:ln>
        </p:spPr>
      </p:sp>
      <p:sp>
        <p:nvSpPr>
          <p:cNvPr id="10" name="Text 8"/>
          <p:cNvSpPr txBox="1"/>
          <p:nvPr/>
        </p:nvSpPr>
        <p:spPr>
          <a:xfrm>
            <a:off x="6484468" y="1371600"/>
            <a:ext cx="5021428" cy="311708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runs when g goes away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consumer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at the end of the scope g joins both</a:t>
            </a:r>
            <a:endParaRPr lang="en-US" sz="1300" dirty="0"/>
          </a:p>
        </p:txBody>
      </p:sp>
      <p:sp>
        <p:nvSpPr>
          <p:cNvPr id="11" name="Text 9"/>
          <p:cNvSpPr txBox="1"/>
          <p:nvPr/>
        </p:nvSpPr>
        <p:spPr>
          <a:xfrm>
            <a:off x="6301588" y="477215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std::move(t) is needed because a std::thread cannot be copied, only moved: one OS thread must have exactly one owner. In this project every thread has an owner like this, and we never use detach().</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Who owns a thread?</a:t>
            </a:r>
            <a:endParaRPr lang="en-US" sz="2600" dirty="0"/>
          </a:p>
        </p:txBody>
      </p:sp>
      <p:sp>
        <p:nvSpPr>
          <p:cNvPr id="4" name="Shape 2"/>
          <p:cNvSpPr/>
          <p:nvPr/>
        </p:nvSpPr>
        <p:spPr>
          <a:xfrm>
            <a:off x="502920" y="1234440"/>
            <a:ext cx="5387188" cy="1234440"/>
          </a:xfrm>
          <a:prstGeom prst="roundRect">
            <a:avLst>
              <a:gd name="adj" fmla="val 4444"/>
            </a:avLst>
          </a:prstGeom>
          <a:solidFill>
            <a:srgbClr val="E3F2EF"/>
          </a:solidFill>
          <a:ln w="12700">
            <a:solidFill>
              <a:srgbClr val="E3F2EF"/>
            </a:solidFill>
            <a:prstDash val="solid"/>
          </a:ln>
        </p:spPr>
      </p:sp>
      <p:sp>
        <p:nvSpPr>
          <p:cNvPr id="5" name="Text 3"/>
          <p:cNvSpPr txBox="1"/>
          <p:nvPr/>
        </p:nvSpPr>
        <p:spPr>
          <a:xfrm>
            <a:off x="731520" y="1362456"/>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6" name="Text 4"/>
          <p:cNvSpPr txBox="1"/>
          <p:nvPr/>
        </p:nvSpPr>
        <p:spPr>
          <a:xfrm>
            <a:off x="731520" y="1655064"/>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thread pool in v9 keeps all its worker threads in a ThreadGroup, so destroying the pool always joins every worker.</a:t>
            </a:r>
            <a:endParaRPr lang="en-US" sz="1400" dirty="0"/>
          </a:p>
        </p:txBody>
      </p:sp>
      <p:sp>
        <p:nvSpPr>
          <p:cNvPr id="7" name="Text 5"/>
          <p:cNvSpPr txBox="1"/>
          <p:nvPr/>
        </p:nvSpPr>
        <p:spPr>
          <a:xfrm>
            <a:off x="502920" y="267004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8" name="Text 6"/>
          <p:cNvSpPr txBox="1"/>
          <p:nvPr/>
        </p:nvSpPr>
        <p:spPr>
          <a:xfrm>
            <a:off x="502920" y="314553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t1.join(); t2.join(); std::cout &lt;&lt; "Done"; Can "Done" appear before the output of t1 or t2?</a:t>
            </a:r>
            <a:endParaRPr lang="en-US" sz="1500" dirty="0"/>
          </a:p>
        </p:txBody>
      </p:sp>
      <p:sp>
        <p:nvSpPr>
          <p:cNvPr id="9" name="Shape 7"/>
          <p:cNvSpPr/>
          <p:nvPr/>
        </p:nvSpPr>
        <p:spPr>
          <a:xfrm>
            <a:off x="502920" y="3703320"/>
            <a:ext cx="5387188" cy="1496568"/>
          </a:xfrm>
          <a:prstGeom prst="roundRect">
            <a:avLst>
              <a:gd name="adj" fmla="val 3666"/>
            </a:avLst>
          </a:prstGeom>
          <a:solidFill>
            <a:srgbClr val="F1F4F7"/>
          </a:solidFill>
          <a:ln w="12700">
            <a:solidFill>
              <a:srgbClr val="F1F4F7"/>
            </a:solidFill>
            <a:prstDash val="solid"/>
          </a:ln>
        </p:spPr>
      </p:sp>
      <p:sp>
        <p:nvSpPr>
          <p:cNvPr id="10" name="Text 8"/>
          <p:cNvSpPr txBox="1"/>
          <p:nvPr/>
        </p:nvSpPr>
        <p:spPr>
          <a:xfrm>
            <a:off x="685800" y="3831336"/>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main stops at t1.join() until t1 has finished, then stops at t2.join() until t2 has finished. Only then does it print Done, so Done is always last. t1 and t2 themselves can still print in either order, because they run at the same time while main waits.</a:t>
            </a:r>
            <a:endParaRPr lang="en-US" sz="1400" dirty="0"/>
          </a:p>
        </p:txBody>
      </p:sp>
      <p:sp>
        <p:nvSpPr>
          <p:cNvPr id="11" name="Text 9"/>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Three threads are started, then an exception is thrown before any join(). What happens, and how do you prevent it?</a:t>
            </a:r>
            <a:endParaRPr lang="en-US" sz="1500" dirty="0"/>
          </a:p>
        </p:txBody>
      </p:sp>
      <p:sp>
        <p:nvSpPr>
          <p:cNvPr id="12" name="Shape 10"/>
          <p:cNvSpPr/>
          <p:nvPr/>
        </p:nvSpPr>
        <p:spPr>
          <a:xfrm>
            <a:off x="6301588" y="1792224"/>
            <a:ext cx="5387188" cy="1709928"/>
          </a:xfrm>
          <a:prstGeom prst="roundRect">
            <a:avLst>
              <a:gd name="adj" fmla="val 3209"/>
            </a:avLst>
          </a:prstGeom>
          <a:solidFill>
            <a:srgbClr val="F1F4F7"/>
          </a:solidFill>
          <a:ln w="12700">
            <a:solidFill>
              <a:srgbClr val="F1F4F7"/>
            </a:solidFill>
            <a:prstDash val="solid"/>
          </a:ln>
        </p:spPr>
      </p:sp>
      <p:sp>
        <p:nvSpPr>
          <p:cNvPr id="13" name="Text 11"/>
          <p:cNvSpPr txBox="1"/>
          <p:nvPr/>
        </p:nvSpPr>
        <p:spPr>
          <a:xfrm>
            <a:off x="6484468"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exception leaves the function, the std::thread objects are destroyed while still joinable, and the program terminates. Keep the threads in an owner whose destructor joins them, like ThreadGroup, or use std::jthread (C++20), which joins in its own destructor. Destructors run during the exception, so the threads are joined safely.</a:t>
            </a:r>
            <a:endParaRPr lang="en-US" sz="1400" dirty="0"/>
          </a:p>
        </p:txBody>
      </p:sp>
      <p:sp>
        <p:nvSpPr>
          <p:cNvPr id="14" name="Text 12"/>
          <p:cNvSpPr txBox="1"/>
          <p:nvPr/>
        </p:nvSpPr>
        <p:spPr>
          <a:xfrm>
            <a:off x="6301588" y="364845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Four producers each push 100,000 items into one plain std::queue at the same time. What size do you expect?</a:t>
            </a:r>
            <a:endParaRPr lang="en-US" sz="1500" dirty="0"/>
          </a:p>
        </p:txBody>
      </p:sp>
      <p:sp>
        <p:nvSpPr>
          <p:cNvPr id="15" name="Shape 13"/>
          <p:cNvSpPr/>
          <p:nvPr/>
        </p:nvSpPr>
        <p:spPr>
          <a:xfrm>
            <a:off x="6301588" y="4206240"/>
            <a:ext cx="5387188" cy="1496568"/>
          </a:xfrm>
          <a:prstGeom prst="roundRect">
            <a:avLst>
              <a:gd name="adj" fmla="val 3666"/>
            </a:avLst>
          </a:prstGeom>
          <a:solidFill>
            <a:srgbClr val="F1F4F7"/>
          </a:solidFill>
          <a:ln w="12700">
            <a:solidFill>
              <a:srgbClr val="F1F4F7"/>
            </a:solidFill>
            <a:prstDash val="solid"/>
          </a:ln>
        </p:spPr>
      </p:sp>
      <p:sp>
        <p:nvSpPr>
          <p:cNvPr id="16" name="Text 14"/>
          <p:cNvSpPr txBox="1"/>
          <p:nvPr/>
        </p:nvSpPr>
        <p:spPr>
          <a:xfrm>
            <a:off x="6484468" y="4334256"/>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If it worked, 4 x 100,000 = 400,000. In practice the program crashes, hangs or ends with a wrong size, because four threads are inside push() at the same moment, changing the same data. Why that breaks things is exactly the next version.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v1 needs, file by file: queue.hpp, thread_group.hpp, main.cpp. If your version does not work, compare it with this one. Build and run it from the master folder with ./run.sh v1 main.</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a:t>
            </a:r>
            <a:endParaRPr lang="en-US" sz="1100" dirty="0"/>
          </a:p>
        </p:txBody>
      </p:sp>
      <p:sp>
        <p:nvSpPr>
          <p:cNvPr id="6" name="Shape 4"/>
          <p:cNvSpPr/>
          <p:nvPr/>
        </p:nvSpPr>
        <p:spPr>
          <a:xfrm>
            <a:off x="502920" y="2615184"/>
            <a:ext cx="5387188" cy="3684524"/>
          </a:xfrm>
          <a:prstGeom prst="roundRect">
            <a:avLst>
              <a:gd name="adj" fmla="val 1241"/>
            </a:avLst>
          </a:prstGeom>
          <a:solidFill>
            <a:srgbClr val="1E2230"/>
          </a:solidFill>
          <a:ln w="12700">
            <a:solidFill>
              <a:srgbClr val="1E2230"/>
            </a:solidFill>
            <a:prstDash val="solid"/>
          </a:ln>
        </p:spPr>
      </p:sp>
      <p:sp>
        <p:nvSpPr>
          <p:cNvPr id="7" name="Text 5"/>
          <p:cNvSpPr txBox="1"/>
          <p:nvPr/>
        </p:nvSpPr>
        <p:spPr>
          <a:xfrm>
            <a:off x="612648" y="2734056"/>
            <a:ext cx="5204308" cy="35016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 · Multiple threads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queue is unchanged from v0. What's new is how we run it:</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on std::threads, passed with std::ref, owned by a ThreadGroup.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undefined if empty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9" name="Shape 7"/>
          <p:cNvSpPr/>
          <p:nvPr/>
        </p:nvSpPr>
        <p:spPr>
          <a:xfrm>
            <a:off x="6301588" y="1527048"/>
            <a:ext cx="5387188" cy="1886204"/>
          </a:xfrm>
          <a:prstGeom prst="roundRect">
            <a:avLst>
              <a:gd name="adj" fmla="val 2424"/>
            </a:avLst>
          </a:prstGeom>
          <a:solidFill>
            <a:srgbClr val="1E2230"/>
          </a:solidFill>
          <a:ln w="12700">
            <a:solidFill>
              <a:srgbClr val="1E2230"/>
            </a:solidFill>
            <a:prstDash val="solid"/>
          </a:ln>
        </p:spPr>
      </p:sp>
      <p:sp>
        <p:nvSpPr>
          <p:cNvPr id="10" name="Text 8"/>
          <p:cNvSpPr txBox="1"/>
          <p:nvPr/>
        </p:nvSpPr>
        <p:spPr>
          <a:xfrm>
            <a:off x="6411316" y="1645920"/>
            <a:ext cx="5204308" cy="17033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1" name="Text 9"/>
          <p:cNvSpPr txBox="1"/>
          <p:nvPr/>
        </p:nvSpPr>
        <p:spPr>
          <a:xfrm>
            <a:off x="6301588" y="355955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a:t>
            </a:r>
            <a:endParaRPr lang="en-US" sz="1100" dirty="0"/>
          </a:p>
        </p:txBody>
      </p:sp>
      <p:sp>
        <p:nvSpPr>
          <p:cNvPr id="12" name="Shape 10"/>
          <p:cNvSpPr/>
          <p:nvPr/>
        </p:nvSpPr>
        <p:spPr>
          <a:xfrm>
            <a:off x="6301588" y="3852164"/>
            <a:ext cx="5387188" cy="2335784"/>
          </a:xfrm>
          <a:prstGeom prst="roundRect">
            <a:avLst>
              <a:gd name="adj" fmla="val 1957"/>
            </a:avLst>
          </a:prstGeom>
          <a:solidFill>
            <a:srgbClr val="1E2230"/>
          </a:solidFill>
          <a:ln w="12700">
            <a:solidFill>
              <a:srgbClr val="1E2230"/>
            </a:solidFill>
            <a:prstDash val="solid"/>
          </a:ln>
        </p:spPr>
      </p:sp>
      <p:sp>
        <p:nvSpPr>
          <p:cNvPr id="13" name="Text 11"/>
          <p:cNvSpPr txBox="1"/>
          <p:nvPr/>
        </p:nvSpPr>
        <p:spPr>
          <a:xfrm>
            <a:off x="6411316" y="3971036"/>
            <a:ext cx="5204308" cy="21529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 RAII owner for threads. Every thread added is joined in the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destructor, on every exit path, including exceptions.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default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 (continued)</a:t>
            </a:r>
            <a:endParaRPr lang="en-US" sz="1100" dirty="0"/>
          </a:p>
        </p:txBody>
      </p:sp>
      <p:sp>
        <p:nvSpPr>
          <p:cNvPr id="5" name="Shape 3"/>
          <p:cNvSpPr/>
          <p:nvPr/>
        </p:nvSpPr>
        <p:spPr>
          <a:xfrm>
            <a:off x="502920" y="1527048"/>
            <a:ext cx="5387188" cy="1136904"/>
          </a:xfrm>
          <a:prstGeom prst="roundRect">
            <a:avLst>
              <a:gd name="adj" fmla="val 4021"/>
            </a:avLst>
          </a:prstGeom>
          <a:solidFill>
            <a:srgbClr val="1E2230"/>
          </a:solidFill>
          <a:ln w="12700">
            <a:solidFill>
              <a:srgbClr val="1E2230"/>
            </a:solidFill>
            <a:prstDash val="solid"/>
          </a:ln>
        </p:spPr>
      </p:sp>
      <p:sp>
        <p:nvSpPr>
          <p:cNvPr id="6" name="Text 4"/>
          <p:cNvSpPr txBox="1"/>
          <p:nvPr/>
        </p:nvSpPr>
        <p:spPr>
          <a:xfrm>
            <a:off x="612648" y="1645920"/>
            <a:ext cx="5204308" cy="9540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502920" y="281025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8" name="Shape 6"/>
          <p:cNvSpPr/>
          <p:nvPr/>
        </p:nvSpPr>
        <p:spPr>
          <a:xfrm>
            <a:off x="502920" y="3102864"/>
            <a:ext cx="5387188" cy="2785364"/>
          </a:xfrm>
          <a:prstGeom prst="roundRect">
            <a:avLst>
              <a:gd name="adj" fmla="val 1641"/>
            </a:avLst>
          </a:prstGeom>
          <a:solidFill>
            <a:srgbClr val="1E2230"/>
          </a:solidFill>
          <a:ln w="12700">
            <a:solidFill>
              <a:srgbClr val="1E2230"/>
            </a:solidFill>
            <a:prstDash val="solid"/>
          </a:ln>
        </p:spPr>
      </p:sp>
      <p:sp>
        <p:nvSpPr>
          <p:cNvPr id="9" name="Text 7"/>
          <p:cNvSpPr txBox="1"/>
          <p:nvPr/>
        </p:nvSpPr>
        <p:spPr>
          <a:xfrm>
            <a:off x="612648" y="3221736"/>
            <a:ext cx="5204308" cy="260248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 producer and consumer each get their own thread.</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ThreadGroup joins both at the end of the scope.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producer finishes before the consumer starts, so this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is still safe: only one thread touches the queue at a time.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functional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"thread_group.hpp"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1'000'000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joined here: the producer is done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"after producer: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 items\n"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 (continued)</a:t>
            </a:r>
            <a:endParaRPr lang="en-US" sz="1100" dirty="0"/>
          </a:p>
        </p:txBody>
      </p:sp>
      <p:sp>
        <p:nvSpPr>
          <p:cNvPr id="11" name="Shape 9"/>
          <p:cNvSpPr/>
          <p:nvPr/>
        </p:nvSpPr>
        <p:spPr>
          <a:xfrm>
            <a:off x="6301588" y="1527048"/>
            <a:ext cx="5387188" cy="1136904"/>
          </a:xfrm>
          <a:prstGeom prst="roundRect">
            <a:avLst>
              <a:gd name="adj" fmla="val 4021"/>
            </a:avLst>
          </a:prstGeom>
          <a:solidFill>
            <a:srgbClr val="1E2230"/>
          </a:solidFill>
          <a:ln w="12700">
            <a:solidFill>
              <a:srgbClr val="1E2230"/>
            </a:solidFill>
            <a:prstDash val="solid"/>
          </a:ln>
        </p:spPr>
      </p:sp>
      <p:sp>
        <p:nvSpPr>
          <p:cNvPr id="12" name="Text 10"/>
          <p:cNvSpPr txBox="1"/>
          <p:nvPr/>
        </p:nvSpPr>
        <p:spPr>
          <a:xfrm>
            <a:off x="6411316" y="1645920"/>
            <a:ext cx="5204308" cy="9540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"after consumer: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 items\n"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situation</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start four producers that push into the same queue at once. With 1,000 items each it looks fine. With 100,000 each, it crashes or hangs every time. Before we can fix it we need two ideas that the crash depends on.</a:t>
            </a:r>
            <a:endParaRPr lang="en-US" sz="1500" dirty="0"/>
          </a:p>
        </p:txBody>
      </p:sp>
      <p:sp>
        <p:nvSpPr>
          <p:cNvPr id="6" name="Text 4"/>
          <p:cNvSpPr txBox="1"/>
          <p:nvPr/>
        </p:nvSpPr>
        <p:spPr>
          <a:xfrm>
            <a:off x="502920" y="290779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Idea 1: shared state</a:t>
            </a:r>
            <a:endParaRPr lang="en-US" sz="1800" dirty="0"/>
          </a:p>
        </p:txBody>
      </p:sp>
      <p:sp>
        <p:nvSpPr>
          <p:cNvPr id="7" name="Shape 5"/>
          <p:cNvSpPr/>
          <p:nvPr/>
        </p:nvSpPr>
        <p:spPr>
          <a:xfrm>
            <a:off x="502920" y="3383280"/>
            <a:ext cx="5387188" cy="752856"/>
          </a:xfrm>
          <a:prstGeom prst="roundRect">
            <a:avLst>
              <a:gd name="adj" fmla="val 7287"/>
            </a:avLst>
          </a:prstGeom>
          <a:solidFill>
            <a:srgbClr val="FBEDE3"/>
          </a:solidFill>
          <a:ln w="12700">
            <a:solidFill>
              <a:srgbClr val="FBEDE3"/>
            </a:solidFill>
            <a:prstDash val="solid"/>
          </a:ln>
        </p:spPr>
      </p:sp>
      <p:sp>
        <p:nvSpPr>
          <p:cNvPr id="8" name="Text 6"/>
          <p:cNvSpPr txBox="1"/>
          <p:nvPr/>
        </p:nvSpPr>
        <p:spPr>
          <a:xfrm>
            <a:off x="731520" y="352044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would two threads interfere with each other at all?</a:t>
            </a:r>
            <a:endParaRPr lang="en-US" sz="1600" dirty="0"/>
          </a:p>
        </p:txBody>
      </p:sp>
      <p:sp>
        <p:nvSpPr>
          <p:cNvPr id="9" name="Text 7"/>
          <p:cNvSpPr txBox="1"/>
          <p:nvPr/>
        </p:nvSpPr>
        <p:spPr>
          <a:xfrm>
            <a:off x="502920" y="4282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Each thread has its own local variables. If thread A only ever touches its own locals and thread B only touches its own, they can never get in each other's way, no matter how they are scheduled.</a:t>
            </a:r>
            <a:endParaRPr lang="en-US" sz="1500" dirty="0"/>
          </a:p>
        </p:txBody>
      </p:sp>
      <p:sp>
        <p:nvSpPr>
          <p:cNvPr id="10" name="Shape 8"/>
          <p:cNvSpPr/>
          <p:nvPr/>
        </p:nvSpPr>
        <p:spPr>
          <a:xfrm>
            <a:off x="6301588" y="1234440"/>
            <a:ext cx="5387188" cy="1248410"/>
          </a:xfrm>
          <a:prstGeom prst="roundRect">
            <a:avLst>
              <a:gd name="adj" fmla="val 4395"/>
            </a:avLst>
          </a:prstGeom>
          <a:solidFill>
            <a:srgbClr val="F1F4F7"/>
          </a:solidFill>
          <a:ln w="12700">
            <a:solidFill>
              <a:srgbClr val="F1F4F7"/>
            </a:solidFill>
            <a:prstDash val="solid"/>
          </a:ln>
        </p:spPr>
      </p:sp>
      <p:sp>
        <p:nvSpPr>
          <p:cNvPr id="11" name="Text 9"/>
          <p:cNvSpPr txBox="1"/>
          <p:nvPr/>
        </p:nvSpPr>
        <p:spPr>
          <a:xfrm>
            <a:off x="6484468" y="1371600"/>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thread A          thread B</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localA            localB      private</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counter               both can reach it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SHARED STATE</a:t>
            </a:r>
            <a:endParaRPr lang="en-US" sz="1300" dirty="0"/>
          </a:p>
        </p:txBody>
      </p:sp>
      <p:sp>
        <p:nvSpPr>
          <p:cNvPr id="12" name="Text 10"/>
          <p:cNvSpPr txBox="1"/>
          <p:nvPr/>
        </p:nvSpPr>
        <p:spPr>
          <a:xfrm>
            <a:off x="6301588" y="262915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Trouble can only start when both threads reach the same data. That data is called shared state. Our queue is shared state: every producer pushes into the same object. So the question becomes: what goes wrong when two threads change the same thing at once?</a:t>
            </a:r>
            <a:endParaRPr lang="en-US" sz="1500" dirty="0"/>
          </a:p>
        </p:txBody>
      </p:sp>
      <p:sp>
        <p:nvSpPr>
          <p:cNvPr id="13" name="Text 11"/>
          <p:cNvSpPr txBox="1"/>
          <p:nvPr/>
        </p:nvSpPr>
        <p:spPr>
          <a:xfrm>
            <a:off x="6301588" y="400075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Idea 2: one line is not one step</a:t>
            </a:r>
            <a:endParaRPr lang="en-US" sz="1800" dirty="0"/>
          </a:p>
        </p:txBody>
      </p:sp>
      <p:sp>
        <p:nvSpPr>
          <p:cNvPr id="14" name="Text 12"/>
          <p:cNvSpPr txBox="1"/>
          <p:nvPr/>
        </p:nvSpPr>
        <p:spPr>
          <a:xfrm>
            <a:off x="6301588" y="447624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std::queue has a lot of code inside, so let us shrink the problem to one line that two threads each run a million times.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Shape 2"/>
          <p:cNvSpPr/>
          <p:nvPr/>
        </p:nvSpPr>
        <p:spPr>
          <a:xfrm>
            <a:off x="502920" y="1234440"/>
            <a:ext cx="5387188" cy="2417318"/>
          </a:xfrm>
          <a:prstGeom prst="roundRect">
            <a:avLst>
              <a:gd name="adj" fmla="val 2270"/>
            </a:avLst>
          </a:prstGeom>
          <a:solidFill>
            <a:srgbClr val="1E2230"/>
          </a:solidFill>
          <a:ln w="12700">
            <a:solidFill>
              <a:srgbClr val="1E2230"/>
            </a:solidFill>
            <a:prstDash val="solid"/>
          </a:ln>
        </p:spPr>
      </p:sp>
      <p:sp>
        <p:nvSpPr>
          <p:cNvPr id="5" name="Text 3"/>
          <p:cNvSpPr txBox="1"/>
          <p:nvPr/>
        </p:nvSpPr>
        <p:spPr>
          <a:xfrm>
            <a:off x="685800" y="1371600"/>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shared state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1'000'000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379806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answer should be 2,000,000. It is not, and it changes every run:</a:t>
            </a:r>
            <a:endParaRPr lang="en-US" sz="1500" dirty="0"/>
          </a:p>
        </p:txBody>
      </p:sp>
      <p:sp>
        <p:nvSpPr>
          <p:cNvPr id="7" name="Shape 5"/>
          <p:cNvSpPr/>
          <p:nvPr/>
        </p:nvSpPr>
        <p:spPr>
          <a:xfrm>
            <a:off x="502920" y="4428998"/>
            <a:ext cx="5387188" cy="1443228"/>
          </a:xfrm>
          <a:prstGeom prst="roundRect">
            <a:avLst>
              <a:gd name="adj" fmla="val 3801"/>
            </a:avLst>
          </a:prstGeom>
          <a:solidFill>
            <a:srgbClr val="0F1419"/>
          </a:solidFill>
          <a:ln w="12700">
            <a:solidFill>
              <a:srgbClr val="0F1419"/>
            </a:solidFill>
            <a:prstDash val="solid"/>
          </a:ln>
        </p:spPr>
      </p:sp>
      <p:sp>
        <p:nvSpPr>
          <p:cNvPr id="8" name="Text 6"/>
          <p:cNvSpPr txBox="1"/>
          <p:nvPr/>
        </p:nvSpPr>
        <p:spPr>
          <a:xfrm>
            <a:off x="685800" y="4566158"/>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v2 tiny      (five runs)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1556397</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1114575</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1363955</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1099554</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race: 1074728</a:t>
            </a:r>
            <a:endParaRPr lang="en-US" sz="1300" dirty="0"/>
          </a:p>
        </p:txBody>
      </p:sp>
      <p:sp>
        <p:nvSpPr>
          <p:cNvPr id="9" name="Shape 7"/>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10" name="Text 8"/>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How can adding one a million times twice lose half a million?</a:t>
            </a:r>
            <a:endParaRPr lang="en-US" sz="1600" dirty="0"/>
          </a:p>
        </p:txBody>
      </p:sp>
      <p:sp>
        <p:nvSpPr>
          <p:cNvPr id="11" name="Text 9"/>
          <p:cNvSpPr txBox="1"/>
          <p:nvPr/>
        </p:nvSpPr>
        <p:spPr>
          <a:xfrm>
            <a:off x="6301588" y="213360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Because ++counter is not one operation. The processor does three: READ the value from memory into a register (a tiny storage slot inside the core), ADD one to it, and WRITE it back. Each core has its own registers. Two threads on two cores run these steps side by side, and nothing stops them from interleaving like this:</a:t>
            </a:r>
            <a:endParaRPr lang="en-US" sz="1500" dirty="0"/>
          </a:p>
        </p:txBody>
      </p:sp>
      <p:sp>
        <p:nvSpPr>
          <p:cNvPr id="12" name="Shape 10"/>
          <p:cNvSpPr/>
          <p:nvPr/>
        </p:nvSpPr>
        <p:spPr>
          <a:xfrm>
            <a:off x="6301588" y="3678936"/>
            <a:ext cx="5387188" cy="2027682"/>
          </a:xfrm>
          <a:prstGeom prst="roundRect">
            <a:avLst>
              <a:gd name="adj" fmla="val 2706"/>
            </a:avLst>
          </a:prstGeom>
          <a:solidFill>
            <a:srgbClr val="F1F4F7"/>
          </a:solidFill>
          <a:ln w="12700">
            <a:solidFill>
              <a:srgbClr val="F1F4F7"/>
            </a:solidFill>
            <a:prstDash val="solid"/>
          </a:ln>
        </p:spPr>
      </p:sp>
      <p:sp>
        <p:nvSpPr>
          <p:cNvPr id="13" name="Text 11"/>
          <p:cNvSpPr txBox="1"/>
          <p:nvPr/>
        </p:nvSpPr>
        <p:spPr>
          <a:xfrm>
            <a:off x="6484468" y="3816096"/>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(core 0)              T2 (core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READ  counter -&gt; 0</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  counter -&gt; 0</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ADD   -&gt;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ADD   -&gt;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WRITE 1</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 increments, counter is 1</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T2 read 0 before T1 had written its 1. So T2 also computed 1, and wrote it over T1's result. One increment vanished. Over a million loops this happens hundreds of thousands of times.</a:t>
            </a:r>
            <a:endParaRPr lang="en-US" sz="1500" dirty="0"/>
          </a:p>
        </p:txBody>
      </p:sp>
      <p:sp>
        <p:nvSpPr>
          <p:cNvPr id="5" name="Text 3"/>
          <p:cNvSpPr txBox="1"/>
          <p:nvPr/>
        </p:nvSpPr>
        <p:spPr>
          <a:xfrm>
            <a:off x="502920" y="232257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Inside std::queue the same thing happens to its internal pointers. A lost pointer update leaves the queue pointing at the wrong memory, and that is the crash. This bug is called a data race: two threads access the same memory, at least one writes, and nothing makes them take turns. In C++ it is undefined behaviour, so anything at all may happen.</a:t>
            </a:r>
            <a:endParaRPr lang="en-US" sz="1500" dirty="0"/>
          </a:p>
        </p:txBody>
      </p:sp>
      <p:sp>
        <p:nvSpPr>
          <p:cNvPr id="6" name="Text 4"/>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would you do?</a:t>
            </a:r>
            <a:endParaRPr lang="en-US" sz="1800" dirty="0"/>
          </a:p>
        </p:txBody>
      </p:sp>
      <p:sp>
        <p:nvSpPr>
          <p:cNvPr id="7" name="Shape 5"/>
          <p:cNvSpPr/>
          <p:nvPr/>
        </p:nvSpPr>
        <p:spPr>
          <a:xfrm>
            <a:off x="6301588" y="1764792"/>
            <a:ext cx="5387188" cy="752856"/>
          </a:xfrm>
          <a:prstGeom prst="roundRect">
            <a:avLst>
              <a:gd name="adj" fmla="val 7287"/>
            </a:avLst>
          </a:prstGeom>
          <a:solidFill>
            <a:srgbClr val="FBEDE3"/>
          </a:solidFill>
          <a:ln w="12700">
            <a:solidFill>
              <a:srgbClr val="FBEDE3"/>
            </a:solidFill>
            <a:prstDash val="solid"/>
          </a:ln>
        </p:spPr>
      </p:sp>
      <p:sp>
        <p:nvSpPr>
          <p:cNvPr id="8" name="Text 6"/>
          <p:cNvSpPr txBox="1"/>
          <p:nvPr/>
        </p:nvSpPr>
        <p:spPr>
          <a:xfrm>
            <a:off x="6530188"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Couldn't we just check whether the other thread is busy before touching counter?</a:t>
            </a:r>
            <a:endParaRPr lang="en-US" sz="1600" dirty="0"/>
          </a:p>
        </p:txBody>
      </p:sp>
      <p:sp>
        <p:nvSpPr>
          <p:cNvPr id="9" name="Text 7"/>
          <p:cNvSpPr txBox="1"/>
          <p:nvPr/>
        </p:nvSpPr>
        <p:spPr>
          <a:xfrm>
            <a:off x="6301588" y="266395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Try it: if (!busy) { busy = true; ++counter; busy = false; }. But checking busy and setting it are two separate steps too. Both threads can read busy as false at the same moment, both set it to true, and both go in. We have moved the race, not removed it. We need something the hardware guarantees: when one thread is inside, every other thread waits. That property is called mutual exclusion.</a:t>
            </a:r>
            <a:endParaRPr lang="en-US" sz="1500" dirty="0"/>
          </a:p>
        </p:txBody>
      </p:sp>
      <p:sp>
        <p:nvSpPr>
          <p:cNvPr id="10" name="Text 8"/>
          <p:cNvSpPr txBox="1"/>
          <p:nvPr/>
        </p:nvSpPr>
        <p:spPr>
          <a:xfrm>
            <a:off x="6301588" y="449275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mutex</a:t>
            </a:r>
            <a:endParaRPr lang="en-US" sz="1800" dirty="0"/>
          </a:p>
        </p:txBody>
      </p:sp>
      <p:sp>
        <p:nvSpPr>
          <p:cNvPr id="11" name="Text 9"/>
          <p:cNvSpPr txBox="1"/>
          <p:nvPr/>
        </p:nvSpPr>
        <p:spPr>
          <a:xfrm>
            <a:off x="6301588" y="49682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std::mutex gives us mutual exclusion. Think of it as the only key to a room. lock() takes the key, and if another thread already has it, you wait at the door until it comes back. unlock() hands the key back. The code between lock() and unlock() is the room, and it is called the critical section.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3444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Before using it in the queue, watch what a mutex does to two threads. Each one locks, stays inside for half a second, and unlocks.</a:t>
            </a:r>
            <a:endParaRPr lang="en-US" sz="1500" dirty="0"/>
          </a:p>
        </p:txBody>
      </p:sp>
      <p:sp>
        <p:nvSpPr>
          <p:cNvPr id="5" name="Shape 3"/>
          <p:cNvSpPr/>
          <p:nvPr/>
        </p:nvSpPr>
        <p:spPr>
          <a:xfrm>
            <a:off x="502920" y="2093976"/>
            <a:ext cx="5387188" cy="2222500"/>
          </a:xfrm>
          <a:prstGeom prst="roundRect">
            <a:avLst>
              <a:gd name="adj" fmla="val 2469"/>
            </a:avLst>
          </a:prstGeom>
          <a:solidFill>
            <a:srgbClr val="1E2230"/>
          </a:solidFill>
          <a:ln w="12700">
            <a:solidFill>
              <a:srgbClr val="1E2230"/>
            </a:solidFill>
            <a:prstDash val="solid"/>
          </a:ln>
        </p:spPr>
      </p:sp>
      <p:sp>
        <p:nvSpPr>
          <p:cNvPr id="6" name="Text 4"/>
          <p:cNvSpPr txBox="1"/>
          <p:nvPr/>
        </p:nvSpPr>
        <p:spPr>
          <a:xfrm>
            <a:off x="685800" y="2231136"/>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visit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char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who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say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who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"wants the 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say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who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"is inside"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500ms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say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who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"leaves"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visit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visit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Shape 5"/>
          <p:cNvSpPr/>
          <p:nvPr/>
        </p:nvSpPr>
        <p:spPr>
          <a:xfrm>
            <a:off x="502920" y="4462780"/>
            <a:ext cx="5387188" cy="1638046"/>
          </a:xfrm>
          <a:prstGeom prst="roundRect">
            <a:avLst>
              <a:gd name="adj" fmla="val 3349"/>
            </a:avLst>
          </a:prstGeom>
          <a:solidFill>
            <a:srgbClr val="0F1419"/>
          </a:solidFill>
          <a:ln w="12700">
            <a:solidFill>
              <a:srgbClr val="0F1419"/>
            </a:solidFill>
            <a:prstDash val="solid"/>
          </a:ln>
        </p:spPr>
      </p:sp>
      <p:sp>
        <p:nvSpPr>
          <p:cNvPr id="8" name="Text 6"/>
          <p:cNvSpPr txBox="1"/>
          <p:nvPr/>
        </p:nvSpPr>
        <p:spPr>
          <a:xfrm>
            <a:off x="685800" y="459994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v2 exp_mutex</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0.000 s  A wants the mutex</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0.000 s  A is inside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0.000 s  B wants the mutex</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0.500 s  A leaves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0.501 s  B is inside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1.001 s  B leaves</a:t>
            </a:r>
            <a:endParaRPr lang="en-US" sz="1300" dirty="0"/>
          </a:p>
        </p:txBody>
      </p:sp>
      <p:sp>
        <p:nvSpPr>
          <p:cNvPr id="9" name="Text 7"/>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threads asked at almost the same moment. A got the key first, so B simply waited at lock() for half a second and only went in after A left. Run it a few times and sometimes B goes first, but they are never inside together. That waiting is exactly what we were missing in the counter.</a:t>
            </a:r>
            <a:endParaRPr lang="en-US" sz="1500" dirty="0"/>
          </a:p>
        </p:txBody>
      </p:sp>
      <p:sp>
        <p:nvSpPr>
          <p:cNvPr id="10" name="Text 8"/>
          <p:cNvSpPr txBox="1"/>
          <p:nvPr/>
        </p:nvSpPr>
        <p:spPr>
          <a:xfrm>
            <a:off x="6301588" y="26060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this fixes the exact problem</a:t>
            </a:r>
            <a:endParaRPr lang="en-US" sz="1800" dirty="0"/>
          </a:p>
        </p:txBody>
      </p:sp>
      <p:sp>
        <p:nvSpPr>
          <p:cNvPr id="11" name="Text 9"/>
          <p:cNvSpPr txBox="1"/>
          <p:nvPr/>
        </p:nvSpPr>
        <p:spPr>
          <a:xfrm>
            <a:off x="6301588" y="30815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Put the increment inside the room. Now T2 cannot READ while T1 is between its READ and WRITE, because T2 is stuck at lock().</a:t>
            </a:r>
            <a:endParaRPr lang="en-US" sz="1500" dirty="0"/>
          </a:p>
        </p:txBody>
      </p:sp>
      <p:sp>
        <p:nvSpPr>
          <p:cNvPr id="12" name="Shape 10"/>
          <p:cNvSpPr/>
          <p:nvPr/>
        </p:nvSpPr>
        <p:spPr>
          <a:xfrm>
            <a:off x="6301588" y="3941064"/>
            <a:ext cx="5387188" cy="1638046"/>
          </a:xfrm>
          <a:prstGeom prst="roundRect">
            <a:avLst>
              <a:gd name="adj" fmla="val 3349"/>
            </a:avLst>
          </a:prstGeom>
          <a:solidFill>
            <a:srgbClr val="F1F4F7"/>
          </a:solidFill>
          <a:ln w="12700">
            <a:solidFill>
              <a:srgbClr val="F1F4F7"/>
            </a:solidFill>
            <a:prstDash val="solid"/>
          </a:ln>
        </p:spPr>
      </p:sp>
      <p:sp>
        <p:nvSpPr>
          <p:cNvPr id="13" name="Text 11"/>
          <p:cNvSpPr txBox="1"/>
          <p:nvPr/>
        </p:nvSpPr>
        <p:spPr>
          <a:xfrm>
            <a:off x="6484468" y="4078224"/>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T2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READ 0, ADD, WRITE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m ...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unlock 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gets m: READ 1, ADD,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WRITE 2, unlock m</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Shape 2"/>
          <p:cNvSpPr/>
          <p:nvPr/>
        </p:nvSpPr>
        <p:spPr>
          <a:xfrm>
            <a:off x="502920" y="1234440"/>
            <a:ext cx="5387188" cy="2222500"/>
          </a:xfrm>
          <a:prstGeom prst="roundRect">
            <a:avLst>
              <a:gd name="adj" fmla="val 2469"/>
            </a:avLst>
          </a:prstGeom>
          <a:solidFill>
            <a:srgbClr val="1E2230"/>
          </a:solidFill>
          <a:ln w="12700">
            <a:solidFill>
              <a:srgbClr val="1E2230"/>
            </a:solidFill>
            <a:prstDash val="solid"/>
          </a:ln>
        </p:spPr>
      </p:sp>
      <p:sp>
        <p:nvSpPr>
          <p:cNvPr id="5" name="Text 3"/>
          <p:cNvSpPr txBox="1"/>
          <p:nvPr/>
        </p:nvSpPr>
        <p:spPr>
          <a:xfrm>
            <a:off x="685800" y="1371600"/>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 for the key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only one thread here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hand the key back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360324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rule makes it work: every access to q goes through the same mutex, including reads like size() and empty(). If size() reads while push() is halfway through a change, it reads a broken state. The mutex protects the data, not a particular function.</a:t>
            </a:r>
            <a:endParaRPr lang="en-US" sz="1500" dirty="0"/>
          </a:p>
        </p:txBody>
      </p:sp>
      <p:sp>
        <p:nvSpPr>
          <p:cNvPr id="7" name="Shape 5"/>
          <p:cNvSpPr/>
          <p:nvPr/>
        </p:nvSpPr>
        <p:spPr>
          <a:xfrm>
            <a:off x="502920" y="4919980"/>
            <a:ext cx="5387188" cy="1447800"/>
          </a:xfrm>
          <a:prstGeom prst="roundRect">
            <a:avLst>
              <a:gd name="adj" fmla="val 3789"/>
            </a:avLst>
          </a:prstGeom>
          <a:solidFill>
            <a:srgbClr val="E3F2EF"/>
          </a:solidFill>
          <a:ln w="12700">
            <a:solidFill>
              <a:srgbClr val="E3F2EF"/>
            </a:solidFill>
            <a:prstDash val="solid"/>
          </a:ln>
        </p:spPr>
      </p:sp>
      <p:sp>
        <p:nvSpPr>
          <p:cNvPr id="8" name="Text 6"/>
          <p:cNvSpPr txBox="1"/>
          <p:nvPr/>
        </p:nvSpPr>
        <p:spPr>
          <a:xfrm>
            <a:off x="731520" y="5047996"/>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9" name="Text 7"/>
          <p:cNvSpPr txBox="1"/>
          <p:nvPr/>
        </p:nvSpPr>
        <p:spPr>
          <a:xfrm>
            <a:off x="731520" y="5340604"/>
            <a:ext cx="4929988" cy="91744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Every piece of shared state in our pool (the task queue, result lists, caches) will be guarded by a mutex this way, until Part 3 where we find cheaper tools for special cases.</a:t>
            </a:r>
            <a:endParaRPr lang="en-US" sz="1400" dirty="0"/>
          </a:p>
        </p:txBody>
      </p:sp>
      <p:sp>
        <p:nvSpPr>
          <p:cNvPr id="10" name="Text 8"/>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1" name="Text 9"/>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One thread pushes in 44 ns. With four threads pushing at once, each push takes 141 ns. Why does it get slower?</a:t>
            </a:r>
            <a:endParaRPr lang="en-US" sz="1500" dirty="0"/>
          </a:p>
        </p:txBody>
      </p:sp>
      <p:sp>
        <p:nvSpPr>
          <p:cNvPr id="12" name="Shape 10"/>
          <p:cNvSpPr/>
          <p:nvPr/>
        </p:nvSpPr>
        <p:spPr>
          <a:xfrm>
            <a:off x="6301588" y="2322576"/>
            <a:ext cx="5387188" cy="1923288"/>
          </a:xfrm>
          <a:prstGeom prst="roundRect">
            <a:avLst>
              <a:gd name="adj" fmla="val 2853"/>
            </a:avLst>
          </a:prstGeom>
          <a:solidFill>
            <a:srgbClr val="F1F4F7"/>
          </a:solidFill>
          <a:ln w="12700">
            <a:solidFill>
              <a:srgbClr val="F1F4F7"/>
            </a:solidFill>
            <a:prstDash val="solid"/>
          </a:ln>
        </p:spPr>
      </p:sp>
      <p:sp>
        <p:nvSpPr>
          <p:cNvPr id="13" name="Text 11"/>
          <p:cNvSpPr txBox="1"/>
          <p:nvPr/>
        </p:nvSpPr>
        <p:spPr>
          <a:xfrm>
            <a:off x="6484468" y="2450592"/>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Only one thread can hold the mutex, so with four threads the other three are usually waiting at lock(). The pushes no longer run in parallel, they run one at a time. On top of that, handing the mutex from one core to another takes time, because the cores must agree on who owns it, and that costs more than the push itself. We come back to this cost in v5.</a:t>
            </a:r>
            <a:endParaRPr lang="en-US" sz="1400" dirty="0"/>
          </a:p>
        </p:txBody>
      </p:sp>
      <p:sp>
        <p:nvSpPr>
          <p:cNvPr id="14" name="Text 12"/>
          <p:cNvSpPr txBox="1"/>
          <p:nvPr/>
        </p:nvSpPr>
        <p:spPr>
          <a:xfrm>
            <a:off x="6301588" y="4392168"/>
            <a:ext cx="5387188" cy="2560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m.lock(); foo(); m.unlock(); What happens if foo() throws?</a:t>
            </a:r>
            <a:endParaRPr lang="en-US" sz="1500" dirty="0"/>
          </a:p>
        </p:txBody>
      </p:sp>
      <p:sp>
        <p:nvSpPr>
          <p:cNvPr id="15" name="Shape 13"/>
          <p:cNvSpPr/>
          <p:nvPr/>
        </p:nvSpPr>
        <p:spPr>
          <a:xfrm>
            <a:off x="6301588" y="4721352"/>
            <a:ext cx="5387188" cy="1496568"/>
          </a:xfrm>
          <a:prstGeom prst="roundRect">
            <a:avLst>
              <a:gd name="adj" fmla="val 3666"/>
            </a:avLst>
          </a:prstGeom>
          <a:solidFill>
            <a:srgbClr val="F1F4F7"/>
          </a:solidFill>
          <a:ln w="12700">
            <a:solidFill>
              <a:srgbClr val="F1F4F7"/>
            </a:solidFill>
            <a:prstDash val="solid"/>
          </a:ln>
        </p:spPr>
      </p:sp>
      <p:sp>
        <p:nvSpPr>
          <p:cNvPr id="16" name="Text 14"/>
          <p:cNvSpPr txBox="1"/>
          <p:nvPr/>
        </p:nvSpPr>
        <p:spPr>
          <a:xfrm>
            <a:off x="6484468" y="4849368"/>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exception leaves the function straight away, so m.unlock() never runs. The key is never handed back. The next thread that calls m.lock() waits forever, and so does every thread after it. This is exactly the problem v3 solves.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threads, one queue</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Thread A calls q.size() while thread B calls q.push(100). A only reads. Does it still need the lock?</a:t>
            </a:r>
            <a:endParaRPr lang="en-US" sz="1500" dirty="0"/>
          </a:p>
        </p:txBody>
      </p:sp>
      <p:sp>
        <p:nvSpPr>
          <p:cNvPr id="5" name="Shape 3"/>
          <p:cNvSpPr/>
          <p:nvPr/>
        </p:nvSpPr>
        <p:spPr>
          <a:xfrm>
            <a:off x="502920" y="1792224"/>
            <a:ext cx="5387188" cy="1496568"/>
          </a:xfrm>
          <a:prstGeom prst="roundRect">
            <a:avLst>
              <a:gd name="adj" fmla="val 3666"/>
            </a:avLst>
          </a:prstGeom>
          <a:solidFill>
            <a:srgbClr val="F1F4F7"/>
          </a:solidFill>
          <a:ln w="12700">
            <a:solidFill>
              <a:srgbClr val="F1F4F7"/>
            </a:solidFill>
            <a:prstDash val="solid"/>
          </a:ln>
        </p:spPr>
      </p:sp>
      <p:sp>
        <p:nvSpPr>
          <p:cNvPr id="6" name="Text 4"/>
          <p:cNvSpPr txBox="1"/>
          <p:nvPr/>
        </p:nvSpPr>
        <p:spPr>
          <a:xfrm>
            <a:off x="685800" y="1920240"/>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Yes. B is changing the queue's internal data while A reads it, so A can see it half changed and get a wrong size, or worse. A read at the same time as a write is still a data race. Read-only code needs the lock whenever another thread might be writing.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v2: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v2 needs, file by file: queue.hpp, thread_group.hpp, main.cpp. If your version does not work, compare it with this one. Build and run it from the master folder with ./run.sh v2 main.</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a:t>
            </a:r>
            <a:endParaRPr lang="en-US" sz="1100" dirty="0"/>
          </a:p>
        </p:txBody>
      </p:sp>
      <p:sp>
        <p:nvSpPr>
          <p:cNvPr id="6" name="Shape 4"/>
          <p:cNvSpPr/>
          <p:nvPr/>
        </p:nvSpPr>
        <p:spPr>
          <a:xfrm>
            <a:off x="502920" y="2615184"/>
            <a:ext cx="5387188" cy="3684524"/>
          </a:xfrm>
          <a:prstGeom prst="roundRect">
            <a:avLst>
              <a:gd name="adj" fmla="val 1241"/>
            </a:avLst>
          </a:prstGeom>
          <a:solidFill>
            <a:srgbClr val="1E2230"/>
          </a:solidFill>
          <a:ln w="12700">
            <a:solidFill>
              <a:srgbClr val="1E2230"/>
            </a:solidFill>
            <a:prstDash val="solid"/>
          </a:ln>
        </p:spPr>
      </p:sp>
      <p:sp>
        <p:nvSpPr>
          <p:cNvPr id="7" name="Text 5"/>
          <p:cNvSpPr txBox="1"/>
          <p:nvPr/>
        </p:nvSpPr>
        <p:spPr>
          <a:xfrm>
            <a:off x="612648" y="2734056"/>
            <a:ext cx="5204308" cy="35016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v2 · Mutex protected</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One mutex guards the queue. Locking is manual, on purpose: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next_bug.cpp shows what an exception does to a manual lock.</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stdexcept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9" name="Shape 7"/>
          <p:cNvSpPr/>
          <p:nvPr/>
        </p:nvSpPr>
        <p:spPr>
          <a:xfrm>
            <a:off x="6301588" y="1527048"/>
            <a:ext cx="5387188" cy="3834384"/>
          </a:xfrm>
          <a:prstGeom prst="roundRect">
            <a:avLst>
              <a:gd name="adj" fmla="val 1192"/>
            </a:avLst>
          </a:prstGeom>
          <a:solidFill>
            <a:srgbClr val="1E2230"/>
          </a:solidFill>
          <a:ln w="12700">
            <a:solidFill>
              <a:srgbClr val="1E2230"/>
            </a:solidFill>
            <a:prstDash val="solid"/>
          </a:ln>
        </p:spPr>
      </p:sp>
      <p:sp>
        <p:nvSpPr>
          <p:cNvPr id="10" name="Text 8"/>
          <p:cNvSpPr txBox="1"/>
          <p:nvPr/>
        </p:nvSpPr>
        <p:spPr>
          <a:xfrm>
            <a:off x="6411316" y="1645920"/>
            <a:ext cx="5204308" cy="36515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m stays locked!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v2: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a:t>
            </a:r>
            <a:endParaRPr lang="en-US" sz="1100" dirty="0"/>
          </a:p>
        </p:txBody>
      </p:sp>
      <p:sp>
        <p:nvSpPr>
          <p:cNvPr id="5" name="Shape 3"/>
          <p:cNvSpPr/>
          <p:nvPr/>
        </p:nvSpPr>
        <p:spPr>
          <a:xfrm>
            <a:off x="502920" y="1527048"/>
            <a:ext cx="5387188" cy="3234944"/>
          </a:xfrm>
          <a:prstGeom prst="roundRect">
            <a:avLst>
              <a:gd name="adj" fmla="val 1413"/>
            </a:avLst>
          </a:prstGeom>
          <a:solidFill>
            <a:srgbClr val="1E2230"/>
          </a:solidFill>
          <a:ln w="12700">
            <a:solidFill>
              <a:srgbClr val="1E2230"/>
            </a:solidFill>
            <a:prstDash val="solid"/>
          </a:ln>
        </p:spPr>
      </p:sp>
      <p:sp>
        <p:nvSpPr>
          <p:cNvPr id="6" name="Text 4"/>
          <p:cNvSpPr txBox="1"/>
          <p:nvPr/>
        </p:nvSpPr>
        <p:spPr>
          <a:xfrm>
            <a:off x="612648" y="1645920"/>
            <a:ext cx="5204308" cy="30520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 RAII owner for threads. Every thread added is joined in the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destructor, on every exit path, including exceptions.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default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8" name="Shape 6"/>
          <p:cNvSpPr/>
          <p:nvPr/>
        </p:nvSpPr>
        <p:spPr>
          <a:xfrm>
            <a:off x="6301588" y="1527048"/>
            <a:ext cx="5387188" cy="2935224"/>
          </a:xfrm>
          <a:prstGeom prst="roundRect">
            <a:avLst>
              <a:gd name="adj" fmla="val 1558"/>
            </a:avLst>
          </a:prstGeom>
          <a:solidFill>
            <a:srgbClr val="1E2230"/>
          </a:solidFill>
          <a:ln w="12700">
            <a:solidFill>
              <a:srgbClr val="1E2230"/>
            </a:solidFill>
            <a:prstDash val="solid"/>
          </a:ln>
        </p:spPr>
      </p:sp>
      <p:sp>
        <p:nvSpPr>
          <p:cNvPr id="9" name="Text 7"/>
          <p:cNvSpPr txBox="1"/>
          <p:nvPr/>
        </p:nvSpPr>
        <p:spPr>
          <a:xfrm>
            <a:off x="6411316" y="1645920"/>
            <a:ext cx="5204308" cy="275234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v2: four producers push into one queue at the same time.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mutex inside push() makes them take turns.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functional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"thread_group.hpp"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100'000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"expected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 queue has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consumer that arrives too early</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v2, pop() throws when the queue is empty, and it locks and unlocks by hand.</a:t>
            </a:r>
            <a:endParaRPr lang="en-US" sz="1500" dirty="0"/>
          </a:p>
        </p:txBody>
      </p:sp>
      <p:sp>
        <p:nvSpPr>
          <p:cNvPr id="6" name="Shape 4"/>
          <p:cNvSpPr/>
          <p:nvPr/>
        </p:nvSpPr>
        <p:spPr>
          <a:xfrm>
            <a:off x="502920" y="2395728"/>
            <a:ext cx="5387188" cy="2027682"/>
          </a:xfrm>
          <a:prstGeom prst="roundRect">
            <a:avLst>
              <a:gd name="adj" fmla="val 2706"/>
            </a:avLst>
          </a:prstGeom>
          <a:solidFill>
            <a:srgbClr val="1E2230"/>
          </a:solidFill>
          <a:ln w="12700">
            <a:solidFill>
              <a:srgbClr val="1E2230"/>
            </a:solidFill>
            <a:prstDash val="solid"/>
          </a:ln>
        </p:spPr>
      </p:sp>
      <p:sp>
        <p:nvSpPr>
          <p:cNvPr id="7" name="Text 5"/>
          <p:cNvSpPr txBox="1"/>
          <p:nvPr/>
        </p:nvSpPr>
        <p:spPr>
          <a:xfrm>
            <a:off x="685800" y="2532888"/>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Shape 6"/>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9" name="Text 7"/>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happens if a consumer calls pop() before anything was pushed?</a:t>
            </a:r>
            <a:endParaRPr lang="en-US" sz="1600" dirty="0"/>
          </a:p>
        </p:txBody>
      </p:sp>
      <p:sp>
        <p:nvSpPr>
          <p:cNvPr id="10" name="Text 8"/>
          <p:cNvSpPr txBox="1"/>
          <p:nvPr/>
        </p:nvSpPr>
        <p:spPr>
          <a:xfrm>
            <a:off x="6301588" y="213360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Trace it line by line. It takes the lock. The queue is empty, so it throws. A throw leaves the function immediately, skipping every remaining line, including m.unlock().</a:t>
            </a:r>
            <a:endParaRPr lang="en-US" sz="1500" dirty="0"/>
          </a:p>
        </p:txBody>
      </p:sp>
      <p:sp>
        <p:nvSpPr>
          <p:cNvPr id="11" name="Shape 9"/>
          <p:cNvSpPr/>
          <p:nvPr/>
        </p:nvSpPr>
        <p:spPr>
          <a:xfrm>
            <a:off x="6301588" y="3221736"/>
            <a:ext cx="5387188" cy="2417318"/>
          </a:xfrm>
          <a:prstGeom prst="roundRect">
            <a:avLst>
              <a:gd name="adj" fmla="val 2270"/>
            </a:avLst>
          </a:prstGeom>
          <a:solidFill>
            <a:srgbClr val="F1F4F7"/>
          </a:solidFill>
          <a:ln w="12700">
            <a:solidFill>
              <a:srgbClr val="F1F4F7"/>
            </a:solidFill>
            <a:prstDash val="solid"/>
          </a:ln>
        </p:spPr>
      </p:sp>
      <p:sp>
        <p:nvSpPr>
          <p:cNvPr id="12" name="Text 10"/>
          <p:cNvSpPr txBox="1"/>
          <p:nvPr/>
        </p:nvSpPr>
        <p:spPr>
          <a:xfrm>
            <a:off x="6484468" y="3358896"/>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throw</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m.unlock()  ?   never reached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mutex stays locked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another thread calls 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waits forever</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Shape 2"/>
          <p:cNvSpPr/>
          <p:nvPr/>
        </p:nvSpPr>
        <p:spPr>
          <a:xfrm>
            <a:off x="502920" y="1234440"/>
            <a:ext cx="5387188" cy="1443228"/>
          </a:xfrm>
          <a:prstGeom prst="roundRect">
            <a:avLst>
              <a:gd name="adj" fmla="val 3801"/>
            </a:avLst>
          </a:prstGeom>
          <a:solidFill>
            <a:srgbClr val="F1F4F7"/>
          </a:solidFill>
          <a:ln w="12700">
            <a:solidFill>
              <a:srgbClr val="F1F4F7"/>
            </a:solidFill>
            <a:prstDash val="solid"/>
          </a:ln>
        </p:spPr>
      </p:sp>
      <p:sp>
        <p:nvSpPr>
          <p:cNvPr id="5" name="Text 3"/>
          <p:cNvSpPr txBox="1"/>
          <p:nvPr/>
        </p:nvSpPr>
        <p:spPr>
          <a:xfrm>
            <a:off x="685800" y="137160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empty -&gt; throw</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leaves pop(), m still locked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push(42): m.lock()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...waits forever</a:t>
            </a:r>
            <a:endParaRPr lang="en-US" sz="1300" dirty="0"/>
          </a:p>
        </p:txBody>
      </p:sp>
      <p:sp>
        <p:nvSpPr>
          <p:cNvPr id="6" name="Text 4"/>
          <p:cNvSpPr txBox="1"/>
          <p:nvPr/>
        </p:nvSpPr>
        <p:spPr>
          <a:xfrm>
            <a:off x="502920" y="282397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exception, one skipped line, and every thread that uses the queue freezes. You can see the mutex left locked: try_lock() tries to take it without waiting and returns false, printed as 0, if it is taken.</a:t>
            </a:r>
            <a:endParaRPr lang="en-US" sz="1500" dirty="0"/>
          </a:p>
        </p:txBody>
      </p:sp>
      <p:sp>
        <p:nvSpPr>
          <p:cNvPr id="7" name="Shape 5"/>
          <p:cNvSpPr/>
          <p:nvPr/>
        </p:nvSpPr>
        <p:spPr>
          <a:xfrm>
            <a:off x="502920" y="3912108"/>
            <a:ext cx="5387188" cy="663956"/>
          </a:xfrm>
          <a:prstGeom prst="roundRect">
            <a:avLst>
              <a:gd name="adj" fmla="val 8263"/>
            </a:avLst>
          </a:prstGeom>
          <a:solidFill>
            <a:srgbClr val="0F1419"/>
          </a:solidFill>
          <a:ln w="12700">
            <a:solidFill>
              <a:srgbClr val="0F1419"/>
            </a:solidFill>
            <a:prstDash val="solid"/>
          </a:ln>
        </p:spPr>
      </p:sp>
      <p:sp>
        <p:nvSpPr>
          <p:cNvPr id="8" name="Text 6"/>
          <p:cNvSpPr txBox="1"/>
          <p:nvPr/>
        </p:nvSpPr>
        <p:spPr>
          <a:xfrm>
            <a:off x="685800" y="404926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v3 tiny_raii</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try_lock after the exception: 0</a:t>
            </a:r>
            <a:endParaRPr lang="en-US" sz="13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would you do?</a:t>
            </a:r>
            <a:endParaRPr lang="en-US" sz="1800" dirty="0"/>
          </a:p>
        </p:txBody>
      </p:sp>
      <p:sp>
        <p:nvSpPr>
          <p:cNvPr id="10" name="Shape 8"/>
          <p:cNvSpPr/>
          <p:nvPr/>
        </p:nvSpPr>
        <p:spPr>
          <a:xfrm>
            <a:off x="6301588" y="1764792"/>
            <a:ext cx="5387188" cy="752856"/>
          </a:xfrm>
          <a:prstGeom prst="roundRect">
            <a:avLst>
              <a:gd name="adj" fmla="val 7287"/>
            </a:avLst>
          </a:prstGeom>
          <a:solidFill>
            <a:srgbClr val="FBEDE3"/>
          </a:solidFill>
          <a:ln w="12700">
            <a:solidFill>
              <a:srgbClr val="FBEDE3"/>
            </a:solidFill>
            <a:prstDash val="solid"/>
          </a:ln>
        </p:spPr>
      </p:sp>
      <p:sp>
        <p:nvSpPr>
          <p:cNvPr id="11" name="Text 9"/>
          <p:cNvSpPr txBox="1"/>
          <p:nvPr/>
        </p:nvSpPr>
        <p:spPr>
          <a:xfrm>
            <a:off x="6530188"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Could I wrap it in try/catch and unlock in the catch block?</a:t>
            </a:r>
            <a:endParaRPr lang="en-US" sz="1600" dirty="0"/>
          </a:p>
        </p:txBody>
      </p:sp>
      <p:sp>
        <p:nvSpPr>
          <p:cNvPr id="12" name="Text 10"/>
          <p:cNvSpPr txBox="1"/>
          <p:nvPr/>
        </p:nvSpPr>
        <p:spPr>
          <a:xfrm>
            <a:off x="6301588" y="266395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could, and then you would need it in every function, and you would still have to remember an unlock before every return. The real problem is not that manual locking looks ugly. The real question is: how can the unlock happen automatically, whatever way the function is left?</a:t>
            </a:r>
            <a:endParaRPr lang="en-US" sz="1500" dirty="0"/>
          </a:p>
        </p:txBody>
      </p:sp>
      <p:sp>
        <p:nvSpPr>
          <p:cNvPr id="13" name="Shape 11"/>
          <p:cNvSpPr/>
          <p:nvPr/>
        </p:nvSpPr>
        <p:spPr>
          <a:xfrm>
            <a:off x="6301588" y="3980688"/>
            <a:ext cx="5387188" cy="752856"/>
          </a:xfrm>
          <a:prstGeom prst="roundRect">
            <a:avLst>
              <a:gd name="adj" fmla="val 7287"/>
            </a:avLst>
          </a:prstGeom>
          <a:solidFill>
            <a:srgbClr val="FBEDE3"/>
          </a:solidFill>
          <a:ln w="12700">
            <a:solidFill>
              <a:srgbClr val="FBEDE3"/>
            </a:solidFill>
            <a:prstDash val="solid"/>
          </a:ln>
        </p:spPr>
      </p:sp>
      <p:sp>
        <p:nvSpPr>
          <p:cNvPr id="14" name="Text 12"/>
          <p:cNvSpPr txBox="1"/>
          <p:nvPr/>
        </p:nvSpPr>
        <p:spPr>
          <a:xfrm>
            <a:off x="6530188" y="411784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Haven't we seen something that runs whatever way a scope is left?</a:t>
            </a:r>
            <a:endParaRPr lang="en-US" sz="1600" dirty="0"/>
          </a:p>
        </p:txBody>
      </p:sp>
      <p:sp>
        <p:nvSpPr>
          <p:cNvPr id="15" name="Text 13"/>
          <p:cNvSpPr txBox="1"/>
          <p:nvPr/>
        </p:nvSpPr>
        <p:spPr>
          <a:xfrm>
            <a:off x="6301588" y="487984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Yes, in v1. Destructors of local objects run when a scope ends normally and when an exception passes through. That process is called stack unwinding. So we tie the mutex to the lifetime of a local object: its constructor locks, its destructor unlocks. The standard library already has this class, std::lock_guard.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Shape 2"/>
          <p:cNvSpPr/>
          <p:nvPr/>
        </p:nvSpPr>
        <p:spPr>
          <a:xfrm>
            <a:off x="502920" y="1234440"/>
            <a:ext cx="5387188" cy="1053592"/>
          </a:xfrm>
          <a:prstGeom prst="roundRect">
            <a:avLst>
              <a:gd name="adj" fmla="val 5207"/>
            </a:avLst>
          </a:prstGeom>
          <a:solidFill>
            <a:srgbClr val="F1F4F7"/>
          </a:solidFill>
          <a:ln w="12700">
            <a:solidFill>
              <a:srgbClr val="F1F4F7"/>
            </a:solidFill>
            <a:prstDash val="solid"/>
          </a:ln>
        </p:spPr>
      </p:sp>
      <p:sp>
        <p:nvSpPr>
          <p:cNvPr id="5" name="Text 3"/>
          <p:cNvSpPr txBox="1"/>
          <p:nvPr/>
        </p:nvSpPr>
        <p:spPr>
          <a:xfrm>
            <a:off x="685800" y="137160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object lifetime -----------------------------&gt;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constructor                        destructor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locks m                            unlocks 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critical section --------|</a:t>
            </a:r>
            <a:endParaRPr lang="en-US" sz="1300" dirty="0"/>
          </a:p>
        </p:txBody>
      </p:sp>
      <p:sp>
        <p:nvSpPr>
          <p:cNvPr id="6" name="Shape 4"/>
          <p:cNvSpPr/>
          <p:nvPr/>
        </p:nvSpPr>
        <p:spPr>
          <a:xfrm>
            <a:off x="502920" y="2434336"/>
            <a:ext cx="5387188" cy="1832864"/>
          </a:xfrm>
          <a:prstGeom prst="roundRect">
            <a:avLst>
              <a:gd name="adj" fmla="val 2993"/>
            </a:avLst>
          </a:prstGeom>
          <a:solidFill>
            <a:srgbClr val="1E2230"/>
          </a:solidFill>
          <a:ln w="12700">
            <a:solidFill>
              <a:srgbClr val="1E2230"/>
            </a:solidFill>
            <a:prstDash val="solid"/>
          </a:ln>
        </p:spPr>
      </p:sp>
      <p:sp>
        <p:nvSpPr>
          <p:cNvPr id="7" name="Text 5"/>
          <p:cNvSpPr txBox="1"/>
          <p:nvPr/>
        </p:nvSpPr>
        <p:spPr>
          <a:xfrm>
            <a:off x="685800" y="2571496"/>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lock is destroyed here: m unlocked</a:t>
            </a:r>
            <a:endParaRPr lang="en-US" sz="1300" dirty="0"/>
          </a:p>
        </p:txBody>
      </p:sp>
      <p:sp>
        <p:nvSpPr>
          <p:cNvPr id="8" name="Text 6"/>
          <p:cNvSpPr txBox="1"/>
          <p:nvPr/>
        </p:nvSpPr>
        <p:spPr>
          <a:xfrm>
            <a:off x="502920" y="446836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this fixes the exact problem</a:t>
            </a:r>
            <a:endParaRPr lang="en-US" sz="1800" dirty="0"/>
          </a:p>
        </p:txBody>
      </p:sp>
      <p:sp>
        <p:nvSpPr>
          <p:cNvPr id="9" name="Text 7"/>
          <p:cNvSpPr txBox="1"/>
          <p:nvPr/>
        </p:nvSpPr>
        <p:spPr>
          <a:xfrm>
            <a:off x="502920" y="494385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Trace the early consumer again. lock_guard's constructor locks. The queue is empty, so it throws. As the exception leaves pop(), the local variable lock is destroyed, and its destructor unlocks m. The producer gets in. A normal return, an early return, a break: every exit destroys lock, so every exit unlocks.</a:t>
            </a:r>
            <a:endParaRPr lang="en-US" sz="1500" dirty="0"/>
          </a:p>
        </p:txBody>
      </p:sp>
      <p:sp>
        <p:nvSpPr>
          <p:cNvPr id="10" name="Text 8"/>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pattern is called RAII, Resource Acquisition Is Initialization. Ignore the awkward name; the idea is: acquire in a constructor, release in a destructor, and you can never forget the release.</a:t>
            </a:r>
            <a:endParaRPr lang="en-US" sz="1500" dirty="0"/>
          </a:p>
        </p:txBody>
      </p:sp>
      <p:sp>
        <p:nvSpPr>
          <p:cNvPr id="11" name="Shape 9"/>
          <p:cNvSpPr/>
          <p:nvPr/>
        </p:nvSpPr>
        <p:spPr>
          <a:xfrm>
            <a:off x="6301588" y="2322576"/>
            <a:ext cx="5387188" cy="509016"/>
          </a:xfrm>
          <a:prstGeom prst="roundRect">
            <a:avLst>
              <a:gd name="adj" fmla="val 10778"/>
            </a:avLst>
          </a:prstGeom>
          <a:solidFill>
            <a:srgbClr val="FBEDE3"/>
          </a:solidFill>
          <a:ln w="12700">
            <a:solidFill>
              <a:srgbClr val="FBEDE3"/>
            </a:solidFill>
            <a:prstDash val="solid"/>
          </a:ln>
        </p:spPr>
      </p:sp>
      <p:sp>
        <p:nvSpPr>
          <p:cNvPr id="12" name="Text 10"/>
          <p:cNvSpPr txBox="1"/>
          <p:nvPr/>
        </p:nvSpPr>
        <p:spPr>
          <a:xfrm>
            <a:off x="6530188" y="2459736"/>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Is there any way to get lock_guard wrong?</a:t>
            </a:r>
            <a:endParaRPr lang="en-US" sz="1600" dirty="0"/>
          </a:p>
        </p:txBody>
      </p:sp>
      <p:sp>
        <p:nvSpPr>
          <p:cNvPr id="13" name="Text 11"/>
          <p:cNvSpPr txBox="1"/>
          <p:nvPr/>
        </p:nvSpPr>
        <p:spPr>
          <a:xfrm>
            <a:off x="6301588" y="297789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std::lock_guard&lt;std::mutex&gt;(m); without a variable name creates a temporary, which is destroyed at the end of that same line. The mutex is locked and unlocked immediately, and the lines below are not protected. The compiler will not warn you. Always name the guard.</a:t>
            </a:r>
            <a:endParaRPr lang="en-US" sz="1500" dirty="0"/>
          </a:p>
        </p:txBody>
      </p:sp>
      <p:sp>
        <p:nvSpPr>
          <p:cNvPr id="14" name="Shape 12"/>
          <p:cNvSpPr/>
          <p:nvPr/>
        </p:nvSpPr>
        <p:spPr>
          <a:xfrm>
            <a:off x="6301588" y="4294632"/>
            <a:ext cx="5387188" cy="1234440"/>
          </a:xfrm>
          <a:prstGeom prst="roundRect">
            <a:avLst>
              <a:gd name="adj" fmla="val 4444"/>
            </a:avLst>
          </a:prstGeom>
          <a:solidFill>
            <a:srgbClr val="E3F2EF"/>
          </a:solidFill>
          <a:ln w="12700">
            <a:solidFill>
              <a:srgbClr val="E3F2EF"/>
            </a:solidFill>
            <a:prstDash val="solid"/>
          </a:ln>
        </p:spPr>
      </p:sp>
      <p:sp>
        <p:nvSpPr>
          <p:cNvPr id="15" name="Text 13"/>
          <p:cNvSpPr txBox="1"/>
          <p:nvPr/>
        </p:nvSpPr>
        <p:spPr>
          <a:xfrm>
            <a:off x="6530188" y="442264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6" name="Text 14"/>
          <p:cNvSpPr txBox="1"/>
          <p:nvPr/>
        </p:nvSpPr>
        <p:spPr>
          <a:xfrm>
            <a:off x="6530188" y="4715256"/>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RAII is why an exception inside a task can never leave our pool's queue locked. Every lock in the project is taken through a guard object, never with a bare lock().</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lock that never unlocks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function has four return statements and one throw. With lock_guard, how many unlock() calls do you write?</a:t>
            </a:r>
            <a:endParaRPr lang="en-US" sz="1500" dirty="0"/>
          </a:p>
        </p:txBody>
      </p:sp>
      <p:sp>
        <p:nvSpPr>
          <p:cNvPr id="6" name="Shape 4"/>
          <p:cNvSpPr/>
          <p:nvPr/>
        </p:nvSpPr>
        <p:spPr>
          <a:xfrm>
            <a:off x="502920" y="2322576"/>
            <a:ext cx="5387188" cy="1709928"/>
          </a:xfrm>
          <a:prstGeom prst="roundRect">
            <a:avLst>
              <a:gd name="adj" fmla="val 3209"/>
            </a:avLst>
          </a:prstGeom>
          <a:solidFill>
            <a:srgbClr val="F1F4F7"/>
          </a:solidFill>
          <a:ln w="12700">
            <a:solidFill>
              <a:srgbClr val="F1F4F7"/>
            </a:solidFill>
            <a:prstDash val="solid"/>
          </a:ln>
        </p:spPr>
      </p:sp>
      <p:sp>
        <p:nvSpPr>
          <p:cNvPr id="7" name="Text 5"/>
          <p:cNvSpPr txBox="1"/>
          <p:nvPr/>
        </p:nvSpPr>
        <p:spPr>
          <a:xfrm>
            <a:off x="685800"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None. lock_guard is a local variable, and its destructor runs on whichever of the five exits is taken. That is the point of RAII: the release is written once, in the destructor, instead of before every exit. With manual unlock() you would need it in five places, and missing one would freeze the program.</a:t>
            </a:r>
            <a:endParaRPr lang="en-US" sz="1400" dirty="0"/>
          </a:p>
        </p:txBody>
      </p:sp>
      <p:sp>
        <p:nvSpPr>
          <p:cNvPr id="8" name="Text 6"/>
          <p:cNvSpPr txBox="1"/>
          <p:nvPr/>
        </p:nvSpPr>
        <p:spPr>
          <a:xfrm>
            <a:off x="502920" y="417880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std::lock_guard&lt;std::mutex&gt;(m); ++counter; Is counter protected?</a:t>
            </a:r>
            <a:endParaRPr lang="en-US" sz="1500" dirty="0"/>
          </a:p>
        </p:txBody>
      </p:sp>
      <p:sp>
        <p:nvSpPr>
          <p:cNvPr id="9" name="Shape 7"/>
          <p:cNvSpPr/>
          <p:nvPr/>
        </p:nvSpPr>
        <p:spPr>
          <a:xfrm>
            <a:off x="502920" y="4736592"/>
            <a:ext cx="5387188" cy="1496568"/>
          </a:xfrm>
          <a:prstGeom prst="roundRect">
            <a:avLst>
              <a:gd name="adj" fmla="val 3666"/>
            </a:avLst>
          </a:prstGeom>
          <a:solidFill>
            <a:srgbClr val="F1F4F7"/>
          </a:solidFill>
          <a:ln w="12700">
            <a:solidFill>
              <a:srgbClr val="F1F4F7"/>
            </a:solidFill>
            <a:prstDash val="solid"/>
          </a:ln>
        </p:spPr>
      </p:sp>
      <p:sp>
        <p:nvSpPr>
          <p:cNvPr id="10" name="Text 8"/>
          <p:cNvSpPr txBox="1"/>
          <p:nvPr/>
        </p:nvSpPr>
        <p:spPr>
          <a:xfrm>
            <a:off x="685800" y="4864608"/>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The unnamed guard is a temporary that lives only until the end of its own statement, so m is unlocked before ++counter runs. The data race from v2 is back. std::lock_guard&lt;std::mutex&gt; lock(m); keeps the guard, and the lock, until the end of the scope.</a:t>
            </a:r>
            <a:endParaRPr lang="en-US" sz="1400" dirty="0"/>
          </a:p>
        </p:txBody>
      </p:sp>
      <p:sp>
        <p:nvSpPr>
          <p:cNvPr id="11" name="Text 9"/>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At the end of a function you write a slow log message. You do not want to hold the lock during it. What can you use?</a:t>
            </a:r>
            <a:endParaRPr lang="en-US" sz="1500" dirty="0"/>
          </a:p>
        </p:txBody>
      </p:sp>
      <p:sp>
        <p:nvSpPr>
          <p:cNvPr id="12" name="Shape 10"/>
          <p:cNvSpPr/>
          <p:nvPr/>
        </p:nvSpPr>
        <p:spPr>
          <a:xfrm>
            <a:off x="6301588" y="1792224"/>
            <a:ext cx="5387188" cy="1709928"/>
          </a:xfrm>
          <a:prstGeom prst="roundRect">
            <a:avLst>
              <a:gd name="adj" fmla="val 3209"/>
            </a:avLst>
          </a:prstGeom>
          <a:solidFill>
            <a:srgbClr val="F1F4F7"/>
          </a:solidFill>
          <a:ln w="12700">
            <a:solidFill>
              <a:srgbClr val="F1F4F7"/>
            </a:solidFill>
            <a:prstDash val="solid"/>
          </a:ln>
        </p:spPr>
      </p:sp>
      <p:sp>
        <p:nvSpPr>
          <p:cNvPr id="13" name="Text 11"/>
          <p:cNvSpPr txBox="1"/>
          <p:nvPr/>
        </p:nvSpPr>
        <p:spPr>
          <a:xfrm>
            <a:off x="6484468"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std::unique_lock. Like lock_guard it locks in its constructor and unlocks in its destructor, but it also lets you call unlock() early. Unlock right after the last line that touches shared data, then write the log without blocking anyone. If you forget, the destructor still unlocks, so you keep the safety.</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Checking before taking</a:t>
            </a:r>
            <a:endParaRPr lang="en-US" sz="1800" dirty="0"/>
          </a:p>
        </p:txBody>
      </p:sp>
      <p:sp>
        <p:nvSpPr>
          <p:cNvPr id="5" name="Shape 3"/>
          <p:cNvSpPr/>
          <p:nvPr/>
        </p:nvSpPr>
        <p:spPr>
          <a:xfrm>
            <a:off x="502920" y="1764792"/>
            <a:ext cx="5387188" cy="752856"/>
          </a:xfrm>
          <a:prstGeom prst="roundRect">
            <a:avLst>
              <a:gd name="adj" fmla="val 7287"/>
            </a:avLst>
          </a:prstGeom>
          <a:solidFill>
            <a:srgbClr val="FBEDE3"/>
          </a:solidFill>
          <a:ln w="12700">
            <a:solidFill>
              <a:srgbClr val="FBEDE3"/>
            </a:solidFill>
            <a:prstDash val="solid"/>
          </a:ln>
        </p:spPr>
      </p:sp>
      <p:sp>
        <p:nvSpPr>
          <p:cNvPr id="6" name="Text 4"/>
          <p:cNvSpPr txBox="1"/>
          <p:nvPr/>
        </p:nvSpPr>
        <p:spPr>
          <a:xfrm>
            <a:off x="731520"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To avoid the exception, can't the consumer just check empty() first?</a:t>
            </a:r>
            <a:endParaRPr lang="en-US" sz="1600" dirty="0"/>
          </a:p>
        </p:txBody>
      </p:sp>
      <p:sp>
        <p:nvSpPr>
          <p:cNvPr id="7" name="Text 5"/>
          <p:cNvSpPr txBox="1"/>
          <p:nvPr/>
        </p:nvSpPr>
        <p:spPr>
          <a:xfrm>
            <a:off x="502920" y="266395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what everyone tries. empty() takes the lock and pop() takes the lock, so every call is protected. It looks completely safe.</a:t>
            </a:r>
            <a:endParaRPr lang="en-US" sz="1500" dirty="0"/>
          </a:p>
        </p:txBody>
      </p:sp>
      <p:sp>
        <p:nvSpPr>
          <p:cNvPr id="8" name="Shape 6"/>
          <p:cNvSpPr/>
          <p:nvPr/>
        </p:nvSpPr>
        <p:spPr>
          <a:xfrm>
            <a:off x="502920" y="3523488"/>
            <a:ext cx="5387188" cy="663956"/>
          </a:xfrm>
          <a:prstGeom prst="roundRect">
            <a:avLst>
              <a:gd name="adj" fmla="val 8263"/>
            </a:avLst>
          </a:prstGeom>
          <a:solidFill>
            <a:srgbClr val="1E2230"/>
          </a:solidFill>
          <a:ln w="12700">
            <a:solidFill>
              <a:srgbClr val="1E2230"/>
            </a:solidFill>
            <a:prstDash val="solid"/>
          </a:ln>
        </p:spPr>
      </p:sp>
      <p:sp>
        <p:nvSpPr>
          <p:cNvPr id="9" name="Text 7"/>
          <p:cNvSpPr txBox="1"/>
          <p:nvPr/>
        </p:nvSpPr>
        <p:spPr>
          <a:xfrm>
            <a:off x="685800" y="366064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locks, checks, unlocks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locks, pops, unlocks</a:t>
            </a:r>
            <a:endParaRPr lang="en-US" sz="1300" dirty="0"/>
          </a:p>
        </p:txBody>
      </p:sp>
      <p:sp>
        <p:nvSpPr>
          <p:cNvPr id="10" name="Shape 8"/>
          <p:cNvSpPr/>
          <p:nvPr/>
        </p:nvSpPr>
        <p:spPr>
          <a:xfrm>
            <a:off x="502920" y="4333748"/>
            <a:ext cx="5387188" cy="509016"/>
          </a:xfrm>
          <a:prstGeom prst="roundRect">
            <a:avLst>
              <a:gd name="adj" fmla="val 10778"/>
            </a:avLst>
          </a:prstGeom>
          <a:solidFill>
            <a:srgbClr val="FBEDE3"/>
          </a:solidFill>
          <a:ln w="12700">
            <a:solidFill>
              <a:srgbClr val="FBEDE3"/>
            </a:solidFill>
            <a:prstDash val="solid"/>
          </a:ln>
        </p:spPr>
      </p:sp>
      <p:sp>
        <p:nvSpPr>
          <p:cNvPr id="11" name="Text 9"/>
          <p:cNvSpPr txBox="1"/>
          <p:nvPr/>
        </p:nvSpPr>
        <p:spPr>
          <a:xfrm>
            <a:off x="731520" y="4470908"/>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Would this actually work with two consumers?</a:t>
            </a:r>
            <a:endParaRPr lang="en-US" sz="1600" dirty="0"/>
          </a:p>
        </p:txBody>
      </p:sp>
      <p:sp>
        <p:nvSpPr>
          <p:cNvPr id="12" name="Text 10"/>
          <p:cNvSpPr txBox="1"/>
          <p:nvPr/>
        </p:nvSpPr>
        <p:spPr>
          <a:xfrm>
            <a:off x="502920" y="498906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Put exactly one item in the queue and let two consumers run it at the same time. In a test with the same pattern on a stack, it failed in 186 of 200 rounds:</a:t>
            </a:r>
            <a:endParaRPr lang="en-US" sz="1500" dirty="0"/>
          </a:p>
        </p:txBody>
      </p:sp>
      <p:sp>
        <p:nvSpPr>
          <p:cNvPr id="13" name="Shape 11"/>
          <p:cNvSpPr/>
          <p:nvPr/>
        </p:nvSpPr>
        <p:spPr>
          <a:xfrm>
            <a:off x="6301588" y="1234440"/>
            <a:ext cx="5387188" cy="663956"/>
          </a:xfrm>
          <a:prstGeom prst="roundRect">
            <a:avLst>
              <a:gd name="adj" fmla="val 8263"/>
            </a:avLst>
          </a:prstGeom>
          <a:solidFill>
            <a:srgbClr val="0F1419"/>
          </a:solidFill>
          <a:ln w="12700">
            <a:solidFill>
              <a:srgbClr val="0F1419"/>
            </a:solidFill>
            <a:prstDash val="solid"/>
          </a:ln>
        </p:spPr>
      </p:sp>
      <p:sp>
        <p:nvSpPr>
          <p:cNvPr id="14" name="Text 12"/>
          <p:cNvSpPr txBox="1"/>
          <p:nvPr/>
        </p:nvSpPr>
        <p:spPr>
          <a:xfrm>
            <a:off x="6484468" y="1371600"/>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v3 tiny_interface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top() hit an empty stack in 186 of 200 rounds</a:t>
            </a:r>
            <a:endParaRPr lang="en-US" sz="1300" dirty="0"/>
          </a:p>
        </p:txBody>
      </p:sp>
      <p:sp>
        <p:nvSpPr>
          <p:cNvPr id="15" name="Text 13"/>
          <p:cNvSpPr txBox="1"/>
          <p:nvPr/>
        </p:nvSpPr>
        <p:spPr>
          <a:xfrm>
            <a:off x="6301588" y="204470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Look at what happens between the two calls. Each call takes the lock and gives it back before returning. Between them the lock is free, and another thread can do anything.</a:t>
            </a:r>
            <a:endParaRPr lang="en-US" sz="1500" dirty="0"/>
          </a:p>
        </p:txBody>
      </p:sp>
      <p:sp>
        <p:nvSpPr>
          <p:cNvPr id="16" name="Shape 14"/>
          <p:cNvSpPr/>
          <p:nvPr/>
        </p:nvSpPr>
        <p:spPr>
          <a:xfrm>
            <a:off x="6301588" y="2904236"/>
            <a:ext cx="5387188" cy="1832864"/>
          </a:xfrm>
          <a:prstGeom prst="roundRect">
            <a:avLst>
              <a:gd name="adj" fmla="val 2993"/>
            </a:avLst>
          </a:prstGeom>
          <a:solidFill>
            <a:srgbClr val="F1F4F7"/>
          </a:solidFill>
          <a:ln w="12700">
            <a:solidFill>
              <a:srgbClr val="F1F4F7"/>
            </a:solidFill>
            <a:prstDash val="solid"/>
          </a:ln>
        </p:spPr>
      </p:sp>
      <p:sp>
        <p:nvSpPr>
          <p:cNvPr id="17" name="Text 15"/>
          <p:cNvSpPr txBox="1"/>
          <p:nvPr/>
        </p:nvSpPr>
        <p:spPr>
          <a:xfrm>
            <a:off x="6484468" y="3041396"/>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[ 42 ]</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A               consumer B</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empty() -&gt; false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empty() -&gt; false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pop()   -&gt; 42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pop() -&gt; queue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throws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Shape 2"/>
          <p:cNvSpPr/>
          <p:nvPr/>
        </p:nvSpPr>
        <p:spPr>
          <a:xfrm>
            <a:off x="502920" y="1234440"/>
            <a:ext cx="5387188" cy="509016"/>
          </a:xfrm>
          <a:prstGeom prst="roundRect">
            <a:avLst>
              <a:gd name="adj" fmla="val 10778"/>
            </a:avLst>
          </a:prstGeom>
          <a:solidFill>
            <a:srgbClr val="FBEDE3"/>
          </a:solidFill>
          <a:ln w="12700">
            <a:solidFill>
              <a:srgbClr val="FBEDE3"/>
            </a:solidFill>
            <a:prstDash val="solid"/>
          </a:ln>
        </p:spPr>
      </p:sp>
      <p:sp>
        <p:nvSpPr>
          <p:cNvPr id="5" name="Text 3"/>
          <p:cNvSpPr txBox="1"/>
          <p:nvPr/>
        </p:nvSpPr>
        <p:spPr>
          <a:xfrm>
            <a:off x="731520"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Both got false. How?</a:t>
            </a:r>
            <a:endParaRPr lang="en-US" sz="1600" dirty="0"/>
          </a:p>
        </p:txBody>
      </p:sp>
      <p:sp>
        <p:nvSpPr>
          <p:cNvPr id="6" name="Text 4"/>
          <p:cNvSpPr txBox="1"/>
          <p:nvPr/>
        </p:nvSpPr>
        <p:spPr>
          <a:xfrm>
            <a:off x="502920" y="188976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asked honestly, and at that moment the queue really had one item. Then A took it. By the time B acted on its answer, the answer was out of date. Each call was safe on its own. The pair of calls was not. A function can be thread-safe while a sequence of calls to it is not.</a:t>
            </a:r>
            <a:endParaRPr lang="en-US" sz="1500" dirty="0"/>
          </a:p>
        </p:txBody>
      </p:sp>
      <p:sp>
        <p:nvSpPr>
          <p:cNvPr id="7" name="Text 5"/>
          <p:cNvSpPr txBox="1"/>
          <p:nvPr/>
        </p:nvSpPr>
        <p:spPr>
          <a:xfrm>
            <a:off x="502920" y="320649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not a data race: no memory was touched without the lock, so race-detecting tools report nothing. It is a race condition, a result that depends on timing. The bug is in the interface itself, because it forces the caller to check in one call and act in another.</a:t>
            </a:r>
            <a:endParaRPr lang="en-US" sz="1500" dirty="0"/>
          </a:p>
        </p:txBody>
      </p:sp>
      <p:sp>
        <p:nvSpPr>
          <p:cNvPr id="8" name="Text 6"/>
          <p:cNvSpPr txBox="1"/>
          <p:nvPr/>
        </p:nvSpPr>
        <p:spPr>
          <a:xfrm>
            <a:off x="502920" y="457809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fix: one call, one lock</a:t>
            </a:r>
            <a:endParaRPr lang="en-US" sz="1800" dirty="0"/>
          </a:p>
        </p:txBody>
      </p:sp>
      <p:sp>
        <p:nvSpPr>
          <p:cNvPr id="9" name="Text 7"/>
          <p:cNvSpPr txBox="1"/>
          <p:nvPr/>
        </p:nvSpPr>
        <p:spPr>
          <a:xfrm>
            <a:off x="502920" y="505358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Stop splitting the check from the action. Offer one function that checks, reads and removes under a single lock, so nobody can slip in between.</a:t>
            </a:r>
            <a:endParaRPr lang="en-US" sz="1500" dirty="0"/>
          </a:p>
        </p:txBody>
      </p:sp>
      <p:sp>
        <p:nvSpPr>
          <p:cNvPr id="10" name="Shape 8"/>
          <p:cNvSpPr/>
          <p:nvPr/>
        </p:nvSpPr>
        <p:spPr>
          <a:xfrm>
            <a:off x="6301588" y="1234440"/>
            <a:ext cx="5387188" cy="1832864"/>
          </a:xfrm>
          <a:prstGeom prst="roundRect">
            <a:avLst>
              <a:gd name="adj" fmla="val 2993"/>
            </a:avLst>
          </a:prstGeom>
          <a:solidFill>
            <a:srgbClr val="1E2230"/>
          </a:solidFill>
          <a:ln w="12700">
            <a:solidFill>
              <a:srgbClr val="1E2230"/>
            </a:solidFill>
            <a:prstDash val="solid"/>
          </a:ln>
        </p:spPr>
      </p:sp>
      <p:sp>
        <p:nvSpPr>
          <p:cNvPr id="11" name="Text 9"/>
          <p:cNvSpPr txBox="1"/>
          <p:nvPr/>
        </p:nvSpPr>
        <p:spPr>
          <a:xfrm>
            <a:off x="6484468" y="1371600"/>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nothing to take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2" name="Text 10"/>
          <p:cNvSpPr txBox="1"/>
          <p:nvPr/>
        </p:nvSpPr>
        <p:spPr>
          <a:xfrm>
            <a:off x="6301588" y="321360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Replay the two consumers. A takes the lock, finds 42, removes it, unlocks. B takes the lock, finds the queue empty and gets false. Nobody throws, nobody gets an item twice.</a:t>
            </a:r>
            <a:endParaRPr lang="en-US" sz="1500" dirty="0"/>
          </a:p>
        </p:txBody>
      </p:sp>
      <p:sp>
        <p:nvSpPr>
          <p:cNvPr id="13" name="Shape 11"/>
          <p:cNvSpPr/>
          <p:nvPr/>
        </p:nvSpPr>
        <p:spPr>
          <a:xfrm>
            <a:off x="6301588" y="4301744"/>
            <a:ext cx="5387188" cy="509016"/>
          </a:xfrm>
          <a:prstGeom prst="roundRect">
            <a:avLst>
              <a:gd name="adj" fmla="val 10778"/>
            </a:avLst>
          </a:prstGeom>
          <a:solidFill>
            <a:srgbClr val="FBEDE3"/>
          </a:solidFill>
          <a:ln w="12700">
            <a:solidFill>
              <a:srgbClr val="FBEDE3"/>
            </a:solidFill>
            <a:prstDash val="solid"/>
          </a:ln>
        </p:spPr>
      </p:sp>
      <p:sp>
        <p:nvSpPr>
          <p:cNvPr id="14" name="Text 12"/>
          <p:cNvSpPr txBox="1"/>
          <p:nvPr/>
        </p:nvSpPr>
        <p:spPr>
          <a:xfrm>
            <a:off x="6530188" y="4438904"/>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Is empty() useless now?</a:t>
            </a:r>
            <a:endParaRPr lang="en-US" sz="1600" dirty="0"/>
          </a:p>
        </p:txBody>
      </p:sp>
      <p:sp>
        <p:nvSpPr>
          <p:cNvPr id="15" name="Text 13"/>
          <p:cNvSpPr txBox="1"/>
          <p:nvPr/>
        </p:nvSpPr>
        <p:spPr>
          <a:xfrm>
            <a:off x="6301588" y="495706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Its meaning has changed. It tells you the queue was empty at some moment during the call. By your next line that may be false. Fine for logging, never for decisions.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Every call is safe, the program is not</a:t>
            </a:r>
            <a:endParaRPr lang="en-US" sz="2600" dirty="0"/>
          </a:p>
        </p:txBody>
      </p:sp>
      <p:sp>
        <p:nvSpPr>
          <p:cNvPr id="4" name="Shape 2"/>
          <p:cNvSpPr/>
          <p:nvPr/>
        </p:nvSpPr>
        <p:spPr>
          <a:xfrm>
            <a:off x="502920" y="1234440"/>
            <a:ext cx="5387188" cy="1234440"/>
          </a:xfrm>
          <a:prstGeom prst="roundRect">
            <a:avLst>
              <a:gd name="adj" fmla="val 4444"/>
            </a:avLst>
          </a:prstGeom>
          <a:solidFill>
            <a:srgbClr val="E3F2EF"/>
          </a:solidFill>
          <a:ln w="12700">
            <a:solidFill>
              <a:srgbClr val="E3F2EF"/>
            </a:solidFill>
            <a:prstDash val="solid"/>
          </a:ln>
        </p:spPr>
      </p:sp>
      <p:sp>
        <p:nvSpPr>
          <p:cNvPr id="5" name="Text 3"/>
          <p:cNvSpPr txBox="1"/>
          <p:nvPr/>
        </p:nvSpPr>
        <p:spPr>
          <a:xfrm>
            <a:off x="731520" y="1362456"/>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6" name="Text 4"/>
          <p:cNvSpPr txBox="1"/>
          <p:nvPr/>
        </p:nvSpPr>
        <p:spPr>
          <a:xfrm>
            <a:off x="731520" y="1655064"/>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Every operation our pool offers (submit a task, take a task) is a single call under a single lock, for exactly this reason.</a:t>
            </a:r>
            <a:endParaRPr lang="en-US" sz="1400" dirty="0"/>
          </a:p>
        </p:txBody>
      </p:sp>
      <p:sp>
        <p:nvSpPr>
          <p:cNvPr id="7" name="Text 5"/>
          <p:cNvSpPr txBox="1"/>
          <p:nvPr/>
        </p:nvSpPr>
        <p:spPr>
          <a:xfrm>
            <a:off x="502920" y="267004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8" name="Text 6"/>
          <p:cNvSpPr txBox="1"/>
          <p:nvPr/>
        </p:nvSpPr>
        <p:spPr>
          <a:xfrm>
            <a:off x="502920" y="314553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map has locked contains() and insert(). Two threads both want to insert key 7 only if it is missing. Trace it.</a:t>
            </a:r>
            <a:endParaRPr lang="en-US" sz="1500" dirty="0"/>
          </a:p>
        </p:txBody>
      </p:sp>
      <p:sp>
        <p:nvSpPr>
          <p:cNvPr id="9" name="Shape 7"/>
          <p:cNvSpPr/>
          <p:nvPr/>
        </p:nvSpPr>
        <p:spPr>
          <a:xfrm>
            <a:off x="502920" y="3703320"/>
            <a:ext cx="5387188" cy="1496568"/>
          </a:xfrm>
          <a:prstGeom prst="roundRect">
            <a:avLst>
              <a:gd name="adj" fmla="val 3666"/>
            </a:avLst>
          </a:prstGeom>
          <a:solidFill>
            <a:srgbClr val="F1F4F7"/>
          </a:solidFill>
          <a:ln w="12700">
            <a:solidFill>
              <a:srgbClr val="F1F4F7"/>
            </a:solidFill>
            <a:prstDash val="solid"/>
          </a:ln>
        </p:spPr>
      </p:sp>
      <p:sp>
        <p:nvSpPr>
          <p:cNvPr id="10" name="Text 8"/>
          <p:cNvSpPr txBox="1"/>
          <p:nvPr/>
        </p:nvSpPr>
        <p:spPr>
          <a:xfrm>
            <a:off x="685800" y="3831336"/>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 calls contains(7) and gets false. Before A inserts, B also calls contains(7) and also gets false. Both insert key 7, so the second overwrites the first or fails. Both threads believed they were the one adding the key. It is the same check-then-act gap as empty() then pop().</a:t>
            </a:r>
            <a:endParaRPr lang="en-US" sz="1400" dirty="0"/>
          </a:p>
        </p:txBody>
      </p:sp>
      <p:sp>
        <p:nvSpPr>
          <p:cNvPr id="11" name="Text 9"/>
          <p:cNvSpPr txBox="1"/>
          <p:nvPr/>
        </p:nvSpPr>
        <p:spPr>
          <a:xfrm>
            <a:off x="6301588" y="1234440"/>
            <a:ext cx="5387188" cy="2560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Design the map's interface so this cannot happen.</a:t>
            </a:r>
            <a:endParaRPr lang="en-US" sz="1500" dirty="0"/>
          </a:p>
        </p:txBody>
      </p:sp>
      <p:sp>
        <p:nvSpPr>
          <p:cNvPr id="12" name="Shape 10"/>
          <p:cNvSpPr/>
          <p:nvPr/>
        </p:nvSpPr>
        <p:spPr>
          <a:xfrm>
            <a:off x="6301588" y="1563624"/>
            <a:ext cx="5387188" cy="1496568"/>
          </a:xfrm>
          <a:prstGeom prst="roundRect">
            <a:avLst>
              <a:gd name="adj" fmla="val 3666"/>
            </a:avLst>
          </a:prstGeom>
          <a:solidFill>
            <a:srgbClr val="F1F4F7"/>
          </a:solidFill>
          <a:ln w="12700">
            <a:solidFill>
              <a:srgbClr val="F1F4F7"/>
            </a:solidFill>
            <a:prstDash val="solid"/>
          </a:ln>
        </p:spPr>
      </p:sp>
      <p:sp>
        <p:nvSpPr>
          <p:cNvPr id="13" name="Text 11"/>
          <p:cNvSpPr txBox="1"/>
          <p:nvPr/>
        </p:nvSpPr>
        <p:spPr>
          <a:xfrm>
            <a:off x="6484468" y="1691640"/>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Offer insert_if_absent(key, value), which takes the lock, checks for the key, inserts if missing, and only then releases the lock. No thread can run between the check and the insert. It can return true or false to say whether it inserted.</a:t>
            </a:r>
            <a:endParaRPr lang="en-US" sz="1400" dirty="0"/>
          </a:p>
        </p:txBody>
      </p:sp>
      <p:sp>
        <p:nvSpPr>
          <p:cNvPr id="14" name="Text 12"/>
          <p:cNvSpPr txBox="1"/>
          <p:nvPr/>
        </p:nvSpPr>
        <p:spPr>
          <a:xfrm>
            <a:off x="6301588" y="320649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Why does std::queue::pop() return void instead of the removed item?</a:t>
            </a:r>
            <a:endParaRPr lang="en-US" sz="1500" dirty="0"/>
          </a:p>
        </p:txBody>
      </p:sp>
      <p:sp>
        <p:nvSpPr>
          <p:cNvPr id="15" name="Shape 13"/>
          <p:cNvSpPr/>
          <p:nvPr/>
        </p:nvSpPr>
        <p:spPr>
          <a:xfrm>
            <a:off x="6301588" y="3764280"/>
            <a:ext cx="5387188" cy="1709928"/>
          </a:xfrm>
          <a:prstGeom prst="roundRect">
            <a:avLst>
              <a:gd name="adj" fmla="val 3209"/>
            </a:avLst>
          </a:prstGeom>
          <a:solidFill>
            <a:srgbClr val="F1F4F7"/>
          </a:solidFill>
          <a:ln w="12700">
            <a:solidFill>
              <a:srgbClr val="F1F4F7"/>
            </a:solidFill>
            <a:prstDash val="solid"/>
          </a:ln>
        </p:spPr>
      </p:sp>
      <p:sp>
        <p:nvSpPr>
          <p:cNvPr id="16" name="Text 14"/>
          <p:cNvSpPr txBox="1"/>
          <p:nvPr/>
        </p:nvSpPr>
        <p:spPr>
          <a:xfrm>
            <a:off x="6484468" y="3892296"/>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If pop() removed the item and then returned it, the copy into the caller's variable would happen after the item had left the queue. If that copy throws, for example because memory runs out, the item is gone: not in the queue, not in the variable. With front() then pop(), you copy first and remove second, so a failed copy loses nothing.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v3: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v3 needs, file by file: queue.hpp, thread_group.hpp, main.cpp. If your version does not work, compare it with this one. Build and run it from the master folder with ./run.sh v3 main.</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a:t>
            </a:r>
            <a:endParaRPr lang="en-US" sz="1100" dirty="0"/>
          </a:p>
        </p:txBody>
      </p:sp>
      <p:sp>
        <p:nvSpPr>
          <p:cNvPr id="6" name="Shape 4"/>
          <p:cNvSpPr/>
          <p:nvPr/>
        </p:nvSpPr>
        <p:spPr>
          <a:xfrm>
            <a:off x="502920" y="2615184"/>
            <a:ext cx="5387188" cy="3684524"/>
          </a:xfrm>
          <a:prstGeom prst="roundRect">
            <a:avLst>
              <a:gd name="adj" fmla="val 1241"/>
            </a:avLst>
          </a:prstGeom>
          <a:solidFill>
            <a:srgbClr val="1E2230"/>
          </a:solidFill>
          <a:ln w="12700">
            <a:solidFill>
              <a:srgbClr val="1E2230"/>
            </a:solidFill>
            <a:prstDash val="solid"/>
          </a:ln>
        </p:spPr>
      </p:sp>
      <p:sp>
        <p:nvSpPr>
          <p:cNvPr id="7" name="Text 5"/>
          <p:cNvSpPr txBox="1"/>
          <p:nvPr/>
        </p:nvSpPr>
        <p:spPr>
          <a:xfrm>
            <a:off x="612648" y="2734056"/>
            <a:ext cx="5204308" cy="35016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v3 · RAII locking</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lock_guard releases the mutex on every path. try_pop() replaces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pop(): check, read and remove happen under ONE lock.</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9" name="Shape 7"/>
          <p:cNvSpPr/>
          <p:nvPr/>
        </p:nvSpPr>
        <p:spPr>
          <a:xfrm>
            <a:off x="6301588" y="1527048"/>
            <a:ext cx="5387188" cy="4134104"/>
          </a:xfrm>
          <a:prstGeom prst="roundRect">
            <a:avLst>
              <a:gd name="adj" fmla="val 1106"/>
            </a:avLst>
          </a:prstGeom>
          <a:solidFill>
            <a:srgbClr val="1E2230"/>
          </a:solidFill>
          <a:ln w="12700">
            <a:solidFill>
              <a:srgbClr val="1E2230"/>
            </a:solidFill>
            <a:prstDash val="solid"/>
          </a:ln>
        </p:spPr>
      </p:sp>
      <p:sp>
        <p:nvSpPr>
          <p:cNvPr id="10" name="Text 8"/>
          <p:cNvSpPr txBox="1"/>
          <p:nvPr/>
        </p:nvSpPr>
        <p:spPr>
          <a:xfrm>
            <a:off x="6411316" y="1645920"/>
            <a:ext cx="5204308" cy="39512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 snapshot only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spins while empty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v3: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a:t>
            </a:r>
            <a:endParaRPr lang="en-US" sz="1100" dirty="0"/>
          </a:p>
        </p:txBody>
      </p:sp>
      <p:sp>
        <p:nvSpPr>
          <p:cNvPr id="5" name="Shape 3"/>
          <p:cNvSpPr/>
          <p:nvPr/>
        </p:nvSpPr>
        <p:spPr>
          <a:xfrm>
            <a:off x="502920" y="1527048"/>
            <a:ext cx="5387188" cy="3234944"/>
          </a:xfrm>
          <a:prstGeom prst="roundRect">
            <a:avLst>
              <a:gd name="adj" fmla="val 1413"/>
            </a:avLst>
          </a:prstGeom>
          <a:solidFill>
            <a:srgbClr val="1E2230"/>
          </a:solidFill>
          <a:ln w="12700">
            <a:solidFill>
              <a:srgbClr val="1E2230"/>
            </a:solidFill>
            <a:prstDash val="solid"/>
          </a:ln>
        </p:spPr>
      </p:sp>
      <p:sp>
        <p:nvSpPr>
          <p:cNvPr id="6" name="Text 4"/>
          <p:cNvSpPr txBox="1"/>
          <p:nvPr/>
        </p:nvSpPr>
        <p:spPr>
          <a:xfrm>
            <a:off x="612648" y="1645920"/>
            <a:ext cx="5204308" cy="30520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 RAII owner for threads. Every thread added is joined in the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destructor, on every exit path, including exceptions.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default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8" name="Shape 6"/>
          <p:cNvSpPr/>
          <p:nvPr/>
        </p:nvSpPr>
        <p:spPr>
          <a:xfrm>
            <a:off x="6301588" y="1527048"/>
            <a:ext cx="5387188" cy="4134104"/>
          </a:xfrm>
          <a:prstGeom prst="roundRect">
            <a:avLst>
              <a:gd name="adj" fmla="val 1106"/>
            </a:avLst>
          </a:prstGeom>
          <a:solidFill>
            <a:srgbClr val="1E2230"/>
          </a:solidFill>
          <a:ln w="12700">
            <a:solidFill>
              <a:srgbClr val="1E2230"/>
            </a:solidFill>
            <a:prstDash val="solid"/>
          </a:ln>
        </p:spPr>
      </p:sp>
      <p:sp>
        <p:nvSpPr>
          <p:cNvPr id="9" name="Text 7"/>
          <p:cNvSpPr txBox="1"/>
          <p:nvPr/>
        </p:nvSpPr>
        <p:spPr>
          <a:xfrm>
            <a:off x="6411316" y="1645920"/>
            <a:ext cx="5204308" cy="395122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v3: two consumers take items with try_pop(), which checks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and removes under one lock, so neither can get an item twice.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functional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"thread_group.hpp"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100'000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fill it first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taken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take_all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false once empty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taken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take_all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take_all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"pushed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 taken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taken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is the consumer actually doing?</a:t>
            </a:r>
            <a:endParaRPr lang="en-US" sz="1800" dirty="0"/>
          </a:p>
        </p:txBody>
      </p:sp>
      <p:sp>
        <p:nvSpPr>
          <p:cNvPr id="5" name="Text 3"/>
          <p:cNvSpPr txBox="1"/>
          <p:nvPr/>
        </p:nvSpPr>
        <p:spPr>
          <a:xfrm>
            <a:off x="502920" y="1764792"/>
            <a:ext cx="5387188" cy="256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Imagine the queue is empty and a consumer wants an item.</a:t>
            </a:r>
            <a:endParaRPr lang="en-US" sz="1500" dirty="0"/>
          </a:p>
        </p:txBody>
      </p:sp>
      <p:sp>
        <p:nvSpPr>
          <p:cNvPr id="6" name="Shape 4"/>
          <p:cNvSpPr/>
          <p:nvPr/>
        </p:nvSpPr>
        <p:spPr>
          <a:xfrm>
            <a:off x="502920" y="2167128"/>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23042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"I need an item."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queue is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"What should I do now?"</a:t>
            </a:r>
            <a:endParaRPr lang="en-US" sz="1300" dirty="0"/>
          </a:p>
        </p:txBody>
      </p:sp>
      <p:sp>
        <p:nvSpPr>
          <p:cNvPr id="8" name="Text 6"/>
          <p:cNvSpPr txBox="1"/>
          <p:nvPr/>
        </p:nvSpPr>
        <p:spPr>
          <a:xfrm>
            <a:off x="502920" y="3561842"/>
            <a:ext cx="5387188" cy="256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 try_pop() the simplest answer is: try again.</a:t>
            </a:r>
            <a:endParaRPr lang="en-US" sz="1500" dirty="0"/>
          </a:p>
        </p:txBody>
      </p:sp>
      <p:sp>
        <p:nvSpPr>
          <p:cNvPr id="9" name="Shape 7"/>
          <p:cNvSpPr/>
          <p:nvPr/>
        </p:nvSpPr>
        <p:spPr>
          <a:xfrm>
            <a:off x="502920" y="3964178"/>
            <a:ext cx="5387188" cy="1053592"/>
          </a:xfrm>
          <a:prstGeom prst="roundRect">
            <a:avLst>
              <a:gd name="adj" fmla="val 5207"/>
            </a:avLst>
          </a:prstGeom>
          <a:solidFill>
            <a:srgbClr val="1E2230"/>
          </a:solidFill>
          <a:ln w="12700">
            <a:solidFill>
              <a:srgbClr val="1E2230"/>
            </a:solidFill>
            <a:prstDash val="solid"/>
          </a:ln>
        </p:spPr>
      </p:sp>
      <p:sp>
        <p:nvSpPr>
          <p:cNvPr id="10" name="Text 8"/>
          <p:cNvSpPr txBox="1"/>
          <p:nvPr/>
        </p:nvSpPr>
        <p:spPr>
          <a:xfrm>
            <a:off x="685800" y="410133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nothing there, try again</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1" name="Text 9"/>
          <p:cNvSpPr txBox="1"/>
          <p:nvPr/>
        </p:nvSpPr>
        <p:spPr>
          <a:xfrm>
            <a:off x="502920" y="5164074"/>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nothing arrives for a second, this loop runs about twelve million times:</a:t>
            </a:r>
            <a:endParaRPr lang="en-US" sz="1500" dirty="0"/>
          </a:p>
        </p:txBody>
      </p:sp>
      <p:sp>
        <p:nvSpPr>
          <p:cNvPr id="12" name="Shape 10"/>
          <p:cNvSpPr/>
          <p:nvPr/>
        </p:nvSpPr>
        <p:spPr>
          <a:xfrm>
            <a:off x="6301588" y="1234440"/>
            <a:ext cx="5387188" cy="663956"/>
          </a:xfrm>
          <a:prstGeom prst="roundRect">
            <a:avLst>
              <a:gd name="adj" fmla="val 8263"/>
            </a:avLst>
          </a:prstGeom>
          <a:solidFill>
            <a:srgbClr val="0F1419"/>
          </a:solidFill>
          <a:ln w="12700">
            <a:solidFill>
              <a:srgbClr val="0F1419"/>
            </a:solidFill>
            <a:prstDash val="solid"/>
          </a:ln>
        </p:spPr>
      </p:sp>
      <p:sp>
        <p:nvSpPr>
          <p:cNvPr id="13" name="Text 11"/>
          <p:cNvSpPr txBox="1"/>
          <p:nvPr/>
        </p:nvSpPr>
        <p:spPr>
          <a:xfrm>
            <a:off x="6484468" y="1371600"/>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v3 next_bug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checked an empty queue 12301046 times in 1 s</a:t>
            </a:r>
            <a:endParaRPr lang="en-US" sz="1300" dirty="0"/>
          </a:p>
        </p:txBody>
      </p:sp>
      <p:sp>
        <p:nvSpPr>
          <p:cNvPr id="14" name="Shape 12"/>
          <p:cNvSpPr/>
          <p:nvPr/>
        </p:nvSpPr>
        <p:spPr>
          <a:xfrm>
            <a:off x="6301588" y="2044700"/>
            <a:ext cx="5387188" cy="509016"/>
          </a:xfrm>
          <a:prstGeom prst="roundRect">
            <a:avLst>
              <a:gd name="adj" fmla="val 10778"/>
            </a:avLst>
          </a:prstGeom>
          <a:solidFill>
            <a:srgbClr val="FBEDE3"/>
          </a:solidFill>
          <a:ln w="12700">
            <a:solidFill>
              <a:srgbClr val="FBEDE3"/>
            </a:solidFill>
            <a:prstDash val="solid"/>
          </a:ln>
        </p:spPr>
      </p:sp>
      <p:sp>
        <p:nvSpPr>
          <p:cNvPr id="15" name="Text 13"/>
          <p:cNvSpPr txBox="1"/>
          <p:nvPr/>
        </p:nvSpPr>
        <p:spPr>
          <a:xfrm>
            <a:off x="6530188" y="218186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is the consumer doing twelve million times?</a:t>
            </a:r>
            <a:endParaRPr lang="en-US" sz="1600" dirty="0"/>
          </a:p>
        </p:txBody>
      </p:sp>
      <p:sp>
        <p:nvSpPr>
          <p:cNvPr id="16" name="Text 14"/>
          <p:cNvSpPr txBox="1"/>
          <p:nvPr/>
        </p:nvSpPr>
        <p:spPr>
          <a:xfrm>
            <a:off x="6301588" y="270002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Checking an empty queue. Check, check, check, while nothing changes. None of it is useful, and it keeps a whole core at 100%. What we really want: the consumer sleeps while the queue is empty, using no CPU, and wakes up the moment a producer adds something.</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Naive idea 1: unlock and nap</a:t>
            </a:r>
            <a:endParaRPr lang="en-US" sz="1800" dirty="0"/>
          </a:p>
        </p:txBody>
      </p:sp>
      <p:sp>
        <p:nvSpPr>
          <p:cNvPr id="5" name="Shape 3"/>
          <p:cNvSpPr/>
          <p:nvPr/>
        </p:nvSpPr>
        <p:spPr>
          <a:xfrm>
            <a:off x="502920" y="1764792"/>
            <a:ext cx="5387188" cy="752856"/>
          </a:xfrm>
          <a:prstGeom prst="roundRect">
            <a:avLst>
              <a:gd name="adj" fmla="val 7287"/>
            </a:avLst>
          </a:prstGeom>
          <a:solidFill>
            <a:srgbClr val="FBEDE3"/>
          </a:solidFill>
          <a:ln w="12700">
            <a:solidFill>
              <a:srgbClr val="FBEDE3"/>
            </a:solidFill>
            <a:prstDash val="solid"/>
          </a:ln>
        </p:spPr>
      </p:sp>
      <p:sp>
        <p:nvSpPr>
          <p:cNvPr id="6" name="Text 4"/>
          <p:cNvSpPr txBox="1"/>
          <p:nvPr/>
        </p:nvSpPr>
        <p:spPr>
          <a:xfrm>
            <a:off x="731520"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not just let the consumer sleep for a while and check again?</a:t>
            </a:r>
            <a:endParaRPr lang="en-US" sz="1600" dirty="0"/>
          </a:p>
        </p:txBody>
      </p:sp>
      <p:sp>
        <p:nvSpPr>
          <p:cNvPr id="7" name="Shape 5"/>
          <p:cNvSpPr/>
          <p:nvPr/>
        </p:nvSpPr>
        <p:spPr>
          <a:xfrm>
            <a:off x="502920" y="2663952"/>
            <a:ext cx="5387188" cy="1443228"/>
          </a:xfrm>
          <a:prstGeom prst="roundRect">
            <a:avLst>
              <a:gd name="adj" fmla="val 3801"/>
            </a:avLst>
          </a:prstGeom>
          <a:solidFill>
            <a:srgbClr val="1E2230"/>
          </a:solidFill>
          <a:ln w="12700">
            <a:solidFill>
              <a:srgbClr val="1E2230"/>
            </a:solidFill>
            <a:prstDash val="solid"/>
          </a:ln>
        </p:spPr>
      </p:sp>
      <p:sp>
        <p:nvSpPr>
          <p:cNvPr id="8" name="Text 6"/>
          <p:cNvSpPr txBox="1"/>
          <p:nvPr/>
        </p:nvSpPr>
        <p:spPr>
          <a:xfrm>
            <a:off x="685800" y="2801112"/>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let producers in</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Text 7"/>
          <p:cNvSpPr txBox="1"/>
          <p:nvPr/>
        </p:nvSpPr>
        <p:spPr>
          <a:xfrm>
            <a:off x="502920" y="425348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Put it on a clock. At t = 0 the queue is empty, the consumer naps for a second. At t = 1 ms a producer pushes. The item then waits 999 ms for a consumer that is asleep.</a:t>
            </a:r>
            <a:endParaRPr lang="en-US" sz="1500" dirty="0"/>
          </a:p>
        </p:txBody>
      </p:sp>
      <p:sp>
        <p:nvSpPr>
          <p:cNvPr id="10" name="Shape 8"/>
          <p:cNvSpPr/>
          <p:nvPr/>
        </p:nvSpPr>
        <p:spPr>
          <a:xfrm>
            <a:off x="502920" y="5113020"/>
            <a:ext cx="5387188" cy="1053592"/>
          </a:xfrm>
          <a:prstGeom prst="roundRect">
            <a:avLst>
              <a:gd name="adj" fmla="val 5207"/>
            </a:avLst>
          </a:prstGeom>
          <a:solidFill>
            <a:srgbClr val="F1F4F7"/>
          </a:solidFill>
          <a:ln w="12700">
            <a:solidFill>
              <a:srgbClr val="F1F4F7"/>
            </a:solidFill>
            <a:prstDash val="solid"/>
          </a:ln>
        </p:spPr>
      </p:sp>
      <p:sp>
        <p:nvSpPr>
          <p:cNvPr id="11" name="Text 9"/>
          <p:cNvSpPr txBox="1"/>
          <p:nvPr/>
        </p:nvSpPr>
        <p:spPr>
          <a:xfrm>
            <a:off x="685800" y="525018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1 ms                      1 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  empty, unlock, sleep ............| wakes, pops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prod         lock, push 42, unlock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item waits 999 ms</a:t>
            </a:r>
            <a:endParaRPr lang="en-US" sz="1300" dirty="0"/>
          </a:p>
        </p:txBody>
      </p:sp>
      <p:sp>
        <p:nvSpPr>
          <p:cNvPr id="12" name="Text 10"/>
          <p:cNvSpPr txBox="1"/>
          <p:nvPr/>
        </p:nvSpPr>
        <p:spPr>
          <a:xfrm>
            <a:off x="6301588"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shorter nap means checking more often, which is back to burning CPU. A longer nap means items wait longer. There is no right number, because we are guessing when the item arrives.</a:t>
            </a:r>
            <a:endParaRPr lang="en-US" sz="1500" dirty="0"/>
          </a:p>
        </p:txBody>
      </p:sp>
      <p:sp>
        <p:nvSpPr>
          <p:cNvPr id="13" name="Text 11"/>
          <p:cNvSpPr txBox="1"/>
          <p:nvPr/>
        </p:nvSpPr>
        <p:spPr>
          <a:xfrm>
            <a:off x="6301588" y="23774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Naive idea 2: wait for a signal</a:t>
            </a:r>
            <a:endParaRPr lang="en-US" sz="1800" dirty="0"/>
          </a:p>
        </p:txBody>
      </p:sp>
      <p:sp>
        <p:nvSpPr>
          <p:cNvPr id="14" name="Shape 12"/>
          <p:cNvSpPr/>
          <p:nvPr/>
        </p:nvSpPr>
        <p:spPr>
          <a:xfrm>
            <a:off x="6301588" y="2852928"/>
            <a:ext cx="5387188" cy="752856"/>
          </a:xfrm>
          <a:prstGeom prst="roundRect">
            <a:avLst>
              <a:gd name="adj" fmla="val 7287"/>
            </a:avLst>
          </a:prstGeom>
          <a:solidFill>
            <a:srgbClr val="FBEDE3"/>
          </a:solidFill>
          <a:ln w="12700">
            <a:solidFill>
              <a:srgbClr val="FBEDE3"/>
            </a:solidFill>
            <a:prstDash val="solid"/>
          </a:ln>
        </p:spPr>
      </p:sp>
      <p:sp>
        <p:nvSpPr>
          <p:cNvPr id="15" name="Text 13"/>
          <p:cNvSpPr txBox="1"/>
          <p:nvPr/>
        </p:nvSpPr>
        <p:spPr>
          <a:xfrm>
            <a:off x="6530188" y="29900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Then let the producer tell the consumer when it pushes?</a:t>
            </a:r>
            <a:endParaRPr lang="en-US" sz="1600" dirty="0"/>
          </a:p>
        </p:txBody>
      </p:sp>
      <p:sp>
        <p:nvSpPr>
          <p:cNvPr id="16" name="Text 14"/>
          <p:cNvSpPr txBox="1"/>
          <p:nvPr/>
        </p:nvSpPr>
        <p:spPr>
          <a:xfrm>
            <a:off x="6301588" y="375208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Good idea. After pushing, the producer sends a signal, and the consumer sleeps until it gets one. But look closely at the moment between unlocking and starting to sleep.</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Shape 2"/>
          <p:cNvSpPr/>
          <p:nvPr/>
        </p:nvSpPr>
        <p:spPr>
          <a:xfrm>
            <a:off x="502920" y="1234440"/>
            <a:ext cx="5387188" cy="2222500"/>
          </a:xfrm>
          <a:prstGeom prst="roundRect">
            <a:avLst>
              <a:gd name="adj" fmla="val 2469"/>
            </a:avLst>
          </a:prstGeom>
          <a:solidFill>
            <a:srgbClr val="F1F4F7"/>
          </a:solidFill>
          <a:ln w="12700">
            <a:solidFill>
              <a:srgbClr val="F1F4F7"/>
            </a:solidFill>
            <a:prstDash val="solid"/>
          </a:ln>
        </p:spPr>
      </p:sp>
      <p:sp>
        <p:nvSpPr>
          <p:cNvPr id="5" name="Text 3"/>
          <p:cNvSpPr txBox="1"/>
          <p:nvPr/>
        </p:nvSpPr>
        <p:spPr>
          <a:xfrm>
            <a:off x="685800" y="1371600"/>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producer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unlock()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&lt;---- gap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push(42)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signal "item!"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(nobody listening)</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start sleeping</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sleeps forever, 42 is in the queue</a:t>
            </a:r>
            <a:endParaRPr lang="en-US" sz="1300" dirty="0"/>
          </a:p>
        </p:txBody>
      </p:sp>
      <p:sp>
        <p:nvSpPr>
          <p:cNvPr id="6" name="Text 4"/>
          <p:cNvSpPr txBox="1"/>
          <p:nvPr/>
        </p:nvSpPr>
        <p:spPr>
          <a:xfrm>
            <a:off x="502920" y="360324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producer shouted "there is an item!" but the consumer was not listening yet. The signal is lost, and the consumer sleeps forever next to a full queue. This is called the lost wake-up.</a:t>
            </a:r>
            <a:endParaRPr lang="en-US" sz="1500" dirty="0"/>
          </a:p>
        </p:txBody>
      </p:sp>
      <p:sp>
        <p:nvSpPr>
          <p:cNvPr id="7" name="Shape 5"/>
          <p:cNvSpPr/>
          <p:nvPr/>
        </p:nvSpPr>
        <p:spPr>
          <a:xfrm>
            <a:off x="502920" y="4691380"/>
            <a:ext cx="5387188" cy="509016"/>
          </a:xfrm>
          <a:prstGeom prst="roundRect">
            <a:avLst>
              <a:gd name="adj" fmla="val 10778"/>
            </a:avLst>
          </a:prstGeom>
          <a:solidFill>
            <a:srgbClr val="FBEDE3"/>
          </a:solidFill>
          <a:ln w="12700">
            <a:solidFill>
              <a:srgbClr val="FBEDE3"/>
            </a:solidFill>
            <a:prstDash val="solid"/>
          </a:ln>
        </p:spPr>
      </p:sp>
      <p:sp>
        <p:nvSpPr>
          <p:cNvPr id="8" name="Text 6"/>
          <p:cNvSpPr txBox="1"/>
          <p:nvPr/>
        </p:nvSpPr>
        <p:spPr>
          <a:xfrm>
            <a:off x="731520" y="482854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So what exactly went wrong?</a:t>
            </a:r>
            <a:endParaRPr lang="en-US" sz="1600" dirty="0"/>
          </a:p>
        </p:txBody>
      </p:sp>
      <p:sp>
        <p:nvSpPr>
          <p:cNvPr id="9" name="Text 7"/>
          <p:cNvSpPr txBox="1"/>
          <p:nvPr/>
        </p:nvSpPr>
        <p:spPr>
          <a:xfrm>
            <a:off x="502920" y="534670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 the sleeping. The gap. Releasing the mutex and starting to sleep were two separate steps, and the producer slipped between them. We need one operation that releases the mutex and starts waiting as a single step.</a:t>
            </a:r>
            <a:endParaRPr lang="en-US" sz="1500" dirty="0"/>
          </a:p>
        </p:txBody>
      </p:sp>
      <p:sp>
        <p:nvSpPr>
          <p:cNvPr id="10" name="Text 8"/>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concept: std::condition_variable</a:t>
            </a:r>
            <a:endParaRPr lang="en-US" sz="1800" dirty="0"/>
          </a:p>
        </p:txBody>
      </p:sp>
      <p:sp>
        <p:nvSpPr>
          <p:cNvPr id="11" name="Text 9"/>
          <p:cNvSpPr txBox="1"/>
          <p:nvPr/>
        </p:nvSpPr>
        <p:spPr>
          <a:xfrm>
            <a:off x="6301588"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one operation is cv.wait(lock, predicate). The predicate is a small function that answers "can I continue?". Follow every step, including who owns the mutex.</a:t>
            </a:r>
            <a:endParaRPr lang="en-US" sz="1500" dirty="0"/>
          </a:p>
        </p:txBody>
      </p:sp>
      <p:sp>
        <p:nvSpPr>
          <p:cNvPr id="12" name="Shape 10"/>
          <p:cNvSpPr/>
          <p:nvPr/>
        </p:nvSpPr>
        <p:spPr>
          <a:xfrm>
            <a:off x="6301588" y="2852928"/>
            <a:ext cx="5387188" cy="3196590"/>
          </a:xfrm>
          <a:prstGeom prst="roundRect">
            <a:avLst>
              <a:gd name="adj" fmla="val 1716"/>
            </a:avLst>
          </a:prstGeom>
          <a:solidFill>
            <a:srgbClr val="F1F4F7"/>
          </a:solidFill>
          <a:ln w="12700">
            <a:solidFill>
              <a:srgbClr val="F1F4F7"/>
            </a:solidFill>
            <a:prstDash val="solid"/>
          </a:ln>
        </p:spPr>
      </p:sp>
      <p:sp>
        <p:nvSpPr>
          <p:cNvPr id="13" name="Text 11"/>
          <p:cNvSpPr txBox="1"/>
          <p:nvPr/>
        </p:nvSpPr>
        <p:spPr>
          <a:xfrm>
            <a:off x="6484468" y="2990088"/>
            <a:ext cx="5021428" cy="292227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  consumer owns the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2  consumer checks predicate: !q.empty()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3  predicate is false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4  wait() releases the mutex  } one step: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5  consumer sleeps            } no gap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6  producer acquires the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7  producer pushes 42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8  producer releases the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9  producer calls notify_one()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10 consumer wakes up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11 consumer reacquires the mutex</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12 consumer checks predicate AGAIN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13 predicate is now true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14 wait() returns: consumer owns the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mutex and the queue has an item</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Shape 2"/>
          <p:cNvSpPr/>
          <p:nvPr/>
        </p:nvSpPr>
        <p:spPr>
          <a:xfrm>
            <a:off x="502920" y="1234440"/>
            <a:ext cx="5387188" cy="752856"/>
          </a:xfrm>
          <a:prstGeom prst="roundRect">
            <a:avLst>
              <a:gd name="adj" fmla="val 7287"/>
            </a:avLst>
          </a:prstGeom>
          <a:solidFill>
            <a:srgbClr val="FBEDE3"/>
          </a:solidFill>
          <a:ln w="12700">
            <a:solidFill>
              <a:srgbClr val="FBEDE3"/>
            </a:solidFill>
            <a:prstDash val="solid"/>
          </a:ln>
        </p:spPr>
      </p:sp>
      <p:sp>
        <p:nvSpPr>
          <p:cNvPr id="5" name="Text 3"/>
          <p:cNvSpPr txBox="1"/>
          <p:nvPr/>
        </p:nvSpPr>
        <p:spPr>
          <a:xfrm>
            <a:off x="731520"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Where is the mutex while the consumer sleeps? How does the producer get it?</a:t>
            </a:r>
            <a:endParaRPr lang="en-US" sz="1600" dirty="0"/>
          </a:p>
        </p:txBody>
      </p:sp>
      <p:sp>
        <p:nvSpPr>
          <p:cNvPr id="6" name="Text 4"/>
          <p:cNvSpPr txBox="1"/>
          <p:nvPr/>
        </p:nvSpPr>
        <p:spPr>
          <a:xfrm>
            <a:off x="502920" y="213360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Steps 4 and 5: wait() itself unlocks it as it puts the consumer to sleep. Nobody owns it while the consumer sleeps, which is why the producer can lock it at step 6. At step 11, before wait() returns, it locks the mutex again. So when your code continues after wait(), you own the mutex again, just as before the call.</a:t>
            </a:r>
            <a:endParaRPr lang="en-US" sz="1500" dirty="0"/>
          </a:p>
        </p:txBody>
      </p:sp>
      <p:sp>
        <p:nvSpPr>
          <p:cNvPr id="7" name="Shape 5"/>
          <p:cNvSpPr/>
          <p:nvPr/>
        </p:nvSpPr>
        <p:spPr>
          <a:xfrm>
            <a:off x="502920" y="3678936"/>
            <a:ext cx="5387188" cy="752856"/>
          </a:xfrm>
          <a:prstGeom prst="roundRect">
            <a:avLst>
              <a:gd name="adj" fmla="val 7287"/>
            </a:avLst>
          </a:prstGeom>
          <a:solidFill>
            <a:srgbClr val="FBEDE3"/>
          </a:solidFill>
          <a:ln w="12700">
            <a:solidFill>
              <a:srgbClr val="FBEDE3"/>
            </a:solidFill>
            <a:prstDash val="solid"/>
          </a:ln>
        </p:spPr>
      </p:sp>
      <p:sp>
        <p:nvSpPr>
          <p:cNvPr id="8" name="Text 6"/>
          <p:cNvSpPr txBox="1"/>
          <p:nvPr/>
        </p:nvSpPr>
        <p:spPr>
          <a:xfrm>
            <a:off x="731520" y="3816096"/>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check the predicate again at step 12? It was notified.</a:t>
            </a:r>
            <a:endParaRPr lang="en-US" sz="1600" dirty="0"/>
          </a:p>
        </p:txBody>
      </p:sp>
      <p:sp>
        <p:nvSpPr>
          <p:cNvPr id="9" name="Text 7"/>
          <p:cNvSpPr txBox="1"/>
          <p:nvPr/>
        </p:nvSpPr>
        <p:spPr>
          <a:xfrm>
            <a:off x="502920" y="457809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Two reasons. Another consumer may have woken first and taken the item. And threads can occasionally wake with no notify at all, a spurious wake-up. So the correct mental model is a loop: while (!condition) sleep, never if (!condition) sleep. The predicate version of wait() runs that loop for you.</a:t>
            </a:r>
            <a:endParaRPr lang="en-US" sz="1500" dirty="0"/>
          </a:p>
        </p:txBody>
      </p:sp>
      <p:sp>
        <p:nvSpPr>
          <p:cNvPr id="10" name="Shape 8"/>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11" name="Text 9"/>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can't the producer's notify fall into a gap now?</a:t>
            </a:r>
            <a:endParaRPr lang="en-US" sz="1600" dirty="0"/>
          </a:p>
        </p:txBody>
      </p:sp>
      <p:sp>
        <p:nvSpPr>
          <p:cNvPr id="12" name="Text 10"/>
          <p:cNvSpPr txBox="1"/>
          <p:nvPr/>
        </p:nvSpPr>
        <p:spPr>
          <a:xfrm>
            <a:off x="6301588" y="213360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Because the consumer checks the predicate while holding the mutex, and releases it only as part of going to sleep. The producer needs the mutex to push. So the push happens either before the consumer's check, and the consumer sees the item, or after the consumer is already asleep, and the notify wakes it. There is no moment in between.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code</a:t>
            </a:r>
            <a:endParaRPr lang="en-US" sz="1800" dirty="0"/>
          </a:p>
        </p:txBody>
      </p:sp>
      <p:sp>
        <p:nvSpPr>
          <p:cNvPr id="5" name="Shape 3"/>
          <p:cNvSpPr/>
          <p:nvPr/>
        </p:nvSpPr>
        <p:spPr>
          <a:xfrm>
            <a:off x="502920" y="1764792"/>
            <a:ext cx="5387188" cy="3586226"/>
          </a:xfrm>
          <a:prstGeom prst="roundRect">
            <a:avLst>
              <a:gd name="adj" fmla="val 1530"/>
            </a:avLst>
          </a:prstGeom>
          <a:solidFill>
            <a:srgbClr val="1E2230"/>
          </a:solidFill>
          <a:ln w="12700">
            <a:solidFill>
              <a:srgbClr val="1E2230"/>
            </a:solidFill>
            <a:prstDash val="solid"/>
          </a:ln>
        </p:spPr>
      </p:sp>
      <p:sp>
        <p:nvSpPr>
          <p:cNvPr id="6" name="Text 4"/>
          <p:cNvSpPr txBox="1"/>
          <p:nvPr/>
        </p:nvSpPr>
        <p:spPr>
          <a:xfrm>
            <a:off x="685800" y="1901952"/>
            <a:ext cx="5021428" cy="331190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wake one waiter</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we own m here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Shape 5"/>
          <p:cNvSpPr/>
          <p:nvPr/>
        </p:nvSpPr>
        <p:spPr>
          <a:xfrm>
            <a:off x="6301588" y="1234440"/>
            <a:ext cx="5387188" cy="509016"/>
          </a:xfrm>
          <a:prstGeom prst="roundRect">
            <a:avLst>
              <a:gd name="adj" fmla="val 10778"/>
            </a:avLst>
          </a:prstGeom>
          <a:solidFill>
            <a:srgbClr val="FBEDE3"/>
          </a:solidFill>
          <a:ln w="12700">
            <a:solidFill>
              <a:srgbClr val="FBEDE3"/>
            </a:solidFill>
            <a:prstDash val="solid"/>
          </a:ln>
        </p:spPr>
      </p:sp>
      <p:sp>
        <p:nvSpPr>
          <p:cNvPr id="8" name="Text 6"/>
          <p:cNvSpPr txBox="1"/>
          <p:nvPr/>
        </p:nvSpPr>
        <p:spPr>
          <a:xfrm>
            <a:off x="6530188"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unique_lock and not lock_guard?</a:t>
            </a:r>
            <a:endParaRPr lang="en-US" sz="1600" dirty="0"/>
          </a:p>
        </p:txBody>
      </p:sp>
      <p:sp>
        <p:nvSpPr>
          <p:cNvPr id="9" name="Text 7"/>
          <p:cNvSpPr txBox="1"/>
          <p:nvPr/>
        </p:nvSpPr>
        <p:spPr>
          <a:xfrm>
            <a:off x="6301588" y="188976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wait() has to unlock the mutex in step 4 and lock it again in step 11. lock_guard cannot be unlocked by anyone; unique_lock can. That is the only reason.</a:t>
            </a:r>
            <a:endParaRPr lang="en-US" sz="1500" dirty="0"/>
          </a:p>
        </p:txBody>
      </p:sp>
      <p:sp>
        <p:nvSpPr>
          <p:cNvPr id="10" name="Shape 8"/>
          <p:cNvSpPr/>
          <p:nvPr/>
        </p:nvSpPr>
        <p:spPr>
          <a:xfrm>
            <a:off x="6301588" y="2749296"/>
            <a:ext cx="5387188" cy="858774"/>
          </a:xfrm>
          <a:prstGeom prst="roundRect">
            <a:avLst>
              <a:gd name="adj" fmla="val 6389"/>
            </a:avLst>
          </a:prstGeom>
          <a:solidFill>
            <a:srgbClr val="F1F4F7"/>
          </a:solidFill>
          <a:ln w="12700">
            <a:solidFill>
              <a:srgbClr val="F1F4F7"/>
            </a:solidFill>
            <a:prstDash val="solid"/>
          </a:ln>
        </p:spPr>
      </p:sp>
      <p:sp>
        <p:nvSpPr>
          <p:cNvPr id="11" name="Text 9"/>
          <p:cNvSpPr txBox="1"/>
          <p:nvPr/>
        </p:nvSpPr>
        <p:spPr>
          <a:xfrm>
            <a:off x="6484468" y="288645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v0  std::queue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v2  + std::mutex                safe access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v4  + std::condition_variable   efficient waiting</a:t>
            </a:r>
            <a:endParaRPr lang="en-US" sz="1300" dirty="0"/>
          </a:p>
        </p:txBody>
      </p:sp>
      <p:sp>
        <p:nvSpPr>
          <p:cNvPr id="12" name="Shape 10"/>
          <p:cNvSpPr/>
          <p:nvPr/>
        </p:nvSpPr>
        <p:spPr>
          <a:xfrm>
            <a:off x="6301588" y="3754374"/>
            <a:ext cx="5387188" cy="1234440"/>
          </a:xfrm>
          <a:prstGeom prst="roundRect">
            <a:avLst>
              <a:gd name="adj" fmla="val 4444"/>
            </a:avLst>
          </a:prstGeom>
          <a:solidFill>
            <a:srgbClr val="E3F2EF"/>
          </a:solidFill>
          <a:ln w="12700">
            <a:solidFill>
              <a:srgbClr val="E3F2EF"/>
            </a:solidFill>
            <a:prstDash val="solid"/>
          </a:ln>
        </p:spPr>
      </p:sp>
      <p:sp>
        <p:nvSpPr>
          <p:cNvPr id="13" name="Text 11"/>
          <p:cNvSpPr txBox="1"/>
          <p:nvPr/>
        </p:nvSpPr>
        <p:spPr>
          <a:xfrm>
            <a:off x="6530188" y="3882390"/>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4" name="Text 12"/>
          <p:cNvSpPr txBox="1"/>
          <p:nvPr/>
        </p:nvSpPr>
        <p:spPr>
          <a:xfrm>
            <a:off x="6530188" y="4174998"/>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Our pool's workers sit in exactly this wait_and_pop() when there is no work. They use no CPU until a task is submitted, and notify_one() wakes one of them.</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Waiting without burning a core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With wait_and_pop(), how much CPU does a consumer use while the queue is empty for a minute?</a:t>
            </a:r>
            <a:endParaRPr lang="en-US" sz="1500" dirty="0"/>
          </a:p>
        </p:txBody>
      </p:sp>
      <p:sp>
        <p:nvSpPr>
          <p:cNvPr id="6" name="Shape 4"/>
          <p:cNvSpPr/>
          <p:nvPr/>
        </p:nvSpPr>
        <p:spPr>
          <a:xfrm>
            <a:off x="502920" y="2322576"/>
            <a:ext cx="5387188" cy="1709928"/>
          </a:xfrm>
          <a:prstGeom prst="roundRect">
            <a:avLst>
              <a:gd name="adj" fmla="val 3209"/>
            </a:avLst>
          </a:prstGeom>
          <a:solidFill>
            <a:srgbClr val="F1F4F7"/>
          </a:solidFill>
          <a:ln w="12700">
            <a:solidFill>
              <a:srgbClr val="F1F4F7"/>
            </a:solidFill>
            <a:prstDash val="solid"/>
          </a:ln>
        </p:spPr>
      </p:sp>
      <p:sp>
        <p:nvSpPr>
          <p:cNvPr id="7" name="Text 5"/>
          <p:cNvSpPr txBox="1"/>
          <p:nvPr/>
        </p:nvSpPr>
        <p:spPr>
          <a:xfrm>
            <a:off x="685800"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Almost none. Inside wait() the thread sleeps, and the operating system gives sleeping threads no time on a core. It only runs again when notified, or on a rare spurious wake-up, after which it checks the predicate, finds the queue still empty, and goes back to sleep. Compare that with 12 million checks a second.</a:t>
            </a:r>
            <a:endParaRPr lang="en-US" sz="1400" dirty="0"/>
          </a:p>
        </p:txBody>
      </p:sp>
      <p:sp>
        <p:nvSpPr>
          <p:cNvPr id="8" name="Text 6"/>
          <p:cNvSpPr txBox="1"/>
          <p:nvPr/>
        </p:nvSpPr>
        <p:spPr>
          <a:xfrm>
            <a:off x="6301588" y="1234440"/>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Remove the predicate and call plain cv.wait(lock). The producer pushes and notifies before the consumer reaches wait(). What happens?</a:t>
            </a:r>
            <a:endParaRPr lang="en-US" sz="1500" dirty="0"/>
          </a:p>
        </p:txBody>
      </p:sp>
      <p:sp>
        <p:nvSpPr>
          <p:cNvPr id="9" name="Shape 7"/>
          <p:cNvSpPr/>
          <p:nvPr/>
        </p:nvSpPr>
        <p:spPr>
          <a:xfrm>
            <a:off x="6301588" y="2020824"/>
            <a:ext cx="5387188" cy="1709928"/>
          </a:xfrm>
          <a:prstGeom prst="roundRect">
            <a:avLst>
              <a:gd name="adj" fmla="val 3209"/>
            </a:avLst>
          </a:prstGeom>
          <a:solidFill>
            <a:srgbClr val="F1F4F7"/>
          </a:solidFill>
          <a:ln w="12700">
            <a:solidFill>
              <a:srgbClr val="F1F4F7"/>
            </a:solidFill>
            <a:prstDash val="solid"/>
          </a:ln>
        </p:spPr>
      </p:sp>
      <p:sp>
        <p:nvSpPr>
          <p:cNvPr id="10" name="Text 8"/>
          <p:cNvSpPr txBox="1"/>
          <p:nvPr/>
        </p:nvSpPr>
        <p:spPr>
          <a:xfrm>
            <a:off x="6484468" y="21488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notify happens while nobody is waiting, and condition variables do not remember past notifies, so it does nothing. The consumer then calls wait() and sleeps, although an item is already in the queue. Nobody notifies again, so it sleeps forever. With the predicate, wait() first checks !q.empty(), sees the item and returns at once.</a:t>
            </a:r>
            <a:endParaRPr lang="en-US" sz="1400" dirty="0"/>
          </a:p>
        </p:txBody>
      </p:sp>
      <p:sp>
        <p:nvSpPr>
          <p:cNvPr id="11" name="Text 9"/>
          <p:cNvSpPr txBox="1"/>
          <p:nvPr/>
        </p:nvSpPr>
        <p:spPr>
          <a:xfrm>
            <a:off x="6301588" y="387705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Trace cv.wait(lock, pred) when the queue already has an item at the moment the consumer calls it.</a:t>
            </a:r>
            <a:endParaRPr lang="en-US" sz="1500" dirty="0"/>
          </a:p>
        </p:txBody>
      </p:sp>
      <p:sp>
        <p:nvSpPr>
          <p:cNvPr id="12" name="Shape 10"/>
          <p:cNvSpPr/>
          <p:nvPr/>
        </p:nvSpPr>
        <p:spPr>
          <a:xfrm>
            <a:off x="6301588" y="4434840"/>
            <a:ext cx="5387188" cy="1709928"/>
          </a:xfrm>
          <a:prstGeom prst="roundRect">
            <a:avLst>
              <a:gd name="adj" fmla="val 3209"/>
            </a:avLst>
          </a:prstGeom>
          <a:solidFill>
            <a:srgbClr val="F1F4F7"/>
          </a:solidFill>
          <a:ln w="12700">
            <a:solidFill>
              <a:srgbClr val="F1F4F7"/>
            </a:solidFill>
            <a:prstDash val="solid"/>
          </a:ln>
        </p:spPr>
      </p:sp>
      <p:sp>
        <p:nvSpPr>
          <p:cNvPr id="13" name="Text 11"/>
          <p:cNvSpPr txBox="1"/>
          <p:nvPr/>
        </p:nvSpPr>
        <p:spPr>
          <a:xfrm>
            <a:off x="6484468" y="4562856"/>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consumer owns the mutex and calls wait(). wait() checks the predicate first: !q.empty() is true. So it returns immediately, without releasing the mutex and without sleeping at all. The consumer still owns the mutex and pops the item. This is why the predicate also protects you from notifies that came early.</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v4: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v4 needs, file by file: queue.hpp, thread_group.hpp, main.cpp. If your version does not work, compare it with this one. Build and run it from the master folder with ./run.sh v4 main.</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a:t>
            </a:r>
            <a:endParaRPr lang="en-US" sz="1100" dirty="0"/>
          </a:p>
        </p:txBody>
      </p:sp>
      <p:sp>
        <p:nvSpPr>
          <p:cNvPr id="6" name="Shape 4"/>
          <p:cNvSpPr/>
          <p:nvPr/>
        </p:nvSpPr>
        <p:spPr>
          <a:xfrm>
            <a:off x="502920" y="2615184"/>
            <a:ext cx="5387188" cy="3684524"/>
          </a:xfrm>
          <a:prstGeom prst="roundRect">
            <a:avLst>
              <a:gd name="adj" fmla="val 1241"/>
            </a:avLst>
          </a:prstGeom>
          <a:solidFill>
            <a:srgbClr val="1E2230"/>
          </a:solidFill>
          <a:ln w="12700">
            <a:solidFill>
              <a:srgbClr val="1E2230"/>
            </a:solidFill>
            <a:prstDash val="solid"/>
          </a:ln>
        </p:spPr>
      </p:sp>
      <p:sp>
        <p:nvSpPr>
          <p:cNvPr id="7" name="Text 5"/>
          <p:cNvSpPr txBox="1"/>
          <p:nvPr/>
        </p:nvSpPr>
        <p:spPr>
          <a:xfrm>
            <a:off x="612648" y="2734056"/>
            <a:ext cx="5204308" cy="35016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v4 · condition_variable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wait_and_pop() sleeps until a push. cv.wait() releases the mutex</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while asleep; the predicate re-checks the queue.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wake one waiter</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9" name="Shape 7"/>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0" name="Text 8"/>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 snapshot only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v4: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5" name="Shape 3"/>
          <p:cNvSpPr/>
          <p:nvPr/>
        </p:nvSpPr>
        <p:spPr>
          <a:xfrm>
            <a:off x="502920" y="1527048"/>
            <a:ext cx="5387188" cy="1286764"/>
          </a:xfrm>
          <a:prstGeom prst="roundRect">
            <a:avLst>
              <a:gd name="adj" fmla="val 3553"/>
            </a:avLst>
          </a:prstGeom>
          <a:solidFill>
            <a:srgbClr val="1E2230"/>
          </a:solidFill>
          <a:ln w="12700">
            <a:solidFill>
              <a:srgbClr val="1E2230"/>
            </a:solidFill>
            <a:prstDash val="solid"/>
          </a:ln>
        </p:spPr>
      </p:sp>
      <p:sp>
        <p:nvSpPr>
          <p:cNvPr id="6" name="Text 4"/>
          <p:cNvSpPr txBox="1"/>
          <p:nvPr/>
        </p:nvSpPr>
        <p:spPr>
          <a:xfrm>
            <a:off x="612648" y="1645920"/>
            <a:ext cx="5204308" cy="110388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sleeps while empty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502920" y="296011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a:t>
            </a:r>
            <a:endParaRPr lang="en-US" sz="1100" dirty="0"/>
          </a:p>
        </p:txBody>
      </p:sp>
      <p:sp>
        <p:nvSpPr>
          <p:cNvPr id="8" name="Shape 6"/>
          <p:cNvSpPr/>
          <p:nvPr/>
        </p:nvSpPr>
        <p:spPr>
          <a:xfrm>
            <a:off x="502920" y="3252724"/>
            <a:ext cx="5387188" cy="2335784"/>
          </a:xfrm>
          <a:prstGeom prst="roundRect">
            <a:avLst>
              <a:gd name="adj" fmla="val 1957"/>
            </a:avLst>
          </a:prstGeom>
          <a:solidFill>
            <a:srgbClr val="1E2230"/>
          </a:solidFill>
          <a:ln w="12700">
            <a:solidFill>
              <a:srgbClr val="1E2230"/>
            </a:solidFill>
            <a:prstDash val="solid"/>
          </a:ln>
        </p:spPr>
      </p:sp>
      <p:sp>
        <p:nvSpPr>
          <p:cNvPr id="9" name="Text 7"/>
          <p:cNvSpPr txBox="1"/>
          <p:nvPr/>
        </p:nvSpPr>
        <p:spPr>
          <a:xfrm>
            <a:off x="612648" y="3371596"/>
            <a:ext cx="5204308" cy="21529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 RAII owner for threads. Every thread added is joined in the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destructor, on every exit path, including exceptions.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default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 (continued)</a:t>
            </a:r>
            <a:endParaRPr lang="en-US" sz="1100" dirty="0"/>
          </a:p>
        </p:txBody>
      </p:sp>
      <p:sp>
        <p:nvSpPr>
          <p:cNvPr id="11" name="Shape 9"/>
          <p:cNvSpPr/>
          <p:nvPr/>
        </p:nvSpPr>
        <p:spPr>
          <a:xfrm>
            <a:off x="6301588" y="1527048"/>
            <a:ext cx="5387188" cy="1136904"/>
          </a:xfrm>
          <a:prstGeom prst="roundRect">
            <a:avLst>
              <a:gd name="adj" fmla="val 4021"/>
            </a:avLst>
          </a:prstGeom>
          <a:solidFill>
            <a:srgbClr val="1E2230"/>
          </a:solidFill>
          <a:ln w="12700">
            <a:solidFill>
              <a:srgbClr val="1E2230"/>
            </a:solidFill>
            <a:prstDash val="solid"/>
          </a:ln>
        </p:spPr>
      </p:sp>
      <p:sp>
        <p:nvSpPr>
          <p:cNvPr id="12" name="Text 10"/>
          <p:cNvSpPr txBox="1"/>
          <p:nvPr/>
        </p:nvSpPr>
        <p:spPr>
          <a:xfrm>
            <a:off x="6411316" y="1645920"/>
            <a:ext cx="5204308" cy="9540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3" name="Text 11"/>
          <p:cNvSpPr txBox="1"/>
          <p:nvPr/>
        </p:nvSpPr>
        <p:spPr>
          <a:xfrm>
            <a:off x="6301588" y="281025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14" name="Shape 12"/>
          <p:cNvSpPr/>
          <p:nvPr/>
        </p:nvSpPr>
        <p:spPr>
          <a:xfrm>
            <a:off x="6301588" y="3102864"/>
            <a:ext cx="5387188" cy="2635504"/>
          </a:xfrm>
          <a:prstGeom prst="roundRect">
            <a:avLst>
              <a:gd name="adj" fmla="val 1735"/>
            </a:avLst>
          </a:prstGeom>
          <a:solidFill>
            <a:srgbClr val="1E2230"/>
          </a:solidFill>
          <a:ln w="12700">
            <a:solidFill>
              <a:srgbClr val="1E2230"/>
            </a:solidFill>
            <a:prstDash val="solid"/>
          </a:ln>
        </p:spPr>
      </p:sp>
      <p:sp>
        <p:nvSpPr>
          <p:cNvPr id="15" name="Text 13"/>
          <p:cNvSpPr txBox="1"/>
          <p:nvPr/>
        </p:nvSpPr>
        <p:spPr>
          <a:xfrm>
            <a:off x="6411316" y="3221736"/>
            <a:ext cx="5204308" cy="245262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v4: the consumer starts first and sleeps inside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wait_and_pop() until the producer pushes.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functional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"thread_group.hpp"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1'000'000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consumer</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v4: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 (continued)</a:t>
            </a:r>
            <a:endParaRPr lang="en-US" sz="1100" dirty="0"/>
          </a:p>
        </p:txBody>
      </p:sp>
      <p:sp>
        <p:nvSpPr>
          <p:cNvPr id="5" name="Shape 3"/>
          <p:cNvSpPr/>
          <p:nvPr/>
        </p:nvSpPr>
        <p:spPr>
          <a:xfrm>
            <a:off x="502920" y="1527048"/>
            <a:ext cx="5387188" cy="1136904"/>
          </a:xfrm>
          <a:prstGeom prst="roundRect">
            <a:avLst>
              <a:gd name="adj" fmla="val 4021"/>
            </a:avLst>
          </a:prstGeom>
          <a:solidFill>
            <a:srgbClr val="1E2230"/>
          </a:solidFill>
          <a:ln w="12700">
            <a:solidFill>
              <a:srgbClr val="1E2230"/>
            </a:solidFill>
            <a:prstDash val="solid"/>
          </a:ln>
        </p:spPr>
      </p:sp>
      <p:sp>
        <p:nvSpPr>
          <p:cNvPr id="6" name="Text 4"/>
          <p:cNvSpPr txBox="1"/>
          <p:nvPr/>
        </p:nvSpPr>
        <p:spPr>
          <a:xfrm>
            <a:off x="612648" y="1645920"/>
            <a:ext cx="5204308" cy="9540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"sum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 (expected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2</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correct run proves very little</a:t>
            </a:r>
            <a:endParaRPr lang="en-US" sz="1800" dirty="0"/>
          </a:p>
        </p:txBody>
      </p:sp>
      <p:sp>
        <p:nvSpPr>
          <p:cNvPr id="5" name="Text 3"/>
          <p:cNvSpPr txBox="1"/>
          <p:nvPr/>
        </p:nvSpPr>
        <p:spPr>
          <a:xfrm>
            <a:off x="502920" y="1764792"/>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now works with one producer and one consumer. A real program has several of each, moves millions of items, and has producers or consumers that are sometimes slow. Remember what happened in v1: with 1,000 items per producer the broken queue printed the right answer, because each thread finished before the next one had even started. The threads never overlapped, so the bug never had a chance to show.</a:t>
            </a:r>
            <a:endParaRPr lang="en-US" sz="1500" dirty="0"/>
          </a:p>
        </p:txBody>
      </p:sp>
      <p:sp>
        <p:nvSpPr>
          <p:cNvPr id="6" name="Text 4"/>
          <p:cNvSpPr txBox="1"/>
          <p:nvPr/>
        </p:nvSpPr>
        <p:spPr>
          <a:xfrm>
            <a:off x="502920" y="376732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the uncomfortable truth about concurrent code. Whether a bug appears depends on the exact timing of the threads, and that timing changes every run. A program can pass a hundred times and fail on the hundred and first. So before we build anything more on this queue, we need tests that are hard for a bug to hide from.</a:t>
            </a:r>
            <a:endParaRPr lang="en-US" sz="1500" dirty="0"/>
          </a:p>
        </p:txBody>
      </p:sp>
      <p:sp>
        <p:nvSpPr>
          <p:cNvPr id="7" name="Shape 5"/>
          <p:cNvSpPr/>
          <p:nvPr/>
        </p:nvSpPr>
        <p:spPr>
          <a:xfrm>
            <a:off x="6301588" y="1234440"/>
            <a:ext cx="5387188" cy="509016"/>
          </a:xfrm>
          <a:prstGeom prst="roundRect">
            <a:avLst>
              <a:gd name="adj" fmla="val 10778"/>
            </a:avLst>
          </a:prstGeom>
          <a:solidFill>
            <a:srgbClr val="FBEDE3"/>
          </a:solidFill>
          <a:ln w="12700">
            <a:solidFill>
              <a:srgbClr val="FBEDE3"/>
            </a:solidFill>
            <a:prstDash val="solid"/>
          </a:ln>
        </p:spPr>
      </p:sp>
      <p:sp>
        <p:nvSpPr>
          <p:cNvPr id="8" name="Text 6"/>
          <p:cNvSpPr txBox="1"/>
          <p:nvPr/>
        </p:nvSpPr>
        <p:spPr>
          <a:xfrm>
            <a:off x="6530188"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It passed the test. Isn't that enough?</a:t>
            </a:r>
            <a:endParaRPr lang="en-US" sz="1600" dirty="0"/>
          </a:p>
        </p:txBody>
      </p:sp>
      <p:sp>
        <p:nvSpPr>
          <p:cNvPr id="9" name="Shape 7"/>
          <p:cNvSpPr/>
          <p:nvPr/>
        </p:nvSpPr>
        <p:spPr>
          <a:xfrm>
            <a:off x="6301588" y="1889760"/>
            <a:ext cx="5387188" cy="1053592"/>
          </a:xfrm>
          <a:prstGeom prst="roundRect">
            <a:avLst>
              <a:gd name="adj" fmla="val 5207"/>
            </a:avLst>
          </a:prstGeom>
          <a:solidFill>
            <a:srgbClr val="F1F4F7"/>
          </a:solidFill>
          <a:ln w="12700">
            <a:solidFill>
              <a:srgbClr val="F1F4F7"/>
            </a:solidFill>
            <a:prstDash val="solid"/>
          </a:ln>
        </p:spPr>
      </p:sp>
      <p:sp>
        <p:nvSpPr>
          <p:cNvPr id="10" name="Text 8"/>
          <p:cNvSpPr txBox="1"/>
          <p:nvPr/>
        </p:nvSpPr>
        <p:spPr>
          <a:xfrm>
            <a:off x="6484468" y="2026920"/>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P1 -+                 +-&gt; C1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P2 -+    +--------+   +-&gt; C2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P3 -+--&gt; | queue  | --+-&gt; C3</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P4 -+    +--------+   +-&gt; C4</a:t>
            </a:r>
            <a:endParaRPr lang="en-US" sz="1300" dirty="0"/>
          </a:p>
        </p:txBody>
      </p:sp>
      <p:sp>
        <p:nvSpPr>
          <p:cNvPr id="11" name="Text 9"/>
          <p:cNvSpPr txBox="1"/>
          <p:nvPr/>
        </p:nvSpPr>
        <p:spPr>
          <a:xfrm>
            <a:off x="6301588" y="314452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test matrix</a:t>
            </a:r>
            <a:endParaRPr lang="en-US" sz="1800" dirty="0"/>
          </a:p>
        </p:txBody>
      </p:sp>
      <p:sp>
        <p:nvSpPr>
          <p:cNvPr id="12" name="Text 10"/>
          <p:cNvSpPr txBox="1"/>
          <p:nvPr/>
        </p:nvSpPr>
        <p:spPr>
          <a:xfrm>
            <a:off x="6301588" y="362000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run the queue in every shape we can think of: 1 producer and 1 consumer, 4 and 1, 1 and 4, 4 and 4. We use tiny item counts and huge ones, about 100,000 per thread, because threads only collide when they run long enough to overlap. We also make producers slow in one run and consumers slow in another, so that the queue spends time both empty and full. Every run checks three things.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Shape 2"/>
          <p:cNvSpPr/>
          <p:nvPr/>
        </p:nvSpPr>
        <p:spPr>
          <a:xfrm>
            <a:off x="502920" y="1234440"/>
            <a:ext cx="5387188" cy="1248410"/>
          </a:xfrm>
          <a:prstGeom prst="roundRect">
            <a:avLst>
              <a:gd name="adj" fmla="val 4395"/>
            </a:avLst>
          </a:prstGeom>
          <a:solidFill>
            <a:srgbClr val="F1F4F7"/>
          </a:solidFill>
          <a:ln w="12700">
            <a:solidFill>
              <a:srgbClr val="F1F4F7"/>
            </a:solidFill>
            <a:prstDash val="solid"/>
          </a:ln>
        </p:spPr>
      </p:sp>
      <p:sp>
        <p:nvSpPr>
          <p:cNvPr id="5" name="Text 3"/>
          <p:cNvSpPr txBox="1"/>
          <p:nvPr/>
        </p:nvSpPr>
        <p:spPr>
          <a:xfrm>
            <a:off x="685800" y="1371600"/>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count  every item arrived      (nothing lost)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sum    the values add up        (a loss and a</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duplicate can't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hide each other)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no hang, and idle threads use ~0% CPU</a:t>
            </a:r>
            <a:endParaRPr lang="en-US" sz="1300" dirty="0"/>
          </a:p>
        </p:txBody>
      </p:sp>
      <p:sp>
        <p:nvSpPr>
          <p:cNvPr id="6" name="Shape 4"/>
          <p:cNvSpPr/>
          <p:nvPr/>
        </p:nvSpPr>
        <p:spPr>
          <a:xfrm>
            <a:off x="502920" y="2629154"/>
            <a:ext cx="5387188" cy="509016"/>
          </a:xfrm>
          <a:prstGeom prst="roundRect">
            <a:avLst>
              <a:gd name="adj" fmla="val 10778"/>
            </a:avLst>
          </a:prstGeom>
          <a:solidFill>
            <a:srgbClr val="FBEDE3"/>
          </a:solidFill>
          <a:ln w="12700">
            <a:solidFill>
              <a:srgbClr val="FBEDE3"/>
            </a:solidFill>
            <a:prstDash val="solid"/>
          </a:ln>
        </p:spPr>
      </p:sp>
      <p:sp>
        <p:nvSpPr>
          <p:cNvPr id="7" name="Text 5"/>
          <p:cNvSpPr txBox="1"/>
          <p:nvPr/>
        </p:nvSpPr>
        <p:spPr>
          <a:xfrm>
            <a:off x="731520" y="2766314"/>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check the sum? Isn't the count enough?</a:t>
            </a:r>
            <a:endParaRPr lang="en-US" sz="1600" dirty="0"/>
          </a:p>
        </p:txBody>
      </p:sp>
      <p:sp>
        <p:nvSpPr>
          <p:cNvPr id="8" name="Text 6"/>
          <p:cNvSpPr txBox="1"/>
          <p:nvPr/>
        </p:nvSpPr>
        <p:spPr>
          <a:xfrm>
            <a:off x="502920" y="328447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Why the sum as well as the count? Imagine item 5 is lost and item 7 is delivered twice. The count is still correct, because one missing plus one extra makes the same total. But if every producer pushes different numbers, the sum is now off by 2, and the test catches it.</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the matrix shows: contention</a:t>
            </a:r>
            <a:endParaRPr lang="en-US" sz="1800" dirty="0"/>
          </a:p>
        </p:txBody>
      </p:sp>
      <p:sp>
        <p:nvSpPr>
          <p:cNvPr id="10" name="Text 8"/>
          <p:cNvSpPr txBox="1"/>
          <p:nvPr/>
        </p:nvSpPr>
        <p:spPr>
          <a:xfrm>
            <a:off x="6301588"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tests pass. But when we time them, we notice that adding threads can make things slower. To see why, look at a simpler program. Four threads each add a million numbers to one shared total. Version A takes the lock for every single number. Version B adds into a local variable first and takes the lock only once at the end.</a:t>
            </a:r>
            <a:endParaRPr lang="en-US" sz="1500" dirty="0"/>
          </a:p>
        </p:txBody>
      </p:sp>
      <p:sp>
        <p:nvSpPr>
          <p:cNvPr id="11" name="Shape 9"/>
          <p:cNvSpPr/>
          <p:nvPr/>
        </p:nvSpPr>
        <p:spPr>
          <a:xfrm>
            <a:off x="6301588" y="3310128"/>
            <a:ext cx="5387188" cy="2612136"/>
          </a:xfrm>
          <a:prstGeom prst="roundRect">
            <a:avLst>
              <a:gd name="adj" fmla="val 2100"/>
            </a:avLst>
          </a:prstGeom>
          <a:solidFill>
            <a:srgbClr val="1E2230"/>
          </a:solidFill>
          <a:ln w="12700">
            <a:solidFill>
              <a:srgbClr val="1E2230"/>
            </a:solidFill>
            <a:prstDash val="solid"/>
          </a:ln>
        </p:spPr>
      </p:sp>
      <p:sp>
        <p:nvSpPr>
          <p:cNvPr id="12" name="Text 10"/>
          <p:cNvSpPr txBox="1"/>
          <p:nvPr/>
        </p:nvSpPr>
        <p:spPr>
          <a:xfrm>
            <a:off x="6484468" y="3447288"/>
            <a:ext cx="5021428" cy="2337816"/>
          </a:xfrm>
          <a:prstGeom prst="rect">
            <a:avLst/>
          </a:prstGeom>
          <a:noFill/>
          <a:ln/>
        </p:spPr>
        <p:txBody>
          <a:bodyPr wrap="square" lIns="0" tIns="0" rIns="0" bIns="0" rtlCol="0" anchor="t"/>
          <a:lstStyle/>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 lock for every item</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total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 add locally, lock once</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total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Shape 2"/>
          <p:cNvSpPr/>
          <p:nvPr/>
        </p:nvSpPr>
        <p:spPr>
          <a:xfrm>
            <a:off x="502920" y="1234440"/>
            <a:ext cx="5387188" cy="752856"/>
          </a:xfrm>
          <a:prstGeom prst="roundRect">
            <a:avLst>
              <a:gd name="adj" fmla="val 7287"/>
            </a:avLst>
          </a:prstGeom>
          <a:solidFill>
            <a:srgbClr val="FBEDE3"/>
          </a:solidFill>
          <a:ln w="12700">
            <a:solidFill>
              <a:srgbClr val="FBEDE3"/>
            </a:solidFill>
            <a:prstDash val="solid"/>
          </a:ln>
        </p:spPr>
      </p:sp>
      <p:sp>
        <p:nvSpPr>
          <p:cNvPr id="5" name="Text 3"/>
          <p:cNvSpPr txBox="1"/>
          <p:nvPr/>
        </p:nvSpPr>
        <p:spPr>
          <a:xfrm>
            <a:off x="731520"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Both are correct. Which one would you guess is faster, and by how much?</a:t>
            </a:r>
            <a:endParaRPr lang="en-US" sz="1600" dirty="0"/>
          </a:p>
        </p:txBody>
      </p:sp>
      <p:sp>
        <p:nvSpPr>
          <p:cNvPr id="6" name="Text 4"/>
          <p:cNvSpPr txBox="1"/>
          <p:nvPr/>
        </p:nvSpPr>
        <p:spPr>
          <a:xfrm>
            <a:off x="502920" y="2133600"/>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Both give the same correct answer, but B is more than a hundred times faster:</a:t>
            </a:r>
            <a:endParaRPr lang="en-US" sz="1500" dirty="0"/>
          </a:p>
        </p:txBody>
      </p:sp>
      <p:sp>
        <p:nvSpPr>
          <p:cNvPr id="7" name="Shape 5"/>
          <p:cNvSpPr/>
          <p:nvPr/>
        </p:nvSpPr>
        <p:spPr>
          <a:xfrm>
            <a:off x="502920" y="2764536"/>
            <a:ext cx="5387188" cy="858774"/>
          </a:xfrm>
          <a:prstGeom prst="roundRect">
            <a:avLst>
              <a:gd name="adj" fmla="val 6389"/>
            </a:avLst>
          </a:prstGeom>
          <a:solidFill>
            <a:srgbClr val="0F1419"/>
          </a:solidFill>
          <a:ln w="12700">
            <a:solidFill>
              <a:srgbClr val="0F1419"/>
            </a:solidFill>
            <a:prstDash val="solid"/>
          </a:ln>
        </p:spPr>
      </p:sp>
      <p:sp>
        <p:nvSpPr>
          <p:cNvPr id="8" name="Text 6"/>
          <p:cNvSpPr txBox="1"/>
          <p:nvPr/>
        </p:nvSpPr>
        <p:spPr>
          <a:xfrm>
            <a:off x="685800" y="290169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v5 tiny_contention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 lock per item: 413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B lock once:     3 ms</a:t>
            </a:r>
            <a:endParaRPr lang="en-US" sz="1300" dirty="0"/>
          </a:p>
        </p:txBody>
      </p:sp>
      <p:sp>
        <p:nvSpPr>
          <p:cNvPr id="9" name="Shape 7"/>
          <p:cNvSpPr/>
          <p:nvPr/>
        </p:nvSpPr>
        <p:spPr>
          <a:xfrm>
            <a:off x="502920" y="3769614"/>
            <a:ext cx="5387188" cy="509016"/>
          </a:xfrm>
          <a:prstGeom prst="roundRect">
            <a:avLst>
              <a:gd name="adj" fmla="val 10778"/>
            </a:avLst>
          </a:prstGeom>
          <a:solidFill>
            <a:srgbClr val="FBEDE3"/>
          </a:solidFill>
          <a:ln w="12700">
            <a:solidFill>
              <a:srgbClr val="FBEDE3"/>
            </a:solidFill>
            <a:prstDash val="solid"/>
          </a:ln>
        </p:spPr>
      </p:sp>
      <p:sp>
        <p:nvSpPr>
          <p:cNvPr id="10" name="Text 8"/>
          <p:cNvSpPr txBox="1"/>
          <p:nvPr/>
        </p:nvSpPr>
        <p:spPr>
          <a:xfrm>
            <a:off x="731520" y="3906774"/>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The work is identical. Where did 410 ms go?</a:t>
            </a:r>
            <a:endParaRPr lang="en-US" sz="1600" dirty="0"/>
          </a:p>
        </p:txBody>
      </p:sp>
      <p:sp>
        <p:nvSpPr>
          <p:cNvPr id="11" name="Text 9"/>
          <p:cNvSpPr txBox="1"/>
          <p:nvPr/>
        </p:nvSpPr>
        <p:spPr>
          <a:xfrm>
            <a:off x="502920" y="442493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version A the four threads spend almost all their time waiting for each other. Only one can hold the mutex, so the other three queue up behind it. And every time the mutex moves from one core to another, the cores have to coordinate, which costs far more than a single addition.</a:t>
            </a:r>
            <a:endParaRPr lang="en-US" sz="1500" dirty="0"/>
          </a:p>
        </p:txBody>
      </p:sp>
      <p:sp>
        <p:nvSpPr>
          <p:cNvPr id="12" name="Shape 10"/>
          <p:cNvSpPr/>
          <p:nvPr/>
        </p:nvSpPr>
        <p:spPr>
          <a:xfrm>
            <a:off x="6301588" y="1234440"/>
            <a:ext cx="5387188" cy="858774"/>
          </a:xfrm>
          <a:prstGeom prst="roundRect">
            <a:avLst>
              <a:gd name="adj" fmla="val 6389"/>
            </a:avLst>
          </a:prstGeom>
          <a:solidFill>
            <a:srgbClr val="F1F4F7"/>
          </a:solidFill>
          <a:ln w="12700">
            <a:solidFill>
              <a:srgbClr val="F1F4F7"/>
            </a:solidFill>
            <a:prstDash val="solid"/>
          </a:ln>
        </p:spPr>
      </p:sp>
      <p:sp>
        <p:nvSpPr>
          <p:cNvPr id="13" name="Text 11"/>
          <p:cNvSpPr txBox="1"/>
          <p:nvPr/>
        </p:nvSpPr>
        <p:spPr>
          <a:xfrm>
            <a:off x="6484468"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 lock ## ......... ## lock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T2  ... waiting ... ## lock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T3  ....... waiting ....... ## lock ##</a:t>
            </a:r>
            <a:endParaRPr lang="en-US" sz="1300" dirty="0"/>
          </a:p>
        </p:txBody>
      </p:sp>
      <p:sp>
        <p:nvSpPr>
          <p:cNvPr id="14" name="Text 12"/>
          <p:cNvSpPr txBox="1"/>
          <p:nvPr/>
        </p:nvSpPr>
        <p:spPr>
          <a:xfrm>
            <a:off x="6301588" y="223951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Threads queuing up for the same lock is called contention. The cure is to share less: do as much work as possible in local variables that only one thread touches, and touch shared data rarely. Version B touches the shared total once per thread instead of a million times.</a:t>
            </a:r>
            <a:endParaRPr lang="en-US" sz="1500" dirty="0"/>
          </a:p>
        </p:txBody>
      </p:sp>
      <p:sp>
        <p:nvSpPr>
          <p:cNvPr id="15" name="Text 13"/>
          <p:cNvSpPr txBox="1"/>
          <p:nvPr/>
        </p:nvSpPr>
        <p:spPr>
          <a:xfrm>
            <a:off x="6301588" y="355625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gets the same treatment. A producer that has a batch of items can push them all under one lock instead of locking once per item. In the tests this made batches about four times faster than single pushes.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Shape 2"/>
          <p:cNvSpPr/>
          <p:nvPr/>
        </p:nvSpPr>
        <p:spPr>
          <a:xfrm>
            <a:off x="502920" y="1234440"/>
            <a:ext cx="5387188" cy="1832864"/>
          </a:xfrm>
          <a:prstGeom prst="roundRect">
            <a:avLst>
              <a:gd name="adj" fmla="val 2993"/>
            </a:avLst>
          </a:prstGeom>
          <a:solidFill>
            <a:srgbClr val="1E2230"/>
          </a:solidFill>
          <a:ln w="12700">
            <a:solidFill>
              <a:srgbClr val="1E2230"/>
            </a:solidFill>
            <a:prstDash val="solid"/>
          </a:ln>
        </p:spPr>
      </p:sp>
      <p:sp>
        <p:nvSpPr>
          <p:cNvPr id="5" name="Text 3"/>
          <p:cNvSpPr txBox="1"/>
          <p:nvPr/>
        </p:nvSpPr>
        <p:spPr>
          <a:xfrm>
            <a:off x="685800" y="1371600"/>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no locking inside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several items: wake all</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Shape 4"/>
          <p:cNvSpPr/>
          <p:nvPr/>
        </p:nvSpPr>
        <p:spPr>
          <a:xfrm>
            <a:off x="502920" y="3213608"/>
            <a:ext cx="5387188" cy="1234440"/>
          </a:xfrm>
          <a:prstGeom prst="roundRect">
            <a:avLst>
              <a:gd name="adj" fmla="val 4444"/>
            </a:avLst>
          </a:prstGeom>
          <a:solidFill>
            <a:srgbClr val="E3F2EF"/>
          </a:solidFill>
          <a:ln w="12700">
            <a:solidFill>
              <a:srgbClr val="E3F2EF"/>
            </a:solidFill>
            <a:prstDash val="solid"/>
          </a:ln>
        </p:spPr>
      </p:sp>
      <p:sp>
        <p:nvSpPr>
          <p:cNvPr id="7" name="Text 5"/>
          <p:cNvSpPr txBox="1"/>
          <p:nvPr/>
        </p:nvSpPr>
        <p:spPr>
          <a:xfrm>
            <a:off x="731520" y="3341624"/>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8" name="Text 6"/>
          <p:cNvSpPr txBox="1"/>
          <p:nvPr/>
        </p:nvSpPr>
        <p:spPr>
          <a:xfrm>
            <a:off x="731520" y="3634232"/>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Every test of our pool later uses this matrix: many submitters, many workers, count and sum. And the lesson about contention is why Part 3 exists.</a:t>
            </a:r>
            <a:endParaRPr lang="en-US" sz="14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0" name="Text 8"/>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Four producers each push the values 0 to 99,999. What sum must the consumers see in total?</a:t>
            </a:r>
            <a:endParaRPr lang="en-US" sz="1500" dirty="0"/>
          </a:p>
        </p:txBody>
      </p:sp>
      <p:sp>
        <p:nvSpPr>
          <p:cNvPr id="11" name="Shape 9"/>
          <p:cNvSpPr/>
          <p:nvPr/>
        </p:nvSpPr>
        <p:spPr>
          <a:xfrm>
            <a:off x="6301588" y="2322576"/>
            <a:ext cx="5387188" cy="1709928"/>
          </a:xfrm>
          <a:prstGeom prst="roundRect">
            <a:avLst>
              <a:gd name="adj" fmla="val 3209"/>
            </a:avLst>
          </a:prstGeom>
          <a:solidFill>
            <a:srgbClr val="F1F4F7"/>
          </a:solidFill>
          <a:ln w="12700">
            <a:solidFill>
              <a:srgbClr val="F1F4F7"/>
            </a:solidFill>
            <a:prstDash val="solid"/>
          </a:ln>
        </p:spPr>
      </p:sp>
      <p:sp>
        <p:nvSpPr>
          <p:cNvPr id="12" name="Text 10"/>
          <p:cNvSpPr txBox="1"/>
          <p:nvPr/>
        </p:nvSpPr>
        <p:spPr>
          <a:xfrm>
            <a:off x="6484468"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One producer pushes 0 + 1 + ... + 99,999. The sum of the numbers from 0 to n - 1 is n x (n - 1) / 2, so that is 100,000 x 99,999 / 2 = 4,999,950,000. Four producers push the same values, so the consumers must see 4 x 4,999,950,000 = 19,999,800,000. If they see anything else, an item was lost or duplicated.</a:t>
            </a:r>
            <a:endParaRPr lang="en-US" sz="1400" dirty="0"/>
          </a:p>
        </p:txBody>
      </p:sp>
      <p:sp>
        <p:nvSpPr>
          <p:cNvPr id="13" name="Text 11"/>
          <p:cNvSpPr txBox="1"/>
          <p:nvPr/>
        </p:nvSpPr>
        <p:spPr>
          <a:xfrm>
            <a:off x="6301588" y="4178808"/>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Item 5 is lost and item 7 is delivered twice. Does the count catch it? Does the sum?</a:t>
            </a:r>
            <a:endParaRPr lang="en-US" sz="1500" dirty="0"/>
          </a:p>
        </p:txBody>
      </p:sp>
      <p:sp>
        <p:nvSpPr>
          <p:cNvPr id="14" name="Shape 12"/>
          <p:cNvSpPr/>
          <p:nvPr/>
        </p:nvSpPr>
        <p:spPr>
          <a:xfrm>
            <a:off x="6301588" y="4736592"/>
            <a:ext cx="5387188" cy="1496568"/>
          </a:xfrm>
          <a:prstGeom prst="roundRect">
            <a:avLst>
              <a:gd name="adj" fmla="val 3666"/>
            </a:avLst>
          </a:prstGeom>
          <a:solidFill>
            <a:srgbClr val="F1F4F7"/>
          </a:solidFill>
          <a:ln w="12700">
            <a:solidFill>
              <a:srgbClr val="F1F4F7"/>
            </a:solidFill>
            <a:prstDash val="solid"/>
          </a:ln>
        </p:spPr>
      </p:sp>
      <p:sp>
        <p:nvSpPr>
          <p:cNvPr id="15" name="Text 13"/>
          <p:cNvSpPr txBox="1"/>
          <p:nvPr/>
        </p:nvSpPr>
        <p:spPr>
          <a:xfrm>
            <a:off x="6484468" y="4864608"/>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count does not. One item is missing and one is extra, so the number of items received is exactly what we expected. The sum does: we lost 5 and gained an extra 7, so the total is 2 too high. This is why the tests check both. Each check catches mistakes the other one can miss.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Does it hold up under load?</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Producers receive items in bursts of 1,000. How can you reduce the time spent locking?</a:t>
            </a:r>
            <a:endParaRPr lang="en-US" sz="1500" dirty="0"/>
          </a:p>
        </p:txBody>
      </p:sp>
      <p:sp>
        <p:nvSpPr>
          <p:cNvPr id="5" name="Shape 3"/>
          <p:cNvSpPr/>
          <p:nvPr/>
        </p:nvSpPr>
        <p:spPr>
          <a:xfrm>
            <a:off x="502920" y="1792224"/>
            <a:ext cx="5387188" cy="1709928"/>
          </a:xfrm>
          <a:prstGeom prst="roundRect">
            <a:avLst>
              <a:gd name="adj" fmla="val 3209"/>
            </a:avLst>
          </a:prstGeom>
          <a:solidFill>
            <a:srgbClr val="F1F4F7"/>
          </a:solidFill>
          <a:ln w="12700">
            <a:solidFill>
              <a:srgbClr val="F1F4F7"/>
            </a:solidFill>
            <a:prstDash val="solid"/>
          </a:ln>
        </p:spPr>
      </p:sp>
      <p:sp>
        <p:nvSpPr>
          <p:cNvPr id="6" name="Text 4"/>
          <p:cNvSpPr txBox="1"/>
          <p:nvPr/>
        </p:nvSpPr>
        <p:spPr>
          <a:xfrm>
            <a:off x="685800"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Push each burst with push_all() instead of 1,000 separate push() calls. push_all() takes the lock once for the whole burst, so the threads queue for the mutex 1,000 times less often, and it notifies once at the end instead of after every item. The work inside the lock is the same, but all the waiting and handing over of the lock disappears.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Rebalancing work</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With several consumers, it happens that one queue piles up with work while another one runs dry. So we add a function that moves every item from one queue into another. To do that safely it must hold both queues' mutexes at the same time: its own, so nobody changes it while we empty it, and the other one, so nobody changes it while we fill it.</a:t>
            </a:r>
            <a:endParaRPr lang="en-US" sz="1500" dirty="0"/>
          </a:p>
        </p:txBody>
      </p:sp>
      <p:sp>
        <p:nvSpPr>
          <p:cNvPr id="6" name="Shape 4"/>
          <p:cNvSpPr/>
          <p:nvPr/>
        </p:nvSpPr>
        <p:spPr>
          <a:xfrm>
            <a:off x="502920" y="3310128"/>
            <a:ext cx="5387188" cy="1832864"/>
          </a:xfrm>
          <a:prstGeom prst="roundRect">
            <a:avLst>
              <a:gd name="adj" fmla="val 2993"/>
            </a:avLst>
          </a:prstGeom>
          <a:solidFill>
            <a:srgbClr val="1E2230"/>
          </a:solidFill>
          <a:ln w="12700">
            <a:solidFill>
              <a:srgbClr val="1E2230"/>
            </a:solidFill>
            <a:prstDash val="solid"/>
          </a:ln>
        </p:spPr>
      </p:sp>
      <p:sp>
        <p:nvSpPr>
          <p:cNvPr id="7" name="Text 5"/>
          <p:cNvSpPr txBox="1"/>
          <p:nvPr/>
        </p:nvSpPr>
        <p:spPr>
          <a:xfrm>
            <a:off x="685800" y="3447288"/>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works fine on its own. Now let two threads use it in opposite directions at the same time: thread 1 calls q1.move_all_to(q2), and thread 2 calls q2.move_all_to(q1). Both threads start at the same moment. Within the first microsecond, each one takes the first lock it asks for.</a:t>
            </a:r>
            <a:endParaRPr lang="en-US" sz="1500" dirty="0"/>
          </a:p>
        </p:txBody>
      </p:sp>
      <p:sp>
        <p:nvSpPr>
          <p:cNvPr id="9" name="Shape 7"/>
          <p:cNvSpPr/>
          <p:nvPr/>
        </p:nvSpPr>
        <p:spPr>
          <a:xfrm>
            <a:off x="6301588" y="2551176"/>
            <a:ext cx="5387188" cy="1443228"/>
          </a:xfrm>
          <a:prstGeom prst="roundRect">
            <a:avLst>
              <a:gd name="adj" fmla="val 3801"/>
            </a:avLst>
          </a:prstGeom>
          <a:solidFill>
            <a:srgbClr val="F1F4F7"/>
          </a:solidFill>
          <a:ln w="12700">
            <a:solidFill>
              <a:srgbClr val="F1F4F7"/>
            </a:solidFill>
            <a:prstDash val="solid"/>
          </a:ln>
        </p:spPr>
      </p:sp>
      <p:sp>
        <p:nvSpPr>
          <p:cNvPr id="10" name="Text 8"/>
          <p:cNvSpPr txBox="1"/>
          <p:nvPr/>
        </p:nvSpPr>
        <p:spPr>
          <a:xfrm>
            <a:off x="6484468" y="2688336"/>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q1.move_all_to(q2)  T2: q2.move_all_to(q1)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q1.m  (got it)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q2.m  (got it)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q2.m ...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lock q1.m ...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both wait forever</a:t>
            </a:r>
            <a:endParaRPr lang="en-US" sz="1300" dirty="0"/>
          </a:p>
        </p:txBody>
      </p:sp>
      <p:sp>
        <p:nvSpPr>
          <p:cNvPr id="11" name="Shape 9"/>
          <p:cNvSpPr/>
          <p:nvPr/>
        </p:nvSpPr>
        <p:spPr>
          <a:xfrm>
            <a:off x="6301588" y="4140708"/>
            <a:ext cx="5387188" cy="752856"/>
          </a:xfrm>
          <a:prstGeom prst="roundRect">
            <a:avLst>
              <a:gd name="adj" fmla="val 7287"/>
            </a:avLst>
          </a:prstGeom>
          <a:solidFill>
            <a:srgbClr val="FBEDE3"/>
          </a:solidFill>
          <a:ln w="12700">
            <a:solidFill>
              <a:srgbClr val="FBEDE3"/>
            </a:solidFill>
            <a:prstDash val="solid"/>
          </a:ln>
        </p:spPr>
      </p:sp>
      <p:sp>
        <p:nvSpPr>
          <p:cNvPr id="12" name="Text 10"/>
          <p:cNvSpPr txBox="1"/>
          <p:nvPr/>
        </p:nvSpPr>
        <p:spPr>
          <a:xfrm>
            <a:off x="6530188" y="427786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Nothing is spinning and nothing crashed. Why does it stop?</a:t>
            </a:r>
            <a:endParaRPr lang="en-US" sz="1600" dirty="0"/>
          </a:p>
        </p:txBody>
      </p:sp>
      <p:sp>
        <p:nvSpPr>
          <p:cNvPr id="13" name="Text 11"/>
          <p:cNvSpPr txBox="1"/>
          <p:nvPr/>
        </p:nvSpPr>
        <p:spPr>
          <a:xfrm>
            <a:off x="6301588" y="503986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T1 holds q1's mutex and waits for q2's. T2 holds q2's mutex and waits for q1's. Neither can continue until the other gives up its lock, and neither will ever give it up, because each is stuck waiting. The program simply stops, using no CPU and printing nothing:</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Shape 2"/>
          <p:cNvSpPr/>
          <p:nvPr/>
        </p:nvSpPr>
        <p:spPr>
          <a:xfrm>
            <a:off x="502920" y="1234440"/>
            <a:ext cx="5387188" cy="663956"/>
          </a:xfrm>
          <a:prstGeom prst="roundRect">
            <a:avLst>
              <a:gd name="adj" fmla="val 8263"/>
            </a:avLst>
          </a:prstGeom>
          <a:solidFill>
            <a:srgbClr val="0F1419"/>
          </a:solidFill>
          <a:ln w="12700">
            <a:solidFill>
              <a:srgbClr val="0F1419"/>
            </a:solidFill>
            <a:prstDash val="solid"/>
          </a:ln>
        </p:spPr>
      </p:sp>
      <p:sp>
        <p:nvSpPr>
          <p:cNvPr id="5" name="Text 3"/>
          <p:cNvSpPr txBox="1"/>
          <p:nvPr/>
        </p:nvSpPr>
        <p:spPr>
          <a:xfrm>
            <a:off x="685800" y="1371600"/>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v5 tiny_deadlock</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6" name="Text 4"/>
          <p:cNvSpPr txBox="1"/>
          <p:nvPr/>
        </p:nvSpPr>
        <p:spPr>
          <a:xfrm>
            <a:off x="502920" y="204470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our tests this froze three runs out of three. In a real program, with less unlucky timing, it might happen once a week, which is much worse, because it is almost impossible to reproduce when you try to debug it.</a:t>
            </a:r>
            <a:endParaRPr lang="en-US" sz="1500" dirty="0"/>
          </a:p>
        </p:txBody>
      </p:sp>
      <p:sp>
        <p:nvSpPr>
          <p:cNvPr id="7" name="Text 5"/>
          <p:cNvSpPr txBox="1"/>
          <p:nvPr/>
        </p:nvSpPr>
        <p:spPr>
          <a:xfrm>
            <a:off x="502920" y="318770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Draw who waits for whom</a:t>
            </a:r>
            <a:endParaRPr lang="en-US" sz="1800" dirty="0"/>
          </a:p>
        </p:txBody>
      </p:sp>
      <p:sp>
        <p:nvSpPr>
          <p:cNvPr id="8" name="Text 6"/>
          <p:cNvSpPr txBox="1"/>
          <p:nvPr/>
        </p:nvSpPr>
        <p:spPr>
          <a:xfrm>
            <a:off x="502920" y="366318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useful way to see this is a wait-for graph. Draw an arrow from each thread to the lock it is waiting for, and from each lock to the thread that holds it.</a:t>
            </a:r>
            <a:endParaRPr lang="en-US" sz="1500" dirty="0"/>
          </a:p>
        </p:txBody>
      </p:sp>
      <p:sp>
        <p:nvSpPr>
          <p:cNvPr id="9" name="Shape 7"/>
          <p:cNvSpPr/>
          <p:nvPr/>
        </p:nvSpPr>
        <p:spPr>
          <a:xfrm>
            <a:off x="502920" y="4522724"/>
            <a:ext cx="5387188" cy="1053592"/>
          </a:xfrm>
          <a:prstGeom prst="roundRect">
            <a:avLst>
              <a:gd name="adj" fmla="val 5207"/>
            </a:avLst>
          </a:prstGeom>
          <a:solidFill>
            <a:srgbClr val="F1F4F7"/>
          </a:solidFill>
          <a:ln w="12700">
            <a:solidFill>
              <a:srgbClr val="F1F4F7"/>
            </a:solidFill>
            <a:prstDash val="solid"/>
          </a:ln>
        </p:spPr>
      </p:sp>
      <p:sp>
        <p:nvSpPr>
          <p:cNvPr id="10" name="Text 8"/>
          <p:cNvSpPr txBox="1"/>
          <p:nvPr/>
        </p:nvSpPr>
        <p:spPr>
          <a:xfrm>
            <a:off x="685800" y="4659884"/>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T1 holds q1.m  --waits for--&gt;  q2.m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v</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q1.m  &lt;--waits for--  T2 holds q2.m</a:t>
            </a:r>
            <a:endParaRPr lang="en-US" sz="1300" dirty="0"/>
          </a:p>
        </p:txBody>
      </p:sp>
      <p:sp>
        <p:nvSpPr>
          <p:cNvPr id="11" name="Shape 9"/>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12" name="Text 10"/>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Couldn't a thread just give up its lock if it can't get the second one?</a:t>
            </a:r>
            <a:endParaRPr lang="en-US" sz="1600" dirty="0"/>
          </a:p>
        </p:txBody>
      </p:sp>
      <p:sp>
        <p:nvSpPr>
          <p:cNvPr id="13" name="Text 11"/>
          <p:cNvSpPr txBox="1"/>
          <p:nvPr/>
        </p:nvSpPr>
        <p:spPr>
          <a:xfrm>
            <a:off x="6301588" y="213360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close to the real answer, but doing it by hand is easy to get wrong: two threads can keep grabbing and releasing in step forever. First see the shape of the problem.</a:t>
            </a:r>
            <a:endParaRPr lang="en-US" sz="1500" dirty="0"/>
          </a:p>
        </p:txBody>
      </p:sp>
      <p:sp>
        <p:nvSpPr>
          <p:cNvPr id="14" name="Text 12"/>
          <p:cNvSpPr txBox="1"/>
          <p:nvPr/>
        </p:nvSpPr>
        <p:spPr>
          <a:xfrm>
            <a:off x="6301588" y="322173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the arrows and you come back to where you started. A cycle in this graph is exactly what a deadlock is. If we can make sure the cycle can never form, the deadlock cannot happen. There are two standard ways to do it.</a:t>
            </a:r>
            <a:endParaRPr lang="en-US" sz="1500" dirty="0"/>
          </a:p>
        </p:txBody>
      </p:sp>
      <p:sp>
        <p:nvSpPr>
          <p:cNvPr id="15" name="Text 13"/>
          <p:cNvSpPr txBox="1"/>
          <p:nvPr/>
        </p:nvSpPr>
        <p:spPr>
          <a:xfrm>
            <a:off x="6301588" y="4309872"/>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first is to take both locks together in one step. std::scoped_lock accepts several mutexes and locks all of them using an algorithm that never deadlocks: if it cannot get all of them, it lets go and tries again. The second way is to agree on one fixed order, for example always lock the queue with the lower memory address first. If every thread uses the same order, nobody can hold the second lock while waiting for the first.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more detail. If someone calls q.move_all_to(q), both mutexes are the same mutex, and locking the same std::mutex twice is undefined behaviour. So we check for that first.</a:t>
            </a:r>
            <a:endParaRPr lang="en-US" sz="1500" dirty="0"/>
          </a:p>
        </p:txBody>
      </p:sp>
      <p:sp>
        <p:nvSpPr>
          <p:cNvPr id="5" name="Shape 3"/>
          <p:cNvSpPr/>
          <p:nvPr/>
        </p:nvSpPr>
        <p:spPr>
          <a:xfrm>
            <a:off x="502920" y="2322576"/>
            <a:ext cx="5387188" cy="2027682"/>
          </a:xfrm>
          <a:prstGeom prst="roundRect">
            <a:avLst>
              <a:gd name="adj" fmla="val 2706"/>
            </a:avLst>
          </a:prstGeom>
          <a:solidFill>
            <a:srgbClr val="1E2230"/>
          </a:solidFill>
          <a:ln w="12700">
            <a:solidFill>
              <a:srgbClr val="1E2230"/>
            </a:solidFill>
            <a:prstDash val="solid"/>
          </a:ln>
        </p:spPr>
      </p:sp>
      <p:sp>
        <p:nvSpPr>
          <p:cNvPr id="6" name="Text 4"/>
          <p:cNvSpPr txBox="1"/>
          <p:nvPr/>
        </p:nvSpPr>
        <p:spPr>
          <a:xfrm>
            <a:off x="685800" y="2459736"/>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same queue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std::scoped_lock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both at once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7" name="Text 5"/>
          <p:cNvSpPr txBox="1"/>
          <p:nvPr/>
        </p:nvSpPr>
        <p:spPr>
          <a:xfrm>
            <a:off x="502920" y="455142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Locking yourself out</a:t>
            </a:r>
            <a:endParaRPr lang="en-US" sz="1800" dirty="0"/>
          </a:p>
        </p:txBody>
      </p:sp>
      <p:sp>
        <p:nvSpPr>
          <p:cNvPr id="8" name="Text 6"/>
          <p:cNvSpPr txBox="1"/>
          <p:nvPr/>
        </p:nvSpPr>
        <p:spPr>
          <a:xfrm>
            <a:off x="502920" y="5026914"/>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can even deadlock with a single mutex. Suppose push_all() takes the lock and then calls our public push() for each item. push() also takes the lock. The thread now waits for a mutex that it is holding itself, and it will wait forever.</a:t>
            </a:r>
            <a:endParaRPr lang="en-US" sz="1500" dirty="0"/>
          </a:p>
        </p:txBody>
      </p:sp>
      <p:sp>
        <p:nvSpPr>
          <p:cNvPr id="9" name="Text 7"/>
          <p:cNvSpPr txBox="1"/>
          <p:nvPr/>
        </p:nvSpPr>
        <p:spPr>
          <a:xfrm>
            <a:off x="6301588"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clean fix is a simple rule. Public functions take the lock. Private helper functions, like push_locked(), assume the caller already holds it and never lock themselves. Then public functions call helpers, never other public functions. std::recursive_mutex would allow the same thread to lock twice, but needing it usually means the code is organised badly, so we avoid it.</a:t>
            </a:r>
            <a:endParaRPr lang="en-US" sz="1500" dirty="0"/>
          </a:p>
        </p:txBody>
      </p:sp>
      <p:sp>
        <p:nvSpPr>
          <p:cNvPr id="10" name="Shape 8"/>
          <p:cNvSpPr/>
          <p:nvPr/>
        </p:nvSpPr>
        <p:spPr>
          <a:xfrm>
            <a:off x="6301588" y="3008376"/>
            <a:ext cx="5387188" cy="1447800"/>
          </a:xfrm>
          <a:prstGeom prst="roundRect">
            <a:avLst>
              <a:gd name="adj" fmla="val 3789"/>
            </a:avLst>
          </a:prstGeom>
          <a:solidFill>
            <a:srgbClr val="E3F2EF"/>
          </a:solidFill>
          <a:ln w="12700">
            <a:solidFill>
              <a:srgbClr val="E3F2EF"/>
            </a:solidFill>
            <a:prstDash val="solid"/>
          </a:ln>
        </p:spPr>
      </p:sp>
      <p:sp>
        <p:nvSpPr>
          <p:cNvPr id="11" name="Text 9"/>
          <p:cNvSpPr txBox="1"/>
          <p:nvPr/>
        </p:nvSpPr>
        <p:spPr>
          <a:xfrm>
            <a:off x="6530188" y="3136392"/>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2" name="Text 10"/>
          <p:cNvSpPr txBox="1"/>
          <p:nvPr/>
        </p:nvSpPr>
        <p:spPr>
          <a:xfrm>
            <a:off x="6530188" y="3429000"/>
            <a:ext cx="4929988" cy="91744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Any time our code must hold two locks at once, for example moving work between two workers' queues, it uses std::scoped_lock, and public functions never call each other while holding a lock.</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Three threads each lock two of three mutexes, but always the one with the lowest address first. Can they deadlock?</a:t>
            </a:r>
            <a:endParaRPr lang="en-US" sz="1500" dirty="0"/>
          </a:p>
        </p:txBody>
      </p:sp>
      <p:sp>
        <p:nvSpPr>
          <p:cNvPr id="6" name="Shape 4"/>
          <p:cNvSpPr/>
          <p:nvPr/>
        </p:nvSpPr>
        <p:spPr>
          <a:xfrm>
            <a:off x="502920" y="2322576"/>
            <a:ext cx="5387188" cy="1923288"/>
          </a:xfrm>
          <a:prstGeom prst="roundRect">
            <a:avLst>
              <a:gd name="adj" fmla="val 2853"/>
            </a:avLst>
          </a:prstGeom>
          <a:solidFill>
            <a:srgbClr val="F1F4F7"/>
          </a:solidFill>
          <a:ln w="12700">
            <a:solidFill>
              <a:srgbClr val="F1F4F7"/>
            </a:solidFill>
            <a:prstDash val="solid"/>
          </a:ln>
        </p:spPr>
      </p:sp>
      <p:sp>
        <p:nvSpPr>
          <p:cNvPr id="7" name="Text 5"/>
          <p:cNvSpPr txBox="1"/>
          <p:nvPr/>
        </p:nvSpPr>
        <p:spPr>
          <a:xfrm>
            <a:off x="685800" y="2450592"/>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A deadlock needs a cycle: someone has to hold a lock with a higher address while waiting for one with a lower address, or the arrows can never come back around. With everyone locking in increasing address order, a thread only ever waits for a lock that is higher than everything it already holds. The arrows always point upward, so they can never form a loop.</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push_all() locks m and then calls push(), which also locks m. Trace what happens.</a:t>
            </a:r>
            <a:endParaRPr lang="en-US" sz="1500" dirty="0"/>
          </a:p>
        </p:txBody>
      </p:sp>
      <p:sp>
        <p:nvSpPr>
          <p:cNvPr id="9" name="Shape 7"/>
          <p:cNvSpPr/>
          <p:nvPr/>
        </p:nvSpPr>
        <p:spPr>
          <a:xfrm>
            <a:off x="6301588" y="1792224"/>
            <a:ext cx="5387188" cy="2136648"/>
          </a:xfrm>
          <a:prstGeom prst="roundRect">
            <a:avLst>
              <a:gd name="adj" fmla="val 2568"/>
            </a:avLst>
          </a:prstGeom>
          <a:solidFill>
            <a:srgbClr val="F1F4F7"/>
          </a:solidFill>
          <a:ln w="12700">
            <a:solidFill>
              <a:srgbClr val="F1F4F7"/>
            </a:solidFill>
            <a:prstDash val="solid"/>
          </a:ln>
        </p:spPr>
      </p:sp>
      <p:sp>
        <p:nvSpPr>
          <p:cNvPr id="10" name="Text 8"/>
          <p:cNvSpPr txBox="1"/>
          <p:nvPr/>
        </p:nvSpPr>
        <p:spPr>
          <a:xfrm>
            <a:off x="6484468" y="1920240"/>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push_all() calls m.lock() and gets it. Then it calls push(), which calls m.lock() again. The mutex is already taken, so the thread waits for whoever holds it to unlock. But the holder is the same thread, which is now stuck waiting and can never reach the unlock. With std::mutex this is undefined behaviour, and in practice the thread hangs forever, and so does every other thread that needs the queue.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queues, two locks, frozen</a:t>
            </a:r>
            <a:endParaRPr lang="en-US" sz="2600" dirty="0"/>
          </a:p>
        </p:txBody>
      </p:sp>
      <p:sp>
        <p:nvSpPr>
          <p:cNvPr id="4" name="Text 2"/>
          <p:cNvSpPr txBox="1"/>
          <p:nvPr/>
        </p:nvSpPr>
        <p:spPr>
          <a:xfrm>
            <a:off x="502920" y="1234440"/>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Design a function transfer(a, b, amount) that moves money from one bank account to another, where each account has its own mutex.</a:t>
            </a:r>
            <a:endParaRPr lang="en-US" sz="1500" dirty="0"/>
          </a:p>
        </p:txBody>
      </p:sp>
      <p:sp>
        <p:nvSpPr>
          <p:cNvPr id="5" name="Shape 3"/>
          <p:cNvSpPr/>
          <p:nvPr/>
        </p:nvSpPr>
        <p:spPr>
          <a:xfrm>
            <a:off x="502920" y="2020824"/>
            <a:ext cx="5387188" cy="2136648"/>
          </a:xfrm>
          <a:prstGeom prst="roundRect">
            <a:avLst>
              <a:gd name="adj" fmla="val 2568"/>
            </a:avLst>
          </a:prstGeom>
          <a:solidFill>
            <a:srgbClr val="F1F4F7"/>
          </a:solidFill>
          <a:ln w="12700">
            <a:solidFill>
              <a:srgbClr val="F1F4F7"/>
            </a:solidFill>
            <a:prstDash val="solid"/>
          </a:ln>
        </p:spPr>
      </p:sp>
      <p:sp>
        <p:nvSpPr>
          <p:cNvPr id="6" name="Text 4"/>
          <p:cNvSpPr txBox="1"/>
          <p:nvPr/>
        </p:nvSpPr>
        <p:spPr>
          <a:xfrm>
            <a:off x="685800" y="2148840"/>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First check whether a and b are the same account, and if so return, because locking one mutex twice is undefined behaviour. Then take both mutexes together with std::scoped_lock lock(a.m, b.m), which can never deadlock even if another thread is transferring from b to a at the same time. While holding both, subtract the amount from a and add it to b, so no other thread ever sees the money in neither account or in both.</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v5: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v5 needs, file by file: queue.hpp, thread_group.hpp, main.cpp. If your version does not work, compare it with this one. Build and run it from the master folder with ./run.sh v5 main.</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a:t>
            </a:r>
            <a:endParaRPr lang="en-US" sz="1100" dirty="0"/>
          </a:p>
        </p:txBody>
      </p:sp>
      <p:sp>
        <p:nvSpPr>
          <p:cNvPr id="6" name="Shape 4"/>
          <p:cNvSpPr/>
          <p:nvPr/>
        </p:nvSpPr>
        <p:spPr>
          <a:xfrm>
            <a:off x="502920" y="2615184"/>
            <a:ext cx="5387188" cy="3684524"/>
          </a:xfrm>
          <a:prstGeom prst="roundRect">
            <a:avLst>
              <a:gd name="adj" fmla="val 1241"/>
            </a:avLst>
          </a:prstGeom>
          <a:solidFill>
            <a:srgbClr val="1E2230"/>
          </a:solidFill>
          <a:ln w="12700">
            <a:solidFill>
              <a:srgbClr val="1E2230"/>
            </a:solidFill>
            <a:prstDash val="solid"/>
          </a:ln>
        </p:spPr>
      </p:sp>
      <p:sp>
        <p:nvSpPr>
          <p:cNvPr id="7" name="Text 5"/>
          <p:cNvSpPr txBox="1"/>
          <p:nvPr/>
        </p:nvSpPr>
        <p:spPr>
          <a:xfrm>
            <a:off x="612648" y="2734056"/>
            <a:ext cx="5204308" cy="35016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v5 · Many producers and consumers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push_all() takes the lock once per batch. move_all_to() needs two</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locks, taken together with scoped_lock.</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caller holds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9" name="Shape 7"/>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0" name="Text 8"/>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not push(): m is held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v5: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5" name="Shape 3"/>
          <p:cNvSpPr/>
          <p:nvPr/>
        </p:nvSpPr>
        <p:spPr>
          <a:xfrm>
            <a:off x="502920" y="1527048"/>
            <a:ext cx="5387188" cy="4433824"/>
          </a:xfrm>
          <a:prstGeom prst="roundRect">
            <a:avLst>
              <a:gd name="adj" fmla="val 1031"/>
            </a:avLst>
          </a:prstGeom>
          <a:solidFill>
            <a:srgbClr val="1E2230"/>
          </a:solidFill>
          <a:ln w="12700">
            <a:solidFill>
              <a:srgbClr val="1E2230"/>
            </a:solidFill>
            <a:prstDash val="solid"/>
          </a:ln>
        </p:spPr>
      </p:sp>
      <p:sp>
        <p:nvSpPr>
          <p:cNvPr id="6" name="Text 4"/>
          <p:cNvSpPr txBox="1"/>
          <p:nvPr/>
        </p:nvSpPr>
        <p:spPr>
          <a:xfrm>
            <a:off x="612648" y="1645920"/>
            <a:ext cx="5204308" cy="42509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locking m twice is UB</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std::scoped_lock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both, deadlock-free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 snapshot only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8" name="Shape 6"/>
          <p:cNvSpPr/>
          <p:nvPr/>
        </p:nvSpPr>
        <p:spPr>
          <a:xfrm>
            <a:off x="6301588" y="1527048"/>
            <a:ext cx="5387188" cy="1136904"/>
          </a:xfrm>
          <a:prstGeom prst="roundRect">
            <a:avLst>
              <a:gd name="adj" fmla="val 4021"/>
            </a:avLst>
          </a:prstGeom>
          <a:solidFill>
            <a:srgbClr val="1E2230"/>
          </a:solidFill>
          <a:ln w="12700">
            <a:solidFill>
              <a:srgbClr val="1E2230"/>
            </a:solidFill>
            <a:prstDash val="solid"/>
          </a:ln>
        </p:spPr>
      </p:sp>
      <p:sp>
        <p:nvSpPr>
          <p:cNvPr id="9" name="Text 7"/>
          <p:cNvSpPr txBox="1"/>
          <p:nvPr/>
        </p:nvSpPr>
        <p:spPr>
          <a:xfrm>
            <a:off x="6411316" y="1645920"/>
            <a:ext cx="5204308" cy="9540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sleeps while empty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281025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a:t>
            </a:r>
            <a:endParaRPr lang="en-US" sz="1100" dirty="0"/>
          </a:p>
        </p:txBody>
      </p:sp>
      <p:sp>
        <p:nvSpPr>
          <p:cNvPr id="11" name="Shape 9"/>
          <p:cNvSpPr/>
          <p:nvPr/>
        </p:nvSpPr>
        <p:spPr>
          <a:xfrm>
            <a:off x="6301588" y="3102864"/>
            <a:ext cx="5387188" cy="3234944"/>
          </a:xfrm>
          <a:prstGeom prst="roundRect">
            <a:avLst>
              <a:gd name="adj" fmla="val 1413"/>
            </a:avLst>
          </a:prstGeom>
          <a:solidFill>
            <a:srgbClr val="1E2230"/>
          </a:solidFill>
          <a:ln w="12700">
            <a:solidFill>
              <a:srgbClr val="1E2230"/>
            </a:solidFill>
            <a:prstDash val="solid"/>
          </a:ln>
        </p:spPr>
      </p:sp>
      <p:sp>
        <p:nvSpPr>
          <p:cNvPr id="12" name="Text 10"/>
          <p:cNvSpPr txBox="1"/>
          <p:nvPr/>
        </p:nvSpPr>
        <p:spPr>
          <a:xfrm>
            <a:off x="6411316" y="3221736"/>
            <a:ext cx="5204308" cy="30520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 RAII owner for threads. Every thread added is joined in the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destructor, on every exit path, including exceptions.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default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v5</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v5: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5" name="Shape 3"/>
          <p:cNvSpPr/>
          <p:nvPr/>
        </p:nvSpPr>
        <p:spPr>
          <a:xfrm>
            <a:off x="502920" y="1527048"/>
            <a:ext cx="5387188" cy="4733544"/>
          </a:xfrm>
          <a:prstGeom prst="roundRect">
            <a:avLst>
              <a:gd name="adj" fmla="val 966"/>
            </a:avLst>
          </a:prstGeom>
          <a:solidFill>
            <a:srgbClr val="1E2230"/>
          </a:solidFill>
          <a:ln w="12700">
            <a:solidFill>
              <a:srgbClr val="1E2230"/>
            </a:solidFill>
            <a:prstDash val="solid"/>
          </a:ln>
        </p:spPr>
      </p:sp>
      <p:sp>
        <p:nvSpPr>
          <p:cNvPr id="6" name="Text 4"/>
          <p:cNvSpPr txBox="1"/>
          <p:nvPr/>
        </p:nvSpPr>
        <p:spPr>
          <a:xfrm>
            <a:off x="612648"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v5: 4 producers and 4 consumers, then move_all_to().</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functional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"thread_group.hpp"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100'000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"sum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 (expected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2</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2</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3</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both locks at once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"a: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 b: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Consumers that never stop</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Until now our consumers knew in advance exactly how many items to expect, so they could stop after the last one. Real consumers do not know that. A server does not know how many requests will come in. So consumers simply loop on wait_and_pop() for as long as there is work. The trouble is that nothing ever tells them there will be no more work.</a:t>
            </a:r>
            <a:endParaRPr lang="en-US" sz="1500" dirty="0"/>
          </a:p>
        </p:txBody>
      </p:sp>
      <p:sp>
        <p:nvSpPr>
          <p:cNvPr id="6" name="Shape 4"/>
          <p:cNvSpPr/>
          <p:nvPr/>
        </p:nvSpPr>
        <p:spPr>
          <a:xfrm>
            <a:off x="502920" y="3310128"/>
            <a:ext cx="5387188" cy="858774"/>
          </a:xfrm>
          <a:prstGeom prst="roundRect">
            <a:avLst>
              <a:gd name="adj" fmla="val 6389"/>
            </a:avLst>
          </a:prstGeom>
          <a:solidFill>
            <a:srgbClr val="F1F4F7"/>
          </a:solidFill>
          <a:ln w="12700">
            <a:solidFill>
              <a:srgbClr val="F1F4F7"/>
            </a:solidFill>
            <a:prstDash val="solid"/>
          </a:ln>
        </p:spPr>
      </p:sp>
      <p:sp>
        <p:nvSpPr>
          <p:cNvPr id="7" name="Text 5"/>
          <p:cNvSpPr txBox="1"/>
          <p:nvPr/>
        </p:nvSpPr>
        <p:spPr>
          <a:xfrm>
            <a:off x="685800" y="34472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producers  push ... push ... return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pop ... pop ... wait_and_pop()  asleep</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join consumers ... waiting forever</a:t>
            </a:r>
            <a:endParaRPr lang="en-US" sz="1300" dirty="0"/>
          </a:p>
        </p:txBody>
      </p:sp>
      <p:sp>
        <p:nvSpPr>
          <p:cNvPr id="8" name="Text 6"/>
          <p:cNvSpPr txBox="1"/>
          <p:nvPr/>
        </p:nvSpPr>
        <p:spPr>
          <a:xfrm>
            <a:off x="502920" y="431520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When the producers finish, the consumers take the last items and go back to sleep inside wait(), waiting for items that will never come. main then tries to join them, and waits for threads that will never finish. The program never exits.</a:t>
            </a:r>
            <a:endParaRPr lang="en-US" sz="1500" dirty="0"/>
          </a:p>
        </p:txBody>
      </p:sp>
      <p:sp>
        <p:nvSpPr>
          <p:cNvPr id="9" name="Text 7"/>
          <p:cNvSpPr txBox="1"/>
          <p:nvPr/>
        </p:nvSpPr>
        <p:spPr>
          <a:xfrm>
            <a:off x="502920" y="563194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queue needs a way to say "nothing more is coming", and every consumer that is asleep has to hear it.</a:t>
            </a:r>
            <a:endParaRPr lang="en-US" sz="1500" dirty="0"/>
          </a:p>
        </p:txBody>
      </p:sp>
      <p:sp>
        <p:nvSpPr>
          <p:cNvPr id="10" name="Shape 8"/>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11" name="Text 9"/>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not push a special value, like -1, to mean "stop"?</a:t>
            </a:r>
            <a:endParaRPr lang="en-US" sz="1600" dirty="0"/>
          </a:p>
        </p:txBody>
      </p:sp>
      <p:sp>
        <p:nvSpPr>
          <p:cNvPr id="12" name="Text 10"/>
          <p:cNvSpPr txBox="1"/>
          <p:nvPr/>
        </p:nvSpPr>
        <p:spPr>
          <a:xfrm>
            <a:off x="6301588" y="213360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the first idea most people have. It has two problems. -1 might be a real item one day. And one -1 stops only one consumer: with four consumers you need exactly four, and if a producer is still pushing you might stop a consumer while real work remains. We want the queue itself to know it is closed.</a:t>
            </a:r>
            <a:endParaRPr lang="en-US" sz="1500" dirty="0"/>
          </a:p>
        </p:txBody>
      </p:sp>
      <p:sp>
        <p:nvSpPr>
          <p:cNvPr id="13" name="Text 11"/>
          <p:cNvSpPr txBox="1"/>
          <p:nvPr/>
        </p:nvSpPr>
        <p:spPr>
          <a:xfrm>
            <a:off x="6301588" y="373380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first try</a:t>
            </a:r>
            <a:endParaRPr lang="en-US" sz="1800" dirty="0"/>
          </a:p>
        </p:txBody>
      </p:sp>
      <p:sp>
        <p:nvSpPr>
          <p:cNvPr id="14" name="Text 12"/>
          <p:cNvSpPr txBox="1"/>
          <p:nvPr/>
        </p:nvSpPr>
        <p:spPr>
          <a:xfrm>
            <a:off x="6301588" y="420928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add a flag called closed and a shutdown() function that sets it and wakes a consumer, and we make wait_and_pop() return when it sees the flag.</a:t>
            </a:r>
            <a:endParaRPr lang="en-US" sz="1500" dirty="0"/>
          </a:p>
        </p:txBody>
      </p:sp>
      <p:sp>
        <p:nvSpPr>
          <p:cNvPr id="15" name="Shape 13"/>
          <p:cNvSpPr/>
          <p:nvPr/>
        </p:nvSpPr>
        <p:spPr>
          <a:xfrm>
            <a:off x="6301588" y="5068824"/>
            <a:ext cx="5387188" cy="1248410"/>
          </a:xfrm>
          <a:prstGeom prst="roundRect">
            <a:avLst>
              <a:gd name="adj" fmla="val 4395"/>
            </a:avLst>
          </a:prstGeom>
          <a:solidFill>
            <a:srgbClr val="1E2230"/>
          </a:solidFill>
          <a:ln w="12700">
            <a:solidFill>
              <a:srgbClr val="1E2230"/>
            </a:solidFill>
            <a:prstDash val="solid"/>
          </a:ln>
        </p:spPr>
      </p:sp>
      <p:sp>
        <p:nvSpPr>
          <p:cNvPr id="16" name="Text 14"/>
          <p:cNvSpPr txBox="1"/>
          <p:nvPr/>
        </p:nvSpPr>
        <p:spPr>
          <a:xfrm>
            <a:off x="6484468" y="5205984"/>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3444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Two consumers are asleep in wait() when main calls shutdown(). Only one of them leaves, and the program still hangs:</a:t>
            </a:r>
            <a:endParaRPr lang="en-US" sz="1500" dirty="0"/>
          </a:p>
        </p:txBody>
      </p:sp>
      <p:sp>
        <p:nvSpPr>
          <p:cNvPr id="5" name="Shape 3"/>
          <p:cNvSpPr/>
          <p:nvPr/>
        </p:nvSpPr>
        <p:spPr>
          <a:xfrm>
            <a:off x="502920" y="2093976"/>
            <a:ext cx="5387188" cy="858774"/>
          </a:xfrm>
          <a:prstGeom prst="roundRect">
            <a:avLst>
              <a:gd name="adj" fmla="val 6389"/>
            </a:avLst>
          </a:prstGeom>
          <a:solidFill>
            <a:srgbClr val="0F1419"/>
          </a:solidFill>
          <a:ln w="12700">
            <a:solidFill>
              <a:srgbClr val="0F1419"/>
            </a:solidFill>
            <a:prstDash val="solid"/>
          </a:ln>
        </p:spPr>
      </p:sp>
      <p:sp>
        <p:nvSpPr>
          <p:cNvPr id="6" name="Text 4"/>
          <p:cNvSpPr txBox="1"/>
          <p:nvPr/>
        </p:nvSpPr>
        <p:spPr>
          <a:xfrm>
            <a:off x="685800" y="2231136"/>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v6 tiny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woke up</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7" name="Text 5"/>
          <p:cNvSpPr txBox="1"/>
          <p:nvPr/>
        </p:nvSpPr>
        <p:spPr>
          <a:xfrm>
            <a:off x="502920" y="3099054"/>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it on the clock. Both consumers have been asleep since before t = 1 s. At t = 1 s main calls shutdown(). notify_one() wakes exactly one waiting thread, here C1. C1 sees closed and returns. C2 never received a notification, so it never wakes up to look at the flag, and it sleeps forever. main joins C1 without trouble and then waits on C2 for good.</a:t>
            </a:r>
            <a:endParaRPr lang="en-US" sz="1500" dirty="0"/>
          </a:p>
        </p:txBody>
      </p:sp>
      <p:sp>
        <p:nvSpPr>
          <p:cNvPr id="8" name="Shape 6"/>
          <p:cNvSpPr/>
          <p:nvPr/>
        </p:nvSpPr>
        <p:spPr>
          <a:xfrm>
            <a:off x="502920" y="4872990"/>
            <a:ext cx="5387188" cy="1248410"/>
          </a:xfrm>
          <a:prstGeom prst="roundRect">
            <a:avLst>
              <a:gd name="adj" fmla="val 4395"/>
            </a:avLst>
          </a:prstGeom>
          <a:solidFill>
            <a:srgbClr val="F1F4F7"/>
          </a:solidFill>
          <a:ln w="12700">
            <a:solidFill>
              <a:srgbClr val="F1F4F7"/>
            </a:solidFill>
            <a:prstDash val="solid"/>
          </a:ln>
        </p:spPr>
      </p:sp>
      <p:sp>
        <p:nvSpPr>
          <p:cNvPr id="9" name="Text 7"/>
          <p:cNvSpPr txBox="1"/>
          <p:nvPr/>
        </p:nvSpPr>
        <p:spPr>
          <a:xfrm>
            <a:off x="685800" y="5010150"/>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1 s: 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C1     asleep ... woken, sees closed, returns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C2     asleep ............................ forever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        notify_one(), join C1 ok,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join C2 waits forever</a:t>
            </a:r>
            <a:endParaRPr lang="en-US" sz="1300" dirty="0"/>
          </a:p>
        </p:txBody>
      </p:sp>
      <p:sp>
        <p:nvSpPr>
          <p:cNvPr id="10" name="Shape 8"/>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11" name="Text 9"/>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We set the flag and sent a notify. Why didn't C2 see the flag?</a:t>
            </a:r>
            <a:endParaRPr lang="en-US" sz="1600" dirty="0"/>
          </a:p>
        </p:txBody>
      </p:sp>
      <p:sp>
        <p:nvSpPr>
          <p:cNvPr id="12" name="Text 10"/>
          <p:cNvSpPr txBox="1"/>
          <p:nvPr/>
        </p:nvSpPr>
        <p:spPr>
          <a:xfrm>
            <a:off x="6301588" y="213360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sleeping thread does not look at anything. It only checks its predicate when it is woken. C2 was never woken, so it never checked. Changing one word fixes it. notify_all() wakes every waiting thread, and each of them checks the flag for itself.</a:t>
            </a:r>
            <a:endParaRPr lang="en-US" sz="1500" dirty="0"/>
          </a:p>
        </p:txBody>
      </p:sp>
      <p:sp>
        <p:nvSpPr>
          <p:cNvPr id="13" name="Text 11"/>
          <p:cNvSpPr txBox="1"/>
          <p:nvPr/>
        </p:nvSpPr>
        <p:spPr>
          <a:xfrm>
            <a:off x="6301588" y="350520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Shutdown is a protocol</a:t>
            </a:r>
            <a:endParaRPr lang="en-US" sz="1800" dirty="0"/>
          </a:p>
        </p:txBody>
      </p:sp>
      <p:sp>
        <p:nvSpPr>
          <p:cNvPr id="14" name="Text 12"/>
          <p:cNvSpPr txBox="1"/>
          <p:nvPr/>
        </p:nvSpPr>
        <p:spPr>
          <a:xfrm>
            <a:off x="6301588" y="398068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It helps to think of the queue as moving through a few states, one after another.</a:t>
            </a:r>
            <a:endParaRPr lang="en-US" sz="1500" dirty="0"/>
          </a:p>
        </p:txBody>
      </p:sp>
      <p:sp>
        <p:nvSpPr>
          <p:cNvPr id="15" name="Shape 13"/>
          <p:cNvSpPr/>
          <p:nvPr/>
        </p:nvSpPr>
        <p:spPr>
          <a:xfrm>
            <a:off x="6301588" y="4611624"/>
            <a:ext cx="5387188" cy="1638046"/>
          </a:xfrm>
          <a:prstGeom prst="roundRect">
            <a:avLst>
              <a:gd name="adj" fmla="val 3349"/>
            </a:avLst>
          </a:prstGeom>
          <a:solidFill>
            <a:srgbClr val="F1F4F7"/>
          </a:solidFill>
          <a:ln w="12700">
            <a:solidFill>
              <a:srgbClr val="F1F4F7"/>
            </a:solidFill>
            <a:prstDash val="solid"/>
          </a:ln>
        </p:spPr>
      </p:sp>
      <p:sp>
        <p:nvSpPr>
          <p:cNvPr id="16" name="Text 14"/>
          <p:cNvSpPr txBox="1"/>
          <p:nvPr/>
        </p:nvSpPr>
        <p:spPr>
          <a:xfrm>
            <a:off x="6484468" y="4748784"/>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RUNNING   push works, pop waits for items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CLOSED    push refused, every waiter woken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remaining items are consumed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DRAINED   wait_and_pop() returns "nothing"</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return, threads are joined</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Three rules make it work. First, set closed while holding the mutex. If you set it without the lock, a consumer can check the flag, see false, and then the flag changes and the notify arrives before the consumer is asleep: exactly the lost wake-up from v4. Second, wake everyone with notify_all(). Third, let each consumer see the new state through its wait predicate.</a:t>
            </a:r>
            <a:endParaRPr lang="en-US" sz="1500" dirty="0"/>
          </a:p>
        </p:txBody>
      </p:sp>
      <p:sp>
        <p:nvSpPr>
          <p:cNvPr id="5" name="Text 3"/>
          <p:cNvSpPr txBox="1"/>
          <p:nvPr/>
        </p:nvSpPr>
        <p:spPr>
          <a:xfrm>
            <a:off x="502920" y="30632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How do you return "nothing"?</a:t>
            </a:r>
            <a:endParaRPr lang="en-US" sz="1800" dirty="0"/>
          </a:p>
        </p:txBody>
      </p:sp>
      <p:sp>
        <p:nvSpPr>
          <p:cNvPr id="6" name="Shape 4"/>
          <p:cNvSpPr/>
          <p:nvPr/>
        </p:nvSpPr>
        <p:spPr>
          <a:xfrm>
            <a:off x="502920" y="3538728"/>
            <a:ext cx="5387188" cy="752856"/>
          </a:xfrm>
          <a:prstGeom prst="roundRect">
            <a:avLst>
              <a:gd name="adj" fmla="val 7287"/>
            </a:avLst>
          </a:prstGeom>
          <a:solidFill>
            <a:srgbClr val="FBEDE3"/>
          </a:solidFill>
          <a:ln w="12700">
            <a:solidFill>
              <a:srgbClr val="FBEDE3"/>
            </a:solidFill>
            <a:prstDash val="solid"/>
          </a:ln>
        </p:spPr>
      </p:sp>
      <p:sp>
        <p:nvSpPr>
          <p:cNvPr id="7" name="Text 5"/>
          <p:cNvSpPr txBox="1"/>
          <p:nvPr/>
        </p:nvSpPr>
        <p:spPr>
          <a:xfrm>
            <a:off x="731520" y="36758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should wait_and_pop() return once the queue is closed and empty?</a:t>
            </a:r>
            <a:endParaRPr lang="en-US" sz="1600" dirty="0"/>
          </a:p>
        </p:txBody>
      </p:sp>
      <p:sp>
        <p:nvSpPr>
          <p:cNvPr id="8" name="Text 6"/>
          <p:cNvSpPr txBox="1"/>
          <p:nvPr/>
        </p:nvSpPr>
        <p:spPr>
          <a:xfrm>
            <a:off x="502920" y="443788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more problem. wait_and_pop() returns an int. When the queue is closed and empty, what should it return? Not 0, and not -1, because those could be real items. No int value can mean "there is nothing". So we change the return type to std::optional&lt;int&gt;, which holds either an int or nothing at all, written std::nullopt.</a:t>
            </a:r>
            <a:endParaRPr lang="en-US" sz="1500" dirty="0"/>
          </a:p>
        </p:txBody>
      </p:sp>
      <p:sp>
        <p:nvSpPr>
          <p:cNvPr id="9" name="Shape 7"/>
          <p:cNvSpPr/>
          <p:nvPr/>
        </p:nvSpPr>
        <p:spPr>
          <a:xfrm>
            <a:off x="6301588" y="1234440"/>
            <a:ext cx="5387188" cy="4365498"/>
          </a:xfrm>
          <a:prstGeom prst="roundRect">
            <a:avLst>
              <a:gd name="adj" fmla="val 1257"/>
            </a:avLst>
          </a:prstGeom>
          <a:solidFill>
            <a:srgbClr val="1E2230"/>
          </a:solidFill>
          <a:ln w="12700">
            <a:solidFill>
              <a:srgbClr val="1E2230"/>
            </a:solidFill>
            <a:prstDash val="solid"/>
          </a:ln>
        </p:spPr>
      </p:sp>
      <p:sp>
        <p:nvSpPr>
          <p:cNvPr id="10" name="Text 8"/>
          <p:cNvSpPr txBox="1"/>
          <p:nvPr/>
        </p:nvSpPr>
        <p:spPr>
          <a:xfrm>
            <a:off x="6484468" y="1371600"/>
            <a:ext cx="5021428" cy="409117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closed and empty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34440"/>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predicate now wakes up when there is an item or when the queue is closed. If there are still items, wait_and_pop() returns them as usual, even after shutdown, so no work is lost. Only when the queue is closed and empty does it return nullopt. A consumer can then simply write while (auto x = q.wait_and_pop()) { ... } and the loop ends by itself. push() also checks closed and returns false after shutdown, so producers know their item was not accepted.</a:t>
            </a:r>
            <a:endParaRPr lang="en-US" sz="1500" dirty="0"/>
          </a:p>
        </p:txBody>
      </p:sp>
      <p:sp>
        <p:nvSpPr>
          <p:cNvPr id="5" name="Shape 3"/>
          <p:cNvSpPr/>
          <p:nvPr/>
        </p:nvSpPr>
        <p:spPr>
          <a:xfrm>
            <a:off x="502920" y="3465576"/>
            <a:ext cx="5387188" cy="1234440"/>
          </a:xfrm>
          <a:prstGeom prst="roundRect">
            <a:avLst>
              <a:gd name="adj" fmla="val 4444"/>
            </a:avLst>
          </a:prstGeom>
          <a:solidFill>
            <a:srgbClr val="E3F2EF"/>
          </a:solidFill>
          <a:ln w="12700">
            <a:solidFill>
              <a:srgbClr val="E3F2EF"/>
            </a:solidFill>
            <a:prstDash val="solid"/>
          </a:ln>
        </p:spPr>
      </p:sp>
      <p:sp>
        <p:nvSpPr>
          <p:cNvPr id="6" name="Text 4"/>
          <p:cNvSpPr txBox="1"/>
          <p:nvPr/>
        </p:nvSpPr>
        <p:spPr>
          <a:xfrm>
            <a:off x="731520" y="3593592"/>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7" name="Text 5"/>
          <p:cNvSpPr txBox="1"/>
          <p:nvPr/>
        </p:nvSpPr>
        <p:spPr>
          <a:xfrm>
            <a:off x="731520" y="3886200"/>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Destroying our thread pool calls shutdown() on its task queue. That is how every worker learns to finish the remaining tasks and leave, so the pool can join them.</a:t>
            </a:r>
            <a:endParaRPr lang="en-US" sz="14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9" name="Text 7"/>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1,000 items are still in the queue when shutdown() is called. How many do the consumers receive?</a:t>
            </a:r>
            <a:endParaRPr lang="en-US" sz="1500" dirty="0"/>
          </a:p>
        </p:txBody>
      </p:sp>
      <p:sp>
        <p:nvSpPr>
          <p:cNvPr id="10" name="Shape 8"/>
          <p:cNvSpPr/>
          <p:nvPr/>
        </p:nvSpPr>
        <p:spPr>
          <a:xfrm>
            <a:off x="6301588" y="2322576"/>
            <a:ext cx="5387188" cy="1709928"/>
          </a:xfrm>
          <a:prstGeom prst="roundRect">
            <a:avLst>
              <a:gd name="adj" fmla="val 3209"/>
            </a:avLst>
          </a:prstGeom>
          <a:solidFill>
            <a:srgbClr val="F1F4F7"/>
          </a:solidFill>
          <a:ln w="12700">
            <a:solidFill>
              <a:srgbClr val="F1F4F7"/>
            </a:solidFill>
            <a:prstDash val="solid"/>
          </a:ln>
        </p:spPr>
      </p:sp>
      <p:sp>
        <p:nvSpPr>
          <p:cNvPr id="11" name="Text 9"/>
          <p:cNvSpPr txBox="1"/>
          <p:nvPr/>
        </p:nvSpPr>
        <p:spPr>
          <a:xfrm>
            <a:off x="6484468"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All 1,000. shutdown() only sets the flag and wakes everyone. A woken consumer checks the queue, finds items, and wait_and_pop() returns one, exactly as before. Only once the queue is both closed and empty does wait_and_pop() return nullopt. So the consumers drain everything first, and then each of them gets nullopt and leaves its loop.</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The producers are done, the program never exits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closed = true is set without holding the lock. Trace how a consumer can end up asleep forever.</a:t>
            </a:r>
            <a:endParaRPr lang="en-US" sz="1500" dirty="0"/>
          </a:p>
        </p:txBody>
      </p:sp>
      <p:sp>
        <p:nvSpPr>
          <p:cNvPr id="5" name="Shape 3"/>
          <p:cNvSpPr/>
          <p:nvPr/>
        </p:nvSpPr>
        <p:spPr>
          <a:xfrm>
            <a:off x="502920" y="1792224"/>
            <a:ext cx="5387188" cy="2136648"/>
          </a:xfrm>
          <a:prstGeom prst="roundRect">
            <a:avLst>
              <a:gd name="adj" fmla="val 2568"/>
            </a:avLst>
          </a:prstGeom>
          <a:solidFill>
            <a:srgbClr val="F1F4F7"/>
          </a:solidFill>
          <a:ln w="12700">
            <a:solidFill>
              <a:srgbClr val="F1F4F7"/>
            </a:solidFill>
            <a:prstDash val="solid"/>
          </a:ln>
        </p:spPr>
      </p:sp>
      <p:sp>
        <p:nvSpPr>
          <p:cNvPr id="6" name="Text 4"/>
          <p:cNvSpPr txBox="1"/>
          <p:nvPr/>
        </p:nvSpPr>
        <p:spPr>
          <a:xfrm>
            <a:off x="685800" y="1920240"/>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consumer holds the lock, checks its predicate and sees the queue empty and closed false. Before it actually goes to sleep, main sets closed = true without the lock and calls notify_all(). Nobody is asleep yet, so the notification does nothing. Then the consumer finishes going to sleep. It already decided the flag was false and nobody will notify again, so it sleeps forever. Setting the flag under the lock stops main from slipping into that gap.</a:t>
            </a:r>
            <a:endParaRPr lang="en-US" sz="1400" dirty="0"/>
          </a:p>
        </p:txBody>
      </p:sp>
      <p:sp>
        <p:nvSpPr>
          <p:cNvPr id="7" name="Text 5"/>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In a bounded queue, producers wait while the queue is full. What else must shutdown() do?</a:t>
            </a:r>
            <a:endParaRPr lang="en-US" sz="1500" dirty="0"/>
          </a:p>
        </p:txBody>
      </p:sp>
      <p:sp>
        <p:nvSpPr>
          <p:cNvPr id="8" name="Shape 6"/>
          <p:cNvSpPr/>
          <p:nvPr/>
        </p:nvSpPr>
        <p:spPr>
          <a:xfrm>
            <a:off x="6301588" y="1792224"/>
            <a:ext cx="5387188" cy="1923288"/>
          </a:xfrm>
          <a:prstGeom prst="roundRect">
            <a:avLst>
              <a:gd name="adj" fmla="val 2853"/>
            </a:avLst>
          </a:prstGeom>
          <a:solidFill>
            <a:srgbClr val="F1F4F7"/>
          </a:solidFill>
          <a:ln w="12700">
            <a:solidFill>
              <a:srgbClr val="F1F4F7"/>
            </a:solidFill>
            <a:prstDash val="solid"/>
          </a:ln>
        </p:spPr>
      </p:sp>
      <p:sp>
        <p:nvSpPr>
          <p:cNvPr id="9" name="Text 7"/>
          <p:cNvSpPr txBox="1"/>
          <p:nvPr/>
        </p:nvSpPr>
        <p:spPr>
          <a:xfrm>
            <a:off x="6484468" y="1920240"/>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It must also wake the producers that are asleep waiting for space, usually with notify_all() on the condition variable they wait on. Their wait predicate should also include closed, and when they wake and see it, push() should return false instead of waiting for space that will never be needed. Otherwise those producers sleep forever and the program hangs on joining them.</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v6: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v6 needs, file by file: queue.hpp, thread_group.hpp, main.cpp. If your version does not work, compare it with this one. Build and run it from the master folder with ./run.sh v6 main.</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a:t>
            </a:r>
            <a:endParaRPr lang="en-US" sz="1100" dirty="0"/>
          </a:p>
        </p:txBody>
      </p:sp>
      <p:sp>
        <p:nvSpPr>
          <p:cNvPr id="6" name="Shape 4"/>
          <p:cNvSpPr/>
          <p:nvPr/>
        </p:nvSpPr>
        <p:spPr>
          <a:xfrm>
            <a:off x="502920" y="2615184"/>
            <a:ext cx="5387188" cy="3684524"/>
          </a:xfrm>
          <a:prstGeom prst="roundRect">
            <a:avLst>
              <a:gd name="adj" fmla="val 1241"/>
            </a:avLst>
          </a:prstGeom>
          <a:solidFill>
            <a:srgbClr val="1E2230"/>
          </a:solidFill>
          <a:ln w="12700">
            <a:solidFill>
              <a:srgbClr val="1E2230"/>
            </a:solidFill>
            <a:prstDash val="solid"/>
          </a:ln>
        </p:spPr>
      </p:sp>
      <p:sp>
        <p:nvSpPr>
          <p:cNvPr id="7" name="Text 5"/>
          <p:cNvSpPr txBox="1"/>
          <p:nvPr/>
        </p:nvSpPr>
        <p:spPr>
          <a:xfrm>
            <a:off x="612648" y="2734056"/>
            <a:ext cx="5204308" cy="35016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v6 · Graceful shutdown</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RUNNING -&gt; CLOSED -&gt; DRAINED. shutdown() sets closed under the lock</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and wakes every waiter; wait_and_pop() then returns nullopt.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caller holds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false after shutdown()</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9" name="Shape 7"/>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0" name="Text 8"/>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not push(): m is held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v6: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5" name="Shape 3"/>
          <p:cNvSpPr/>
          <p:nvPr/>
        </p:nvSpPr>
        <p:spPr>
          <a:xfrm>
            <a:off x="502920" y="1527048"/>
            <a:ext cx="5387188" cy="4733544"/>
          </a:xfrm>
          <a:prstGeom prst="roundRect">
            <a:avLst>
              <a:gd name="adj" fmla="val 966"/>
            </a:avLst>
          </a:prstGeom>
          <a:solidFill>
            <a:srgbClr val="1E2230"/>
          </a:solidFill>
          <a:ln w="12700">
            <a:solidFill>
              <a:srgbClr val="1E2230"/>
            </a:solidFill>
            <a:prstDash val="solid"/>
          </a:ln>
        </p:spPr>
      </p:sp>
      <p:sp>
        <p:nvSpPr>
          <p:cNvPr id="6" name="Text 4"/>
          <p:cNvSpPr txBox="1"/>
          <p:nvPr/>
        </p:nvSpPr>
        <p:spPr>
          <a:xfrm>
            <a:off x="612648"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closed and drained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locking m twice is UB</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std::scoped_lock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both, deadlock-free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every waiter must wake</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8" name="Shape 6"/>
          <p:cNvSpPr/>
          <p:nvPr/>
        </p:nvSpPr>
        <p:spPr>
          <a:xfrm>
            <a:off x="6301588" y="1527048"/>
            <a:ext cx="5387188" cy="3834384"/>
          </a:xfrm>
          <a:prstGeom prst="roundRect">
            <a:avLst>
              <a:gd name="adj" fmla="val 1192"/>
            </a:avLst>
          </a:prstGeom>
          <a:solidFill>
            <a:srgbClr val="1E2230"/>
          </a:solidFill>
          <a:ln w="12700">
            <a:solidFill>
              <a:srgbClr val="1E2230"/>
            </a:solidFill>
            <a:prstDash val="solid"/>
          </a:ln>
        </p:spPr>
      </p:sp>
      <p:sp>
        <p:nvSpPr>
          <p:cNvPr id="9" name="Text 7"/>
          <p:cNvSpPr txBox="1"/>
          <p:nvPr/>
        </p:nvSpPr>
        <p:spPr>
          <a:xfrm>
            <a:off x="6411316" y="1645920"/>
            <a:ext cx="5204308" cy="36515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 snapshot only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handle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stand-in for real work</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until closed and drained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handle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v6</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v6: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a:t>
            </a:r>
            <a:endParaRPr lang="en-US" sz="1100" dirty="0"/>
          </a:p>
        </p:txBody>
      </p:sp>
      <p:sp>
        <p:nvSpPr>
          <p:cNvPr id="5" name="Shape 3"/>
          <p:cNvSpPr/>
          <p:nvPr/>
        </p:nvSpPr>
        <p:spPr>
          <a:xfrm>
            <a:off x="502920" y="1527048"/>
            <a:ext cx="5387188" cy="3234944"/>
          </a:xfrm>
          <a:prstGeom prst="roundRect">
            <a:avLst>
              <a:gd name="adj" fmla="val 1413"/>
            </a:avLst>
          </a:prstGeom>
          <a:solidFill>
            <a:srgbClr val="1E2230"/>
          </a:solidFill>
          <a:ln w="12700">
            <a:solidFill>
              <a:srgbClr val="1E2230"/>
            </a:solidFill>
            <a:prstDash val="solid"/>
          </a:ln>
        </p:spPr>
      </p:sp>
      <p:sp>
        <p:nvSpPr>
          <p:cNvPr id="6" name="Text 4"/>
          <p:cNvSpPr txBox="1"/>
          <p:nvPr/>
        </p:nvSpPr>
        <p:spPr>
          <a:xfrm>
            <a:off x="612648" y="1645920"/>
            <a:ext cx="5204308" cy="30520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 RAII owner for threads. Every thread added is joined in the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destructor, on every exit path, including exceptions.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default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8" name="Shape 6"/>
          <p:cNvSpPr/>
          <p:nvPr/>
        </p:nvSpPr>
        <p:spPr>
          <a:xfrm>
            <a:off x="6301588" y="1527048"/>
            <a:ext cx="5387188" cy="3384804"/>
          </a:xfrm>
          <a:prstGeom prst="roundRect">
            <a:avLst>
              <a:gd name="adj" fmla="val 1351"/>
            </a:avLst>
          </a:prstGeom>
          <a:solidFill>
            <a:srgbClr val="1E2230"/>
          </a:solidFill>
          <a:ln w="12700">
            <a:solidFill>
              <a:srgbClr val="1E2230"/>
            </a:solidFill>
            <a:prstDash val="solid"/>
          </a:ln>
        </p:spPr>
      </p:sp>
      <p:sp>
        <p:nvSpPr>
          <p:cNvPr id="9" name="Text 7"/>
          <p:cNvSpPr txBox="1"/>
          <p:nvPr/>
        </p:nvSpPr>
        <p:spPr>
          <a:xfrm>
            <a:off x="6411316" y="1645920"/>
            <a:ext cx="5204308" cy="320192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v6: consumers run until the queue is closed and drained.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functional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"thread_group.hpp"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std::ref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all producers have finished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wake every consumer</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consumers drain, then join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"push after shutdown: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int is no longer enough</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 Part 2 we will put work into the queue: functions to run, not numbers. Later we will store objects that are large, and even objects that cannot be copied at all. std::unique_ptr is the classic example. It is the only owner of the object it points to, so copying it would create two owners, and the language forbids it.</a:t>
            </a:r>
            <a:endParaRPr lang="en-US" sz="1500" dirty="0"/>
          </a:p>
        </p:txBody>
      </p:sp>
      <p:sp>
        <p:nvSpPr>
          <p:cNvPr id="6" name="Text 4"/>
          <p:cNvSpPr txBox="1"/>
          <p:nvPr/>
        </p:nvSpPr>
        <p:spPr>
          <a:xfrm>
            <a:off x="502920" y="33101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only holds int, so it cannot hold any of these. If we try to push a unique_ptr into it, the compiler refuses:</a:t>
            </a:r>
            <a:endParaRPr lang="en-US" sz="1500" dirty="0"/>
          </a:p>
        </p:txBody>
      </p:sp>
      <p:sp>
        <p:nvSpPr>
          <p:cNvPr id="7" name="Shape 5"/>
          <p:cNvSpPr/>
          <p:nvPr/>
        </p:nvSpPr>
        <p:spPr>
          <a:xfrm>
            <a:off x="502920" y="4169664"/>
            <a:ext cx="5387188" cy="858774"/>
          </a:xfrm>
          <a:prstGeom prst="roundRect">
            <a:avLst>
              <a:gd name="adj" fmla="val 6389"/>
            </a:avLst>
          </a:prstGeom>
          <a:solidFill>
            <a:srgbClr val="0F1419"/>
          </a:solidFill>
          <a:ln w="12700">
            <a:solidFill>
              <a:srgbClr val="0F1419"/>
            </a:solidFill>
            <a:prstDash val="solid"/>
          </a:ln>
        </p:spPr>
      </p:sp>
      <p:sp>
        <p:nvSpPr>
          <p:cNvPr id="8" name="Text 6"/>
          <p:cNvSpPr txBox="1"/>
          <p:nvPr/>
        </p:nvSpPr>
        <p:spPr>
          <a:xfrm>
            <a:off x="685800" y="4306824"/>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cd master/v6</a:t>
            </a:r>
            <a:endParaRPr lang="en-US" sz="1300" dirty="0"/>
          </a:p>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g++ -std=c++20 -DSHOW_BUG next_bug.cpp</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error: cannot convert 'unique_ptr&lt;int&gt;' to 'int'</a:t>
            </a:r>
            <a:endParaRPr lang="en-US" sz="1300" dirty="0"/>
          </a:p>
        </p:txBody>
      </p:sp>
      <p:sp>
        <p:nvSpPr>
          <p:cNvPr id="9" name="Text 7"/>
          <p:cNvSpPr txBox="1"/>
          <p:nvPr/>
        </p:nvSpPr>
        <p:spPr>
          <a:xfrm>
            <a:off x="6301588"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the queue has to become a template, ThreadSafeQueue&lt;T&gt;, that works for any type T. And because some types cannot be copied, it has to move values in and out instead of copying them. Moving means handing over the contents of an object to a new one, leaving the old one empty. For a unique_ptr it transfers ownership. For a string it transfers the buffer, without copying a single character.</a:t>
            </a:r>
            <a:endParaRPr lang="en-US" sz="1500" dirty="0"/>
          </a:p>
        </p:txBody>
      </p:sp>
      <p:sp>
        <p:nvSpPr>
          <p:cNvPr id="10" name="Shape 8"/>
          <p:cNvSpPr/>
          <p:nvPr/>
        </p:nvSpPr>
        <p:spPr>
          <a:xfrm>
            <a:off x="6301588" y="3008376"/>
            <a:ext cx="5387188" cy="509016"/>
          </a:xfrm>
          <a:prstGeom prst="roundRect">
            <a:avLst>
              <a:gd name="adj" fmla="val 10778"/>
            </a:avLst>
          </a:prstGeom>
          <a:solidFill>
            <a:srgbClr val="FBEDE3"/>
          </a:solidFill>
          <a:ln w="12700">
            <a:solidFill>
              <a:srgbClr val="FBEDE3"/>
            </a:solidFill>
            <a:prstDash val="solid"/>
          </a:ln>
        </p:spPr>
      </p:sp>
      <p:sp>
        <p:nvSpPr>
          <p:cNvPr id="11" name="Text 9"/>
          <p:cNvSpPr txBox="1"/>
          <p:nvPr/>
        </p:nvSpPr>
        <p:spPr>
          <a:xfrm>
            <a:off x="6530188" y="3145536"/>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Can't we just change int to T and be done?</a:t>
            </a:r>
            <a:endParaRPr lang="en-US" sz="1600" dirty="0"/>
          </a:p>
        </p:txBody>
      </p:sp>
      <p:sp>
        <p:nvSpPr>
          <p:cNvPr id="12" name="Text 10"/>
          <p:cNvSpPr txBox="1"/>
          <p:nvPr/>
        </p:nvSpPr>
        <p:spPr>
          <a:xfrm>
            <a:off x="6301588" y="366369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Almost. Two details decide whether it really works for every type: how values get in and out, and what happens if something throws on the way out.</a:t>
            </a:r>
            <a:endParaRPr lang="en-US" sz="1500" dirty="0"/>
          </a:p>
        </p:txBody>
      </p:sp>
      <p:sp>
        <p:nvSpPr>
          <p:cNvPr id="13" name="Text 11"/>
          <p:cNvSpPr txBox="1"/>
          <p:nvPr/>
        </p:nvSpPr>
        <p:spPr>
          <a:xfrm>
            <a:off x="6301588" y="4578096"/>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trap in returning a value</a:t>
            </a:r>
            <a:endParaRPr lang="en-US" sz="1800" dirty="0"/>
          </a:p>
        </p:txBody>
      </p:sp>
      <p:sp>
        <p:nvSpPr>
          <p:cNvPr id="14" name="Text 12"/>
          <p:cNvSpPr txBox="1"/>
          <p:nvPr/>
        </p:nvSpPr>
        <p:spPr>
          <a:xfrm>
            <a:off x="6301588" y="5053584"/>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a subtle problem with a pop() that returns the item. Look at what happens in this order.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Shape 2"/>
          <p:cNvSpPr/>
          <p:nvPr/>
        </p:nvSpPr>
        <p:spPr>
          <a:xfrm>
            <a:off x="502920" y="1234440"/>
            <a:ext cx="5387188" cy="1638046"/>
          </a:xfrm>
          <a:prstGeom prst="roundRect">
            <a:avLst>
              <a:gd name="adj" fmla="val 3349"/>
            </a:avLst>
          </a:prstGeom>
          <a:solidFill>
            <a:srgbClr val="1E2230"/>
          </a:solidFill>
          <a:ln w="12700">
            <a:solidFill>
              <a:srgbClr val="1E2230"/>
            </a:solidFill>
            <a:prstDash val="solid"/>
          </a:ln>
        </p:spPr>
      </p:sp>
      <p:sp>
        <p:nvSpPr>
          <p:cNvPr id="5" name="Text 3"/>
          <p:cNvSpPr txBox="1"/>
          <p:nvPr/>
        </p:nvSpPr>
        <p:spPr>
          <a:xfrm>
            <a:off x="685800"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the item leaves the queue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what if this throws?</a:t>
            </a:r>
            <a:endParaRPr lang="en-US" sz="1300" dirty="0"/>
          </a:p>
        </p:txBody>
      </p:sp>
      <p:sp>
        <p:nvSpPr>
          <p:cNvPr id="6" name="Text 4"/>
          <p:cNvSpPr txBox="1"/>
          <p:nvPr/>
        </p:nvSpPr>
        <p:spPr>
          <a:xfrm>
            <a:off x="502920" y="301879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pop() removes the item from the queue and then hands it back. The caller then assigns it to x. If that assignment throws an exception, for example because x needs to allocate memory and there is none, the item is lost: it has already left the queue, and it never arrived in x. Nobody has it any more.</a:t>
            </a:r>
            <a:endParaRPr lang="en-US" sz="1500" dirty="0"/>
          </a:p>
        </p:txBody>
      </p:sp>
      <p:sp>
        <p:nvSpPr>
          <p:cNvPr id="7" name="Text 5"/>
          <p:cNvSpPr txBox="1"/>
          <p:nvPr/>
        </p:nvSpPr>
        <p:spPr>
          <a:xfrm>
            <a:off x="502920" y="456412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the real reason std::queue::pop() returns void. Our wait_and_pop() avoids the problem a different way: it returns std::optional&lt;T&gt; constructed by moving, and moving standard library types does not throw, so nothing can go wrong between the queue and the caller.</a:t>
            </a:r>
            <a:endParaRPr lang="en-US" sz="15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generic queue</a:t>
            </a:r>
            <a:endParaRPr lang="en-US" sz="1800" dirty="0"/>
          </a:p>
        </p:txBody>
      </p:sp>
      <p:sp>
        <p:nvSpPr>
          <p:cNvPr id="9" name="Text 7"/>
          <p:cNvSpPr txBox="1"/>
          <p:nvPr/>
        </p:nvSpPr>
        <p:spPr>
          <a:xfrm>
            <a:off x="6301588"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Here is the queue after Part 1, now for any type T. Everything we built so far is still here: the mutex, the condition variable, the closed flag. What changed is the type and the moves.</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Shape 2"/>
          <p:cNvSpPr/>
          <p:nvPr/>
        </p:nvSpPr>
        <p:spPr>
          <a:xfrm>
            <a:off x="502920" y="1234440"/>
            <a:ext cx="5387188" cy="3781044"/>
          </a:xfrm>
          <a:prstGeom prst="roundRect">
            <a:avLst>
              <a:gd name="adj" fmla="val 1451"/>
            </a:avLst>
          </a:prstGeom>
          <a:solidFill>
            <a:srgbClr val="1E2230"/>
          </a:solidFill>
          <a:ln w="12700">
            <a:solidFill>
              <a:srgbClr val="1E2230"/>
            </a:solidFill>
            <a:prstDash val="solid"/>
          </a:ln>
        </p:spPr>
      </p:sp>
      <p:sp>
        <p:nvSpPr>
          <p:cNvPr id="5" name="Text 3"/>
          <p:cNvSpPr txBox="1"/>
          <p:nvPr/>
        </p:nvSpPr>
        <p:spPr>
          <a:xfrm>
            <a:off x="685800" y="1371600"/>
            <a:ext cx="5021428" cy="350672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guarded by m</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wait_and_pop() comes next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Shape 4"/>
          <p:cNvSpPr/>
          <p:nvPr/>
        </p:nvSpPr>
        <p:spPr>
          <a:xfrm>
            <a:off x="6301588" y="1234440"/>
            <a:ext cx="5387188" cy="2417318"/>
          </a:xfrm>
          <a:prstGeom prst="roundRect">
            <a:avLst>
              <a:gd name="adj" fmla="val 2270"/>
            </a:avLst>
          </a:prstGeom>
          <a:solidFill>
            <a:srgbClr val="1E2230"/>
          </a:solidFill>
          <a:ln w="12700">
            <a:solidFill>
              <a:srgbClr val="1E2230"/>
            </a:solidFill>
            <a:prstDash val="solid"/>
          </a:ln>
        </p:spPr>
      </p:sp>
      <p:sp>
        <p:nvSpPr>
          <p:cNvPr id="7" name="Text 5"/>
          <p:cNvSpPr txBox="1"/>
          <p:nvPr/>
        </p:nvSpPr>
        <p:spPr>
          <a:xfrm>
            <a:off x="6484468" y="1371600"/>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inside ThreadSafeQueue&lt;T&gt;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6301588" y="379806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push() takes its argument by value. If the caller passes a copyable value, it is copied once into v. If the caller passes something with std::move, it is moved into v. Either way, push() then moves v into the queue. This one function works for both kinds of types. On the way out, the item is moved from the front of the queue, never copied.</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queue itself cannot be copied. A mutex and a condition variable cannot be copied, and it would make no sense anyway: copying a queue while other threads are pushing and popping from it would give you a snapshot of something that is changing.</a:t>
            </a:r>
            <a:endParaRPr lang="en-US" sz="1500" dirty="0"/>
          </a:p>
        </p:txBody>
      </p:sp>
      <p:sp>
        <p:nvSpPr>
          <p:cNvPr id="5" name="Text 3"/>
          <p:cNvSpPr txBox="1"/>
          <p:nvPr/>
        </p:nvSpPr>
        <p:spPr>
          <a:xfrm>
            <a:off x="502920" y="255117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is the end of Part 1. Before moving on, run all the earlier tests against ThreadSafeQueue&lt;int&gt;, and also try ThreadSafeQueue&lt;std::string&gt; and ThreadSafeQueue&lt;std::unique_ptr&lt;int&gt;&gt;. Part 2 builds a thread pool on top of this queue, so any bug left here would come back later in a much more confusing form.</a:t>
            </a:r>
            <a:endParaRPr lang="en-US" sz="1500" dirty="0"/>
          </a:p>
        </p:txBody>
      </p:sp>
      <p:sp>
        <p:nvSpPr>
          <p:cNvPr id="6" name="Shape 4"/>
          <p:cNvSpPr/>
          <p:nvPr/>
        </p:nvSpPr>
        <p:spPr>
          <a:xfrm>
            <a:off x="502920" y="4096512"/>
            <a:ext cx="5387188" cy="1234440"/>
          </a:xfrm>
          <a:prstGeom prst="roundRect">
            <a:avLst>
              <a:gd name="adj" fmla="val 4444"/>
            </a:avLst>
          </a:prstGeom>
          <a:solidFill>
            <a:srgbClr val="E3F2EF"/>
          </a:solidFill>
          <a:ln w="12700">
            <a:solidFill>
              <a:srgbClr val="E3F2EF"/>
            </a:solidFill>
            <a:prstDash val="solid"/>
          </a:ln>
        </p:spPr>
      </p:sp>
      <p:sp>
        <p:nvSpPr>
          <p:cNvPr id="7" name="Text 5"/>
          <p:cNvSpPr txBox="1"/>
          <p:nvPr/>
        </p:nvSpPr>
        <p:spPr>
          <a:xfrm>
            <a:off x="731520" y="422452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8" name="Text 6"/>
          <p:cNvSpPr txBox="1"/>
          <p:nvPr/>
        </p:nvSpPr>
        <p:spPr>
          <a:xfrm>
            <a:off x="731520" y="4517136"/>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In Part 2 this exact class, ThreadSafeQueue&lt;Task&gt;, becomes the channel that carries work from whoever submits it to the pool's workers.</a:t>
            </a:r>
            <a:endParaRPr lang="en-US" sz="14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0" name="Text 8"/>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push a 1 MB std::string once by copy and once by move. How much data is copied each time?</a:t>
            </a:r>
            <a:endParaRPr lang="en-US" sz="1500" dirty="0"/>
          </a:p>
        </p:txBody>
      </p:sp>
      <p:sp>
        <p:nvSpPr>
          <p:cNvPr id="11" name="Shape 9"/>
          <p:cNvSpPr/>
          <p:nvPr/>
        </p:nvSpPr>
        <p:spPr>
          <a:xfrm>
            <a:off x="6301588" y="2322576"/>
            <a:ext cx="5387188" cy="1923288"/>
          </a:xfrm>
          <a:prstGeom prst="roundRect">
            <a:avLst>
              <a:gd name="adj" fmla="val 2853"/>
            </a:avLst>
          </a:prstGeom>
          <a:solidFill>
            <a:srgbClr val="F1F4F7"/>
          </a:solidFill>
          <a:ln w="12700">
            <a:solidFill>
              <a:srgbClr val="F1F4F7"/>
            </a:solidFill>
            <a:prstDash val="solid"/>
          </a:ln>
        </p:spPr>
      </p:sp>
      <p:sp>
        <p:nvSpPr>
          <p:cNvPr id="12" name="Text 10"/>
          <p:cNvSpPr txBox="1"/>
          <p:nvPr/>
        </p:nvSpPr>
        <p:spPr>
          <a:xfrm>
            <a:off x="6484468" y="2450592"/>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By copy, the whole megabyte: a new buffer is allocated and every character is copied into it. By move, only a few pointers and a size, a couple of dozen bytes: the new string takes over the old string's buffer, and the old string is left empty. For large objects moving is dramatically cheaper, and for objects like unique_ptr it is the only option.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queue of anything</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ThreadSafeQueue&lt;std::unique_ptr&lt;int&gt;&gt; q; auto p = std::make_unique&lt;int&gt;(5); q.push(p); Does this compile?</a:t>
            </a:r>
            <a:endParaRPr lang="en-US" sz="1500" dirty="0"/>
          </a:p>
        </p:txBody>
      </p:sp>
      <p:sp>
        <p:nvSpPr>
          <p:cNvPr id="5" name="Shape 3"/>
          <p:cNvSpPr/>
          <p:nvPr/>
        </p:nvSpPr>
        <p:spPr>
          <a:xfrm>
            <a:off x="502920" y="1792224"/>
            <a:ext cx="5387188" cy="1709928"/>
          </a:xfrm>
          <a:prstGeom prst="roundRect">
            <a:avLst>
              <a:gd name="adj" fmla="val 3209"/>
            </a:avLst>
          </a:prstGeom>
          <a:solidFill>
            <a:srgbClr val="F1F4F7"/>
          </a:solidFill>
          <a:ln w="12700">
            <a:solidFill>
              <a:srgbClr val="F1F4F7"/>
            </a:solidFill>
            <a:prstDash val="solid"/>
          </a:ln>
        </p:spPr>
      </p:sp>
      <p:sp>
        <p:nvSpPr>
          <p:cNvPr id="6" name="Text 4"/>
          <p:cNvSpPr txBox="1"/>
          <p:nvPr/>
        </p:nvSpPr>
        <p:spPr>
          <a:xfrm>
            <a:off x="685800"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 push() takes its argument by value, so the compiler has to create a copy of p for the parameter, and unique_ptr cannot be copied. You have to write q.push(std::move(p)). That moves the pointer into the parameter, leaving p empty, which is exactly what should happen: the queue now owns the integer, and p no longer does.</a:t>
            </a:r>
            <a:endParaRPr lang="en-US" sz="1400" dirty="0"/>
          </a:p>
        </p:txBody>
      </p:sp>
      <p:sp>
        <p:nvSpPr>
          <p:cNvPr id="7" name="Text 5"/>
          <p:cNvSpPr txBox="1"/>
          <p:nvPr/>
        </p:nvSpPr>
        <p:spPr>
          <a:xfrm>
            <a:off x="502920" y="364845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List the rules your queue now follows, and the version that taught each one.</a:t>
            </a:r>
            <a:endParaRPr lang="en-US" sz="1500" dirty="0"/>
          </a:p>
        </p:txBody>
      </p:sp>
      <p:sp>
        <p:nvSpPr>
          <p:cNvPr id="8" name="Shape 6"/>
          <p:cNvSpPr/>
          <p:nvPr/>
        </p:nvSpPr>
        <p:spPr>
          <a:xfrm>
            <a:off x="502920" y="4206240"/>
            <a:ext cx="5387188" cy="2136648"/>
          </a:xfrm>
          <a:prstGeom prst="roundRect">
            <a:avLst>
              <a:gd name="adj" fmla="val 2568"/>
            </a:avLst>
          </a:prstGeom>
          <a:solidFill>
            <a:srgbClr val="F1F4F7"/>
          </a:solidFill>
          <a:ln w="12700">
            <a:solidFill>
              <a:srgbClr val="F1F4F7"/>
            </a:solidFill>
            <a:prstDash val="solid"/>
          </a:ln>
        </p:spPr>
      </p:sp>
      <p:sp>
        <p:nvSpPr>
          <p:cNvPr id="9" name="Text 7"/>
          <p:cNvSpPr txBox="1"/>
          <p:nvPr/>
        </p:nvSpPr>
        <p:spPr>
          <a:xfrm>
            <a:off x="685800" y="4334256"/>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Every access to the data takes the mutex (v2). Locks are always released by a destructor, never by hand (v3). A check and the action that depends on it happen in one call, under one lock (v3). Consumers wait with a condition variable and a predicate instead of spinning (v4). Several locks are taken together or in a fixed order (v5). Shutdown sets a flag under the lock and wakes everyone (v6). Values are moved, never copied, so any type works (v7).</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v7: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v7 needs, file by file: queue.hpp, thread_group.hpp, main.cpp. If your version does not work, compare it with this one. Build and run it from the master folder with ./run.sh v7 main.</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a:t>
            </a:r>
            <a:endParaRPr lang="en-US" sz="1100" dirty="0"/>
          </a:p>
        </p:txBody>
      </p:sp>
      <p:sp>
        <p:nvSpPr>
          <p:cNvPr id="6" name="Shape 4"/>
          <p:cNvSpPr/>
          <p:nvPr/>
        </p:nvSpPr>
        <p:spPr>
          <a:xfrm>
            <a:off x="502920" y="2615184"/>
            <a:ext cx="5387188" cy="3684524"/>
          </a:xfrm>
          <a:prstGeom prst="roundRect">
            <a:avLst>
              <a:gd name="adj" fmla="val 1241"/>
            </a:avLst>
          </a:prstGeom>
          <a:solidFill>
            <a:srgbClr val="1E2230"/>
          </a:solidFill>
          <a:ln w="12700">
            <a:solidFill>
              <a:srgbClr val="1E2230"/>
            </a:solidFill>
            <a:prstDash val="solid"/>
          </a:ln>
        </p:spPr>
      </p:sp>
      <p:sp>
        <p:nvSpPr>
          <p:cNvPr id="7" name="Text 5"/>
          <p:cNvSpPr txBox="1"/>
          <p:nvPr/>
        </p:nvSpPr>
        <p:spPr>
          <a:xfrm>
            <a:off x="612648" y="2734056"/>
            <a:ext cx="5204308" cy="35016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v7 · Generic queue&lt;T&gt;</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Values are moved in and out, so move-only types (unique_ptr, tasks)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work and no item can be lost to a throwing copy.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utility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caller holds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9" name="Shape 7"/>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0" name="Text 8"/>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by value, then moved in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v7: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5" name="Shape 3"/>
          <p:cNvSpPr/>
          <p:nvPr/>
        </p:nvSpPr>
        <p:spPr>
          <a:xfrm>
            <a:off x="502920" y="1527048"/>
            <a:ext cx="5387188" cy="4733544"/>
          </a:xfrm>
          <a:prstGeom prst="roundRect">
            <a:avLst>
              <a:gd name="adj" fmla="val 966"/>
            </a:avLst>
          </a:prstGeom>
          <a:solidFill>
            <a:srgbClr val="1E2230"/>
          </a:solidFill>
          <a:ln w="12700">
            <a:solidFill>
              <a:srgbClr val="1E2230"/>
            </a:solidFill>
            <a:prstDash val="solid"/>
          </a:ln>
        </p:spPr>
      </p:sp>
      <p:sp>
        <p:nvSpPr>
          <p:cNvPr id="6" name="Text 4"/>
          <p:cNvSpPr txBox="1"/>
          <p:nvPr/>
        </p:nvSpPr>
        <p:spPr>
          <a:xfrm>
            <a:off x="612648"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closed and drained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std::scoped_lock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8" name="Shape 6"/>
          <p:cNvSpPr/>
          <p:nvPr/>
        </p:nvSpPr>
        <p:spPr>
          <a:xfrm>
            <a:off x="6301588" y="1527048"/>
            <a:ext cx="5387188" cy="2335784"/>
          </a:xfrm>
          <a:prstGeom prst="roundRect">
            <a:avLst>
              <a:gd name="adj" fmla="val 1957"/>
            </a:avLst>
          </a:prstGeom>
          <a:solidFill>
            <a:srgbClr val="1E2230"/>
          </a:solidFill>
          <a:ln w="12700">
            <a:solidFill>
              <a:srgbClr val="1E2230"/>
            </a:solidFill>
            <a:prstDash val="solid"/>
          </a:ln>
        </p:spPr>
      </p:sp>
      <p:sp>
        <p:nvSpPr>
          <p:cNvPr id="9" name="Text 7"/>
          <p:cNvSpPr txBox="1"/>
          <p:nvPr/>
        </p:nvSpPr>
        <p:spPr>
          <a:xfrm>
            <a:off x="6411316" y="1645920"/>
            <a:ext cx="5204308" cy="21529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400913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a:t>
            </a:r>
            <a:endParaRPr lang="en-US" sz="1100" dirty="0"/>
          </a:p>
        </p:txBody>
      </p:sp>
      <p:sp>
        <p:nvSpPr>
          <p:cNvPr id="11" name="Shape 9"/>
          <p:cNvSpPr/>
          <p:nvPr/>
        </p:nvSpPr>
        <p:spPr>
          <a:xfrm>
            <a:off x="6301588" y="4301744"/>
            <a:ext cx="5387188" cy="2036064"/>
          </a:xfrm>
          <a:prstGeom prst="roundRect">
            <a:avLst>
              <a:gd name="adj" fmla="val 2246"/>
            </a:avLst>
          </a:prstGeom>
          <a:solidFill>
            <a:srgbClr val="1E2230"/>
          </a:solidFill>
          <a:ln w="12700">
            <a:solidFill>
              <a:srgbClr val="1E2230"/>
            </a:solidFill>
            <a:prstDash val="solid"/>
          </a:ln>
        </p:spPr>
      </p:sp>
      <p:sp>
        <p:nvSpPr>
          <p:cNvPr id="12" name="Text 10"/>
          <p:cNvSpPr txBox="1"/>
          <p:nvPr/>
        </p:nvSpPr>
        <p:spPr>
          <a:xfrm>
            <a:off x="6411316" y="4420616"/>
            <a:ext cx="5204308" cy="185318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 RAII owner for threads. Every thread added is joined in the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destructor, on every exit path, including exceptions.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default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v7</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v7: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 (continued)</a:t>
            </a:r>
            <a:endParaRPr lang="en-US" sz="1100" dirty="0"/>
          </a:p>
        </p:txBody>
      </p:sp>
      <p:sp>
        <p:nvSpPr>
          <p:cNvPr id="5" name="Shape 3"/>
          <p:cNvSpPr/>
          <p:nvPr/>
        </p:nvSpPr>
        <p:spPr>
          <a:xfrm>
            <a:off x="502920" y="1527048"/>
            <a:ext cx="5387188" cy="1436624"/>
          </a:xfrm>
          <a:prstGeom prst="roundRect">
            <a:avLst>
              <a:gd name="adj" fmla="val 3182"/>
            </a:avLst>
          </a:prstGeom>
          <a:solidFill>
            <a:srgbClr val="1E2230"/>
          </a:solidFill>
          <a:ln w="12700">
            <a:solidFill>
              <a:srgbClr val="1E2230"/>
            </a:solidFill>
            <a:prstDash val="solid"/>
          </a:ln>
        </p:spPr>
      </p:sp>
      <p:sp>
        <p:nvSpPr>
          <p:cNvPr id="6" name="Text 4"/>
          <p:cNvSpPr txBox="1"/>
          <p:nvPr/>
        </p:nvSpPr>
        <p:spPr>
          <a:xfrm>
            <a:off x="612648" y="1645920"/>
            <a:ext cx="5204308" cy="12537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502920" y="31099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8" name="Shape 6"/>
          <p:cNvSpPr/>
          <p:nvPr/>
        </p:nvSpPr>
        <p:spPr>
          <a:xfrm>
            <a:off x="502920" y="3402584"/>
            <a:ext cx="5387188" cy="2935224"/>
          </a:xfrm>
          <a:prstGeom prst="roundRect">
            <a:avLst>
              <a:gd name="adj" fmla="val 1558"/>
            </a:avLst>
          </a:prstGeom>
          <a:solidFill>
            <a:srgbClr val="1E2230"/>
          </a:solidFill>
          <a:ln w="12700">
            <a:solidFill>
              <a:srgbClr val="1E2230"/>
            </a:solidFill>
            <a:prstDash val="solid"/>
          </a:ln>
        </p:spPr>
      </p:sp>
      <p:sp>
        <p:nvSpPr>
          <p:cNvPr id="9" name="Text 7"/>
          <p:cNvSpPr txBox="1"/>
          <p:nvPr/>
        </p:nvSpPr>
        <p:spPr>
          <a:xfrm>
            <a:off x="612648" y="3521456"/>
            <a:ext cx="5204308" cy="275234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v7: one template, any type, including move-only ones.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memory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string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"thread_group.hpp"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words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words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"hello"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words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words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words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std::unique_ptr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boxes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 (continued)</a:t>
            </a:r>
            <a:endParaRPr lang="en-US" sz="1100" dirty="0"/>
          </a:p>
        </p:txBody>
      </p:sp>
      <p:sp>
        <p:nvSpPr>
          <p:cNvPr id="11" name="Shape 9"/>
          <p:cNvSpPr/>
          <p:nvPr/>
        </p:nvSpPr>
        <p:spPr>
          <a:xfrm>
            <a:off x="6301588" y="1527048"/>
            <a:ext cx="5387188" cy="1886204"/>
          </a:xfrm>
          <a:prstGeom prst="roundRect">
            <a:avLst>
              <a:gd name="adj" fmla="val 2424"/>
            </a:avLst>
          </a:prstGeom>
          <a:solidFill>
            <a:srgbClr val="1E2230"/>
          </a:solidFill>
          <a:ln w="12700">
            <a:solidFill>
              <a:srgbClr val="1E2230"/>
            </a:solidFill>
            <a:prstDash val="solid"/>
          </a:ln>
        </p:spPr>
      </p:sp>
      <p:sp>
        <p:nvSpPr>
          <p:cNvPr id="12" name="Text 10"/>
          <p:cNvSpPr txBox="1"/>
          <p:nvPr/>
        </p:nvSpPr>
        <p:spPr>
          <a:xfrm>
            <a:off x="6411316" y="1645920"/>
            <a:ext cx="5204308" cy="17033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3</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boxes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std::make_unique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boxes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boxes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"box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2  ·  v8 to v10</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Growing it into a thread pool</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v8    Putting work in the queue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v9    One worker is not enough</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v9    Real workloads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Getting the result back</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No function to wrap, or many readers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A task that never finishes</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v10   Tasks that wait for tasks</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From numbers to tasks</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Part 1 gave us a queue that is safe for many threads and can hold any type. In Part 2 we use it for something more useful than numbers: we put work into it. A piece of work, which we will call a task, is just a function to call later. In C++ we can store any function that takes no arguments and returns nothing as std::function&lt;void()&gt;. A lambda like [] { save_file(); } fits perfectly.</a:t>
            </a:r>
            <a:endParaRPr lang="en-US" sz="1500" dirty="0"/>
          </a:p>
        </p:txBody>
      </p:sp>
      <p:sp>
        <p:nvSpPr>
          <p:cNvPr id="6" name="Text 4"/>
          <p:cNvSpPr txBox="1"/>
          <p:nvPr/>
        </p:nvSpPr>
        <p:spPr>
          <a:xfrm>
            <a:off x="502920" y="353872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thread, the worker, sits in a loop: it pops a task from the queue and runs it, then pops the next one. Any other thread can hand work to the worker by pushing a task. This is the core of every thread pool, game engine job system and server you will meet.</a:t>
            </a:r>
            <a:endParaRPr lang="en-US" sz="1500" dirty="0"/>
          </a:p>
        </p:txBody>
      </p:sp>
      <p:sp>
        <p:nvSpPr>
          <p:cNvPr id="7" name="Shape 5"/>
          <p:cNvSpPr/>
          <p:nvPr/>
        </p:nvSpPr>
        <p:spPr>
          <a:xfrm>
            <a:off x="502920" y="4855464"/>
            <a:ext cx="5387188" cy="663956"/>
          </a:xfrm>
          <a:prstGeom prst="roundRect">
            <a:avLst>
              <a:gd name="adj" fmla="val 8263"/>
            </a:avLst>
          </a:prstGeom>
          <a:solidFill>
            <a:srgbClr val="F1F4F7"/>
          </a:solidFill>
          <a:ln w="12700">
            <a:solidFill>
              <a:srgbClr val="F1F4F7"/>
            </a:solidFill>
            <a:prstDash val="solid"/>
          </a:ln>
        </p:spPr>
      </p:sp>
      <p:sp>
        <p:nvSpPr>
          <p:cNvPr id="8" name="Text 6"/>
          <p:cNvSpPr txBox="1"/>
          <p:nvPr/>
        </p:nvSpPr>
        <p:spPr>
          <a:xfrm>
            <a:off x="685800" y="4992624"/>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thread                    worker thread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push(task) --&gt; [ task queue ] --&gt; pop, run task()</a:t>
            </a:r>
            <a:endParaRPr lang="en-US" sz="1300" dirty="0"/>
          </a:p>
        </p:txBody>
      </p:sp>
      <p:sp>
        <p:nvSpPr>
          <p:cNvPr id="9" name="Text 7"/>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Moving work to another thread raises two questions that never came up with ints. If a task throws an exception, where does that exception go? And if a task uses variables from the function that created it, are those variables still alive when the task finally runs?</a:t>
            </a:r>
            <a:endParaRPr lang="en-US" sz="1500" dirty="0"/>
          </a:p>
        </p:txBody>
      </p:sp>
      <p:sp>
        <p:nvSpPr>
          <p:cNvPr id="10" name="Text 8"/>
          <p:cNvSpPr txBox="1"/>
          <p:nvPr/>
        </p:nvSpPr>
        <p:spPr>
          <a:xfrm>
            <a:off x="6301588" y="26060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Where does the exception go?</a:t>
            </a:r>
            <a:endParaRPr lang="en-US" sz="1800" dirty="0"/>
          </a:p>
        </p:txBody>
      </p:sp>
      <p:sp>
        <p:nvSpPr>
          <p:cNvPr id="11" name="Shape 9"/>
          <p:cNvSpPr/>
          <p:nvPr/>
        </p:nvSpPr>
        <p:spPr>
          <a:xfrm>
            <a:off x="6301588" y="3081528"/>
            <a:ext cx="5387188" cy="752856"/>
          </a:xfrm>
          <a:prstGeom prst="roundRect">
            <a:avLst>
              <a:gd name="adj" fmla="val 7287"/>
            </a:avLst>
          </a:prstGeom>
          <a:solidFill>
            <a:srgbClr val="FBEDE3"/>
          </a:solidFill>
          <a:ln w="12700">
            <a:solidFill>
              <a:srgbClr val="FBEDE3"/>
            </a:solidFill>
            <a:prstDash val="solid"/>
          </a:ln>
        </p:spPr>
      </p:sp>
      <p:sp>
        <p:nvSpPr>
          <p:cNvPr id="12" name="Text 10"/>
          <p:cNvSpPr txBox="1"/>
          <p:nvPr/>
        </p:nvSpPr>
        <p:spPr>
          <a:xfrm>
            <a:off x="6530188" y="32186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If a task throws, won't the caller's try/catch handle it like any other function call?</a:t>
            </a:r>
            <a:endParaRPr lang="en-US" sz="1600" dirty="0"/>
          </a:p>
        </p:txBody>
      </p:sp>
      <p:sp>
        <p:nvSpPr>
          <p:cNvPr id="13" name="Text 11"/>
          <p:cNvSpPr txBox="1"/>
          <p:nvPr/>
        </p:nvSpPr>
        <p:spPr>
          <a:xfrm>
            <a:off x="6301588" y="3980688"/>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Here main pushes a task that throws, and wraps the push in try and catch so it can handle the error.</a:t>
            </a:r>
            <a:endParaRPr lang="en-US" sz="1500" dirty="0"/>
          </a:p>
        </p:txBody>
      </p:sp>
      <p:sp>
        <p:nvSpPr>
          <p:cNvPr id="14" name="Shape 12"/>
          <p:cNvSpPr/>
          <p:nvPr/>
        </p:nvSpPr>
        <p:spPr>
          <a:xfrm>
            <a:off x="6301588" y="4611624"/>
            <a:ext cx="5387188" cy="1638046"/>
          </a:xfrm>
          <a:prstGeom prst="roundRect">
            <a:avLst>
              <a:gd name="adj" fmla="val 3349"/>
            </a:avLst>
          </a:prstGeom>
          <a:solidFill>
            <a:srgbClr val="1E2230"/>
          </a:solidFill>
          <a:ln w="12700">
            <a:solidFill>
              <a:srgbClr val="1E2230"/>
            </a:solidFill>
            <a:prstDash val="solid"/>
          </a:ln>
        </p:spPr>
      </p:sp>
      <p:sp>
        <p:nvSpPr>
          <p:cNvPr id="15" name="Text 13"/>
          <p:cNvSpPr txBox="1"/>
          <p:nvPr/>
        </p:nvSpPr>
        <p:spPr>
          <a:xfrm>
            <a:off x="6484468" y="4748784"/>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"disk full"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"caught in main\n"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catch block never runs. The whole program is terminated instead:</a:t>
            </a:r>
            <a:endParaRPr lang="en-US" sz="1500" dirty="0"/>
          </a:p>
        </p:txBody>
      </p:sp>
      <p:sp>
        <p:nvSpPr>
          <p:cNvPr id="5" name="Shape 3"/>
          <p:cNvSpPr/>
          <p:nvPr/>
        </p:nvSpPr>
        <p:spPr>
          <a:xfrm>
            <a:off x="502920" y="1865376"/>
            <a:ext cx="5387188" cy="1053592"/>
          </a:xfrm>
          <a:prstGeom prst="roundRect">
            <a:avLst>
              <a:gd name="adj" fmla="val 5207"/>
            </a:avLst>
          </a:prstGeom>
          <a:solidFill>
            <a:srgbClr val="0F1419"/>
          </a:solidFill>
          <a:ln w="12700">
            <a:solidFill>
              <a:srgbClr val="0F1419"/>
            </a:solidFill>
            <a:prstDash val="solid"/>
          </a:ln>
        </p:spPr>
      </p:sp>
      <p:sp>
        <p:nvSpPr>
          <p:cNvPr id="6" name="Text 4"/>
          <p:cNvSpPr txBox="1"/>
          <p:nvPr/>
        </p:nvSpPr>
        <p:spPr>
          <a:xfrm>
            <a:off x="685800" y="2002536"/>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v8 tiny terminate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terminate called after throwing an instance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of 'std::runtime_error'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Aborted</a:t>
            </a:r>
            <a:endParaRPr lang="en-US" sz="1300" dirty="0"/>
          </a:p>
        </p:txBody>
      </p:sp>
      <p:sp>
        <p:nvSpPr>
          <p:cNvPr id="7" name="Text 5"/>
          <p:cNvSpPr txBox="1"/>
          <p:nvPr/>
        </p:nvSpPr>
        <p:spPr>
          <a:xfrm>
            <a:off x="502920" y="306527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Put it on a clock. At t = 0 main calls push(). push() only puts the std::function into the queue, which takes a few nanoseconds, and returns. Nothing has thrown yet, so main leaves the try block normally. Some time later the worker pops the task and calls it, and only then does the throw happen. By then main's try block is long gone, and the throw happens on a different thread anyway.</a:t>
            </a:r>
            <a:endParaRPr lang="en-US" sz="1500" dirty="0"/>
          </a:p>
        </p:txBody>
      </p:sp>
      <p:sp>
        <p:nvSpPr>
          <p:cNvPr id="8" name="Shape 6"/>
          <p:cNvSpPr/>
          <p:nvPr/>
        </p:nvSpPr>
        <p:spPr>
          <a:xfrm>
            <a:off x="6301588" y="1234440"/>
            <a:ext cx="5387188" cy="2027682"/>
          </a:xfrm>
          <a:prstGeom prst="roundRect">
            <a:avLst>
              <a:gd name="adj" fmla="val 2706"/>
            </a:avLst>
          </a:prstGeom>
          <a:solidFill>
            <a:srgbClr val="F1F4F7"/>
          </a:solidFill>
          <a:ln w="12700">
            <a:solidFill>
              <a:srgbClr val="F1F4F7"/>
            </a:solidFill>
            <a:prstDash val="solid"/>
          </a:ln>
        </p:spPr>
      </p:sp>
      <p:sp>
        <p:nvSpPr>
          <p:cNvPr id="9" name="Text 7"/>
          <p:cNvSpPr txBox="1"/>
          <p:nvPr/>
        </p:nvSpPr>
        <p:spPr>
          <a:xfrm>
            <a:off x="6484468" y="1371600"/>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worker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t=0  try { push(task)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returns at once, no throw</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leaves try/catch</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later: pops task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task() throws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unwinds the worker's stack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nothing catches it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std::terminate</a:t>
            </a:r>
            <a:endParaRPr lang="en-US" sz="1300" dirty="0"/>
          </a:p>
        </p:txBody>
      </p:sp>
      <p:sp>
        <p:nvSpPr>
          <p:cNvPr id="10" name="Shape 8"/>
          <p:cNvSpPr/>
          <p:nvPr/>
        </p:nvSpPr>
        <p:spPr>
          <a:xfrm>
            <a:off x="6301588" y="3408426"/>
            <a:ext cx="5387188" cy="752856"/>
          </a:xfrm>
          <a:prstGeom prst="roundRect">
            <a:avLst>
              <a:gd name="adj" fmla="val 7287"/>
            </a:avLst>
          </a:prstGeom>
          <a:solidFill>
            <a:srgbClr val="FBEDE3"/>
          </a:solidFill>
          <a:ln w="12700">
            <a:solidFill>
              <a:srgbClr val="FBEDE3"/>
            </a:solidFill>
            <a:prstDash val="solid"/>
          </a:ln>
        </p:spPr>
      </p:sp>
      <p:sp>
        <p:nvSpPr>
          <p:cNvPr id="11" name="Text 9"/>
          <p:cNvSpPr txBox="1"/>
          <p:nvPr/>
        </p:nvSpPr>
        <p:spPr>
          <a:xfrm>
            <a:off x="6530188" y="3545586"/>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But the push was inside the try block. Why didn't the catch run?</a:t>
            </a:r>
            <a:endParaRPr lang="en-US" sz="1600" dirty="0"/>
          </a:p>
        </p:txBody>
      </p:sp>
      <p:sp>
        <p:nvSpPr>
          <p:cNvPr id="12" name="Text 10"/>
          <p:cNvSpPr txBox="1"/>
          <p:nvPr/>
        </p:nvSpPr>
        <p:spPr>
          <a:xfrm>
            <a:off x="6301588" y="430758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 thread has its own call stack. When an exception is thrown, C++ walks back up the stack of the thread that threw it, looking for a catch. It never looks at another thread's stack. The worker's stack has no catch, so the exception falls out of the thread function, and C++ terminates the whole program when that happens. The worker has to catch everything itself.</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What does the task point at?</a:t>
            </a:r>
            <a:endParaRPr lang="en-US" sz="1800" dirty="0"/>
          </a:p>
        </p:txBody>
      </p:sp>
      <p:sp>
        <p:nvSpPr>
          <p:cNvPr id="5" name="Shape 3"/>
          <p:cNvSpPr/>
          <p:nvPr/>
        </p:nvSpPr>
        <p:spPr>
          <a:xfrm>
            <a:off x="502920" y="1764792"/>
            <a:ext cx="5387188" cy="752856"/>
          </a:xfrm>
          <a:prstGeom prst="roundRect">
            <a:avLst>
              <a:gd name="adj" fmla="val 7287"/>
            </a:avLst>
          </a:prstGeom>
          <a:solidFill>
            <a:srgbClr val="FBEDE3"/>
          </a:solidFill>
          <a:ln w="12700">
            <a:solidFill>
              <a:srgbClr val="FBEDE3"/>
            </a:solidFill>
            <a:prstDash val="solid"/>
          </a:ln>
        </p:spPr>
      </p:sp>
      <p:sp>
        <p:nvSpPr>
          <p:cNvPr id="6" name="Text 4"/>
          <p:cNvSpPr txBox="1"/>
          <p:nvPr/>
        </p:nvSpPr>
        <p:spPr>
          <a:xfrm>
            <a:off x="731520"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The lambda just uses x from my function. What could go wrong?</a:t>
            </a:r>
            <a:endParaRPr lang="en-US" sz="1600" dirty="0"/>
          </a:p>
        </p:txBody>
      </p:sp>
      <p:sp>
        <p:nvSpPr>
          <p:cNvPr id="7" name="Text 5"/>
          <p:cNvSpPr txBox="1"/>
          <p:nvPr/>
        </p:nvSpPr>
        <p:spPr>
          <a:xfrm>
            <a:off x="502920" y="2663952"/>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task runs later, at a time the code that created it does not control. If a lambda captures a local variable by reference, with [&amp;], it stores a reference to that variable. By the time the worker runs the task, the function that created it may have returned, and the variable is gone. The reference now points to memory that belongs to something else. So tasks that go into a queue should capture by value, with [=] or by naming the variables, so each task carries its own copies.</a:t>
            </a:r>
            <a:endParaRPr lang="en-US" sz="15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task queue</a:t>
            </a:r>
            <a:endParaRPr lang="en-US" sz="18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Shape 2"/>
          <p:cNvSpPr/>
          <p:nvPr/>
        </p:nvSpPr>
        <p:spPr>
          <a:xfrm>
            <a:off x="502920" y="1234440"/>
            <a:ext cx="5387188" cy="4949952"/>
          </a:xfrm>
          <a:prstGeom prst="roundRect">
            <a:avLst>
              <a:gd name="adj" fmla="val 1108"/>
            </a:avLst>
          </a:prstGeom>
          <a:solidFill>
            <a:srgbClr val="1E2230"/>
          </a:solidFill>
          <a:ln w="12700">
            <a:solidFill>
              <a:srgbClr val="1E2230"/>
            </a:solidFill>
            <a:prstDash val="solid"/>
          </a:ln>
        </p:spPr>
      </p:sp>
      <p:sp>
        <p:nvSpPr>
          <p:cNvPr id="5" name="Text 3"/>
          <p:cNvSpPr txBox="1"/>
          <p:nvPr/>
        </p:nvSpPr>
        <p:spPr>
          <a:xfrm>
            <a:off x="685800" y="1371600"/>
            <a:ext cx="5021428" cy="467563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std::function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run the task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on_error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std::current_exception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wake the worker</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 for it to finish</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6301588"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worker loop is our consumer from v6. wait_and_pop() returns a task, or nullopt after shutdown, which ends the loop. Each task runs inside try and catch, so a failing task cannot kill the program. std::current_exception() captures the exception that was caught into a std::exception_ptr, a value we can pass to an error handler. The destructor shuts the queue down and joins the worker, so destroying a TaskQueue always finishes cleanly.</a:t>
            </a:r>
            <a:endParaRPr lang="en-US" sz="1500" dirty="0"/>
          </a:p>
        </p:txBody>
      </p:sp>
      <p:sp>
        <p:nvSpPr>
          <p:cNvPr id="7" name="Text 5"/>
          <p:cNvSpPr txBox="1"/>
          <p:nvPr/>
        </p:nvSpPr>
        <p:spPr>
          <a:xfrm>
            <a:off x="6301588" y="323697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Notice what is still missing. If a task fails, the code that submitted it never finds out. And if a task computes something, there is no way to get the result back. We fix both in v10.</a:t>
            </a:r>
            <a:endParaRPr lang="en-US" sz="1500" dirty="0"/>
          </a:p>
        </p:txBody>
      </p:sp>
      <p:sp>
        <p:nvSpPr>
          <p:cNvPr id="8" name="Shape 6"/>
          <p:cNvSpPr/>
          <p:nvPr/>
        </p:nvSpPr>
        <p:spPr>
          <a:xfrm>
            <a:off x="6301588" y="4325112"/>
            <a:ext cx="5387188" cy="1234440"/>
          </a:xfrm>
          <a:prstGeom prst="roundRect">
            <a:avLst>
              <a:gd name="adj" fmla="val 4444"/>
            </a:avLst>
          </a:prstGeom>
          <a:solidFill>
            <a:srgbClr val="E3F2EF"/>
          </a:solidFill>
          <a:ln w="12700">
            <a:solidFill>
              <a:srgbClr val="E3F2EF"/>
            </a:solidFill>
            <a:prstDash val="solid"/>
          </a:ln>
        </p:spPr>
      </p:sp>
      <p:sp>
        <p:nvSpPr>
          <p:cNvPr id="9" name="Text 7"/>
          <p:cNvSpPr txBox="1"/>
          <p:nvPr/>
        </p:nvSpPr>
        <p:spPr>
          <a:xfrm>
            <a:off x="6530188" y="445312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0" name="Text 8"/>
          <p:cNvSpPr txBox="1"/>
          <p:nvPr/>
        </p:nvSpPr>
        <p:spPr>
          <a:xfrm>
            <a:off x="6530188" y="4745736"/>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This worker loop, unchanged, is what every worker in our thread pool runs. Only the number of workers and the way results come back still change.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million empty tasks take 180 ms to go through the task queue. How much does one task cost, and where does that time go?</a:t>
            </a:r>
            <a:endParaRPr lang="en-US" sz="1500" dirty="0"/>
          </a:p>
        </p:txBody>
      </p:sp>
      <p:sp>
        <p:nvSpPr>
          <p:cNvPr id="6" name="Shape 4"/>
          <p:cNvSpPr/>
          <p:nvPr/>
        </p:nvSpPr>
        <p:spPr>
          <a:xfrm>
            <a:off x="502920" y="2551176"/>
            <a:ext cx="5387188" cy="1923288"/>
          </a:xfrm>
          <a:prstGeom prst="roundRect">
            <a:avLst>
              <a:gd name="adj" fmla="val 2853"/>
            </a:avLst>
          </a:prstGeom>
          <a:solidFill>
            <a:srgbClr val="F1F4F7"/>
          </a:solidFill>
          <a:ln w="12700">
            <a:solidFill>
              <a:srgbClr val="F1F4F7"/>
            </a:solidFill>
            <a:prstDash val="solid"/>
          </a:ln>
        </p:spPr>
      </p:sp>
      <p:sp>
        <p:nvSpPr>
          <p:cNvPr id="7" name="Text 5"/>
          <p:cNvSpPr txBox="1"/>
          <p:nvPr/>
        </p:nvSpPr>
        <p:spPr>
          <a:xfrm>
            <a:off x="685800" y="2679192"/>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180 ms divided by 1,000,000 is 180 nanoseconds per task. The task itself does nothing, so all of that is overhead: creating the std::function, locking the mutex to push, notifying, locking again to pop, and making the call. That is three times more than the 60 ns push and pop of v0. It tells us a task should do a reasonable amount of work, or the overhead will be bigger than the work itself.</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void f() { int x = 1; tasks.push([&amp;] { print(x); }); } Trace what happens.</a:t>
            </a:r>
            <a:endParaRPr lang="en-US" sz="1500" dirty="0"/>
          </a:p>
        </p:txBody>
      </p:sp>
      <p:sp>
        <p:nvSpPr>
          <p:cNvPr id="9" name="Shape 7"/>
          <p:cNvSpPr/>
          <p:nvPr/>
        </p:nvSpPr>
        <p:spPr>
          <a:xfrm>
            <a:off x="6301588" y="1792224"/>
            <a:ext cx="5387188" cy="2136648"/>
          </a:xfrm>
          <a:prstGeom prst="roundRect">
            <a:avLst>
              <a:gd name="adj" fmla="val 2568"/>
            </a:avLst>
          </a:prstGeom>
          <a:solidFill>
            <a:srgbClr val="F1F4F7"/>
          </a:solidFill>
          <a:ln w="12700">
            <a:solidFill>
              <a:srgbClr val="F1F4F7"/>
            </a:solidFill>
            <a:prstDash val="solid"/>
          </a:ln>
        </p:spPr>
      </p:sp>
      <p:sp>
        <p:nvSpPr>
          <p:cNvPr id="10" name="Text 8"/>
          <p:cNvSpPr txBox="1"/>
          <p:nvPr/>
        </p:nvSpPr>
        <p:spPr>
          <a:xfrm>
            <a:off x="6484468" y="1920240"/>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f() creates x and pushes a task that holds a reference to x, then returns. When f() returns, x is destroyed and its memory can be reused. Later the worker runs the task, which follows the reference to where x used to be and reads whatever happens to be there now. That is undefined behaviour: it might print 1, print garbage, or crash. Capturing [x] instead of [&amp;] gives the task its own copy, and it always prints 1.</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Putting work in the queue</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How could the code that submitted a task find out that the task failed?</a:t>
            </a:r>
            <a:endParaRPr lang="en-US" sz="1500" dirty="0"/>
          </a:p>
        </p:txBody>
      </p:sp>
      <p:sp>
        <p:nvSpPr>
          <p:cNvPr id="5" name="Shape 3"/>
          <p:cNvSpPr/>
          <p:nvPr/>
        </p:nvSpPr>
        <p:spPr>
          <a:xfrm>
            <a:off x="502920" y="1792224"/>
            <a:ext cx="5387188" cy="2350008"/>
          </a:xfrm>
          <a:prstGeom prst="roundRect">
            <a:avLst>
              <a:gd name="adj" fmla="val 2335"/>
            </a:avLst>
          </a:prstGeom>
          <a:solidFill>
            <a:srgbClr val="F1F4F7"/>
          </a:solidFill>
          <a:ln w="12700">
            <a:solidFill>
              <a:srgbClr val="F1F4F7"/>
            </a:solidFill>
            <a:prstDash val="solid"/>
          </a:ln>
        </p:spPr>
      </p:sp>
      <p:sp>
        <p:nvSpPr>
          <p:cNvPr id="6" name="Text 4"/>
          <p:cNvSpPr txBox="1"/>
          <p:nvPr/>
        </p:nvSpPr>
        <p:spPr>
          <a:xfrm>
            <a:off x="685800" y="1920240"/>
            <a:ext cx="5021428" cy="21214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worker could store the exception somewhere the submitter can reach, for example a std::exception_ptr inside a small shared object, together with a flag that says the task is done. The submitter would wait on that flag, and if an exception was stored, call std::rethrow_exception() to throw it again on its own thread. That is a lot of parts to build for every task. The standard library already has it, and it is called a future, which is exactly what v10 introduces.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v8: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v8 needs, file by file: queue.hpp, task_queue.hpp, main.cpp. If your version does not work, compare it with this one. Build and run it from the master folder with ./run.sh v8 main.</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a:t>
            </a:r>
            <a:endParaRPr lang="en-US" sz="1100" dirty="0"/>
          </a:p>
        </p:txBody>
      </p:sp>
      <p:sp>
        <p:nvSpPr>
          <p:cNvPr id="6" name="Shape 4"/>
          <p:cNvSpPr/>
          <p:nvPr/>
        </p:nvSpPr>
        <p:spPr>
          <a:xfrm>
            <a:off x="502920" y="2615184"/>
            <a:ext cx="5387188" cy="3684524"/>
          </a:xfrm>
          <a:prstGeom prst="roundRect">
            <a:avLst>
              <a:gd name="adj" fmla="val 1241"/>
            </a:avLst>
          </a:prstGeom>
          <a:solidFill>
            <a:srgbClr val="1E2230"/>
          </a:solidFill>
          <a:ln w="12700">
            <a:solidFill>
              <a:srgbClr val="1E2230"/>
            </a:solidFill>
            <a:prstDash val="solid"/>
          </a:ln>
        </p:spPr>
      </p:sp>
      <p:sp>
        <p:nvSpPr>
          <p:cNvPr id="7" name="Text 5"/>
          <p:cNvSpPr txBox="1"/>
          <p:nvPr/>
        </p:nvSpPr>
        <p:spPr>
          <a:xfrm>
            <a:off x="612648" y="2734056"/>
            <a:ext cx="5204308" cy="35016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v7 · Generic queue&lt;T&gt;</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Values are moved in and out, so move-only types (unique_ptr, tasks)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work and no item can be lost to a throwing copy.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utility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caller holds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9" name="Shape 7"/>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0" name="Text 8"/>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by value, then moved in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v8: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5" name="Shape 3"/>
          <p:cNvSpPr/>
          <p:nvPr/>
        </p:nvSpPr>
        <p:spPr>
          <a:xfrm>
            <a:off x="502920" y="1527048"/>
            <a:ext cx="5387188" cy="4733544"/>
          </a:xfrm>
          <a:prstGeom prst="roundRect">
            <a:avLst>
              <a:gd name="adj" fmla="val 966"/>
            </a:avLst>
          </a:prstGeom>
          <a:solidFill>
            <a:srgbClr val="1E2230"/>
          </a:solidFill>
          <a:ln w="12700">
            <a:solidFill>
              <a:srgbClr val="1E2230"/>
            </a:solidFill>
            <a:prstDash val="solid"/>
          </a:ln>
        </p:spPr>
      </p:sp>
      <p:sp>
        <p:nvSpPr>
          <p:cNvPr id="6" name="Text 4"/>
          <p:cNvSpPr txBox="1"/>
          <p:nvPr/>
        </p:nvSpPr>
        <p:spPr>
          <a:xfrm>
            <a:off x="612648"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closed and drained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std::scoped_lock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8" name="Shape 6"/>
          <p:cNvSpPr/>
          <p:nvPr/>
        </p:nvSpPr>
        <p:spPr>
          <a:xfrm>
            <a:off x="6301588" y="1527048"/>
            <a:ext cx="5387188" cy="2335784"/>
          </a:xfrm>
          <a:prstGeom prst="roundRect">
            <a:avLst>
              <a:gd name="adj" fmla="val 1957"/>
            </a:avLst>
          </a:prstGeom>
          <a:solidFill>
            <a:srgbClr val="1E2230"/>
          </a:solidFill>
          <a:ln w="12700">
            <a:solidFill>
              <a:srgbClr val="1E2230"/>
            </a:solidFill>
            <a:prstDash val="solid"/>
          </a:ln>
        </p:spPr>
      </p:sp>
      <p:sp>
        <p:nvSpPr>
          <p:cNvPr id="9" name="Text 7"/>
          <p:cNvSpPr txBox="1"/>
          <p:nvPr/>
        </p:nvSpPr>
        <p:spPr>
          <a:xfrm>
            <a:off x="6411316" y="1645920"/>
            <a:ext cx="5204308" cy="21529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400913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task_queue.hpp</a:t>
            </a:r>
            <a:endParaRPr lang="en-US" sz="1100" dirty="0"/>
          </a:p>
        </p:txBody>
      </p:sp>
      <p:sp>
        <p:nvSpPr>
          <p:cNvPr id="11" name="Shape 9"/>
          <p:cNvSpPr/>
          <p:nvPr/>
        </p:nvSpPr>
        <p:spPr>
          <a:xfrm>
            <a:off x="6301588" y="4301744"/>
            <a:ext cx="5387188" cy="2036064"/>
          </a:xfrm>
          <a:prstGeom prst="roundRect">
            <a:avLst>
              <a:gd name="adj" fmla="val 2246"/>
            </a:avLst>
          </a:prstGeom>
          <a:solidFill>
            <a:srgbClr val="1E2230"/>
          </a:solidFill>
          <a:ln w="12700">
            <a:solidFill>
              <a:srgbClr val="1E2230"/>
            </a:solidFill>
            <a:prstDash val="solid"/>
          </a:ln>
        </p:spPr>
      </p:sp>
      <p:sp>
        <p:nvSpPr>
          <p:cNvPr id="12" name="Text 10"/>
          <p:cNvSpPr txBox="1"/>
          <p:nvPr/>
        </p:nvSpPr>
        <p:spPr>
          <a:xfrm>
            <a:off x="6411316" y="4420616"/>
            <a:ext cx="5204308" cy="185318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v8 · Task queue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queue carries work: std::function&lt;void()&gt;. One worker thread</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runs tasks in order. A throwing task is caught in the worker (an</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exception can't cross threads by itself), so it can't kill it.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exception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functional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std::function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ErrorHandler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std::function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std::exception_ptr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v8</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v8: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task_queue.hpp (continued)</a:t>
            </a:r>
            <a:endParaRPr lang="en-US" sz="1100" dirty="0"/>
          </a:p>
        </p:txBody>
      </p:sp>
      <p:sp>
        <p:nvSpPr>
          <p:cNvPr id="5" name="Shape 3"/>
          <p:cNvSpPr/>
          <p:nvPr/>
        </p:nvSpPr>
        <p:spPr>
          <a:xfrm>
            <a:off x="502920" y="1527048"/>
            <a:ext cx="5387188" cy="4733544"/>
          </a:xfrm>
          <a:prstGeom prst="roundRect">
            <a:avLst>
              <a:gd name="adj" fmla="val 966"/>
            </a:avLst>
          </a:prstGeom>
          <a:solidFill>
            <a:srgbClr val="1E2230"/>
          </a:solidFill>
          <a:ln w="12700">
            <a:solidFill>
              <a:srgbClr val="1E2230"/>
            </a:solidFill>
            <a:prstDash val="solid"/>
          </a:ln>
        </p:spPr>
      </p:sp>
      <p:sp>
        <p:nvSpPr>
          <p:cNvPr id="6" name="Text 4"/>
          <p:cNvSpPr txBox="1"/>
          <p:nvPr/>
        </p:nvSpPr>
        <p:spPr>
          <a:xfrm>
            <a:off x="612648"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ignore_error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std::exception_ptr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ErrorHandler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v6's consumer loop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std::current_exception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explicit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ErrorHandler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handler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ignore_error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handler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task_queue.hpp (continued)</a:t>
            </a:r>
            <a:endParaRPr lang="en-US" sz="1100" dirty="0"/>
          </a:p>
        </p:txBody>
      </p:sp>
      <p:sp>
        <p:nvSpPr>
          <p:cNvPr id="8" name="Shape 6"/>
          <p:cNvSpPr/>
          <p:nvPr/>
        </p:nvSpPr>
        <p:spPr>
          <a:xfrm>
            <a:off x="6301588" y="1527048"/>
            <a:ext cx="5387188" cy="1136904"/>
          </a:xfrm>
          <a:prstGeom prst="roundRect">
            <a:avLst>
              <a:gd name="adj" fmla="val 4021"/>
            </a:avLst>
          </a:prstGeom>
          <a:solidFill>
            <a:srgbClr val="1E2230"/>
          </a:solidFill>
          <a:ln w="12700">
            <a:solidFill>
              <a:srgbClr val="1E2230"/>
            </a:solidFill>
            <a:prstDash val="solid"/>
          </a:ln>
        </p:spPr>
      </p:sp>
      <p:sp>
        <p:nvSpPr>
          <p:cNvPr id="9" name="Text 7"/>
          <p:cNvSpPr txBox="1"/>
          <p:nvPr/>
        </p:nvSpPr>
        <p:spPr>
          <a:xfrm>
            <a:off x="6411316" y="1645920"/>
            <a:ext cx="5204308" cy="9540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drain, then the worker leaves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281025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11" name="Shape 9"/>
          <p:cNvSpPr/>
          <p:nvPr/>
        </p:nvSpPr>
        <p:spPr>
          <a:xfrm>
            <a:off x="6301588" y="3102864"/>
            <a:ext cx="5387188" cy="2635504"/>
          </a:xfrm>
          <a:prstGeom prst="roundRect">
            <a:avLst>
              <a:gd name="adj" fmla="val 1735"/>
            </a:avLst>
          </a:prstGeom>
          <a:solidFill>
            <a:srgbClr val="1E2230"/>
          </a:solidFill>
          <a:ln w="12700">
            <a:solidFill>
              <a:srgbClr val="1E2230"/>
            </a:solidFill>
            <a:prstDash val="solid"/>
          </a:ln>
        </p:spPr>
      </p:sp>
      <p:sp>
        <p:nvSpPr>
          <p:cNvPr id="12" name="Text 10"/>
          <p:cNvSpPr txBox="1"/>
          <p:nvPr/>
        </p:nvSpPr>
        <p:spPr>
          <a:xfrm>
            <a:off x="6411316" y="3221736"/>
            <a:ext cx="5204308" cy="245262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v8: hand work to one worker thread.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stdexcept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"task_queue.hpp"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std::exception_ptr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error handler</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std::rethrow_exception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std::exception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"task failed: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what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"task 1\n"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"disk full"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"task 3 still runs\n"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~TaskQueue: drain, then join the worker</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pool of workers</a:t>
            </a:r>
            <a:endParaRPr lang="en-US" sz="1800" dirty="0"/>
          </a:p>
        </p:txBody>
      </p:sp>
      <p:sp>
        <p:nvSpPr>
          <p:cNvPr id="5" name="Text 3"/>
          <p:cNvSpPr txBox="1"/>
          <p:nvPr/>
        </p:nvSpPr>
        <p:spPr>
          <a:xfrm>
            <a:off x="502920"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task queue has one worker, so tasks run one after another. If one task takes a long time, every task behind it waits. The obvious step is to start several workers that all take tasks from the same queue. Whichever worker is free takes the next task. This is a thread pool.</a:t>
            </a:r>
            <a:endParaRPr lang="en-US" sz="1500" dirty="0"/>
          </a:p>
        </p:txBody>
      </p:sp>
      <p:sp>
        <p:nvSpPr>
          <p:cNvPr id="6" name="Shape 4"/>
          <p:cNvSpPr/>
          <p:nvPr/>
        </p:nvSpPr>
        <p:spPr>
          <a:xfrm>
            <a:off x="502920" y="3081528"/>
            <a:ext cx="5387188" cy="858774"/>
          </a:xfrm>
          <a:prstGeom prst="roundRect">
            <a:avLst>
              <a:gd name="adj" fmla="val 6389"/>
            </a:avLst>
          </a:prstGeom>
          <a:solidFill>
            <a:srgbClr val="F1F4F7"/>
          </a:solidFill>
          <a:ln w="12700">
            <a:solidFill>
              <a:srgbClr val="F1F4F7"/>
            </a:solidFill>
            <a:prstDash val="solid"/>
          </a:ln>
        </p:spPr>
      </p:sp>
      <p:sp>
        <p:nvSpPr>
          <p:cNvPr id="7" name="Text 5"/>
          <p:cNvSpPr txBox="1"/>
          <p:nvPr/>
        </p:nvSpPr>
        <p:spPr>
          <a:xfrm>
            <a:off x="685800" y="32186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submit(task) --&gt; [ task queue ] --&gt; worker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worker 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worker N</a:t>
            </a:r>
            <a:endParaRPr lang="en-US" sz="1300" dirty="0"/>
          </a:p>
        </p:txBody>
      </p:sp>
      <p:sp>
        <p:nvSpPr>
          <p:cNvPr id="8" name="Text 6"/>
          <p:cNvSpPr txBox="1"/>
          <p:nvPr/>
        </p:nvSpPr>
        <p:spPr>
          <a:xfrm>
            <a:off x="502920" y="4086606"/>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is already safe for many consumers, so each worker can run exactly the same loop as the single worker in v8. The pool just starts N of them.</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How many workers?</a:t>
            </a:r>
            <a:endParaRPr lang="en-US" sz="1800" dirty="0"/>
          </a:p>
        </p:txBody>
      </p:sp>
      <p:sp>
        <p:nvSpPr>
          <p:cNvPr id="10" name="Shape 8"/>
          <p:cNvSpPr/>
          <p:nvPr/>
        </p:nvSpPr>
        <p:spPr>
          <a:xfrm>
            <a:off x="6301588" y="1764792"/>
            <a:ext cx="5387188" cy="509016"/>
          </a:xfrm>
          <a:prstGeom prst="roundRect">
            <a:avLst>
              <a:gd name="adj" fmla="val 10778"/>
            </a:avLst>
          </a:prstGeom>
          <a:solidFill>
            <a:srgbClr val="FBEDE3"/>
          </a:solidFill>
          <a:ln w="12700">
            <a:solidFill>
              <a:srgbClr val="FBEDE3"/>
            </a:solidFill>
            <a:prstDash val="solid"/>
          </a:ln>
        </p:spPr>
      </p:sp>
      <p:sp>
        <p:nvSpPr>
          <p:cNvPr id="11" name="Text 9"/>
          <p:cNvSpPr txBox="1"/>
          <p:nvPr/>
        </p:nvSpPr>
        <p:spPr>
          <a:xfrm>
            <a:off x="6530188" y="1901952"/>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Should I just start as many workers as possible?</a:t>
            </a:r>
            <a:endParaRPr lang="en-US" sz="1600" dirty="0"/>
          </a:p>
        </p:txBody>
      </p:sp>
      <p:sp>
        <p:nvSpPr>
          <p:cNvPr id="12" name="Text 10"/>
          <p:cNvSpPr txBox="1"/>
          <p:nvPr/>
        </p:nvSpPr>
        <p:spPr>
          <a:xfrm>
            <a:off x="6301588" y="242011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answer depends on what the tasks do, just like in v0. Take 64 tasks that each sleep for 100 ms. With one worker they run one after another: 64 x 100 ms = 6.4 s. With 20 workers, the first 20 tasks are picked up at t = 0 and sleep side by side. At 100 ms they finish and the next 20 start, then the next 20, then the last 4. Four rounds of 100 ms is about 0.4 s.</a:t>
            </a:r>
            <a:endParaRPr lang="en-US" sz="1500" dirty="0"/>
          </a:p>
        </p:txBody>
      </p:sp>
      <p:sp>
        <p:nvSpPr>
          <p:cNvPr id="13" name="Shape 11"/>
          <p:cNvSpPr/>
          <p:nvPr/>
        </p:nvSpPr>
        <p:spPr>
          <a:xfrm>
            <a:off x="6301588" y="4194048"/>
            <a:ext cx="5387188" cy="663956"/>
          </a:xfrm>
          <a:prstGeom prst="roundRect">
            <a:avLst>
              <a:gd name="adj" fmla="val 8263"/>
            </a:avLst>
          </a:prstGeom>
          <a:solidFill>
            <a:srgbClr val="F1F4F7"/>
          </a:solidFill>
          <a:ln w="12700">
            <a:solidFill>
              <a:srgbClr val="F1F4F7"/>
            </a:solidFill>
            <a:prstDash val="solid"/>
          </a:ln>
        </p:spPr>
      </p:sp>
      <p:sp>
        <p:nvSpPr>
          <p:cNvPr id="14" name="Text 12"/>
          <p:cNvSpPr txBox="1"/>
          <p:nvPr/>
        </p:nvSpPr>
        <p:spPr>
          <a:xfrm>
            <a:off x="6484468" y="4331208"/>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1 worker    |t1|t2|t3|t4| ... |t64|        6.4 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20 workers  |1..20|21..40|41..60|61..64|   ~0.4 s</a:t>
            </a:r>
            <a:endParaRPr lang="en-US" sz="1300" dirty="0"/>
          </a:p>
        </p:txBody>
      </p:sp>
      <p:sp>
        <p:nvSpPr>
          <p:cNvPr id="15" name="Shape 13"/>
          <p:cNvSpPr/>
          <p:nvPr/>
        </p:nvSpPr>
        <p:spPr>
          <a:xfrm>
            <a:off x="6301588" y="5004308"/>
            <a:ext cx="5387188" cy="858774"/>
          </a:xfrm>
          <a:prstGeom prst="roundRect">
            <a:avLst>
              <a:gd name="adj" fmla="val 6389"/>
            </a:avLst>
          </a:prstGeom>
          <a:solidFill>
            <a:srgbClr val="0F1419"/>
          </a:solidFill>
          <a:ln w="12700">
            <a:solidFill>
              <a:srgbClr val="0F1419"/>
            </a:solidFill>
            <a:prstDash val="solid"/>
          </a:ln>
        </p:spPr>
      </p:sp>
      <p:sp>
        <p:nvSpPr>
          <p:cNvPr id="16" name="Text 14"/>
          <p:cNvSpPr txBox="1"/>
          <p:nvPr/>
        </p:nvSpPr>
        <p:spPr>
          <a:xfrm>
            <a:off x="6484468" y="514146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v9 tiny_workers     (64 sleepy tasks)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 worker:   6.86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20 workers: 0.44 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make the tasks compute for 100 ms instead of sleeping. On a 4-core machine, at most 4 tasks can really run at the same instant, one per core. With 4 workers you get the full speed-up. With 20 workers, the 20 threads take turns on the same 4 cores, so the tasks do not finish any sooner, and the operating system wastes time switching between them. So for computing tasks, about one worker per core is right. For tasks that mostly wait, many more workers help.</a:t>
            </a:r>
            <a:endParaRPr lang="en-US" sz="1500" dirty="0"/>
          </a:p>
        </p:txBody>
      </p:sp>
      <p:sp>
        <p:nvSpPr>
          <p:cNvPr id="5" name="Text 3"/>
          <p:cNvSpPr txBox="1"/>
          <p:nvPr/>
        </p:nvSpPr>
        <p:spPr>
          <a:xfrm>
            <a:off x="502920" y="32918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order of destruction matters</a:t>
            </a:r>
            <a:endParaRPr lang="en-US" sz="1800" dirty="0"/>
          </a:p>
        </p:txBody>
      </p:sp>
      <p:sp>
        <p:nvSpPr>
          <p:cNvPr id="6" name="Shape 4"/>
          <p:cNvSpPr/>
          <p:nvPr/>
        </p:nvSpPr>
        <p:spPr>
          <a:xfrm>
            <a:off x="502920" y="3767328"/>
            <a:ext cx="5387188" cy="752856"/>
          </a:xfrm>
          <a:prstGeom prst="roundRect">
            <a:avLst>
              <a:gd name="adj" fmla="val 7287"/>
            </a:avLst>
          </a:prstGeom>
          <a:solidFill>
            <a:srgbClr val="FBEDE3"/>
          </a:solidFill>
          <a:ln w="12700">
            <a:solidFill>
              <a:srgbClr val="FBEDE3"/>
            </a:solidFill>
            <a:prstDash val="solid"/>
          </a:ln>
        </p:spPr>
      </p:sp>
      <p:sp>
        <p:nvSpPr>
          <p:cNvPr id="7" name="Text 5"/>
          <p:cNvSpPr txBox="1"/>
          <p:nvPr/>
        </p:nvSpPr>
        <p:spPr>
          <a:xfrm>
            <a:off x="731520" y="39044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happens to the workers when the pool object is destroyed?</a:t>
            </a:r>
            <a:endParaRPr lang="en-US" sz="1600" dirty="0"/>
          </a:p>
        </p:txBody>
      </p:sp>
      <p:sp>
        <p:nvSpPr>
          <p:cNvPr id="8" name="Text 6"/>
          <p:cNvSpPr txBox="1"/>
          <p:nvPr/>
        </p:nvSpPr>
        <p:spPr>
          <a:xfrm>
            <a:off x="502920" y="466648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When the pool is destroyed, the workers must be stopped and joined before the queue they read from disappears. C++ gives us control over this through a rule worth remembering: the members of a class are constructed in the order they are declared, and destroyed in the reverse order.</a:t>
            </a:r>
            <a:endParaRPr lang="en-US" sz="1500" dirty="0"/>
          </a:p>
        </p:txBody>
      </p:sp>
      <p:sp>
        <p:nvSpPr>
          <p:cNvPr id="9" name="Shape 7"/>
          <p:cNvSpPr/>
          <p:nvPr/>
        </p:nvSpPr>
        <p:spPr>
          <a:xfrm>
            <a:off x="6301588" y="1234440"/>
            <a:ext cx="5387188" cy="2417318"/>
          </a:xfrm>
          <a:prstGeom prst="roundRect">
            <a:avLst>
              <a:gd name="adj" fmla="val 2270"/>
            </a:avLst>
          </a:prstGeom>
          <a:solidFill>
            <a:srgbClr val="1E2230"/>
          </a:solidFill>
          <a:ln w="12700">
            <a:solidFill>
              <a:srgbClr val="1E2230"/>
            </a:solidFill>
            <a:prstDash val="solid"/>
          </a:ln>
        </p:spPr>
      </p:sp>
      <p:sp>
        <p:nvSpPr>
          <p:cNvPr id="10" name="Text 8"/>
          <p:cNvSpPr txBox="1"/>
          <p:nvPr/>
        </p:nvSpPr>
        <p:spPr>
          <a:xfrm>
            <a:off x="6484468" y="1371600"/>
            <a:ext cx="5021428" cy="214299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built first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built second</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explicit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1" name="Text 9"/>
          <p:cNvSpPr txBox="1"/>
          <p:nvPr/>
        </p:nvSpPr>
        <p:spPr>
          <a:xfrm>
            <a:off x="6301588" y="379806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what happens when a ThreadPool is destroyed, step by step.</a:t>
            </a:r>
            <a:endParaRPr lang="en-US" sz="1500" dirty="0"/>
          </a:p>
        </p:txBody>
      </p:sp>
      <p:sp>
        <p:nvSpPr>
          <p:cNvPr id="12" name="Shape 10"/>
          <p:cNvSpPr/>
          <p:nvPr/>
        </p:nvSpPr>
        <p:spPr>
          <a:xfrm>
            <a:off x="6301588" y="4428998"/>
            <a:ext cx="5387188" cy="1832864"/>
          </a:xfrm>
          <a:prstGeom prst="roundRect">
            <a:avLst>
              <a:gd name="adj" fmla="val 2993"/>
            </a:avLst>
          </a:prstGeom>
          <a:solidFill>
            <a:srgbClr val="F1F4F7"/>
          </a:solidFill>
          <a:ln w="12700">
            <a:solidFill>
              <a:srgbClr val="F1F4F7"/>
            </a:solidFill>
            <a:prstDash val="solid"/>
          </a:ln>
        </p:spPr>
      </p:sp>
      <p:sp>
        <p:nvSpPr>
          <p:cNvPr id="13" name="Text 11"/>
          <p:cNvSpPr txBox="1"/>
          <p:nvPr/>
        </p:nvSpPr>
        <p:spPr>
          <a:xfrm>
            <a:off x="6484468" y="4566158"/>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~ThreadPool()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1. destructor body runs: tasks.shutdown()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-&gt; sleeping workers wake up, finish the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remaining tasks, and their loops end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2. workers is destroyed (declared last):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ThreadGroup joins every thread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3. tasks is destroyed (declared first):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 thread is using it any more</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Two mistakes are easy to make here. If you declare workers before tasks, the queue is destroyed while the threads are still running and using it. If you forget the shutdown() call, step 2 waits forever, because the workers are asleep in wait_and_pop() and nobody ever wakes them.</a:t>
            </a:r>
            <a:endParaRPr lang="en-US" sz="1500" dirty="0"/>
          </a:p>
        </p:txBody>
      </p:sp>
      <p:sp>
        <p:nvSpPr>
          <p:cNvPr id="5" name="Shape 3"/>
          <p:cNvSpPr/>
          <p:nvPr/>
        </p:nvSpPr>
        <p:spPr>
          <a:xfrm>
            <a:off x="502920" y="2551176"/>
            <a:ext cx="5387188" cy="1234440"/>
          </a:xfrm>
          <a:prstGeom prst="roundRect">
            <a:avLst>
              <a:gd name="adj" fmla="val 4444"/>
            </a:avLst>
          </a:prstGeom>
          <a:solidFill>
            <a:srgbClr val="E3F2EF"/>
          </a:solidFill>
          <a:ln w="12700">
            <a:solidFill>
              <a:srgbClr val="E3F2EF"/>
            </a:solidFill>
            <a:prstDash val="solid"/>
          </a:ln>
        </p:spPr>
      </p:sp>
      <p:sp>
        <p:nvSpPr>
          <p:cNvPr id="6" name="Text 4"/>
          <p:cNvSpPr txBox="1"/>
          <p:nvPr/>
        </p:nvSpPr>
        <p:spPr>
          <a:xfrm>
            <a:off x="731520" y="2679192"/>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7" name="Text 5"/>
          <p:cNvSpPr txBox="1"/>
          <p:nvPr/>
        </p:nvSpPr>
        <p:spPr>
          <a:xfrm>
            <a:off x="731520" y="2971800"/>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This ThreadPool class is our execution engine. From now on every version only adds to it: results, cancellation, cheaper locking.</a:t>
            </a:r>
            <a:endParaRPr lang="en-US" sz="14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9" name="Text 7"/>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tasks each compute for 100 ms. The machine has 4 cores and the pool has 4 workers. Roughly how long does it take?</a:t>
            </a:r>
            <a:endParaRPr lang="en-US" sz="1500" dirty="0"/>
          </a:p>
        </p:txBody>
      </p:sp>
      <p:sp>
        <p:nvSpPr>
          <p:cNvPr id="10" name="Shape 8"/>
          <p:cNvSpPr/>
          <p:nvPr/>
        </p:nvSpPr>
        <p:spPr>
          <a:xfrm>
            <a:off x="6301588" y="2322576"/>
            <a:ext cx="5387188" cy="1709928"/>
          </a:xfrm>
          <a:prstGeom prst="roundRect">
            <a:avLst>
              <a:gd name="adj" fmla="val 3209"/>
            </a:avLst>
          </a:prstGeom>
          <a:solidFill>
            <a:srgbClr val="F1F4F7"/>
          </a:solidFill>
          <a:ln w="12700">
            <a:solidFill>
              <a:srgbClr val="F1F4F7"/>
            </a:solidFill>
            <a:prstDash val="solid"/>
          </a:ln>
        </p:spPr>
      </p:sp>
      <p:sp>
        <p:nvSpPr>
          <p:cNvPr id="11" name="Text 9"/>
          <p:cNvSpPr txBox="1"/>
          <p:nvPr/>
        </p:nvSpPr>
        <p:spPr>
          <a:xfrm>
            <a:off x="6484468"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Four tasks run at a time, one per core, and each takes 100 ms. 64 tasks divided by 4 workers is 16 rounds, and 16 rounds of 100 ms is about 1.6 seconds. Using 64 workers would not help: there are still only 4 cores, so the 64 threads would share them and the total stays around 1.6 s, plus some time lost to switching.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One worker is not enough</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pool is destroyed while 1,000 tasks are still waiting in the queue. What happens to them?</a:t>
            </a:r>
            <a:endParaRPr lang="en-US" sz="1500" dirty="0"/>
          </a:p>
        </p:txBody>
      </p:sp>
      <p:sp>
        <p:nvSpPr>
          <p:cNvPr id="5" name="Shape 3"/>
          <p:cNvSpPr/>
          <p:nvPr/>
        </p:nvSpPr>
        <p:spPr>
          <a:xfrm>
            <a:off x="502920" y="1792224"/>
            <a:ext cx="5387188" cy="1923288"/>
          </a:xfrm>
          <a:prstGeom prst="roundRect">
            <a:avLst>
              <a:gd name="adj" fmla="val 2853"/>
            </a:avLst>
          </a:prstGeom>
          <a:solidFill>
            <a:srgbClr val="F1F4F7"/>
          </a:solidFill>
          <a:ln w="12700">
            <a:solidFill>
              <a:srgbClr val="F1F4F7"/>
            </a:solidFill>
            <a:prstDash val="solid"/>
          </a:ln>
        </p:spPr>
      </p:sp>
      <p:sp>
        <p:nvSpPr>
          <p:cNvPr id="6" name="Text 4"/>
          <p:cNvSpPr txBox="1"/>
          <p:nvPr/>
        </p:nvSpPr>
        <p:spPr>
          <a:xfrm>
            <a:off x="685800" y="1920240"/>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They all run. The destructor calls shutdown(), which sets the closed flag and wakes the workers. But wait_and_pop() only returns nullopt when the queue is closed and empty. As long as tasks are left, each worker keeps getting tasks and running them. Only when the last task is taken do the workers see an empty, closed queue and leave their loops, and then they are joined.</a:t>
            </a:r>
            <a:endParaRPr lang="en-US" sz="1400" dirty="0"/>
          </a:p>
        </p:txBody>
      </p:sp>
      <p:sp>
        <p:nvSpPr>
          <p:cNvPr id="7" name="Text 5"/>
          <p:cNvSpPr txBox="1"/>
          <p:nvPr/>
        </p:nvSpPr>
        <p:spPr>
          <a:xfrm>
            <a:off x="502920" y="386181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100,000 tiny tasks that do almost nothing do not get faster when you add workers. Why?</a:t>
            </a:r>
            <a:endParaRPr lang="en-US" sz="1500" dirty="0"/>
          </a:p>
        </p:txBody>
      </p:sp>
      <p:sp>
        <p:nvSpPr>
          <p:cNvPr id="8" name="Shape 6"/>
          <p:cNvSpPr/>
          <p:nvPr/>
        </p:nvSpPr>
        <p:spPr>
          <a:xfrm>
            <a:off x="502920" y="4419600"/>
            <a:ext cx="5387188" cy="1923288"/>
          </a:xfrm>
          <a:prstGeom prst="roundRect">
            <a:avLst>
              <a:gd name="adj" fmla="val 2853"/>
            </a:avLst>
          </a:prstGeom>
          <a:solidFill>
            <a:srgbClr val="F1F4F7"/>
          </a:solidFill>
          <a:ln w="12700">
            <a:solidFill>
              <a:srgbClr val="F1F4F7"/>
            </a:solidFill>
            <a:prstDash val="solid"/>
          </a:ln>
        </p:spPr>
      </p:sp>
      <p:sp>
        <p:nvSpPr>
          <p:cNvPr id="9" name="Text 7"/>
          <p:cNvSpPr txBox="1"/>
          <p:nvPr/>
        </p:nvSpPr>
        <p:spPr>
          <a:xfrm>
            <a:off x="685800" y="4547616"/>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Each tiny task needs a push and a pop on the queue, and both take the queue's one mutex. With more workers, more threads are trying to take that same mutex at the same moment, so they queue up for it. This is the contention we saw in v5. The real work is so small that the locking dominates, and adding workers only adds more threads to the line. Part 3 is about making that shared queue cheaper.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Eight workers, as slow as one</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realistic task downloads a page, does some expensive work with it, and stores the result in a vector that all the tasks share. Because the vector is shared, the first version protects the task with a lock.</a:t>
            </a:r>
            <a:endParaRPr lang="en-US" sz="1500" dirty="0"/>
          </a:p>
        </p:txBody>
      </p:sp>
      <p:sp>
        <p:nvSpPr>
          <p:cNvPr id="6" name="Shape 4"/>
          <p:cNvSpPr/>
          <p:nvPr/>
        </p:nvSpPr>
        <p:spPr>
          <a:xfrm>
            <a:off x="502920" y="2852928"/>
            <a:ext cx="5387188" cy="1443228"/>
          </a:xfrm>
          <a:prstGeom prst="roundRect">
            <a:avLst>
              <a:gd name="adj" fmla="val 3801"/>
            </a:avLst>
          </a:prstGeom>
          <a:solidFill>
            <a:srgbClr val="1E2230"/>
          </a:solidFill>
          <a:ln w="12700">
            <a:solidFill>
              <a:srgbClr val="1E2230"/>
            </a:solidFill>
            <a:prstDash val="solid"/>
          </a:ln>
        </p:spPr>
      </p:sp>
      <p:sp>
        <p:nvSpPr>
          <p:cNvPr id="7" name="Text 5"/>
          <p:cNvSpPr txBox="1"/>
          <p:nvPr/>
        </p:nvSpPr>
        <p:spPr>
          <a:xfrm>
            <a:off x="685800" y="2990088"/>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page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download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url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50 ms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expensive_calc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page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Shape 6"/>
          <p:cNvSpPr/>
          <p:nvPr/>
        </p:nvSpPr>
        <p:spPr>
          <a:xfrm>
            <a:off x="502920" y="4442460"/>
            <a:ext cx="5387188" cy="752856"/>
          </a:xfrm>
          <a:prstGeom prst="roundRect">
            <a:avLst>
              <a:gd name="adj" fmla="val 7287"/>
            </a:avLst>
          </a:prstGeom>
          <a:solidFill>
            <a:srgbClr val="FBEDE3"/>
          </a:solidFill>
          <a:ln w="12700">
            <a:solidFill>
              <a:srgbClr val="FBEDE3"/>
            </a:solidFill>
            <a:prstDash val="solid"/>
          </a:ln>
        </p:spPr>
      </p:sp>
      <p:sp>
        <p:nvSpPr>
          <p:cNvPr id="9" name="Text 7"/>
          <p:cNvSpPr txBox="1"/>
          <p:nvPr/>
        </p:nvSpPr>
        <p:spPr>
          <a:xfrm>
            <a:off x="731520" y="457962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It is protected by a lock, so it is correct. Is it fast?</a:t>
            </a:r>
            <a:endParaRPr lang="en-US" sz="1600" dirty="0"/>
          </a:p>
        </p:txBody>
      </p:sp>
      <p:sp>
        <p:nvSpPr>
          <p:cNvPr id="10" name="Text 8"/>
          <p:cNvSpPr txBox="1"/>
          <p:nvPr/>
        </p:nvSpPr>
        <p:spPr>
          <a:xfrm>
            <a:off x="502920" y="534162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run 64 of these on 8 workers and expect about eight times the speed. Instead it takes just as long as with one worker. To see why, go through the task line by line and ask: does this line touch data that other threads also use?</a:t>
            </a:r>
            <a:endParaRPr lang="en-US" sz="1500" dirty="0"/>
          </a:p>
        </p:txBody>
      </p:sp>
      <p:sp>
        <p:nvSpPr>
          <p:cNvPr id="11" name="Text 9"/>
          <p:cNvSpPr txBox="1"/>
          <p:nvPr/>
        </p:nvSpPr>
        <p:spPr>
          <a:xfrm>
            <a:off x="6301588"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download() works with its own local variables. expensive_calc() works on page, which is local. Only push_back() touches the shared results vector. But the lock is taken at the top of the task, so it is held for the whole 50 ms. While one worker holds it, the other seven are waiting at the door. Eight workers end up taking turns, one at a time.</a:t>
            </a:r>
            <a:endParaRPr lang="en-US" sz="1500" dirty="0"/>
          </a:p>
        </p:txBody>
      </p:sp>
      <p:sp>
        <p:nvSpPr>
          <p:cNvPr id="12" name="Shape 10"/>
          <p:cNvSpPr/>
          <p:nvPr/>
        </p:nvSpPr>
        <p:spPr>
          <a:xfrm>
            <a:off x="6301588" y="3008376"/>
            <a:ext cx="5387188" cy="2027682"/>
          </a:xfrm>
          <a:prstGeom prst="roundRect">
            <a:avLst>
              <a:gd name="adj" fmla="val 2706"/>
            </a:avLst>
          </a:prstGeom>
          <a:solidFill>
            <a:srgbClr val="F1F4F7"/>
          </a:solidFill>
          <a:ln w="12700">
            <a:solidFill>
              <a:srgbClr val="F1F4F7"/>
            </a:solidFill>
            <a:prstDash val="solid"/>
          </a:ln>
        </p:spPr>
      </p:sp>
      <p:sp>
        <p:nvSpPr>
          <p:cNvPr id="13" name="Text 11"/>
          <p:cNvSpPr txBox="1"/>
          <p:nvPr/>
        </p:nvSpPr>
        <p:spPr>
          <a:xfrm>
            <a:off x="6484468" y="3145536"/>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around the whole task</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w1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w2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w3                     ##########</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lock around push_back only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w1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w2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w3 ########|      | = the one locked line</a:t>
            </a:r>
            <a:endParaRPr lang="en-US" sz="1300" dirty="0"/>
          </a:p>
        </p:txBody>
      </p:sp>
      <p:sp>
        <p:nvSpPr>
          <p:cNvPr id="14" name="Text 12"/>
          <p:cNvSpPr txBox="1"/>
          <p:nvPr/>
        </p:nvSpPr>
        <p:spPr>
          <a:xfrm>
            <a:off x="6301588" y="5182362"/>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If we take the lock only around push_back(), the downloads and the calculations run in parallel, and the workers only take turns for the tiny moment it takes to add one element.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Shape 2"/>
          <p:cNvSpPr/>
          <p:nvPr/>
        </p:nvSpPr>
        <p:spPr>
          <a:xfrm>
            <a:off x="502920" y="1234440"/>
            <a:ext cx="5387188" cy="858774"/>
          </a:xfrm>
          <a:prstGeom prst="roundRect">
            <a:avLst>
              <a:gd name="adj" fmla="val 6389"/>
            </a:avLst>
          </a:prstGeom>
          <a:solidFill>
            <a:srgbClr val="0F1419"/>
          </a:solidFill>
          <a:ln w="12700">
            <a:solidFill>
              <a:srgbClr val="0F1419"/>
            </a:solidFill>
            <a:prstDash val="solid"/>
          </a:ln>
        </p:spPr>
      </p:sp>
      <p:sp>
        <p:nvSpPr>
          <p:cNvPr id="5" name="Text 3"/>
          <p:cNvSpPr txBox="1"/>
          <p:nvPr/>
        </p:nvSpPr>
        <p:spPr>
          <a:xfrm>
            <a:off x="685800"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v9 tiny_granularity</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lock everything: 3.2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lock push_back:  0.4 s</a:t>
            </a:r>
            <a:endParaRPr lang="en-US" sz="1300" dirty="0"/>
          </a:p>
        </p:txBody>
      </p:sp>
      <p:sp>
        <p:nvSpPr>
          <p:cNvPr id="6" name="Text 4"/>
          <p:cNvSpPr txBox="1"/>
          <p:nvPr/>
        </p:nvSpPr>
        <p:spPr>
          <a:xfrm>
            <a:off x="502920" y="223951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Same 64 results, eight times faster. How much code a lock covers is called its granularity. A lock that covers too much makes threads wait for no reason. The rule is to lock exactly the lines that touch shared data, and nothing else.</a:t>
            </a:r>
            <a:endParaRPr lang="en-US" sz="1500" dirty="0"/>
          </a:p>
        </p:txBody>
      </p:sp>
      <p:sp>
        <p:nvSpPr>
          <p:cNvPr id="7" name="Text 5"/>
          <p:cNvSpPr txBox="1"/>
          <p:nvPr/>
        </p:nvSpPr>
        <p:spPr>
          <a:xfrm>
            <a:off x="502920" y="338251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Many readers, one writer</a:t>
            </a:r>
            <a:endParaRPr lang="en-US" sz="1800" dirty="0"/>
          </a:p>
        </p:txBody>
      </p:sp>
      <p:sp>
        <p:nvSpPr>
          <p:cNvPr id="8" name="Shape 6"/>
          <p:cNvSpPr/>
          <p:nvPr/>
        </p:nvSpPr>
        <p:spPr>
          <a:xfrm>
            <a:off x="502920" y="3858006"/>
            <a:ext cx="5387188" cy="752856"/>
          </a:xfrm>
          <a:prstGeom prst="roundRect">
            <a:avLst>
              <a:gd name="adj" fmla="val 7287"/>
            </a:avLst>
          </a:prstGeom>
          <a:solidFill>
            <a:srgbClr val="FBEDE3"/>
          </a:solidFill>
          <a:ln w="12700">
            <a:solidFill>
              <a:srgbClr val="FBEDE3"/>
            </a:solidFill>
            <a:prstDash val="solid"/>
          </a:ln>
        </p:spPr>
      </p:sp>
      <p:sp>
        <p:nvSpPr>
          <p:cNvPr id="9" name="Text 7"/>
          <p:cNvSpPr txBox="1"/>
          <p:nvPr/>
        </p:nvSpPr>
        <p:spPr>
          <a:xfrm>
            <a:off x="731520" y="3995166"/>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Reading cannot break anything. Why should readers wait for each other?</a:t>
            </a:r>
            <a:endParaRPr lang="en-US" sz="1600" dirty="0"/>
          </a:p>
        </p:txBody>
      </p:sp>
      <p:sp>
        <p:nvSpPr>
          <p:cNvPr id="10" name="Text 8"/>
          <p:cNvSpPr txBox="1"/>
          <p:nvPr/>
        </p:nvSpPr>
        <p:spPr>
          <a:xfrm>
            <a:off x="502920" y="475716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 task also looks up a host name in a shared DNS cache, a map from names to addresses. Almost every access is a read, and the cache is updated only now and then. With a normal mutex, two readers have to wait for each other, even though two threads reading the same map at the same time is perfectly safe. Only a writer needs everyone else to stay out.</a:t>
            </a:r>
            <a:endParaRPr lang="en-US" sz="1500" dirty="0"/>
          </a:p>
        </p:txBody>
      </p:sp>
      <p:sp>
        <p:nvSpPr>
          <p:cNvPr id="11" name="Text 9"/>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std::shared_mutex supports exactly this. Many threads can hold it at once in shared mode, using std::shared_lock, as long as nobody holds it in exclusive mode. A writer takes it in exclusive mode, using std::unique_lock, and then nobody else can hold it at all.</a:t>
            </a:r>
            <a:endParaRPr lang="en-US" sz="1500" dirty="0"/>
          </a:p>
        </p:txBody>
      </p:sp>
      <p:sp>
        <p:nvSpPr>
          <p:cNvPr id="12" name="Shape 10"/>
          <p:cNvSpPr/>
          <p:nvPr/>
        </p:nvSpPr>
        <p:spPr>
          <a:xfrm>
            <a:off x="6301588" y="2551176"/>
            <a:ext cx="5387188" cy="3391408"/>
          </a:xfrm>
          <a:prstGeom prst="roundRect">
            <a:avLst>
              <a:gd name="adj" fmla="val 1618"/>
            </a:avLst>
          </a:prstGeom>
          <a:solidFill>
            <a:srgbClr val="1E2230"/>
          </a:solidFill>
          <a:ln w="12700">
            <a:solidFill>
              <a:srgbClr val="1E2230"/>
            </a:solidFill>
            <a:prstDash val="solid"/>
          </a:ln>
        </p:spPr>
      </p:sp>
      <p:sp>
        <p:nvSpPr>
          <p:cNvPr id="13" name="Text 11"/>
          <p:cNvSpPr txBox="1"/>
          <p:nvPr/>
        </p:nvSpPr>
        <p:spPr>
          <a:xfrm>
            <a:off x="6484468" y="2688336"/>
            <a:ext cx="5021428" cy="3117088"/>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DnsCache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find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many readers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find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second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update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std::string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one writer</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entries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host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34440"/>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queue cannot benefit from a shared_mutex, because every queue operation changes the queue. There are no pure readers.</a:t>
            </a:r>
            <a:endParaRPr lang="en-US" sz="1500" dirty="0"/>
          </a:p>
        </p:txBody>
      </p:sp>
      <p:sp>
        <p:nvSpPr>
          <p:cNvPr id="5" name="Text 3"/>
          <p:cNvSpPr txBox="1"/>
          <p:nvPr/>
        </p:nvSpPr>
        <p:spPr>
          <a:xfrm>
            <a:off x="502920" y="21488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Creating something exactly once</a:t>
            </a:r>
            <a:endParaRPr lang="en-US" sz="1800" dirty="0"/>
          </a:p>
        </p:txBody>
      </p:sp>
      <p:sp>
        <p:nvSpPr>
          <p:cNvPr id="6" name="Shape 4"/>
          <p:cNvSpPr/>
          <p:nvPr/>
        </p:nvSpPr>
        <p:spPr>
          <a:xfrm>
            <a:off x="502920" y="2624328"/>
            <a:ext cx="5387188" cy="752856"/>
          </a:xfrm>
          <a:prstGeom prst="roundRect">
            <a:avLst>
              <a:gd name="adj" fmla="val 7287"/>
            </a:avLst>
          </a:prstGeom>
          <a:solidFill>
            <a:srgbClr val="FBEDE3"/>
          </a:solidFill>
          <a:ln w="12700">
            <a:solidFill>
              <a:srgbClr val="FBEDE3"/>
            </a:solidFill>
            <a:prstDash val="solid"/>
          </a:ln>
        </p:spPr>
      </p:sp>
      <p:sp>
        <p:nvSpPr>
          <p:cNvPr id="7" name="Text 5"/>
          <p:cNvSpPr txBox="1"/>
          <p:nvPr/>
        </p:nvSpPr>
        <p:spPr>
          <a:xfrm>
            <a:off x="731520" y="27614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If many threads ask for the pool at the same moment, who creates it?</a:t>
            </a:r>
            <a:endParaRPr lang="en-US" sz="1600" dirty="0"/>
          </a:p>
        </p:txBody>
      </p:sp>
      <p:sp>
        <p:nvSpPr>
          <p:cNvPr id="8" name="Text 6"/>
          <p:cNvSpPr txBox="1"/>
          <p:nvPr/>
        </p:nvSpPr>
        <p:spPr>
          <a:xfrm>
            <a:off x="502920" y="352348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Many parts of a program want to use one shared pool, so we write a function default_pool() that creates it the first time it is called. The tempting version is: if (!pool) pool = new ThreadPool(4);. If two threads call it at the same time, both can see that pool is null, and both create a pool. One of them is leaked, and the read and write of pool without a lock is a data race.</a:t>
            </a:r>
            <a:endParaRPr lang="en-US" sz="1500" dirty="0"/>
          </a:p>
        </p:txBody>
      </p:sp>
      <p:sp>
        <p:nvSpPr>
          <p:cNvPr id="9" name="Text 7"/>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 solves this for us. A static local variable is initialised the first time control passes through it, and the language guarantees that this happens exactly once, even if several threads arrive at the same moment. The others simply wait until it is ready.</a:t>
            </a:r>
            <a:endParaRPr lang="en-US" sz="1500" dirty="0"/>
          </a:p>
        </p:txBody>
      </p:sp>
      <p:sp>
        <p:nvSpPr>
          <p:cNvPr id="10" name="Shape 8"/>
          <p:cNvSpPr/>
          <p:nvPr/>
        </p:nvSpPr>
        <p:spPr>
          <a:xfrm>
            <a:off x="6301588" y="2551176"/>
            <a:ext cx="5387188" cy="1053592"/>
          </a:xfrm>
          <a:prstGeom prst="roundRect">
            <a:avLst>
              <a:gd name="adj" fmla="val 5207"/>
            </a:avLst>
          </a:prstGeom>
          <a:solidFill>
            <a:srgbClr val="1E2230"/>
          </a:solidFill>
          <a:ln w="12700">
            <a:solidFill>
              <a:srgbClr val="1E2230"/>
            </a:solidFill>
            <a:prstDash val="solid"/>
          </a:ln>
        </p:spPr>
      </p:sp>
      <p:sp>
        <p:nvSpPr>
          <p:cNvPr id="11" name="Text 9"/>
          <p:cNvSpPr txBox="1"/>
          <p:nvPr/>
        </p:nvSpPr>
        <p:spPr>
          <a:xfrm>
            <a:off x="6484468" y="2688336"/>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default_pool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static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created once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2" name="Shape 10"/>
          <p:cNvSpPr/>
          <p:nvPr/>
        </p:nvSpPr>
        <p:spPr>
          <a:xfrm>
            <a:off x="6301588" y="3751072"/>
            <a:ext cx="5387188" cy="1447800"/>
          </a:xfrm>
          <a:prstGeom prst="roundRect">
            <a:avLst>
              <a:gd name="adj" fmla="val 3789"/>
            </a:avLst>
          </a:prstGeom>
          <a:solidFill>
            <a:srgbClr val="E3F2EF"/>
          </a:solidFill>
          <a:ln w="12700">
            <a:solidFill>
              <a:srgbClr val="E3F2EF"/>
            </a:solidFill>
            <a:prstDash val="solid"/>
          </a:ln>
        </p:spPr>
      </p:sp>
      <p:sp>
        <p:nvSpPr>
          <p:cNvPr id="13" name="Text 11"/>
          <p:cNvSpPr txBox="1"/>
          <p:nvPr/>
        </p:nvSpPr>
        <p:spPr>
          <a:xfrm>
            <a:off x="6530188" y="387908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4" name="Text 12"/>
          <p:cNvSpPr txBox="1"/>
          <p:nvPr/>
        </p:nvSpPr>
        <p:spPr>
          <a:xfrm>
            <a:off x="6530188" y="4171696"/>
            <a:ext cx="4929988" cy="91744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Tasks in our projects will share caches and result lists. Lock only the line that touches them, use shared_mutex where reads dominate, and use a static for things created once.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Real workloads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64 tasks of 50 ms each run on 8 workers, with the lock taken only around push_back(). Roughly how long does it take?</a:t>
            </a:r>
            <a:endParaRPr lang="en-US" sz="1500" dirty="0"/>
          </a:p>
        </p:txBody>
      </p:sp>
      <p:sp>
        <p:nvSpPr>
          <p:cNvPr id="6" name="Shape 4"/>
          <p:cNvSpPr/>
          <p:nvPr/>
        </p:nvSpPr>
        <p:spPr>
          <a:xfrm>
            <a:off x="502920" y="2551176"/>
            <a:ext cx="5387188" cy="1709928"/>
          </a:xfrm>
          <a:prstGeom prst="roundRect">
            <a:avLst>
              <a:gd name="adj" fmla="val 3209"/>
            </a:avLst>
          </a:prstGeom>
          <a:solidFill>
            <a:srgbClr val="F1F4F7"/>
          </a:solidFill>
          <a:ln w="12700">
            <a:solidFill>
              <a:srgbClr val="F1F4F7"/>
            </a:solidFill>
            <a:prstDash val="solid"/>
          </a:ln>
        </p:spPr>
      </p:sp>
      <p:sp>
        <p:nvSpPr>
          <p:cNvPr id="7" name="Text 5"/>
          <p:cNvSpPr txBox="1"/>
          <p:nvPr/>
        </p:nvSpPr>
        <p:spPr>
          <a:xfrm>
            <a:off x="685800" y="26791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50 ms of downloading and computing now runs in parallel on all 8 workers, so they finish 8 tasks every 50 ms. 64 tasks divided by 8 workers is 8 rounds, and 8 x 50 ms = 0.4 seconds. The push_back() calls still take turns, but each takes well under a microsecond, so they add almost nothing. That matches the 0.4 s we measured.</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high score table is read 1,000 times a second and updated once a minute. Which kind of lock should protect it?</a:t>
            </a:r>
            <a:endParaRPr lang="en-US" sz="1500" dirty="0"/>
          </a:p>
        </p:txBody>
      </p:sp>
      <p:sp>
        <p:nvSpPr>
          <p:cNvPr id="9" name="Shape 7"/>
          <p:cNvSpPr/>
          <p:nvPr/>
        </p:nvSpPr>
        <p:spPr>
          <a:xfrm>
            <a:off x="6301588" y="1792224"/>
            <a:ext cx="5387188" cy="1923288"/>
          </a:xfrm>
          <a:prstGeom prst="roundRect">
            <a:avLst>
              <a:gd name="adj" fmla="val 2853"/>
            </a:avLst>
          </a:prstGeom>
          <a:solidFill>
            <a:srgbClr val="F1F4F7"/>
          </a:solidFill>
          <a:ln w="12700">
            <a:solidFill>
              <a:srgbClr val="F1F4F7"/>
            </a:solidFill>
            <a:prstDash val="solid"/>
          </a:ln>
        </p:spPr>
      </p:sp>
      <p:sp>
        <p:nvSpPr>
          <p:cNvPr id="10" name="Text 8"/>
          <p:cNvSpPr txBox="1"/>
          <p:nvPr/>
        </p:nvSpPr>
        <p:spPr>
          <a:xfrm>
            <a:off x="6484468" y="1920240"/>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 std::shared_mutex. Readers take it with std::shared_lock, so any number of them can read at the same time without waiting for each other. The rare update takes it with std::unique_lock, which waits for the current readers to finish and keeps new ones out while it writes. With a plain mutex, all 1,000 readers per second would have to queue up one behind another for no reason.</a:t>
            </a:r>
            <a:endParaRPr lang="en-US" sz="1400" dirty="0"/>
          </a:p>
        </p:txBody>
      </p:sp>
      <p:sp>
        <p:nvSpPr>
          <p:cNvPr id="11" name="Text 9"/>
          <p:cNvSpPr txBox="1"/>
          <p:nvPr/>
        </p:nvSpPr>
        <p:spPr>
          <a:xfrm>
            <a:off x="6301588" y="386181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Name two things you should never do while holding a lock, and say why.</a:t>
            </a:r>
            <a:endParaRPr lang="en-US" sz="1500" dirty="0"/>
          </a:p>
        </p:txBody>
      </p:sp>
      <p:sp>
        <p:nvSpPr>
          <p:cNvPr id="12" name="Shape 10"/>
          <p:cNvSpPr/>
          <p:nvPr/>
        </p:nvSpPr>
        <p:spPr>
          <a:xfrm>
            <a:off x="6301588" y="4419600"/>
            <a:ext cx="5387188" cy="1923288"/>
          </a:xfrm>
          <a:prstGeom prst="roundRect">
            <a:avLst>
              <a:gd name="adj" fmla="val 2853"/>
            </a:avLst>
          </a:prstGeom>
          <a:solidFill>
            <a:srgbClr val="F1F4F7"/>
          </a:solidFill>
          <a:ln w="12700">
            <a:solidFill>
              <a:srgbClr val="F1F4F7"/>
            </a:solidFill>
            <a:prstDash val="solid"/>
          </a:ln>
        </p:spPr>
      </p:sp>
      <p:sp>
        <p:nvSpPr>
          <p:cNvPr id="13" name="Text 11"/>
          <p:cNvSpPr txBox="1"/>
          <p:nvPr/>
        </p:nvSpPr>
        <p:spPr>
          <a:xfrm>
            <a:off x="6484468" y="4547616"/>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First, do not call code you do not control, like a callback or a function that does input and output. It might be slow, which makes every other thread wait, or it might try to take the same lock, which deadlocks. Second, do not hand out a pointer or reference to the protected data. The caller would then use the data after the lock is released, without any protection, and the lock would be pointless.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v9: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v9 needs, file by file: queue.hpp, thread_group.hpp, pool.hpp, main.cpp. If your version does not work, compare it with this one. Build and run it from the master folder with ./run.sh v9 main.</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a:t>
            </a:r>
            <a:endParaRPr lang="en-US" sz="1100" dirty="0"/>
          </a:p>
        </p:txBody>
      </p:sp>
      <p:sp>
        <p:nvSpPr>
          <p:cNvPr id="6" name="Shape 4"/>
          <p:cNvSpPr/>
          <p:nvPr/>
        </p:nvSpPr>
        <p:spPr>
          <a:xfrm>
            <a:off x="502920" y="2615184"/>
            <a:ext cx="5387188" cy="3684524"/>
          </a:xfrm>
          <a:prstGeom prst="roundRect">
            <a:avLst>
              <a:gd name="adj" fmla="val 1241"/>
            </a:avLst>
          </a:prstGeom>
          <a:solidFill>
            <a:srgbClr val="1E2230"/>
          </a:solidFill>
          <a:ln w="12700">
            <a:solidFill>
              <a:srgbClr val="1E2230"/>
            </a:solidFill>
            <a:prstDash val="solid"/>
          </a:ln>
        </p:spPr>
      </p:sp>
      <p:sp>
        <p:nvSpPr>
          <p:cNvPr id="7" name="Text 5"/>
          <p:cNvSpPr txBox="1"/>
          <p:nvPr/>
        </p:nvSpPr>
        <p:spPr>
          <a:xfrm>
            <a:off x="612648" y="2734056"/>
            <a:ext cx="5204308" cy="35016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v7 · Generic queue&lt;T&gt;</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Values are moved in and out, so move-only types (unique_ptr, tasks)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work and no item can be lost to a throwing copy.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utility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caller holds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9" name="Shape 7"/>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0" name="Text 8"/>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by value, then moved in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v9: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5" name="Shape 3"/>
          <p:cNvSpPr/>
          <p:nvPr/>
        </p:nvSpPr>
        <p:spPr>
          <a:xfrm>
            <a:off x="502920" y="1527048"/>
            <a:ext cx="5387188" cy="4733544"/>
          </a:xfrm>
          <a:prstGeom prst="roundRect">
            <a:avLst>
              <a:gd name="adj" fmla="val 966"/>
            </a:avLst>
          </a:prstGeom>
          <a:solidFill>
            <a:srgbClr val="1E2230"/>
          </a:solidFill>
          <a:ln w="12700">
            <a:solidFill>
              <a:srgbClr val="1E2230"/>
            </a:solidFill>
            <a:prstDash val="solid"/>
          </a:ln>
        </p:spPr>
      </p:sp>
      <p:sp>
        <p:nvSpPr>
          <p:cNvPr id="6" name="Text 4"/>
          <p:cNvSpPr txBox="1"/>
          <p:nvPr/>
        </p:nvSpPr>
        <p:spPr>
          <a:xfrm>
            <a:off x="612648"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closed and drained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std::scoped_lock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8" name="Shape 6"/>
          <p:cNvSpPr/>
          <p:nvPr/>
        </p:nvSpPr>
        <p:spPr>
          <a:xfrm>
            <a:off x="6301588" y="1527048"/>
            <a:ext cx="5387188" cy="2335784"/>
          </a:xfrm>
          <a:prstGeom prst="roundRect">
            <a:avLst>
              <a:gd name="adj" fmla="val 1957"/>
            </a:avLst>
          </a:prstGeom>
          <a:solidFill>
            <a:srgbClr val="1E2230"/>
          </a:solidFill>
          <a:ln w="12700">
            <a:solidFill>
              <a:srgbClr val="1E2230"/>
            </a:solidFill>
            <a:prstDash val="solid"/>
          </a:ln>
        </p:spPr>
      </p:sp>
      <p:sp>
        <p:nvSpPr>
          <p:cNvPr id="9" name="Text 7"/>
          <p:cNvSpPr txBox="1"/>
          <p:nvPr/>
        </p:nvSpPr>
        <p:spPr>
          <a:xfrm>
            <a:off x="6411316" y="1645920"/>
            <a:ext cx="5204308" cy="21529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400913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a:t>
            </a:r>
            <a:endParaRPr lang="en-US" sz="1100" dirty="0"/>
          </a:p>
        </p:txBody>
      </p:sp>
      <p:sp>
        <p:nvSpPr>
          <p:cNvPr id="11" name="Shape 9"/>
          <p:cNvSpPr/>
          <p:nvPr/>
        </p:nvSpPr>
        <p:spPr>
          <a:xfrm>
            <a:off x="6301588" y="4301744"/>
            <a:ext cx="5387188" cy="2036064"/>
          </a:xfrm>
          <a:prstGeom prst="roundRect">
            <a:avLst>
              <a:gd name="adj" fmla="val 2246"/>
            </a:avLst>
          </a:prstGeom>
          <a:solidFill>
            <a:srgbClr val="1E2230"/>
          </a:solidFill>
          <a:ln w="12700">
            <a:solidFill>
              <a:srgbClr val="1E2230"/>
            </a:solidFill>
            <a:prstDash val="solid"/>
          </a:ln>
        </p:spPr>
      </p:sp>
      <p:sp>
        <p:nvSpPr>
          <p:cNvPr id="12" name="Text 10"/>
          <p:cNvSpPr txBox="1"/>
          <p:nvPr/>
        </p:nvSpPr>
        <p:spPr>
          <a:xfrm>
            <a:off x="6411316" y="4420616"/>
            <a:ext cx="5204308" cy="185318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 RAII owner for threads. Every thread added is joined in the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destructor, on every exit path, including exceptions.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default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v9: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 (continued)</a:t>
            </a:r>
            <a:endParaRPr lang="en-US" sz="1100" dirty="0"/>
          </a:p>
        </p:txBody>
      </p:sp>
      <p:sp>
        <p:nvSpPr>
          <p:cNvPr id="5" name="Shape 3"/>
          <p:cNvSpPr/>
          <p:nvPr/>
        </p:nvSpPr>
        <p:spPr>
          <a:xfrm>
            <a:off x="502920" y="1527048"/>
            <a:ext cx="5387188" cy="1436624"/>
          </a:xfrm>
          <a:prstGeom prst="roundRect">
            <a:avLst>
              <a:gd name="adj" fmla="val 3182"/>
            </a:avLst>
          </a:prstGeom>
          <a:solidFill>
            <a:srgbClr val="1E2230"/>
          </a:solidFill>
          <a:ln w="12700">
            <a:solidFill>
              <a:srgbClr val="1E2230"/>
            </a:solidFill>
            <a:prstDash val="solid"/>
          </a:ln>
        </p:spPr>
      </p:sp>
      <p:sp>
        <p:nvSpPr>
          <p:cNvPr id="6" name="Text 4"/>
          <p:cNvSpPr txBox="1"/>
          <p:nvPr/>
        </p:nvSpPr>
        <p:spPr>
          <a:xfrm>
            <a:off x="612648" y="1645920"/>
            <a:ext cx="5204308" cy="12537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502920" y="31099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pool.hpp</a:t>
            </a:r>
            <a:endParaRPr lang="en-US" sz="1100" dirty="0"/>
          </a:p>
        </p:txBody>
      </p:sp>
      <p:sp>
        <p:nvSpPr>
          <p:cNvPr id="8" name="Shape 6"/>
          <p:cNvSpPr/>
          <p:nvPr/>
        </p:nvSpPr>
        <p:spPr>
          <a:xfrm>
            <a:off x="502920" y="3402584"/>
            <a:ext cx="5387188" cy="2935224"/>
          </a:xfrm>
          <a:prstGeom prst="roundRect">
            <a:avLst>
              <a:gd name="adj" fmla="val 1558"/>
            </a:avLst>
          </a:prstGeom>
          <a:solidFill>
            <a:srgbClr val="1E2230"/>
          </a:solidFill>
          <a:ln w="12700">
            <a:solidFill>
              <a:srgbClr val="1E2230"/>
            </a:solidFill>
            <a:prstDash val="solid"/>
          </a:ln>
        </p:spPr>
      </p:sp>
      <p:sp>
        <p:nvSpPr>
          <p:cNvPr id="9" name="Text 7"/>
          <p:cNvSpPr txBox="1"/>
          <p:nvPr/>
        </p:nvSpPr>
        <p:spPr>
          <a:xfrm>
            <a:off x="612648" y="3521456"/>
            <a:ext cx="5204308" cy="27523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v9 · Thread pool</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N workers share one task queue. tasks is declared first, so it is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destroyed last; workers is declared last, so it is joined first.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exception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functional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"thread_group.hpp"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std::function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Called from worker threads, so it must be thread-safe.</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ErrorHandler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std::function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std::exception_ptr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ignore_error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std::exception_ptr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default_workers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hardware_concurrency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pool.hpp (continued)</a:t>
            </a:r>
            <a:endParaRPr lang="en-US" sz="1100" dirty="0"/>
          </a:p>
        </p:txBody>
      </p:sp>
      <p:sp>
        <p:nvSpPr>
          <p:cNvPr id="11" name="Shape 9"/>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2" name="Text 10"/>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0 means "unknown"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destroyed last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ErrorHandler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destroyed (joined) first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std::current_exception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explicit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default_workers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ErrorHandler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handler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ignore_error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handler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v9</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v9: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pool.hpp (continued)</a:t>
            </a:r>
            <a:endParaRPr lang="en-US" sz="1100" dirty="0"/>
          </a:p>
        </p:txBody>
      </p:sp>
      <p:sp>
        <p:nvSpPr>
          <p:cNvPr id="5" name="Shape 3"/>
          <p:cNvSpPr/>
          <p:nvPr/>
        </p:nvSpPr>
        <p:spPr>
          <a:xfrm>
            <a:off x="502920" y="1527048"/>
            <a:ext cx="5387188" cy="1586484"/>
          </a:xfrm>
          <a:prstGeom prst="roundRect">
            <a:avLst>
              <a:gd name="adj" fmla="val 2882"/>
            </a:avLst>
          </a:prstGeom>
          <a:solidFill>
            <a:srgbClr val="1E2230"/>
          </a:solidFill>
          <a:ln w="12700">
            <a:solidFill>
              <a:srgbClr val="1E2230"/>
            </a:solidFill>
            <a:prstDash val="solid"/>
          </a:ln>
        </p:spPr>
      </p:sp>
      <p:sp>
        <p:nvSpPr>
          <p:cNvPr id="6" name="Text 4"/>
          <p:cNvSpPr txBox="1"/>
          <p:nvPr/>
        </p:nvSpPr>
        <p:spPr>
          <a:xfrm>
            <a:off x="612648" y="1645920"/>
            <a:ext cx="5204308" cy="14036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then ~workers joins them all</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default_pool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static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built once, thread-safely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502920" y="325983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8" name="Shape 6"/>
          <p:cNvSpPr/>
          <p:nvPr/>
        </p:nvSpPr>
        <p:spPr>
          <a:xfrm>
            <a:off x="502920" y="3552444"/>
            <a:ext cx="5387188" cy="2785364"/>
          </a:xfrm>
          <a:prstGeom prst="roundRect">
            <a:avLst>
              <a:gd name="adj" fmla="val 1641"/>
            </a:avLst>
          </a:prstGeom>
          <a:solidFill>
            <a:srgbClr val="1E2230"/>
          </a:solidFill>
          <a:ln w="12700">
            <a:solidFill>
              <a:srgbClr val="1E2230"/>
            </a:solidFill>
            <a:prstDash val="solid"/>
          </a:ln>
        </p:spPr>
      </p:sp>
      <p:sp>
        <p:nvSpPr>
          <p:cNvPr id="9" name="Text 7"/>
          <p:cNvSpPr txBox="1"/>
          <p:nvPr/>
        </p:nvSpPr>
        <p:spPr>
          <a:xfrm>
            <a:off x="612648" y="3671316"/>
            <a:ext cx="5204308" cy="260248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v9: many workers share one task queue.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chrono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"pool.hpp"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results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16</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sleep_for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std::chrono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milliseconds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 (continued)</a:t>
            </a:r>
            <a:endParaRPr lang="en-US" sz="1100" dirty="0"/>
          </a:p>
        </p:txBody>
      </p:sp>
      <p:sp>
        <p:nvSpPr>
          <p:cNvPr id="11" name="Shape 9"/>
          <p:cNvSpPr/>
          <p:nvPr/>
        </p:nvSpPr>
        <p:spPr>
          <a:xfrm>
            <a:off x="6301588" y="1527048"/>
            <a:ext cx="5387188" cy="1136904"/>
          </a:xfrm>
          <a:prstGeom prst="roundRect">
            <a:avLst>
              <a:gd name="adj" fmla="val 4021"/>
            </a:avLst>
          </a:prstGeom>
          <a:solidFill>
            <a:srgbClr val="1E2230"/>
          </a:solidFill>
          <a:ln w="12700">
            <a:solidFill>
              <a:srgbClr val="1E2230"/>
            </a:solidFill>
            <a:prstDash val="solid"/>
          </a:ln>
        </p:spPr>
      </p:sp>
      <p:sp>
        <p:nvSpPr>
          <p:cNvPr id="12" name="Text 10"/>
          <p:cNvSpPr txBox="1"/>
          <p:nvPr/>
        </p:nvSpPr>
        <p:spPr>
          <a:xfrm>
            <a:off x="6411316" y="1645920"/>
            <a:ext cx="5204308" cy="9540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results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~ThreadPool: run the rest, join the workers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results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 results\n"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caller wants the answer</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pool can run work, but submit() returns nothing. If a task computes the number 42, main has no way to get it. If a task throws, the worker catches it and main never hears about it. The v9 test shows the gap:</a:t>
            </a:r>
            <a:endParaRPr lang="en-US" sz="1500" dirty="0"/>
          </a:p>
        </p:txBody>
      </p:sp>
      <p:sp>
        <p:nvSpPr>
          <p:cNvPr id="6" name="Shape 4"/>
          <p:cNvSpPr/>
          <p:nvPr/>
        </p:nvSpPr>
        <p:spPr>
          <a:xfrm>
            <a:off x="502920" y="2852928"/>
            <a:ext cx="5387188" cy="858774"/>
          </a:xfrm>
          <a:prstGeom prst="roundRect">
            <a:avLst>
              <a:gd name="adj" fmla="val 6389"/>
            </a:avLst>
          </a:prstGeom>
          <a:solidFill>
            <a:srgbClr val="0F1419"/>
          </a:solidFill>
          <a:ln w="12700">
            <a:solidFill>
              <a:srgbClr val="0F1419"/>
            </a:solidFill>
            <a:prstDash val="solid"/>
          </a:ln>
        </p:spPr>
      </p:sp>
      <p:sp>
        <p:nvSpPr>
          <p:cNvPr id="7" name="Text 5"/>
          <p:cNvSpPr txBox="1"/>
          <p:nvPr/>
        </p:nvSpPr>
        <p:spPr>
          <a:xfrm>
            <a:off x="685800" y="299008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v9 next_bug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how would main get the 42, or learn that</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a task failed?</a:t>
            </a:r>
            <a:endParaRPr lang="en-US" sz="1300" dirty="0"/>
          </a:p>
        </p:txBody>
      </p:sp>
      <p:sp>
        <p:nvSpPr>
          <p:cNvPr id="8" name="Shape 6"/>
          <p:cNvSpPr/>
          <p:nvPr/>
        </p:nvSpPr>
        <p:spPr>
          <a:xfrm>
            <a:off x="502920" y="3858006"/>
            <a:ext cx="5387188" cy="752856"/>
          </a:xfrm>
          <a:prstGeom prst="roundRect">
            <a:avLst>
              <a:gd name="adj" fmla="val 7287"/>
            </a:avLst>
          </a:prstGeom>
          <a:solidFill>
            <a:srgbClr val="FBEDE3"/>
          </a:solidFill>
          <a:ln w="12700">
            <a:solidFill>
              <a:srgbClr val="FBEDE3"/>
            </a:solidFill>
            <a:prstDash val="solid"/>
          </a:ln>
        </p:spPr>
      </p:sp>
      <p:sp>
        <p:nvSpPr>
          <p:cNvPr id="9" name="Text 7"/>
          <p:cNvSpPr txBox="1"/>
          <p:nvPr/>
        </p:nvSpPr>
        <p:spPr>
          <a:xfrm>
            <a:off x="731520" y="3995166"/>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would we have to build ourselves to send a result back?</a:t>
            </a:r>
            <a:endParaRPr lang="en-US" sz="1600" dirty="0"/>
          </a:p>
        </p:txBody>
      </p:sp>
      <p:sp>
        <p:nvSpPr>
          <p:cNvPr id="10" name="Text 8"/>
          <p:cNvSpPr txBox="1"/>
          <p:nvPr/>
        </p:nvSpPr>
        <p:spPr>
          <a:xfrm>
            <a:off x="502920" y="475716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Think about what we would have to build to send a result from the worker back to main. A place to store the value. A flag that says the value is ready. A mutex to protect the value and the flag, because two threads touch them. A condition variable so main can sleep until the flag is set, instead of spinning. And a std::exception_ptr in case the task throws instead. Five pieces, for every task.</a:t>
            </a:r>
            <a:endParaRPr lang="en-US" sz="1500" dirty="0"/>
          </a:p>
        </p:txBody>
      </p:sp>
      <p:sp>
        <p:nvSpPr>
          <p:cNvPr id="11" name="Text 9"/>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one-shot channel</a:t>
            </a:r>
            <a:endParaRPr lang="en-US" sz="1800" dirty="0"/>
          </a:p>
        </p:txBody>
      </p:sp>
      <p:sp>
        <p:nvSpPr>
          <p:cNvPr id="12" name="Text 10"/>
          <p:cNvSpPr txBox="1"/>
          <p:nvPr/>
        </p:nvSpPr>
        <p:spPr>
          <a:xfrm>
            <a:off x="6301588"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standard library packages exactly those five pieces. Think of it as a channel with two ends. One end writes a value, or an exception, exactly once. The other end waits until something has been written, and then reads it exactly once. Everything in between, the storage, the flag, the mutex and the condition variable, is hidden inside.</a:t>
            </a:r>
            <a:endParaRPr lang="en-US" sz="1500" dirty="0"/>
          </a:p>
        </p:txBody>
      </p:sp>
      <p:sp>
        <p:nvSpPr>
          <p:cNvPr id="13" name="Shape 11"/>
          <p:cNvSpPr/>
          <p:nvPr/>
        </p:nvSpPr>
        <p:spPr>
          <a:xfrm>
            <a:off x="6301588" y="3310128"/>
            <a:ext cx="5387188" cy="1173480"/>
          </a:xfrm>
          <a:prstGeom prst="roundRect">
            <a:avLst>
              <a:gd name="adj" fmla="val 4675"/>
            </a:avLst>
          </a:prstGeom>
          <a:solidFill>
            <a:srgbClr val="F1F4F7"/>
          </a:solidFill>
          <a:ln w="12700">
            <a:solidFill>
              <a:srgbClr val="F1F4F7"/>
            </a:solidFill>
            <a:prstDash val="solid"/>
          </a:ln>
        </p:spPr>
      </p:sp>
      <p:sp>
        <p:nvSpPr>
          <p:cNvPr id="14" name="Text 12"/>
          <p:cNvSpPr txBox="1"/>
          <p:nvPr/>
        </p:nvSpPr>
        <p:spPr>
          <a:xfrm>
            <a:off x="6484468" y="3447288"/>
            <a:ext cx="5021428" cy="899160"/>
          </a:xfrm>
          <a:prstGeom prst="rect">
            <a:avLst/>
          </a:prstGeom>
          <a:noFill/>
          <a:ln/>
        </p:spPr>
        <p:txBody>
          <a:bodyPr wrap="square" lIns="0" tIns="0" rIns="0" bIns="0" rtlCol="0" anchor="t"/>
          <a:lstStyle/>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write end          shared state            read end</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packaged_task --&gt;  [ value or exception ] --&gt; get()</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or promise          ready flag                waits,</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mutex + cv, hidden        then returns</a:t>
            </a:r>
            <a:endParaRPr lang="en-US" sz="1200" dirty="0"/>
          </a:p>
          <a:p>
            <a:pPr indent="0" marL="0">
              <a:lnSpc>
                <a:spcPct val="100000"/>
              </a:lnSpc>
              <a:buNone/>
            </a:pPr>
            <a:r>
              <a:rPr lang="en-US" sz="1200" dirty="0">
                <a:solidFill>
                  <a:srgbClr val="1C2430"/>
                </a:solidFill>
                <a:latin typeface="Consolas" pitchFamily="34" charset="0"/>
                <a:ea typeface="Consolas" pitchFamily="34" charset="-122"/>
                <a:cs typeface="Consolas" pitchFamily="34" charset="-120"/>
              </a:rPr>
              <a:t>                                              or rethrows</a:t>
            </a:r>
            <a:endParaRPr lang="en-US" sz="12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std::packaged_task is the writing end for a function. You give it a function, and when someone calls the packaged_task, it runs the function and stores the return value, or the exception the function threw, in the shared state. std::future is the reading end. Its get() function sleeps until the result is ready, then returns the value, or throws the stored exception on the thread that called get().</a:t>
            </a:r>
            <a:endParaRPr lang="en-US" sz="1500" dirty="0"/>
          </a:p>
        </p:txBody>
      </p:sp>
      <p:sp>
        <p:nvSpPr>
          <p:cNvPr id="5" name="Text 3"/>
          <p:cNvSpPr txBox="1"/>
          <p:nvPr/>
        </p:nvSpPr>
        <p:spPr>
          <a:xfrm>
            <a:off x="502920" y="32369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a task that takes two seconds. main submits it and immediately gets a future back, then calls get() and sleeps. The worker picks up the task and runs it. When the function returns 42, the packaged_task stores 42 and wakes main, whose get() returns 42.</a:t>
            </a:r>
            <a:endParaRPr lang="en-US" sz="1500" dirty="0"/>
          </a:p>
        </p:txBody>
      </p:sp>
      <p:sp>
        <p:nvSpPr>
          <p:cNvPr id="6" name="Shape 4"/>
          <p:cNvSpPr/>
          <p:nvPr/>
        </p:nvSpPr>
        <p:spPr>
          <a:xfrm>
            <a:off x="502920" y="4553712"/>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4690872"/>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2 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submit(f), gets a future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f.get() waits ............| returns 42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worker   pops task, runs f() ....| stores 42,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wakes main</a:t>
            </a:r>
            <a:endParaRPr lang="en-US" sz="13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submit() returns a future</a:t>
            </a:r>
            <a:endParaRPr lang="en-US" sz="1800" dirty="0"/>
          </a:p>
        </p:txBody>
      </p:sp>
      <p:sp>
        <p:nvSpPr>
          <p:cNvPr id="9" name="Shape 7"/>
          <p:cNvSpPr/>
          <p:nvPr/>
        </p:nvSpPr>
        <p:spPr>
          <a:xfrm>
            <a:off x="6301588" y="1764792"/>
            <a:ext cx="5387188" cy="2806954"/>
          </a:xfrm>
          <a:prstGeom prst="roundRect">
            <a:avLst>
              <a:gd name="adj" fmla="val 1955"/>
            </a:avLst>
          </a:prstGeom>
          <a:solidFill>
            <a:srgbClr val="1E2230"/>
          </a:solidFill>
          <a:ln w="12700">
            <a:solidFill>
              <a:srgbClr val="1E2230"/>
            </a:solidFill>
            <a:prstDash val="solid"/>
          </a:ln>
        </p:spPr>
      </p:sp>
      <p:sp>
        <p:nvSpPr>
          <p:cNvPr id="10" name="Text 8"/>
          <p:cNvSpPr txBox="1"/>
          <p:nvPr/>
        </p:nvSpPr>
        <p:spPr>
          <a:xfrm>
            <a:off x="6484468" y="1901952"/>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std::invoke_result_t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std::invoke_result_t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std::make_shared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std::packaged_task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()&gt;&gt;(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7</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42, or rethrows</a:t>
            </a:r>
            <a:endParaRPr lang="en-US" sz="1300" dirty="0"/>
          </a:p>
        </p:txBody>
      </p:sp>
      <p:sp>
        <p:nvSpPr>
          <p:cNvPr id="11" name="Text 9"/>
          <p:cNvSpPr txBox="1"/>
          <p:nvPr/>
        </p:nvSpPr>
        <p:spPr>
          <a:xfrm>
            <a:off x="6301588" y="471805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Read it line by line. std::invoke_result_t&lt;F&gt; is the type that calling f returns, here int, and we call it R. We wrap f in a packaged_task, and ask it for the future that belongs to it. Then we push a small task into the queue that just calls the packaged_task, and return the future to the caller.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Shape 2"/>
          <p:cNvSpPr/>
          <p:nvPr/>
        </p:nvSpPr>
        <p:spPr>
          <a:xfrm>
            <a:off x="502920" y="1234440"/>
            <a:ext cx="5387188" cy="509016"/>
          </a:xfrm>
          <a:prstGeom prst="roundRect">
            <a:avLst>
              <a:gd name="adj" fmla="val 10778"/>
            </a:avLst>
          </a:prstGeom>
          <a:solidFill>
            <a:srgbClr val="FBEDE3"/>
          </a:solidFill>
          <a:ln w="12700">
            <a:solidFill>
              <a:srgbClr val="FBEDE3"/>
            </a:solidFill>
            <a:prstDash val="solid"/>
          </a:ln>
        </p:spPr>
      </p:sp>
      <p:sp>
        <p:nvSpPr>
          <p:cNvPr id="5" name="Text 3"/>
          <p:cNvSpPr txBox="1"/>
          <p:nvPr/>
        </p:nvSpPr>
        <p:spPr>
          <a:xfrm>
            <a:off x="731520"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is there a shared_ptr in the middle of this?</a:t>
            </a:r>
            <a:endParaRPr lang="en-US" sz="1600" dirty="0"/>
          </a:p>
        </p:txBody>
      </p:sp>
      <p:sp>
        <p:nvSpPr>
          <p:cNvPr id="6" name="Text 4"/>
          <p:cNvSpPr txBox="1"/>
          <p:nvPr/>
        </p:nvSpPr>
        <p:spPr>
          <a:xfrm>
            <a:off x="502920" y="188976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Why the std::make_shared? A packaged_task can be moved but not copied, because there must be exactly one writer for each channel. But std::function, which our queue stores, requires a function object it can copy. A shared_ptr can be copied, so we put the packaged_task in one and copy the pointer instead.</a:t>
            </a:r>
            <a:endParaRPr lang="en-US" sz="1500" dirty="0"/>
          </a:p>
        </p:txBody>
      </p:sp>
      <p:sp>
        <p:nvSpPr>
          <p:cNvPr id="7" name="Text 5"/>
          <p:cNvSpPr txBox="1"/>
          <p:nvPr/>
        </p:nvSpPr>
        <p:spPr>
          <a:xfrm>
            <a:off x="502920" y="343509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worker's try and catch from v8 are no longer needed, because the packaged_task catches the exception itself and stores it in the future. Also remember that get() can only be called once, since it moves the result out of the shared state.</a:t>
            </a:r>
            <a:endParaRPr lang="en-US" sz="1500" dirty="0"/>
          </a:p>
        </p:txBody>
      </p:sp>
      <p:sp>
        <p:nvSpPr>
          <p:cNvPr id="8" name="Shape 6"/>
          <p:cNvSpPr/>
          <p:nvPr/>
        </p:nvSpPr>
        <p:spPr>
          <a:xfrm>
            <a:off x="502920" y="4751832"/>
            <a:ext cx="5387188" cy="1234440"/>
          </a:xfrm>
          <a:prstGeom prst="roundRect">
            <a:avLst>
              <a:gd name="adj" fmla="val 4444"/>
            </a:avLst>
          </a:prstGeom>
          <a:solidFill>
            <a:srgbClr val="E3F2EF"/>
          </a:solidFill>
          <a:ln w="12700">
            <a:solidFill>
              <a:srgbClr val="E3F2EF"/>
            </a:solidFill>
            <a:prstDash val="solid"/>
          </a:ln>
        </p:spPr>
      </p:sp>
      <p:sp>
        <p:nvSpPr>
          <p:cNvPr id="9" name="Text 7"/>
          <p:cNvSpPr txBox="1"/>
          <p:nvPr/>
        </p:nvSpPr>
        <p:spPr>
          <a:xfrm>
            <a:off x="731520" y="487984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0" name="Text 8"/>
          <p:cNvSpPr txBox="1"/>
          <p:nvPr/>
        </p:nvSpPr>
        <p:spPr>
          <a:xfrm>
            <a:off x="731520" y="5172456"/>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Whenever our code hands work to the pool and needs the answer, it keeps the future that submit() returns and calls get() when it needs the value.</a:t>
            </a:r>
            <a:endParaRPr lang="en-US" sz="1400" dirty="0"/>
          </a:p>
        </p:txBody>
      </p:sp>
      <p:sp>
        <p:nvSpPr>
          <p:cNvPr id="11" name="Text 9"/>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2" name="Text 10"/>
          <p:cNvSpPr txBox="1"/>
          <p:nvPr/>
        </p:nvSpPr>
        <p:spPr>
          <a:xfrm>
            <a:off x="6301588"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submit 100,000 tiny tasks and keep all the futures. How many futures must become ready, and how would a test check it?</a:t>
            </a:r>
            <a:endParaRPr lang="en-US" sz="1500" dirty="0"/>
          </a:p>
        </p:txBody>
      </p:sp>
      <p:sp>
        <p:nvSpPr>
          <p:cNvPr id="13" name="Shape 11"/>
          <p:cNvSpPr/>
          <p:nvPr/>
        </p:nvSpPr>
        <p:spPr>
          <a:xfrm>
            <a:off x="6301588" y="2551176"/>
            <a:ext cx="5387188" cy="1923288"/>
          </a:xfrm>
          <a:prstGeom prst="roundRect">
            <a:avLst>
              <a:gd name="adj" fmla="val 2853"/>
            </a:avLst>
          </a:prstGeom>
          <a:solidFill>
            <a:srgbClr val="F1F4F7"/>
          </a:solidFill>
          <a:ln w="12700">
            <a:solidFill>
              <a:srgbClr val="F1F4F7"/>
            </a:solidFill>
            <a:prstDash val="solid"/>
          </a:ln>
        </p:spPr>
      </p:sp>
      <p:sp>
        <p:nvSpPr>
          <p:cNvPr id="14" name="Text 12"/>
          <p:cNvSpPr txBox="1"/>
          <p:nvPr/>
        </p:nvSpPr>
        <p:spPr>
          <a:xfrm>
            <a:off x="6484468" y="2679192"/>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All 100,000. Every packaged_task is run by some worker, and running it always stores either a value or an exception, so every future becomes ready. A good test keeps the futures in a vector, calls get() on each of them, and checks the values. If even one get() never returns, a task was lost somewhere, which is exactly the kind of bug the test is there to catch.</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Getting the result back</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auto f = std::async(std::launch::deferred, calc); Which thread runs calc, and when?</a:t>
            </a:r>
            <a:endParaRPr lang="en-US" sz="1500" dirty="0"/>
          </a:p>
        </p:txBody>
      </p:sp>
      <p:sp>
        <p:nvSpPr>
          <p:cNvPr id="5" name="Shape 3"/>
          <p:cNvSpPr/>
          <p:nvPr/>
        </p:nvSpPr>
        <p:spPr>
          <a:xfrm>
            <a:off x="502920" y="1792224"/>
            <a:ext cx="5387188" cy="1709928"/>
          </a:xfrm>
          <a:prstGeom prst="roundRect">
            <a:avLst>
              <a:gd name="adj" fmla="val 3209"/>
            </a:avLst>
          </a:prstGeom>
          <a:solidFill>
            <a:srgbClr val="F1F4F7"/>
          </a:solidFill>
          <a:ln w="12700">
            <a:solidFill>
              <a:srgbClr val="F1F4F7"/>
            </a:solidFill>
            <a:prstDash val="solid"/>
          </a:ln>
        </p:spPr>
      </p:sp>
      <p:sp>
        <p:nvSpPr>
          <p:cNvPr id="6" name="Text 4"/>
          <p:cNvSpPr txBox="1"/>
          <p:nvPr/>
        </p:nvSpPr>
        <p:spPr>
          <a:xfrm>
            <a:off x="685800"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None, at first. With launch::deferred no thread is started at all. calc runs later, on whichever thread calls f.get() or f.wait(), at the moment of that call. So if main calls f.get(), calc runs on main, and main waits for it like an ordinary function call. If nobody ever calls get() or wait(), calc never runs at all.</a:t>
            </a:r>
            <a:endParaRPr lang="en-US" sz="1400" dirty="0"/>
          </a:p>
        </p:txBody>
      </p:sp>
      <p:sp>
        <p:nvSpPr>
          <p:cNvPr id="7" name="Text 5"/>
          <p:cNvSpPr txBox="1"/>
          <p:nvPr/>
        </p:nvSpPr>
        <p:spPr>
          <a:xfrm>
            <a:off x="502920" y="364845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main needs three values computed in parallel and then their sum. Design it with the pool.</a:t>
            </a:r>
            <a:endParaRPr lang="en-US" sz="1500" dirty="0"/>
          </a:p>
        </p:txBody>
      </p:sp>
      <p:sp>
        <p:nvSpPr>
          <p:cNvPr id="8" name="Shape 6"/>
          <p:cNvSpPr/>
          <p:nvPr/>
        </p:nvSpPr>
        <p:spPr>
          <a:xfrm>
            <a:off x="502920" y="4206240"/>
            <a:ext cx="5387188" cy="2136648"/>
          </a:xfrm>
          <a:prstGeom prst="roundRect">
            <a:avLst>
              <a:gd name="adj" fmla="val 2568"/>
            </a:avLst>
          </a:prstGeom>
          <a:solidFill>
            <a:srgbClr val="F1F4F7"/>
          </a:solidFill>
          <a:ln w="12700">
            <a:solidFill>
              <a:srgbClr val="F1F4F7"/>
            </a:solidFill>
            <a:prstDash val="solid"/>
          </a:ln>
        </p:spPr>
      </p:sp>
      <p:sp>
        <p:nvSpPr>
          <p:cNvPr id="9" name="Text 7"/>
          <p:cNvSpPr txBox="1"/>
          <p:nvPr/>
        </p:nvSpPr>
        <p:spPr>
          <a:xfrm>
            <a:off x="685800" y="4334256"/>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Submit the three computations, one call to submit() each, and keep the three futures. All three tasks start running on the workers right away. Then call get() on each future and add up the results. The first get() may wait, but while it waits the other two tasks keep running, so the total time is about the time of the slowest task, not the sum of all three. If any task throws, its get() rethrows the exception in main.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When there is no function</a:t>
            </a:r>
            <a:endParaRPr lang="en-US" sz="1800" dirty="0"/>
          </a:p>
        </p:txBody>
      </p:sp>
      <p:sp>
        <p:nvSpPr>
          <p:cNvPr id="5" name="Shape 3"/>
          <p:cNvSpPr/>
          <p:nvPr/>
        </p:nvSpPr>
        <p:spPr>
          <a:xfrm>
            <a:off x="502920" y="1764792"/>
            <a:ext cx="5387188" cy="752856"/>
          </a:xfrm>
          <a:prstGeom prst="roundRect">
            <a:avLst>
              <a:gd name="adj" fmla="val 7287"/>
            </a:avLst>
          </a:prstGeom>
          <a:solidFill>
            <a:srgbClr val="FBEDE3"/>
          </a:solidFill>
          <a:ln w="12700">
            <a:solidFill>
              <a:srgbClr val="FBEDE3"/>
            </a:solidFill>
            <a:prstDash val="solid"/>
          </a:ln>
        </p:spPr>
      </p:sp>
      <p:sp>
        <p:nvSpPr>
          <p:cNvPr id="6" name="Text 4"/>
          <p:cNvSpPr txBox="1"/>
          <p:nvPr/>
        </p:nvSpPr>
        <p:spPr>
          <a:xfrm>
            <a:off x="731520"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What if the result does not come from a function I can hand to the pool?</a:t>
            </a:r>
            <a:endParaRPr lang="en-US" sz="1600" dirty="0"/>
          </a:p>
        </p:txBody>
      </p:sp>
      <p:sp>
        <p:nvSpPr>
          <p:cNvPr id="7" name="Text 5"/>
          <p:cNvSpPr txBox="1"/>
          <p:nvPr/>
        </p:nvSpPr>
        <p:spPr>
          <a:xfrm>
            <a:off x="502920" y="266395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packaged_task is perfect when the result comes from a function we can hand to the pool. But some results do not come from a function at all. A network reply arrives in a callback some library calls whenever data shows up. There is nothing for us to wrap.</a:t>
            </a:r>
            <a:endParaRPr lang="en-US" sz="1500" dirty="0"/>
          </a:p>
        </p:txBody>
      </p:sp>
      <p:sp>
        <p:nvSpPr>
          <p:cNvPr id="8" name="Text 6"/>
          <p:cNvSpPr txBox="1"/>
          <p:nvPr/>
        </p:nvSpPr>
        <p:spPr>
          <a:xfrm>
            <a:off x="502920" y="398068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For this case there is std::promise. It is the writing end of the same kind of channel, but instead of running a function you write the result yourself. You call set_value() when you have the value, or set_exception() if something went wrong. Its matching future works exactly like before.</a:t>
            </a:r>
            <a:endParaRPr lang="en-US" sz="1500" dirty="0"/>
          </a:p>
        </p:txBody>
      </p:sp>
      <p:sp>
        <p:nvSpPr>
          <p:cNvPr id="9" name="Shape 7"/>
          <p:cNvSpPr/>
          <p:nvPr/>
        </p:nvSpPr>
        <p:spPr>
          <a:xfrm>
            <a:off x="6301588" y="1234440"/>
            <a:ext cx="5387188" cy="1443228"/>
          </a:xfrm>
          <a:prstGeom prst="roundRect">
            <a:avLst>
              <a:gd name="adj" fmla="val 3801"/>
            </a:avLst>
          </a:prstGeom>
          <a:solidFill>
            <a:srgbClr val="1E2230"/>
          </a:solidFill>
          <a:ln w="12700">
            <a:solidFill>
              <a:srgbClr val="1E2230"/>
            </a:solidFill>
            <a:prstDash val="solid"/>
          </a:ln>
        </p:spPr>
      </p:sp>
      <p:sp>
        <p:nvSpPr>
          <p:cNvPr id="10" name="Text 8"/>
          <p:cNvSpPr txBox="1"/>
          <p:nvPr/>
        </p:nvSpPr>
        <p:spPr>
          <a:xfrm>
            <a:off x="6484468" y="1371600"/>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std::promise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set_value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42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later, from anywhere</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42</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t>
            </a:r>
            <a:endParaRPr lang="en-US" sz="1300" dirty="0"/>
          </a:p>
        </p:txBody>
      </p:sp>
      <p:sp>
        <p:nvSpPr>
          <p:cNvPr id="11" name="Text 9"/>
          <p:cNvSpPr txBox="1"/>
          <p:nvPr/>
        </p:nvSpPr>
        <p:spPr>
          <a:xfrm>
            <a:off x="6301588" y="2823972"/>
            <a:ext cx="5387188" cy="256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first get() prints 42. The second one fails:</a:t>
            </a:r>
            <a:endParaRPr lang="en-US" sz="1500" dirty="0"/>
          </a:p>
        </p:txBody>
      </p:sp>
      <p:sp>
        <p:nvSpPr>
          <p:cNvPr id="12" name="Shape 10"/>
          <p:cNvSpPr/>
          <p:nvPr/>
        </p:nvSpPr>
        <p:spPr>
          <a:xfrm>
            <a:off x="6301588" y="3226308"/>
            <a:ext cx="5387188" cy="1053592"/>
          </a:xfrm>
          <a:prstGeom prst="roundRect">
            <a:avLst>
              <a:gd name="adj" fmla="val 5207"/>
            </a:avLst>
          </a:prstGeom>
          <a:solidFill>
            <a:srgbClr val="0F1419"/>
          </a:solidFill>
          <a:ln w="12700">
            <a:solidFill>
              <a:srgbClr val="0F1419"/>
            </a:solidFill>
            <a:prstDash val="solid"/>
          </a:ln>
        </p:spPr>
      </p:sp>
      <p:sp>
        <p:nvSpPr>
          <p:cNvPr id="13" name="Text 11"/>
          <p:cNvSpPr txBox="1"/>
          <p:nvPr/>
        </p:nvSpPr>
        <p:spPr>
          <a:xfrm>
            <a:off x="6484468" y="336346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v10 tiny_promise</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first reader got 42</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second get(): std::future_error: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No associated state</a:t>
            </a:r>
            <a:endParaRPr lang="en-US" sz="1300" dirty="0"/>
          </a:p>
        </p:txBody>
      </p:sp>
      <p:sp>
        <p:nvSpPr>
          <p:cNvPr id="14" name="Text 12"/>
          <p:cNvSpPr txBox="1"/>
          <p:nvPr/>
        </p:nvSpPr>
        <p:spPr>
          <a:xfrm>
            <a:off x="6301588" y="4426204"/>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 future is a one-shot channel with one reader. get() moves the result out of the shared state and gives it to you, and after that the future is empty. There is nothing left to get the second time. Another rule: if a promise is destroyed without ever setting a value, its reader does not wait forever. get() throws a future_error called broken_promise, so you find out something went wrong.</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Shape 2"/>
          <p:cNvSpPr/>
          <p:nvPr/>
        </p:nvSpPr>
        <p:spPr>
          <a:xfrm>
            <a:off x="502920" y="1234440"/>
            <a:ext cx="5387188" cy="1832864"/>
          </a:xfrm>
          <a:prstGeom prst="roundRect">
            <a:avLst>
              <a:gd name="adj" fmla="val 2993"/>
            </a:avLst>
          </a:prstGeom>
          <a:solidFill>
            <a:srgbClr val="F1F4F7"/>
          </a:solidFill>
          <a:ln w="12700">
            <a:solidFill>
              <a:srgbClr val="F1F4F7"/>
            </a:solidFill>
            <a:prstDash val="solid"/>
          </a:ln>
        </p:spPr>
      </p:sp>
      <p:sp>
        <p:nvSpPr>
          <p:cNvPr id="5" name="Text 3"/>
          <p:cNvSpPr txBox="1"/>
          <p:nvPr/>
        </p:nvSpPr>
        <p:spPr>
          <a:xfrm>
            <a:off x="685800" y="1371600"/>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who produces the value?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std::async          the library runs the function</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std::packaged_task  you choose where it runs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std::promise        no function: you set it</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how many readers?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std::future         one, like unique_ptr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std::shared_future  many, like shared_ptr</a:t>
            </a:r>
            <a:endParaRPr lang="en-US" sz="1300" dirty="0"/>
          </a:p>
        </p:txBody>
      </p:sp>
      <p:sp>
        <p:nvSpPr>
          <p:cNvPr id="6" name="Text 4"/>
          <p:cNvSpPr txBox="1"/>
          <p:nvPr/>
        </p:nvSpPr>
        <p:spPr>
          <a:xfrm>
            <a:off x="502920" y="326847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Many readers</a:t>
            </a:r>
            <a:endParaRPr lang="en-US" sz="1800" dirty="0"/>
          </a:p>
        </p:txBody>
      </p:sp>
      <p:sp>
        <p:nvSpPr>
          <p:cNvPr id="7" name="Shape 5"/>
          <p:cNvSpPr/>
          <p:nvPr/>
        </p:nvSpPr>
        <p:spPr>
          <a:xfrm>
            <a:off x="502920" y="3743960"/>
            <a:ext cx="5387188" cy="752856"/>
          </a:xfrm>
          <a:prstGeom prst="roundRect">
            <a:avLst>
              <a:gd name="adj" fmla="val 7287"/>
            </a:avLst>
          </a:prstGeom>
          <a:solidFill>
            <a:srgbClr val="FBEDE3"/>
          </a:solidFill>
          <a:ln w="12700">
            <a:solidFill>
              <a:srgbClr val="FBEDE3"/>
            </a:solidFill>
            <a:prstDash val="solid"/>
          </a:ln>
        </p:spPr>
      </p:sp>
      <p:sp>
        <p:nvSpPr>
          <p:cNvPr id="8" name="Text 6"/>
          <p:cNvSpPr txBox="1"/>
          <p:nvPr/>
        </p:nvSpPr>
        <p:spPr>
          <a:xfrm>
            <a:off x="731520" y="388112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Eight tasks need the same result. Can they all call get() on one future?</a:t>
            </a:r>
            <a:endParaRPr lang="en-US" sz="1600" dirty="0"/>
          </a:p>
        </p:txBody>
      </p:sp>
      <p:sp>
        <p:nvSpPr>
          <p:cNvPr id="9" name="Text 7"/>
          <p:cNvSpPr txBox="1"/>
          <p:nvPr/>
        </p:nvSpPr>
        <p:spPr>
          <a:xfrm>
            <a:off x="502920" y="464312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Now suppose eight tasks all need the same configuration, which is loaded once by another task. A plain future has one reader, so it cannot serve eight. share() turns it into a std::shared_future. A shared_future can be copied, every copy refers to the same result, and get() can be called on it any number of times.</a:t>
            </a:r>
            <a:endParaRPr lang="en-US" sz="1500" dirty="0"/>
          </a:p>
        </p:txBody>
      </p:sp>
      <p:sp>
        <p:nvSpPr>
          <p:cNvPr id="10" name="Text 8"/>
          <p:cNvSpPr txBox="1"/>
          <p:nvPr/>
        </p:nvSpPr>
        <p:spPr>
          <a:xfrm>
            <a:off x="6301588"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One rule matters here. Give each task its own copy of the shared_future. Different copies can be used safely from different threads at the same time. But one single shared_future object used by several threads at once is a data race, just like any other object.</a:t>
            </a:r>
            <a:endParaRPr lang="en-US" sz="1500" dirty="0"/>
          </a:p>
        </p:txBody>
      </p:sp>
      <p:sp>
        <p:nvSpPr>
          <p:cNvPr id="11" name="Shape 9"/>
          <p:cNvSpPr/>
          <p:nvPr/>
        </p:nvSpPr>
        <p:spPr>
          <a:xfrm>
            <a:off x="6301588" y="2551176"/>
            <a:ext cx="5387188" cy="1638046"/>
          </a:xfrm>
          <a:prstGeom prst="roundRect">
            <a:avLst>
              <a:gd name="adj" fmla="val 3349"/>
            </a:avLst>
          </a:prstGeom>
          <a:solidFill>
            <a:srgbClr val="1E2230"/>
          </a:solidFill>
          <a:ln w="12700">
            <a:solidFill>
              <a:srgbClr val="1E2230"/>
            </a:solidFill>
            <a:prstDash val="solid"/>
          </a:ln>
        </p:spPr>
      </p:sp>
      <p:sp>
        <p:nvSpPr>
          <p:cNvPr id="12" name="Text 10"/>
          <p:cNvSpPr txBox="1"/>
          <p:nvPr/>
        </p:nvSpPr>
        <p:spPr>
          <a:xfrm>
            <a:off x="6484468" y="2688336"/>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std::shared_future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Config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load_config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share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8</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each task gets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cfg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its own copy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3" name="Text 11"/>
          <p:cNvSpPr txBox="1"/>
          <p:nvPr/>
        </p:nvSpPr>
        <p:spPr>
          <a:xfrm>
            <a:off x="6301588" y="4335526"/>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Each of the eight tasks waits in cfg.get() until load_config has finished, then all of them see the same Config. If load_config throws, all eight get() calls throw the same exception.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function to wrap, or many readers</a:t>
            </a:r>
            <a:endParaRPr lang="en-US" sz="2600" dirty="0"/>
          </a:p>
        </p:txBody>
      </p:sp>
      <p:sp>
        <p:nvSpPr>
          <p:cNvPr id="4" name="Shape 2"/>
          <p:cNvSpPr/>
          <p:nvPr/>
        </p:nvSpPr>
        <p:spPr>
          <a:xfrm>
            <a:off x="502920" y="1234440"/>
            <a:ext cx="5387188" cy="1234440"/>
          </a:xfrm>
          <a:prstGeom prst="roundRect">
            <a:avLst>
              <a:gd name="adj" fmla="val 4444"/>
            </a:avLst>
          </a:prstGeom>
          <a:solidFill>
            <a:srgbClr val="E3F2EF"/>
          </a:solidFill>
          <a:ln w="12700">
            <a:solidFill>
              <a:srgbClr val="E3F2EF"/>
            </a:solidFill>
            <a:prstDash val="solid"/>
          </a:ln>
        </p:spPr>
      </p:sp>
      <p:sp>
        <p:nvSpPr>
          <p:cNvPr id="5" name="Text 3"/>
          <p:cNvSpPr txBox="1"/>
          <p:nvPr/>
        </p:nvSpPr>
        <p:spPr>
          <a:xfrm>
            <a:off x="731520" y="1362456"/>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6" name="Text 4"/>
          <p:cNvSpPr txBox="1"/>
          <p:nvPr/>
        </p:nvSpPr>
        <p:spPr>
          <a:xfrm>
            <a:off x="731520" y="1655064"/>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A configuration loaded once at start-up and needed by every worker is a shared_future. A reply that arrives through a callback is a promise.</a:t>
            </a:r>
            <a:endParaRPr lang="en-US" sz="1400" dirty="0"/>
          </a:p>
        </p:txBody>
      </p:sp>
      <p:sp>
        <p:nvSpPr>
          <p:cNvPr id="7" name="Text 5"/>
          <p:cNvSpPr txBox="1"/>
          <p:nvPr/>
        </p:nvSpPr>
        <p:spPr>
          <a:xfrm>
            <a:off x="502920" y="267004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8" name="Text 6"/>
          <p:cNvSpPr txBox="1"/>
          <p:nvPr/>
        </p:nvSpPr>
        <p:spPr>
          <a:xfrm>
            <a:off x="502920" y="3145536"/>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Eight readers each call get() on their own copy of one shared_future, which holds the value 7. What is the sum of what they read?</a:t>
            </a:r>
            <a:endParaRPr lang="en-US" sz="1500" dirty="0"/>
          </a:p>
        </p:txBody>
      </p:sp>
      <p:sp>
        <p:nvSpPr>
          <p:cNvPr id="9" name="Shape 7"/>
          <p:cNvSpPr/>
          <p:nvPr/>
        </p:nvSpPr>
        <p:spPr>
          <a:xfrm>
            <a:off x="502920" y="3931920"/>
            <a:ext cx="5387188" cy="1496568"/>
          </a:xfrm>
          <a:prstGeom prst="roundRect">
            <a:avLst>
              <a:gd name="adj" fmla="val 3666"/>
            </a:avLst>
          </a:prstGeom>
          <a:solidFill>
            <a:srgbClr val="F1F4F7"/>
          </a:solidFill>
          <a:ln w="12700">
            <a:solidFill>
              <a:srgbClr val="F1F4F7"/>
            </a:solidFill>
            <a:prstDash val="solid"/>
          </a:ln>
        </p:spPr>
      </p:sp>
      <p:sp>
        <p:nvSpPr>
          <p:cNvPr id="10" name="Text 8"/>
          <p:cNvSpPr txBox="1"/>
          <p:nvPr/>
        </p:nvSpPr>
        <p:spPr>
          <a:xfrm>
            <a:off x="685800" y="4059936"/>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56. Every copy of a shared_future refers to the same stored result, and get() on a shared_future does not move the value out, it gives a reference to it. So all eight readers get 7, and 8 x 7 = 56. With a plain future only the first get() would work, and the rest would throw.</a:t>
            </a:r>
            <a:endParaRPr lang="en-US" sz="1400" dirty="0"/>
          </a:p>
        </p:txBody>
      </p:sp>
      <p:sp>
        <p:nvSpPr>
          <p:cNvPr id="11" name="Text 9"/>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promise is destroyed before set_value() is ever called. What happens to the thread waiting in get()?</a:t>
            </a:r>
            <a:endParaRPr lang="en-US" sz="1500" dirty="0"/>
          </a:p>
        </p:txBody>
      </p:sp>
      <p:sp>
        <p:nvSpPr>
          <p:cNvPr id="12" name="Shape 10"/>
          <p:cNvSpPr/>
          <p:nvPr/>
        </p:nvSpPr>
        <p:spPr>
          <a:xfrm>
            <a:off x="6301588" y="1792224"/>
            <a:ext cx="5387188" cy="1709928"/>
          </a:xfrm>
          <a:prstGeom prst="roundRect">
            <a:avLst>
              <a:gd name="adj" fmla="val 3209"/>
            </a:avLst>
          </a:prstGeom>
          <a:solidFill>
            <a:srgbClr val="F1F4F7"/>
          </a:solidFill>
          <a:ln w="12700">
            <a:solidFill>
              <a:srgbClr val="F1F4F7"/>
            </a:solidFill>
            <a:prstDash val="solid"/>
          </a:ln>
        </p:spPr>
      </p:sp>
      <p:sp>
        <p:nvSpPr>
          <p:cNvPr id="13" name="Text 11"/>
          <p:cNvSpPr txBox="1"/>
          <p:nvPr/>
        </p:nvSpPr>
        <p:spPr>
          <a:xfrm>
            <a:off x="6484468" y="1920240"/>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When the promise is destroyed, it notices that no value or exception was ever stored, so it stores a special error instead and wakes the reader. The reader's get() then throws std::future_error with the code broken_promise. This is deliberate: without it, the reader would sleep forever waiting for a value that can no longer arrive.</a:t>
            </a:r>
            <a:endParaRPr lang="en-US" sz="1400" dirty="0"/>
          </a:p>
        </p:txBody>
      </p:sp>
      <p:sp>
        <p:nvSpPr>
          <p:cNvPr id="14" name="Text 12"/>
          <p:cNvSpPr txBox="1"/>
          <p:nvPr/>
        </p:nvSpPr>
        <p:spPr>
          <a:xfrm>
            <a:off x="6301588" y="364845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want eight benchmark threads to start their work at exactly the same moment. How can you do it with a promise?</a:t>
            </a:r>
            <a:endParaRPr lang="en-US" sz="1500" dirty="0"/>
          </a:p>
        </p:txBody>
      </p:sp>
      <p:sp>
        <p:nvSpPr>
          <p:cNvPr id="15" name="Shape 13"/>
          <p:cNvSpPr/>
          <p:nvPr/>
        </p:nvSpPr>
        <p:spPr>
          <a:xfrm>
            <a:off x="6301588" y="4206240"/>
            <a:ext cx="5387188" cy="1923288"/>
          </a:xfrm>
          <a:prstGeom prst="roundRect">
            <a:avLst>
              <a:gd name="adj" fmla="val 2853"/>
            </a:avLst>
          </a:prstGeom>
          <a:solidFill>
            <a:srgbClr val="F1F4F7"/>
          </a:solidFill>
          <a:ln w="12700">
            <a:solidFill>
              <a:srgbClr val="F1F4F7"/>
            </a:solidFill>
            <a:prstDash val="solid"/>
          </a:ln>
        </p:spPr>
      </p:sp>
      <p:sp>
        <p:nvSpPr>
          <p:cNvPr id="16" name="Text 14"/>
          <p:cNvSpPr txBox="1"/>
          <p:nvPr/>
        </p:nvSpPr>
        <p:spPr>
          <a:xfrm>
            <a:off x="6484468" y="4334256"/>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Create one std::promise&lt;void&gt; and get a shared_future&lt;void&gt; from it. Give each of the eight threads its own copy, and have each thread call get() on it before starting the work, so they all go to sleep there. When all eight are started, main calls set_value() on the promise. That one call wakes every thread at once, and they all start together. It works like a starting gun.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Timeouts</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Some tasks can hang. A task that calls fetch() to download a page may wait forever if the server never answers, and then the caller, sitting in get(), waits forever too. A future lets you wait with a time limit: wait_for(1s) waits at most one second, and returns a status that says whether the result is ready or the time ran out.</a:t>
            </a:r>
            <a:endParaRPr lang="en-US" sz="1500" dirty="0"/>
          </a:p>
        </p:txBody>
      </p:sp>
      <p:sp>
        <p:nvSpPr>
          <p:cNvPr id="6" name="Text 4"/>
          <p:cNvSpPr txBox="1"/>
          <p:nvPr/>
        </p:nvSpPr>
        <p:spPr>
          <a:xfrm>
            <a:off x="502920" y="331012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Here the task sleeps for 3 s and the caller gives up after 1 s. You might expect the program to leave the block after 1 s. It leaves after 3 s:</a:t>
            </a:r>
            <a:endParaRPr lang="en-US" sz="1500" dirty="0"/>
          </a:p>
        </p:txBody>
      </p:sp>
      <p:sp>
        <p:nvSpPr>
          <p:cNvPr id="7" name="Shape 5"/>
          <p:cNvSpPr/>
          <p:nvPr/>
        </p:nvSpPr>
        <p:spPr>
          <a:xfrm>
            <a:off x="502920" y="4169664"/>
            <a:ext cx="5387188" cy="1638046"/>
          </a:xfrm>
          <a:prstGeom prst="roundRect">
            <a:avLst>
              <a:gd name="adj" fmla="val 3349"/>
            </a:avLst>
          </a:prstGeom>
          <a:solidFill>
            <a:srgbClr val="1E2230"/>
          </a:solidFill>
          <a:ln w="12700">
            <a:solidFill>
              <a:srgbClr val="1E2230"/>
            </a:solidFill>
            <a:prstDash val="solid"/>
          </a:ln>
        </p:spPr>
      </p:sp>
      <p:sp>
        <p:nvSpPr>
          <p:cNvPr id="8" name="Text 6"/>
          <p:cNvSpPr txBox="1"/>
          <p:nvPr/>
        </p:nvSpPr>
        <p:spPr>
          <a:xfrm>
            <a:off x="685800" y="4306824"/>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std::async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std::launch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async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sleep_for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3s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std::future_status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timeout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3E88D"/>
                </a:solidFill>
                <a:latin typeface="Consolas" pitchFamily="34" charset="0"/>
                <a:ea typeface="Consolas" pitchFamily="34" charset="-122"/>
                <a:cs typeface="Consolas" pitchFamily="34" charset="-120"/>
              </a:rPr>
              <a:t>"timed out\n"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leave the scope</a:t>
            </a:r>
            <a:endParaRPr lang="en-US" sz="1300" dirty="0"/>
          </a:p>
        </p:txBody>
      </p:sp>
      <p:sp>
        <p:nvSpPr>
          <p:cNvPr id="9" name="Shape 7"/>
          <p:cNvSpPr/>
          <p:nvPr/>
        </p:nvSpPr>
        <p:spPr>
          <a:xfrm>
            <a:off x="6301588" y="1234440"/>
            <a:ext cx="5387188" cy="858774"/>
          </a:xfrm>
          <a:prstGeom prst="roundRect">
            <a:avLst>
              <a:gd name="adj" fmla="val 6389"/>
            </a:avLst>
          </a:prstGeom>
          <a:solidFill>
            <a:srgbClr val="0F1419"/>
          </a:solidFill>
          <a:ln w="12700">
            <a:solidFill>
              <a:srgbClr val="0F1419"/>
            </a:solidFill>
            <a:prstDash val="solid"/>
          </a:ln>
        </p:spPr>
      </p:sp>
      <p:sp>
        <p:nvSpPr>
          <p:cNvPr id="10" name="Text 8"/>
          <p:cNvSpPr txBox="1"/>
          <p:nvPr/>
        </p:nvSpPr>
        <p:spPr>
          <a:xfrm>
            <a:off x="6484468"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v10 tiny_timeout</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timed out at 1.00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left the scope at 3.00 s</a:t>
            </a:r>
            <a:endParaRPr lang="en-US" sz="1300" dirty="0"/>
          </a:p>
        </p:txBody>
      </p:sp>
      <p:sp>
        <p:nvSpPr>
          <p:cNvPr id="11" name="Text 9"/>
          <p:cNvSpPr txBox="1"/>
          <p:nvPr/>
        </p:nvSpPr>
        <p:spPr>
          <a:xfrm>
            <a:off x="6301588" y="223951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it on the clock. At t = 0 std::async starts a new thread that will sleep for 3 s. main calls wait_for(1s) and waits. At t = 1 s the time limit runs out, wait_for returns timeout, and main prints its message and reaches the closing brace. Now f is destroyed. A future that came from std::async has a special rule: its destructor waits for the task to finish. So main waits there until t = 3 s.</a:t>
            </a:r>
            <a:endParaRPr lang="en-US" sz="1500" dirty="0"/>
          </a:p>
        </p:txBody>
      </p:sp>
      <p:sp>
        <p:nvSpPr>
          <p:cNvPr id="12" name="Shape 10"/>
          <p:cNvSpPr/>
          <p:nvPr/>
        </p:nvSpPr>
        <p:spPr>
          <a:xfrm>
            <a:off x="6301588" y="4013454"/>
            <a:ext cx="5387188" cy="1248410"/>
          </a:xfrm>
          <a:prstGeom prst="roundRect">
            <a:avLst>
              <a:gd name="adj" fmla="val 4395"/>
            </a:avLst>
          </a:prstGeom>
          <a:solidFill>
            <a:srgbClr val="F1F4F7"/>
          </a:solidFill>
          <a:ln w="12700">
            <a:solidFill>
              <a:srgbClr val="F1F4F7"/>
            </a:solidFill>
            <a:prstDash val="solid"/>
          </a:ln>
        </p:spPr>
      </p:sp>
      <p:sp>
        <p:nvSpPr>
          <p:cNvPr id="13" name="Text 11"/>
          <p:cNvSpPr txBox="1"/>
          <p:nvPr/>
        </p:nvSpPr>
        <p:spPr>
          <a:xfrm>
            <a:off x="6484468" y="4150614"/>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time   0           1 s              3 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task   |=== sleeping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main   wait_for(1s) ..| timeout, prints,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reaches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~future waits ...| leaves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3444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timeout worked, but only for waiting. It did nothing to the work. The task kept running for its full three seconds. In our pool the situation is the same: the caller can stop waiting, but the worker is still busy with the stuck task, and the pool's destructor will wait for it when it joins the workers.</a:t>
            </a:r>
            <a:endParaRPr lang="en-US" sz="1500" dirty="0"/>
          </a:p>
        </p:txBody>
      </p:sp>
      <p:sp>
        <p:nvSpPr>
          <p:cNvPr id="5" name="Text 3"/>
          <p:cNvSpPr txBox="1"/>
          <p:nvPr/>
        </p:nvSpPr>
        <p:spPr>
          <a:xfrm>
            <a:off x="502920" y="28346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Why C++ never kills a thread</a:t>
            </a:r>
            <a:endParaRPr lang="en-US" sz="1800" dirty="0"/>
          </a:p>
        </p:txBody>
      </p:sp>
      <p:sp>
        <p:nvSpPr>
          <p:cNvPr id="6" name="Shape 4"/>
          <p:cNvSpPr/>
          <p:nvPr/>
        </p:nvSpPr>
        <p:spPr>
          <a:xfrm>
            <a:off x="502920" y="3310128"/>
            <a:ext cx="5387188" cy="509016"/>
          </a:xfrm>
          <a:prstGeom prst="roundRect">
            <a:avLst>
              <a:gd name="adj" fmla="val 10778"/>
            </a:avLst>
          </a:prstGeom>
          <a:solidFill>
            <a:srgbClr val="FBEDE3"/>
          </a:solidFill>
          <a:ln w="12700">
            <a:solidFill>
              <a:srgbClr val="FBEDE3"/>
            </a:solidFill>
            <a:prstDash val="solid"/>
          </a:ln>
        </p:spPr>
      </p:sp>
      <p:sp>
        <p:nvSpPr>
          <p:cNvPr id="7" name="Text 5"/>
          <p:cNvSpPr txBox="1"/>
          <p:nvPr/>
        </p:nvSpPr>
        <p:spPr>
          <a:xfrm>
            <a:off x="731520" y="3447288"/>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Then why not just kill the stuck task?</a:t>
            </a:r>
            <a:endParaRPr lang="en-US" sz="1600" dirty="0"/>
          </a:p>
        </p:txBody>
      </p:sp>
      <p:sp>
        <p:nvSpPr>
          <p:cNvPr id="8" name="Text 6"/>
          <p:cNvSpPr txBox="1"/>
          <p:nvPr/>
        </p:nvSpPr>
        <p:spPr>
          <a:xfrm>
            <a:off x="502920" y="396544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Why not just stop the task from outside? Because a thread can be stopped at any instruction. It might be holding a mutex, and then that mutex stays locked forever. It might be halfway through updating a data structure, and then that structure is left broken for everyone else. There is no safe moment from the outside, so C++ deliberately has no way to kill a thread.</a:t>
            </a:r>
            <a:endParaRPr lang="en-US" sz="1500" dirty="0"/>
          </a:p>
        </p:txBody>
      </p:sp>
      <p:sp>
        <p:nvSpPr>
          <p:cNvPr id="9" name="Text 7"/>
          <p:cNvSpPr txBox="1"/>
          <p:nvPr/>
        </p:nvSpPr>
        <p:spPr>
          <a:xfrm>
            <a:off x="6301588" y="123444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Instead, stopping has to be cooperative. You ask the task to stop, and the task checks from time to time whether it has been asked, at moments where stopping is safe, like between two steps of its work. C++20 provides a ready-made thread-safe flag for this. A std::stop_source is the side that asks. It hands out std::stop_token objects, and a task holding a token can call stop_requested() to see whether a stop has been asked for.</a:t>
            </a:r>
            <a:endParaRPr lang="en-US" sz="1500" dirty="0"/>
          </a:p>
        </p:txBody>
      </p:sp>
      <p:sp>
        <p:nvSpPr>
          <p:cNvPr id="10" name="Shape 8"/>
          <p:cNvSpPr/>
          <p:nvPr/>
        </p:nvSpPr>
        <p:spPr>
          <a:xfrm>
            <a:off x="6301588" y="3236976"/>
            <a:ext cx="5387188" cy="2612136"/>
          </a:xfrm>
          <a:prstGeom prst="roundRect">
            <a:avLst>
              <a:gd name="adj" fmla="val 2100"/>
            </a:avLst>
          </a:prstGeom>
          <a:solidFill>
            <a:srgbClr val="1E2230"/>
          </a:solidFill>
          <a:ln w="12700">
            <a:solidFill>
              <a:srgbClr val="1E2230"/>
            </a:solidFill>
            <a:prstDash val="solid"/>
          </a:ln>
        </p:spPr>
      </p:sp>
      <p:sp>
        <p:nvSpPr>
          <p:cNvPr id="11" name="Text 9"/>
          <p:cNvSpPr txBox="1"/>
          <p:nvPr/>
        </p:nvSpPr>
        <p:spPr>
          <a:xfrm>
            <a:off x="6484468" y="3374136"/>
            <a:ext cx="5021428" cy="2337816"/>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std::stop_source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get_token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50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tok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stop_requested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stop between steps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do_step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100 ms</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request_stop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finishes within ~100 ms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task does its work in steps of 100 ms and checks the token before each step. When main calls request_stop(), the task notices at the start of its next step and returns. A task that never looks at its token cannot be stopped at all, so long-running tasks should check regularly.</a:t>
            </a:r>
            <a:endParaRPr lang="en-US" sz="1500" dirty="0"/>
          </a:p>
        </p:txBody>
      </p:sp>
      <p:sp>
        <p:nvSpPr>
          <p:cNvPr id="5" name="Text 3"/>
          <p:cNvSpPr txBox="1"/>
          <p:nvPr/>
        </p:nvSpPr>
        <p:spPr>
          <a:xfrm>
            <a:off x="502920" y="255117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are two ways to give a time limit. wait_for(d) waits at most d from now. wait_until(t) waits until a fixed moment t. When one request has three steps and one total budget, compute the deadline once and use wait_until for every step, so the budget is shared.</a:t>
            </a:r>
            <a:endParaRPr lang="en-US" sz="1500" dirty="0"/>
          </a:p>
        </p:txBody>
      </p:sp>
      <p:sp>
        <p:nvSpPr>
          <p:cNvPr id="6" name="Shape 4"/>
          <p:cNvSpPr/>
          <p:nvPr/>
        </p:nvSpPr>
        <p:spPr>
          <a:xfrm>
            <a:off x="502920" y="3867912"/>
            <a:ext cx="5387188" cy="1234440"/>
          </a:xfrm>
          <a:prstGeom prst="roundRect">
            <a:avLst>
              <a:gd name="adj" fmla="val 4444"/>
            </a:avLst>
          </a:prstGeom>
          <a:solidFill>
            <a:srgbClr val="E3F2EF"/>
          </a:solidFill>
          <a:ln w="12700">
            <a:solidFill>
              <a:srgbClr val="E3F2EF"/>
            </a:solidFill>
            <a:prstDash val="solid"/>
          </a:ln>
        </p:spPr>
      </p:sp>
      <p:sp>
        <p:nvSpPr>
          <p:cNvPr id="7" name="Text 5"/>
          <p:cNvSpPr txBox="1"/>
          <p:nvPr/>
        </p:nvSpPr>
        <p:spPr>
          <a:xfrm>
            <a:off x="731520" y="399592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8" name="Text 6"/>
          <p:cNvSpPr txBox="1"/>
          <p:nvPr/>
        </p:nvSpPr>
        <p:spPr>
          <a:xfrm>
            <a:off x="731520" y="4288536"/>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Our pool owns a stop_source and passes its token to every task. Long tasks check it between steps, so the pool can always shut down.</a:t>
            </a:r>
            <a:endParaRPr lang="en-US" sz="14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0" name="Text 8"/>
          <p:cNvSpPr txBox="1"/>
          <p:nvPr/>
        </p:nvSpPr>
        <p:spPr>
          <a:xfrm>
            <a:off x="6301588"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task checks its stop token every 100 ms. What is the longest it can take to stop after request_stop() is called?</a:t>
            </a:r>
            <a:endParaRPr lang="en-US" sz="1500" dirty="0"/>
          </a:p>
        </p:txBody>
      </p:sp>
      <p:sp>
        <p:nvSpPr>
          <p:cNvPr id="11" name="Shape 9"/>
          <p:cNvSpPr/>
          <p:nvPr/>
        </p:nvSpPr>
        <p:spPr>
          <a:xfrm>
            <a:off x="6301588" y="2322576"/>
            <a:ext cx="5387188" cy="1709928"/>
          </a:xfrm>
          <a:prstGeom prst="roundRect">
            <a:avLst>
              <a:gd name="adj" fmla="val 3209"/>
            </a:avLst>
          </a:prstGeom>
          <a:solidFill>
            <a:srgbClr val="F1F4F7"/>
          </a:solidFill>
          <a:ln w="12700">
            <a:solidFill>
              <a:srgbClr val="F1F4F7"/>
            </a:solidFill>
            <a:prstDash val="solid"/>
          </a:ln>
        </p:spPr>
      </p:sp>
      <p:sp>
        <p:nvSpPr>
          <p:cNvPr id="12" name="Text 10"/>
          <p:cNvSpPr txBox="1"/>
          <p:nvPr/>
        </p:nvSpPr>
        <p:spPr>
          <a:xfrm>
            <a:off x="6484468"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About 100 ms. In the worst case, request_stop() is called right after the task checked its token and started a new step. The task does not notice anything during the step, so it finishes the whole 100 ms step first, then checks the token, sees the request and returns. On average it takes about half that, 50 ms.</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A task that never finishes</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request has three steps and a total budget of 1 second. Each step uses wait_for(1s). What goes wrong?</a:t>
            </a:r>
            <a:endParaRPr lang="en-US" sz="1500" dirty="0"/>
          </a:p>
        </p:txBody>
      </p:sp>
      <p:sp>
        <p:nvSpPr>
          <p:cNvPr id="5" name="Shape 3"/>
          <p:cNvSpPr/>
          <p:nvPr/>
        </p:nvSpPr>
        <p:spPr>
          <a:xfrm>
            <a:off x="502920" y="1792224"/>
            <a:ext cx="5387188" cy="1923288"/>
          </a:xfrm>
          <a:prstGeom prst="roundRect">
            <a:avLst>
              <a:gd name="adj" fmla="val 2853"/>
            </a:avLst>
          </a:prstGeom>
          <a:solidFill>
            <a:srgbClr val="F1F4F7"/>
          </a:solidFill>
          <a:ln w="12700">
            <a:solidFill>
              <a:srgbClr val="F1F4F7"/>
            </a:solidFill>
            <a:prstDash val="solid"/>
          </a:ln>
        </p:spPr>
      </p:sp>
      <p:sp>
        <p:nvSpPr>
          <p:cNvPr id="6" name="Text 4"/>
          <p:cNvSpPr txBox="1"/>
          <p:nvPr/>
        </p:nvSpPr>
        <p:spPr>
          <a:xfrm>
            <a:off x="685800" y="1920240"/>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Each wait_for(1s) restarts its own one-second limit. If every step is slow, the first can take almost 1 s, then the second almost 1 s, then the third, so the whole request takes up to 3 s, three times the budget. The fix is to compute deadline = now + 1s once at the start, and use wait_until(deadline) in all three steps. Then the three waits together can never go past the one deadline.</a:t>
            </a:r>
            <a:endParaRPr lang="en-US" sz="1400" dirty="0"/>
          </a:p>
        </p:txBody>
      </p:sp>
      <p:sp>
        <p:nvSpPr>
          <p:cNvPr id="7" name="Text 5"/>
          <p:cNvSpPr txBox="1"/>
          <p:nvPr/>
        </p:nvSpPr>
        <p:spPr>
          <a:xfrm>
            <a:off x="502920" y="386181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pool must be able to shut down even if a task is stuck in a long loop. Design it.</a:t>
            </a:r>
            <a:endParaRPr lang="en-US" sz="1500" dirty="0"/>
          </a:p>
        </p:txBody>
      </p:sp>
      <p:sp>
        <p:nvSpPr>
          <p:cNvPr id="8" name="Shape 6"/>
          <p:cNvSpPr/>
          <p:nvPr/>
        </p:nvSpPr>
        <p:spPr>
          <a:xfrm>
            <a:off x="502920" y="4419600"/>
            <a:ext cx="5387188" cy="1923288"/>
          </a:xfrm>
          <a:prstGeom prst="roundRect">
            <a:avLst>
              <a:gd name="adj" fmla="val 2853"/>
            </a:avLst>
          </a:prstGeom>
          <a:solidFill>
            <a:srgbClr val="F1F4F7"/>
          </a:solidFill>
          <a:ln w="12700">
            <a:solidFill>
              <a:srgbClr val="F1F4F7"/>
            </a:solidFill>
            <a:prstDash val="solid"/>
          </a:ln>
        </p:spPr>
      </p:sp>
      <p:sp>
        <p:nvSpPr>
          <p:cNvPr id="9" name="Text 7"/>
          <p:cNvSpPr txBox="1"/>
          <p:nvPr/>
        </p:nvSpPr>
        <p:spPr>
          <a:xfrm>
            <a:off x="685800" y="4547616"/>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Give the pool a std::stop_source as a member, and pass its token to every task when it is submitted. Tasks check stop_requested() regularly and return early when it is set. In the pool's destructor, call request_stop() first, then shut down the queue, then join the workers. The stuck task notices the request at its next check and returns, so the join completes instead of waiting forever.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pool that freezes with nothing locked</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Many algorithms work by splitting a problem in half. A parallel sum, for example, splits its range in two, submits one half to the pool as a new task, computes the other half itself, and then waits for the first half's result with get(). Let us try that with a tiny example: a pool of two workers and two such outer tasks.</a:t>
            </a:r>
            <a:endParaRPr lang="en-US" sz="1500" dirty="0"/>
          </a:p>
        </p:txBody>
      </p:sp>
      <p:sp>
        <p:nvSpPr>
          <p:cNvPr id="6" name="Shape 4"/>
          <p:cNvSpPr/>
          <p:nvPr/>
        </p:nvSpPr>
        <p:spPr>
          <a:xfrm>
            <a:off x="502920" y="3310128"/>
            <a:ext cx="5387188" cy="2222500"/>
          </a:xfrm>
          <a:prstGeom prst="roundRect">
            <a:avLst>
              <a:gd name="adj" fmla="val 2469"/>
            </a:avLst>
          </a:prstGeom>
          <a:solidFill>
            <a:srgbClr val="1E2230"/>
          </a:solidFill>
          <a:ln w="12700">
            <a:solidFill>
              <a:srgbClr val="1E2230"/>
            </a:solidFill>
            <a:prstDash val="solid"/>
          </a:ln>
        </p:spPr>
      </p:sp>
      <p:sp>
        <p:nvSpPr>
          <p:cNvPr id="7" name="Text 5"/>
          <p:cNvSpPr txBox="1"/>
          <p:nvPr/>
        </p:nvSpPr>
        <p:spPr>
          <a:xfrm>
            <a:off x="685800" y="3447288"/>
            <a:ext cx="5021428" cy="1948180"/>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2</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inner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inner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wait inside a task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8" name="Text 6"/>
          <p:cNvSpPr txBox="1"/>
          <p:nvPr/>
        </p:nvSpPr>
        <p:spPr>
          <a:xfrm>
            <a:off x="502920" y="5678932"/>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This should print 2. Instead the program freezes, using no CPU at all:</a:t>
            </a:r>
            <a:endParaRPr lang="en-US" sz="1500" dirty="0"/>
          </a:p>
        </p:txBody>
      </p:sp>
      <p:sp>
        <p:nvSpPr>
          <p:cNvPr id="9" name="Shape 7"/>
          <p:cNvSpPr/>
          <p:nvPr/>
        </p:nvSpPr>
        <p:spPr>
          <a:xfrm>
            <a:off x="6301588" y="1234440"/>
            <a:ext cx="5387188" cy="663956"/>
          </a:xfrm>
          <a:prstGeom prst="roundRect">
            <a:avLst>
              <a:gd name="adj" fmla="val 8263"/>
            </a:avLst>
          </a:prstGeom>
          <a:solidFill>
            <a:srgbClr val="0F1419"/>
          </a:solidFill>
          <a:ln w="12700">
            <a:solidFill>
              <a:srgbClr val="0F1419"/>
            </a:solidFill>
            <a:prstDash val="solid"/>
          </a:ln>
        </p:spPr>
      </p:sp>
      <p:sp>
        <p:nvSpPr>
          <p:cNvPr id="10" name="Text 8"/>
          <p:cNvSpPr txBox="1"/>
          <p:nvPr/>
        </p:nvSpPr>
        <p:spPr>
          <a:xfrm>
            <a:off x="6484468" y="1371600"/>
            <a:ext cx="5021428" cy="389636"/>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v10 tiny_nested</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(frozen, stopped after 10 s)</a:t>
            </a:r>
            <a:endParaRPr lang="en-US" sz="1300" dirty="0"/>
          </a:p>
        </p:txBody>
      </p:sp>
      <p:sp>
        <p:nvSpPr>
          <p:cNvPr id="11" name="Text 9"/>
          <p:cNvSpPr txBox="1"/>
          <p:nvPr/>
        </p:nvSpPr>
        <p:spPr>
          <a:xfrm>
            <a:off x="6301588" y="204470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Follow it on the clock. At t = 0 main submits two outer tasks, and the two workers pick them up, one each. Within a microsecond, each outer task submits its inner task, which goes to the back of the queue, and then calls get() on it. get() sleeps until the inner task has run. Now both workers are asleep inside get(). The two inner tasks are sitting in the queue, but there is no free worker left to run them, and there never will be.</a:t>
            </a:r>
            <a:endParaRPr lang="en-US" sz="1500" dirty="0"/>
          </a:p>
        </p:txBody>
      </p:sp>
      <p:sp>
        <p:nvSpPr>
          <p:cNvPr id="12" name="Shape 10"/>
          <p:cNvSpPr/>
          <p:nvPr/>
        </p:nvSpPr>
        <p:spPr>
          <a:xfrm>
            <a:off x="6301588" y="4047236"/>
            <a:ext cx="5387188" cy="1443228"/>
          </a:xfrm>
          <a:prstGeom prst="roundRect">
            <a:avLst>
              <a:gd name="adj" fmla="val 3801"/>
            </a:avLst>
          </a:prstGeom>
          <a:solidFill>
            <a:srgbClr val="F1F4F7"/>
          </a:solidFill>
          <a:ln w="12700">
            <a:solidFill>
              <a:srgbClr val="F1F4F7"/>
            </a:solidFill>
            <a:prstDash val="solid"/>
          </a:ln>
        </p:spPr>
      </p:sp>
      <p:sp>
        <p:nvSpPr>
          <p:cNvPr id="13" name="Text 11"/>
          <p:cNvSpPr txBox="1"/>
          <p:nvPr/>
        </p:nvSpPr>
        <p:spPr>
          <a:xfrm>
            <a:off x="6484468" y="4184396"/>
            <a:ext cx="5021428" cy="1168908"/>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worker 1                  worker 2</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runs outer A              runs outer B</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submits inner A           submits inner B</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inner_A.get() sleeps      inner_B.get() sleeps</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 inner A, inner B ]  no free worker</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34440"/>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 mutex is involved anywhere, yet this is the same deadlock as in v5. get() is a wait just like waiting for a lock. Draw the wait-for graph: worker 1 waits for inner A, inner A needs a free worker, and every worker is waiting. The arrows form a cycle.</a:t>
            </a:r>
            <a:endParaRPr lang="en-US" sz="1500" dirty="0"/>
          </a:p>
        </p:txBody>
      </p:sp>
      <p:sp>
        <p:nvSpPr>
          <p:cNvPr id="5" name="Shape 3"/>
          <p:cNvSpPr/>
          <p:nvPr/>
        </p:nvSpPr>
        <p:spPr>
          <a:xfrm>
            <a:off x="502920" y="2551176"/>
            <a:ext cx="5387188" cy="509016"/>
          </a:xfrm>
          <a:prstGeom prst="roundRect">
            <a:avLst>
              <a:gd name="adj" fmla="val 10778"/>
            </a:avLst>
          </a:prstGeom>
          <a:solidFill>
            <a:srgbClr val="FBEDE3"/>
          </a:solidFill>
          <a:ln w="12700">
            <a:solidFill>
              <a:srgbClr val="FBEDE3"/>
            </a:solidFill>
            <a:prstDash val="solid"/>
          </a:ln>
        </p:spPr>
      </p:sp>
      <p:sp>
        <p:nvSpPr>
          <p:cNvPr id="6" name="Text 4"/>
          <p:cNvSpPr txBox="1"/>
          <p:nvPr/>
        </p:nvSpPr>
        <p:spPr>
          <a:xfrm>
            <a:off x="731520" y="2688336"/>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Then add a third worker?</a:t>
            </a:r>
            <a:endParaRPr lang="en-US" sz="1600" dirty="0"/>
          </a:p>
        </p:txBody>
      </p:sp>
      <p:sp>
        <p:nvSpPr>
          <p:cNvPr id="7" name="Text 5"/>
          <p:cNvSpPr txBox="1"/>
          <p:nvPr/>
        </p:nvSpPr>
        <p:spPr>
          <a:xfrm>
            <a:off x="502920" y="320649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Could we just add a third worker? That fixes this exact program, because the third worker would run the inner tasks. But three outer tasks would freeze it again. A recursive algorithm keeps creating new outer tasks as it splits, so it will always eventually use up every worker you have.</a:t>
            </a:r>
            <a:endParaRPr lang="en-US" sz="1500" dirty="0"/>
          </a:p>
        </p:txBody>
      </p:sp>
      <p:sp>
        <p:nvSpPr>
          <p:cNvPr id="8" name="Text 6"/>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Help while you wait</a:t>
            </a:r>
            <a:endParaRPr lang="en-US" sz="1800" dirty="0"/>
          </a:p>
        </p:txBody>
      </p:sp>
      <p:sp>
        <p:nvSpPr>
          <p:cNvPr id="9" name="Shape 7"/>
          <p:cNvSpPr/>
          <p:nvPr/>
        </p:nvSpPr>
        <p:spPr>
          <a:xfrm>
            <a:off x="6301588" y="1764792"/>
            <a:ext cx="5387188" cy="752856"/>
          </a:xfrm>
          <a:prstGeom prst="roundRect">
            <a:avLst>
              <a:gd name="adj" fmla="val 7287"/>
            </a:avLst>
          </a:prstGeom>
          <a:solidFill>
            <a:srgbClr val="FBEDE3"/>
          </a:solidFill>
          <a:ln w="12700">
            <a:solidFill>
              <a:srgbClr val="FBEDE3"/>
            </a:solidFill>
            <a:prstDash val="solid"/>
          </a:ln>
        </p:spPr>
      </p:sp>
      <p:sp>
        <p:nvSpPr>
          <p:cNvPr id="10" name="Text 8"/>
          <p:cNvSpPr txBox="1"/>
          <p:nvPr/>
        </p:nvSpPr>
        <p:spPr>
          <a:xfrm>
            <a:off x="6530188"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If a worker has to wait, what useful thing could it do instead of sleeping?</a:t>
            </a:r>
            <a:endParaRPr lang="en-US" sz="1600" dirty="0"/>
          </a:p>
        </p:txBody>
      </p:sp>
      <p:sp>
        <p:nvSpPr>
          <p:cNvPr id="11" name="Text 9"/>
          <p:cNvSpPr txBox="1"/>
          <p:nvPr/>
        </p:nvSpPr>
        <p:spPr>
          <a:xfrm>
            <a:off x="6301588" y="266395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real fix is for a waiting worker not to sleep at all. While it waits for its future to become ready, it takes other tasks from the queue and runs them itself. Sooner or later it will pick up and run the very task it is waiting for.</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Shape 2"/>
          <p:cNvSpPr/>
          <p:nvPr/>
        </p:nvSpPr>
        <p:spPr>
          <a:xfrm>
            <a:off x="502920" y="1234440"/>
            <a:ext cx="5387188" cy="2806954"/>
          </a:xfrm>
          <a:prstGeom prst="roundRect">
            <a:avLst>
              <a:gd name="adj" fmla="val 1955"/>
            </a:avLst>
          </a:prstGeom>
          <a:solidFill>
            <a:srgbClr val="1E2230"/>
          </a:solidFill>
          <a:ln w="12700">
            <a:solidFill>
              <a:srgbClr val="1E2230"/>
            </a:solidFill>
            <a:prstDash val="solid"/>
          </a:ln>
        </p:spPr>
      </p:sp>
      <p:sp>
        <p:nvSpPr>
          <p:cNvPr id="5" name="Text 3"/>
          <p:cNvSpPr txBox="1"/>
          <p:nvPr/>
        </p:nvSpPr>
        <p:spPr>
          <a:xfrm>
            <a:off x="685800" y="1371600"/>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wait_helping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namespace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std::chrono_literals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wait_for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std::future_status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ready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run some task</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else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yield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418769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wait_for(0s) does not wait at all, it only asks whether the result is ready yet. If not, the worker tries to pop a task with try_pop(), which never blocks, and runs it. If the queue is empty, yield() lets other threads run for a moment. The loop continues until the future is ready, and then get() returns immediately.</a:t>
            </a:r>
            <a:endParaRPr lang="en-US" sz="1500" dirty="0"/>
          </a:p>
        </p:txBody>
      </p:sp>
      <p:sp>
        <p:nvSpPr>
          <p:cNvPr id="7" name="Text 5"/>
          <p:cNvSpPr txBox="1"/>
          <p:nvPr/>
        </p:nvSpPr>
        <p:spPr>
          <a:xfrm>
            <a:off x="6301588" y="1234440"/>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Replay the frozen example with wait_helping. Worker 1, instead of sleeping, pops inner A from the queue and runs it, which makes its own future ready. Worker 2 does the same with inner B. Both outer tasks finish, and main prints 2. This also finally gives try_pop() from v3 a real job. A recursive sum written this way finishes correctly even on a pool with a single worker. Real thread pools go further with a separate queue per worker and "work stealing", but the idea is the same.</a:t>
            </a:r>
            <a:endParaRPr lang="en-US" sz="1500" dirty="0"/>
          </a:p>
        </p:txBody>
      </p:sp>
      <p:sp>
        <p:nvSpPr>
          <p:cNvPr id="8" name="Shape 6"/>
          <p:cNvSpPr/>
          <p:nvPr/>
        </p:nvSpPr>
        <p:spPr>
          <a:xfrm>
            <a:off x="6301588" y="3465576"/>
            <a:ext cx="5387188" cy="1234440"/>
          </a:xfrm>
          <a:prstGeom prst="roundRect">
            <a:avLst>
              <a:gd name="adj" fmla="val 4444"/>
            </a:avLst>
          </a:prstGeom>
          <a:solidFill>
            <a:srgbClr val="E3F2EF"/>
          </a:solidFill>
          <a:ln w="12700">
            <a:solidFill>
              <a:srgbClr val="E3F2EF"/>
            </a:solidFill>
            <a:prstDash val="solid"/>
          </a:ln>
        </p:spPr>
      </p:sp>
      <p:sp>
        <p:nvSpPr>
          <p:cNvPr id="9" name="Text 7"/>
          <p:cNvSpPr txBox="1"/>
          <p:nvPr/>
        </p:nvSpPr>
        <p:spPr>
          <a:xfrm>
            <a:off x="6530188" y="3593592"/>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0" name="Text 8"/>
          <p:cNvSpPr txBox="1"/>
          <p:nvPr/>
        </p:nvSpPr>
        <p:spPr>
          <a:xfrm>
            <a:off x="6530188" y="3886200"/>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Every place a task waits for another task in our projects uses wait_helping() instead of get(), so the pool can never freeze on itself.</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recursive sum over 2,000,000 numbers stops splitting when a range has fewer than 10,000 elements. Roughly how many tasks does it create?</a:t>
            </a:r>
            <a:endParaRPr lang="en-US" sz="1500" dirty="0"/>
          </a:p>
        </p:txBody>
      </p:sp>
      <p:sp>
        <p:nvSpPr>
          <p:cNvPr id="6" name="Shape 4"/>
          <p:cNvSpPr/>
          <p:nvPr/>
        </p:nvSpPr>
        <p:spPr>
          <a:xfrm>
            <a:off x="502920" y="2551176"/>
            <a:ext cx="5387188" cy="1923288"/>
          </a:xfrm>
          <a:prstGeom prst="roundRect">
            <a:avLst>
              <a:gd name="adj" fmla="val 2853"/>
            </a:avLst>
          </a:prstGeom>
          <a:solidFill>
            <a:srgbClr val="F1F4F7"/>
          </a:solidFill>
          <a:ln w="12700">
            <a:solidFill>
              <a:srgbClr val="F1F4F7"/>
            </a:solidFill>
            <a:prstDash val="solid"/>
          </a:ln>
        </p:spPr>
      </p:sp>
      <p:sp>
        <p:nvSpPr>
          <p:cNvPr id="7" name="Text 5"/>
          <p:cNvSpPr txBox="1"/>
          <p:nvPr/>
        </p:nvSpPr>
        <p:spPr>
          <a:xfrm>
            <a:off x="685800" y="2679192"/>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Each split halves the range: 2,000,000, then 1,000,000, 500,000, and so on, until a range is under 10,000. That takes 8 levels (2,000,000 / 2^8 is about 7,800), giving 2^8 = 256 small ranges, the leaves of the tree. A binary tree with 256 leaves has 255 inner nodes, the tasks that split. So the sum creates roughly 500 tasks in total, few enough that the queue overhead does not matter.</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pool has one worker and runs a recursive sum with wait_helping. Trace the first split.</a:t>
            </a:r>
            <a:endParaRPr lang="en-US" sz="1500" dirty="0"/>
          </a:p>
        </p:txBody>
      </p:sp>
      <p:sp>
        <p:nvSpPr>
          <p:cNvPr id="9" name="Shape 7"/>
          <p:cNvSpPr/>
          <p:nvPr/>
        </p:nvSpPr>
        <p:spPr>
          <a:xfrm>
            <a:off x="6301588" y="1792224"/>
            <a:ext cx="5387188" cy="2350008"/>
          </a:xfrm>
          <a:prstGeom prst="roundRect">
            <a:avLst>
              <a:gd name="adj" fmla="val 2335"/>
            </a:avLst>
          </a:prstGeom>
          <a:solidFill>
            <a:srgbClr val="F1F4F7"/>
          </a:solidFill>
          <a:ln w="12700">
            <a:solidFill>
              <a:srgbClr val="F1F4F7"/>
            </a:solidFill>
            <a:prstDash val="solid"/>
          </a:ln>
        </p:spPr>
      </p:sp>
      <p:sp>
        <p:nvSpPr>
          <p:cNvPr id="10" name="Text 8"/>
          <p:cNvSpPr txBox="1"/>
          <p:nvPr/>
        </p:nvSpPr>
        <p:spPr>
          <a:xfrm>
            <a:off x="6484468" y="1920240"/>
            <a:ext cx="5021428" cy="21214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single worker runs the top task. It splits the range, submits the left half as a new task, which goes into the queue, and computes the right half itself. Then it calls wait_helping on the left half's future. The future is not ready, so it calls try_pop(), gets the left half task, and runs it right there. When that finishes, the future is ready, wait_helping returns the left sum, and the worker adds the two halves. One worker did everything, and nothing ever waited.</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Tasks that wait for tasks</a:t>
            </a:r>
            <a:endParaRPr lang="en-US" sz="2600" dirty="0"/>
          </a:p>
        </p:txBody>
      </p:sp>
      <p:sp>
        <p:nvSpPr>
          <p:cNvPr id="4" name="Text 2"/>
          <p:cNvSpPr txBox="1"/>
          <p:nvPr/>
        </p:nvSpPr>
        <p:spPr>
          <a:xfrm>
            <a:off x="502920" y="1234440"/>
            <a:ext cx="5387188" cy="2560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At the end of Part 2, list what your pool now guarantees.</a:t>
            </a:r>
            <a:endParaRPr lang="en-US" sz="1500" dirty="0"/>
          </a:p>
        </p:txBody>
      </p:sp>
      <p:sp>
        <p:nvSpPr>
          <p:cNvPr id="5" name="Shape 3"/>
          <p:cNvSpPr/>
          <p:nvPr/>
        </p:nvSpPr>
        <p:spPr>
          <a:xfrm>
            <a:off x="502920" y="1563624"/>
            <a:ext cx="5387188" cy="2136648"/>
          </a:xfrm>
          <a:prstGeom prst="roundRect">
            <a:avLst>
              <a:gd name="adj" fmla="val 2568"/>
            </a:avLst>
          </a:prstGeom>
          <a:solidFill>
            <a:srgbClr val="F1F4F7"/>
          </a:solidFill>
          <a:ln w="12700">
            <a:solidFill>
              <a:srgbClr val="F1F4F7"/>
            </a:solidFill>
            <a:prstDash val="solid"/>
          </a:ln>
        </p:spPr>
      </p:sp>
      <p:sp>
        <p:nvSpPr>
          <p:cNvPr id="6" name="Text 4"/>
          <p:cNvSpPr txBox="1"/>
          <p:nvPr/>
        </p:nvSpPr>
        <p:spPr>
          <a:xfrm>
            <a:off x="685800" y="1691640"/>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A caller gets a future for every task, and that future delivers either the result or the exception (v10). The pool shuts down cleanly and finishes queued work first (v9). Locks are held only around the shared data, so the workers really run in parallel (v9). A long task can be asked to stop with a stop token (v10). And a task that waits for another task helps run the queue instead of sleeping, so nested waits cannot freeze the pool (v10).</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v10: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v10 needs, file by file: queue.hpp, thread_group.hpp, pool.hpp, main.cpp. If your version does not work, compare it with this one. Build and run it from the master folder with ./run.sh v10 main.</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a:t>
            </a:r>
            <a:endParaRPr lang="en-US" sz="1100" dirty="0"/>
          </a:p>
        </p:txBody>
      </p:sp>
      <p:sp>
        <p:nvSpPr>
          <p:cNvPr id="6" name="Shape 4"/>
          <p:cNvSpPr/>
          <p:nvPr/>
        </p:nvSpPr>
        <p:spPr>
          <a:xfrm>
            <a:off x="502920" y="2615184"/>
            <a:ext cx="5387188" cy="3684524"/>
          </a:xfrm>
          <a:prstGeom prst="roundRect">
            <a:avLst>
              <a:gd name="adj" fmla="val 1241"/>
            </a:avLst>
          </a:prstGeom>
          <a:solidFill>
            <a:srgbClr val="1E2230"/>
          </a:solidFill>
          <a:ln w="12700">
            <a:solidFill>
              <a:srgbClr val="1E2230"/>
            </a:solidFill>
            <a:prstDash val="solid"/>
          </a:ln>
        </p:spPr>
      </p:sp>
      <p:sp>
        <p:nvSpPr>
          <p:cNvPr id="7" name="Text 5"/>
          <p:cNvSpPr txBox="1"/>
          <p:nvPr/>
        </p:nvSpPr>
        <p:spPr>
          <a:xfrm>
            <a:off x="612648" y="2734056"/>
            <a:ext cx="5204308" cy="35016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v7 · Generic queue&lt;T&gt;</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Values are moved in and out, so move-only types (unique_ptr, tasks)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work and no item can be lost to a throwing copy.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utility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caller holds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9" name="Shape 7"/>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0" name="Text 8"/>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by value, then moved in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v10: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5" name="Shape 3"/>
          <p:cNvSpPr/>
          <p:nvPr/>
        </p:nvSpPr>
        <p:spPr>
          <a:xfrm>
            <a:off x="502920" y="1527048"/>
            <a:ext cx="5387188" cy="4733544"/>
          </a:xfrm>
          <a:prstGeom prst="roundRect">
            <a:avLst>
              <a:gd name="adj" fmla="val 966"/>
            </a:avLst>
          </a:prstGeom>
          <a:solidFill>
            <a:srgbClr val="1E2230"/>
          </a:solidFill>
          <a:ln w="12700">
            <a:solidFill>
              <a:srgbClr val="1E2230"/>
            </a:solidFill>
            <a:prstDash val="solid"/>
          </a:ln>
        </p:spPr>
      </p:sp>
      <p:sp>
        <p:nvSpPr>
          <p:cNvPr id="6" name="Text 4"/>
          <p:cNvSpPr txBox="1"/>
          <p:nvPr/>
        </p:nvSpPr>
        <p:spPr>
          <a:xfrm>
            <a:off x="612648"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closed and drained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std::scoped_lock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8" name="Shape 6"/>
          <p:cNvSpPr/>
          <p:nvPr/>
        </p:nvSpPr>
        <p:spPr>
          <a:xfrm>
            <a:off x="6301588" y="1527048"/>
            <a:ext cx="5387188" cy="2335784"/>
          </a:xfrm>
          <a:prstGeom prst="roundRect">
            <a:avLst>
              <a:gd name="adj" fmla="val 1957"/>
            </a:avLst>
          </a:prstGeom>
          <a:solidFill>
            <a:srgbClr val="1E2230"/>
          </a:solidFill>
          <a:ln w="12700">
            <a:solidFill>
              <a:srgbClr val="1E2230"/>
            </a:solidFill>
            <a:prstDash val="solid"/>
          </a:ln>
        </p:spPr>
      </p:sp>
      <p:sp>
        <p:nvSpPr>
          <p:cNvPr id="9" name="Text 7"/>
          <p:cNvSpPr txBox="1"/>
          <p:nvPr/>
        </p:nvSpPr>
        <p:spPr>
          <a:xfrm>
            <a:off x="6411316" y="1645920"/>
            <a:ext cx="5204308" cy="21529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400913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a:t>
            </a:r>
            <a:endParaRPr lang="en-US" sz="1100" dirty="0"/>
          </a:p>
        </p:txBody>
      </p:sp>
      <p:sp>
        <p:nvSpPr>
          <p:cNvPr id="11" name="Shape 9"/>
          <p:cNvSpPr/>
          <p:nvPr/>
        </p:nvSpPr>
        <p:spPr>
          <a:xfrm>
            <a:off x="6301588" y="4301744"/>
            <a:ext cx="5387188" cy="2036064"/>
          </a:xfrm>
          <a:prstGeom prst="roundRect">
            <a:avLst>
              <a:gd name="adj" fmla="val 2246"/>
            </a:avLst>
          </a:prstGeom>
          <a:solidFill>
            <a:srgbClr val="1E2230"/>
          </a:solidFill>
          <a:ln w="12700">
            <a:solidFill>
              <a:srgbClr val="1E2230"/>
            </a:solidFill>
            <a:prstDash val="solid"/>
          </a:ln>
        </p:spPr>
      </p:sp>
      <p:sp>
        <p:nvSpPr>
          <p:cNvPr id="12" name="Text 10"/>
          <p:cNvSpPr txBox="1"/>
          <p:nvPr/>
        </p:nvSpPr>
        <p:spPr>
          <a:xfrm>
            <a:off x="6411316" y="4420616"/>
            <a:ext cx="5204308" cy="185318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 RAII owner for threads. Every thread added is joined in the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destructor, on every exit path, including exceptions.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default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v10: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 (continued)</a:t>
            </a:r>
            <a:endParaRPr lang="en-US" sz="1100" dirty="0"/>
          </a:p>
        </p:txBody>
      </p:sp>
      <p:sp>
        <p:nvSpPr>
          <p:cNvPr id="5" name="Shape 3"/>
          <p:cNvSpPr/>
          <p:nvPr/>
        </p:nvSpPr>
        <p:spPr>
          <a:xfrm>
            <a:off x="502920" y="1527048"/>
            <a:ext cx="5387188" cy="1436624"/>
          </a:xfrm>
          <a:prstGeom prst="roundRect">
            <a:avLst>
              <a:gd name="adj" fmla="val 3182"/>
            </a:avLst>
          </a:prstGeom>
          <a:solidFill>
            <a:srgbClr val="1E2230"/>
          </a:solidFill>
          <a:ln w="12700">
            <a:solidFill>
              <a:srgbClr val="1E2230"/>
            </a:solidFill>
            <a:prstDash val="solid"/>
          </a:ln>
        </p:spPr>
      </p:sp>
      <p:sp>
        <p:nvSpPr>
          <p:cNvPr id="6" name="Text 4"/>
          <p:cNvSpPr txBox="1"/>
          <p:nvPr/>
        </p:nvSpPr>
        <p:spPr>
          <a:xfrm>
            <a:off x="612648" y="1645920"/>
            <a:ext cx="5204308" cy="12537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502920" y="31099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pool.hpp</a:t>
            </a:r>
            <a:endParaRPr lang="en-US" sz="1100" dirty="0"/>
          </a:p>
        </p:txBody>
      </p:sp>
      <p:sp>
        <p:nvSpPr>
          <p:cNvPr id="8" name="Shape 6"/>
          <p:cNvSpPr/>
          <p:nvPr/>
        </p:nvSpPr>
        <p:spPr>
          <a:xfrm>
            <a:off x="502920" y="3402584"/>
            <a:ext cx="5387188" cy="2935224"/>
          </a:xfrm>
          <a:prstGeom prst="roundRect">
            <a:avLst>
              <a:gd name="adj" fmla="val 1558"/>
            </a:avLst>
          </a:prstGeom>
          <a:solidFill>
            <a:srgbClr val="1E2230"/>
          </a:solidFill>
          <a:ln w="12700">
            <a:solidFill>
              <a:srgbClr val="1E2230"/>
            </a:solidFill>
            <a:prstDash val="solid"/>
          </a:ln>
        </p:spPr>
      </p:sp>
      <p:sp>
        <p:nvSpPr>
          <p:cNvPr id="9" name="Text 7"/>
          <p:cNvSpPr txBox="1"/>
          <p:nvPr/>
        </p:nvSpPr>
        <p:spPr>
          <a:xfrm>
            <a:off x="612648" y="3521456"/>
            <a:ext cx="5204308" cy="27523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v10 · Future-based results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submit() wraps the callable in a packaged_task and returns its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future: the caller gets the value, or the exception rethrown by</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get(). wait_helping() runs queued tasks while it waits, so tasks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can wait for tasks they submitted.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chrono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functional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future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memory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stdexcept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"thread_group.hpp"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std::function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default_workers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pool.hpp (continued)</a:t>
            </a:r>
            <a:endParaRPr lang="en-US" sz="1100" dirty="0"/>
          </a:p>
        </p:txBody>
      </p:sp>
      <p:sp>
        <p:nvSpPr>
          <p:cNvPr id="11" name="Shape 9"/>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2" name="Text 10"/>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hardware_concurrency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0 means "unknown"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destroyed last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destroyed (joined) first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future stores exceptions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explicit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default_workers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decltype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decltype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Job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std::packaged_task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move-only, so shared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std::make_shared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Job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get_future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"submit() after 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v10</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v10: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pool.hpp (continued)</a:t>
            </a:r>
            <a:endParaRPr lang="en-US" sz="1100" dirty="0"/>
          </a:p>
        </p:txBody>
      </p:sp>
      <p:sp>
        <p:nvSpPr>
          <p:cNvPr id="5" name="Shape 3"/>
          <p:cNvSpPr/>
          <p:nvPr/>
        </p:nvSpPr>
        <p:spPr>
          <a:xfrm>
            <a:off x="502920" y="1527048"/>
            <a:ext cx="5387188" cy="3534664"/>
          </a:xfrm>
          <a:prstGeom prst="roundRect">
            <a:avLst>
              <a:gd name="adj" fmla="val 1293"/>
            </a:avLst>
          </a:prstGeom>
          <a:solidFill>
            <a:srgbClr val="1E2230"/>
          </a:solidFill>
          <a:ln w="12700">
            <a:solidFill>
              <a:srgbClr val="1E2230"/>
            </a:solidFill>
            <a:prstDash val="solid"/>
          </a:ln>
        </p:spPr>
      </p:sp>
      <p:sp>
        <p:nvSpPr>
          <p:cNvPr id="6" name="Text 4"/>
          <p:cNvSpPr txBox="1"/>
          <p:nvPr/>
        </p:nvSpPr>
        <p:spPr>
          <a:xfrm>
            <a:off x="612648" y="1645920"/>
            <a:ext cx="5204308" cy="335178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wait_helping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use instead of get()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namespace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std::chrono_literals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std::future_status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ready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help: run a queued task</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else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yield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then ~workers joins them all</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default_pool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static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built once, thread-safely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8" name="Shape 6"/>
          <p:cNvSpPr/>
          <p:nvPr/>
        </p:nvSpPr>
        <p:spPr>
          <a:xfrm>
            <a:off x="6301588" y="1527048"/>
            <a:ext cx="5387188" cy="4134104"/>
          </a:xfrm>
          <a:prstGeom prst="roundRect">
            <a:avLst>
              <a:gd name="adj" fmla="val 1106"/>
            </a:avLst>
          </a:prstGeom>
          <a:solidFill>
            <a:srgbClr val="1E2230"/>
          </a:solidFill>
          <a:ln w="12700">
            <a:solidFill>
              <a:srgbClr val="1E2230"/>
            </a:solidFill>
            <a:prstDash val="solid"/>
          </a:ln>
        </p:spPr>
      </p:sp>
      <p:sp>
        <p:nvSpPr>
          <p:cNvPr id="9" name="Text 7"/>
          <p:cNvSpPr txBox="1"/>
          <p:nvPr/>
        </p:nvSpPr>
        <p:spPr>
          <a:xfrm>
            <a:off x="6411316" y="1645920"/>
            <a:ext cx="5204308" cy="395122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v10: submit() returns a future with the value or the error.</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stdexcept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"pool.hpp"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6</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7</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"result: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"bad job"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catch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std::exception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"get() rethrew: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what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 task that waits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inner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wait_helping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inner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"nested: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txBox="1"/>
          <p:nvPr/>
        </p:nvSpPr>
        <p:spPr>
          <a:xfrm>
            <a:off x="502920" y="2011680"/>
            <a:ext cx="5486400" cy="320040"/>
          </a:xfrm>
          <a:prstGeom prst="rect">
            <a:avLst/>
          </a:prstGeom>
          <a:noFill/>
          <a:ln/>
        </p:spPr>
        <p:txBody>
          <a:bodyPr wrap="square" lIns="0" tIns="0" rIns="0" bIns="0" rtlCol="0" anchor="ctr"/>
          <a:lstStyle/>
          <a:p>
            <a:pPr indent="0" marL="0">
              <a:buNone/>
            </a:pPr>
            <a:r>
              <a:rPr lang="en-US" sz="1500" b="1" dirty="0">
                <a:solidFill>
                  <a:srgbClr val="E9B44C"/>
                </a:solidFill>
                <a:latin typeface="Calibri" pitchFamily="34" charset="0"/>
                <a:ea typeface="Calibri" pitchFamily="34" charset="-122"/>
                <a:cs typeface="Calibri" pitchFamily="34" charset="-120"/>
              </a:rPr>
              <a:t>Part 3  ·  v11 to v14</a:t>
            </a:r>
            <a:endParaRPr lang="en-US" sz="1500" dirty="0"/>
          </a:p>
        </p:txBody>
      </p:sp>
      <p:sp>
        <p:nvSpPr>
          <p:cNvPr id="3" name="Text 1"/>
          <p:cNvSpPr txBox="1"/>
          <p:nvPr/>
        </p:nvSpPr>
        <p:spPr>
          <a:xfrm>
            <a:off x="502920" y="2468880"/>
            <a:ext cx="5852160" cy="164592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Taking the locks away</a:t>
            </a:r>
            <a:endParaRPr lang="en-US" sz="4200" dirty="0"/>
          </a:p>
        </p:txBody>
      </p:sp>
      <p:sp>
        <p:nvSpPr>
          <p:cNvPr id="4" name="Text 2"/>
          <p:cNvSpPr txBox="1"/>
          <p:nvPr/>
        </p:nvSpPr>
        <p:spPr>
          <a:xfrm>
            <a:off x="6766560" y="2011680"/>
            <a:ext cx="4922215" cy="3840480"/>
          </a:xfrm>
          <a:prstGeom prst="rect">
            <a:avLst/>
          </a:prstGeom>
          <a:noFill/>
          <a:ln/>
        </p:spPr>
        <p:txBody>
          <a:bodyPr wrap="square" lIns="0" tIns="0" rIns="0" bIns="0" rtlCol="0" anchor="t"/>
          <a:lstStyle/>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v11   Counting without a lock</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v12   Two locks instead of one</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v13   No locks at all</a:t>
            </a:r>
            <a:endParaRPr lang="en-US" sz="1600" dirty="0"/>
          </a:p>
          <a:p>
            <a:pPr indent="0" marL="0">
              <a:spcAft>
                <a:spcPts val="700"/>
              </a:spcAft>
              <a:buNone/>
            </a:pPr>
            <a:r>
              <a:rPr lang="en-US" sz="1600" dirty="0">
                <a:solidFill>
                  <a:srgbClr val="D5DEE7"/>
                </a:solidFill>
                <a:latin typeface="Calibri" pitchFamily="34" charset="0"/>
                <a:ea typeface="Calibri" pitchFamily="34" charset="-122"/>
                <a:cs typeface="Calibri" pitchFamily="34" charset="-120"/>
              </a:rPr>
              <a:t>v14   Measuring honestly</a:t>
            </a:r>
            <a:endParaRPr lang="en-US" sz="1600" dirty="0"/>
          </a:p>
        </p:txBody>
      </p:sp>
      <p:sp>
        <p:nvSpPr>
          <p:cNvPr id="5"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endParaRPr lang="en-US" sz="26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D5DEE7"/>
                </a:solidFill>
                <a:latin typeface="Calibri"/>
                <a:ea typeface="Calibri"/>
                <a:cs typeface="Calibri"/>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dashboard that slows the workers</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Our pool works. In Part 3 we look at what all that safety costs, and how to pay less. We start small. We want a monitoring thread to show how many tasks have been submitted and how many have completed, refreshed ten times a second. That means two counters, and every worker increments completed each time it finishes a task.</a:t>
            </a:r>
            <a:endParaRPr lang="en-US" sz="1500" dirty="0"/>
          </a:p>
        </p:txBody>
      </p:sp>
      <p:sp>
        <p:nvSpPr>
          <p:cNvPr id="6" name="Text 4"/>
          <p:cNvSpPr txBox="1"/>
          <p:nvPr/>
        </p:nvSpPr>
        <p:spPr>
          <a:xfrm>
            <a:off x="502920" y="3310128"/>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From v2 we know that ++ on a shared int is a data race, so the obvious answer is a mutex. But then every worker has to take that mutex after every task, and so does the dashboard. We are adding contention just to count. Is a lock really the only way to make ++ safe?</a:t>
            </a:r>
            <a:endParaRPr lang="en-US" sz="1500" dirty="0"/>
          </a:p>
        </p:txBody>
      </p:sp>
      <p:sp>
        <p:nvSpPr>
          <p:cNvPr id="7" name="Text 5"/>
          <p:cNvSpPr txBox="1"/>
          <p:nvPr/>
        </p:nvSpPr>
        <p:spPr>
          <a:xfrm>
            <a:off x="502920" y="462686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Let us compare three versions of v2's counter. A uses a plain int with no lock, B uses a mutex, and C uses std::atomic&lt;int&gt;, which we have not seen before.</a:t>
            </a:r>
            <a:endParaRPr lang="en-US" sz="1500" dirty="0"/>
          </a:p>
        </p:txBody>
      </p:sp>
      <p:sp>
        <p:nvSpPr>
          <p:cNvPr id="8" name="Shape 6"/>
          <p:cNvSpPr/>
          <p:nvPr/>
        </p:nvSpPr>
        <p:spPr>
          <a:xfrm>
            <a:off x="6301588" y="1234440"/>
            <a:ext cx="5387188" cy="1832864"/>
          </a:xfrm>
          <a:prstGeom prst="roundRect">
            <a:avLst>
              <a:gd name="adj" fmla="val 2993"/>
            </a:avLst>
          </a:prstGeom>
          <a:solidFill>
            <a:srgbClr val="1E2230"/>
          </a:solidFill>
          <a:ln w="12700">
            <a:solidFill>
              <a:srgbClr val="1E2230"/>
            </a:solidFill>
            <a:prstDash val="solid"/>
          </a:ln>
        </p:spPr>
      </p:sp>
      <p:sp>
        <p:nvSpPr>
          <p:cNvPr id="9" name="Text 7"/>
          <p:cNvSpPr txBox="1"/>
          <p:nvPr/>
        </p:nvSpPr>
        <p:spPr>
          <a:xfrm>
            <a:off x="6484468" y="1371600"/>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plain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A: no lock</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B: mutex</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C: atomic</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two threads, 1,000,000 times each:</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plain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locked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counter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fetch_add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0" name="Shape 8"/>
          <p:cNvSpPr/>
          <p:nvPr/>
        </p:nvSpPr>
        <p:spPr>
          <a:xfrm>
            <a:off x="6301588" y="3213608"/>
            <a:ext cx="5387188" cy="1053592"/>
          </a:xfrm>
          <a:prstGeom prst="roundRect">
            <a:avLst>
              <a:gd name="adj" fmla="val 5207"/>
            </a:avLst>
          </a:prstGeom>
          <a:solidFill>
            <a:srgbClr val="0F1419"/>
          </a:solidFill>
          <a:ln w="12700">
            <a:solidFill>
              <a:srgbClr val="0F1419"/>
            </a:solidFill>
            <a:prstDash val="solid"/>
          </a:ln>
        </p:spPr>
      </p:sp>
      <p:sp>
        <p:nvSpPr>
          <p:cNvPr id="11" name="Text 9"/>
          <p:cNvSpPr txBox="1"/>
          <p:nvPr/>
        </p:nvSpPr>
        <p:spPr>
          <a:xfrm>
            <a:off x="6484468" y="335076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OPT=-O0 ./run.sh v11 tiny_atomic</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no lock:     1056548   (4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std::mutex:  2000000   (212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std::atomic: 2000000   (27 ms)</a:t>
            </a:r>
            <a:endParaRPr lang="en-US" sz="1300" dirty="0"/>
          </a:p>
        </p:txBody>
      </p:sp>
      <p:sp>
        <p:nvSpPr>
          <p:cNvPr id="12" name="Text 10"/>
          <p:cNvSpPr txBox="1"/>
          <p:nvPr/>
        </p:nvSpPr>
        <p:spPr>
          <a:xfrm>
            <a:off x="6301588" y="441350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plain int loses updates, exactly as in v2. The mutex and the atomic are both correct. But the atomic is about eight times faster, because no thread ever has to wait for another one to give back a lock.</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indivisible step</a:t>
            </a:r>
            <a:endParaRPr lang="en-US" sz="1800" dirty="0"/>
          </a:p>
        </p:txBody>
      </p:sp>
      <p:sp>
        <p:nvSpPr>
          <p:cNvPr id="5" name="Shape 3"/>
          <p:cNvSpPr/>
          <p:nvPr/>
        </p:nvSpPr>
        <p:spPr>
          <a:xfrm>
            <a:off x="502920" y="1764792"/>
            <a:ext cx="5387188" cy="752856"/>
          </a:xfrm>
          <a:prstGeom prst="roundRect">
            <a:avLst>
              <a:gd name="adj" fmla="val 7287"/>
            </a:avLst>
          </a:prstGeom>
          <a:solidFill>
            <a:srgbClr val="FBEDE3"/>
          </a:solidFill>
          <a:ln w="12700">
            <a:solidFill>
              <a:srgbClr val="FBEDE3"/>
            </a:solidFill>
            <a:prstDash val="solid"/>
          </a:ln>
        </p:spPr>
      </p:sp>
      <p:sp>
        <p:nvSpPr>
          <p:cNvPr id="6" name="Text 4"/>
          <p:cNvSpPr txBox="1"/>
          <p:nvPr/>
        </p:nvSpPr>
        <p:spPr>
          <a:xfrm>
            <a:off x="731520" y="1901952"/>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is the atomic both correct and faster than the mutex?</a:t>
            </a:r>
            <a:endParaRPr lang="en-US" sz="1600" dirty="0"/>
          </a:p>
        </p:txBody>
      </p:sp>
      <p:sp>
        <p:nvSpPr>
          <p:cNvPr id="7" name="Text 5"/>
          <p:cNvSpPr txBox="1"/>
          <p:nvPr/>
        </p:nvSpPr>
        <p:spPr>
          <a:xfrm>
            <a:off x="502920" y="266395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Remember that ++ on a plain int is three steps: read, add, write, and another thread can sneak in between them. An atomic variable asks the processor to do all three as one single operation that cannot be interrupted halfway. Another thread can see the value before the operation or after it, but never in the middle.</a:t>
            </a:r>
            <a:endParaRPr lang="en-US" sz="1500" dirty="0"/>
          </a:p>
        </p:txBody>
      </p:sp>
      <p:sp>
        <p:nvSpPr>
          <p:cNvPr id="8" name="Shape 6"/>
          <p:cNvSpPr/>
          <p:nvPr/>
        </p:nvSpPr>
        <p:spPr>
          <a:xfrm>
            <a:off x="502920" y="4209288"/>
            <a:ext cx="5387188" cy="1053592"/>
          </a:xfrm>
          <a:prstGeom prst="roundRect">
            <a:avLst>
              <a:gd name="adj" fmla="val 5207"/>
            </a:avLst>
          </a:prstGeom>
          <a:solidFill>
            <a:srgbClr val="F1F4F7"/>
          </a:solidFill>
          <a:ln w="12700">
            <a:solidFill>
              <a:srgbClr val="F1F4F7"/>
            </a:solidFill>
            <a:prstDash val="solid"/>
          </a:ln>
        </p:spPr>
      </p:sp>
      <p:sp>
        <p:nvSpPr>
          <p:cNvPr id="9" name="Text 7"/>
          <p:cNvSpPr txBox="1"/>
          <p:nvPr/>
        </p:nvSpPr>
        <p:spPr>
          <a:xfrm>
            <a:off x="685800" y="434644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++n on a plain int:   read -&gt; add -&gt; write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three steps, can interleave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n.fetch_add(1):       read+add+write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one step, nobody in between</a:t>
            </a:r>
            <a:endParaRPr lang="en-US" sz="1300" dirty="0"/>
          </a:p>
        </p:txBody>
      </p:sp>
      <p:sp>
        <p:nvSpPr>
          <p:cNvPr id="10" name="Text 8"/>
          <p:cNvSpPr txBox="1"/>
          <p:nvPr/>
        </p:nvSpPr>
        <p:spPr>
          <a:xfrm>
            <a:off x="6301588" y="123444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fetch_add(1) adds one and returns the old value. ++counter on an atomic does the same thing. But be careful with this: counter = counter + 1 on an atomic is not one step. It is an atomic read, followed by a separate atomic write, and another thread can increment in between. The lost updates come back. Only single operations on an atomic are indivisible, not whole expressions.</a:t>
            </a:r>
            <a:endParaRPr lang="en-US" sz="1500" dirty="0"/>
          </a:p>
        </p:txBody>
      </p:sp>
      <p:sp>
        <p:nvSpPr>
          <p:cNvPr id="11" name="Text 9"/>
          <p:cNvSpPr txBox="1"/>
          <p:nvPr/>
        </p:nvSpPr>
        <p:spPr>
          <a:xfrm>
            <a:off x="6301588" y="3063240"/>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second question: what else does the other thread see?</a:t>
            </a:r>
            <a:endParaRPr lang="en-US" sz="1800" dirty="0"/>
          </a:p>
        </p:txBody>
      </p:sp>
      <p:sp>
        <p:nvSpPr>
          <p:cNvPr id="12" name="Text 10"/>
          <p:cNvSpPr txBox="1"/>
          <p:nvPr/>
        </p:nvSpPr>
        <p:spPr>
          <a:xfrm>
            <a:off x="6301588" y="3538728"/>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Atomics also solve a less obvious problem. Often one thread prepares some data and then sets a flag to say it is ready, and another thread waits for the flag and then reads the data.</a:t>
            </a:r>
            <a:endParaRPr lang="en-US" sz="1500" dirty="0"/>
          </a:p>
        </p:txBody>
      </p:sp>
      <p:sp>
        <p:nvSpPr>
          <p:cNvPr id="13" name="Shape 11"/>
          <p:cNvSpPr/>
          <p:nvPr/>
        </p:nvSpPr>
        <p:spPr>
          <a:xfrm>
            <a:off x="6301588" y="4626864"/>
            <a:ext cx="5387188" cy="1248410"/>
          </a:xfrm>
          <a:prstGeom prst="roundRect">
            <a:avLst>
              <a:gd name="adj" fmla="val 4395"/>
            </a:avLst>
          </a:prstGeom>
          <a:solidFill>
            <a:srgbClr val="F1F4F7"/>
          </a:solidFill>
          <a:ln w="12700">
            <a:solidFill>
              <a:srgbClr val="F1F4F7"/>
            </a:solidFill>
            <a:prstDash val="solid"/>
          </a:ln>
        </p:spPr>
      </p:sp>
      <p:sp>
        <p:nvSpPr>
          <p:cNvPr id="14" name="Text 12"/>
          <p:cNvSpPr txBox="1"/>
          <p:nvPr/>
        </p:nvSpPr>
        <p:spPr>
          <a:xfrm>
            <a:off x="6484468" y="4764024"/>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writer                         reader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data = 42;        (plain int)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ready = true;     (atomic)</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sees ready == true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reads data: 42 or 0?</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Shape 2"/>
          <p:cNvSpPr/>
          <p:nvPr/>
        </p:nvSpPr>
        <p:spPr>
          <a:xfrm>
            <a:off x="502920" y="1234440"/>
            <a:ext cx="5387188" cy="509016"/>
          </a:xfrm>
          <a:prstGeom prst="roundRect">
            <a:avLst>
              <a:gd name="adj" fmla="val 10778"/>
            </a:avLst>
          </a:prstGeom>
          <a:solidFill>
            <a:srgbClr val="FBEDE3"/>
          </a:solidFill>
          <a:ln w="12700">
            <a:solidFill>
              <a:srgbClr val="FBEDE3"/>
            </a:solidFill>
            <a:prstDash val="solid"/>
          </a:ln>
        </p:spPr>
      </p:sp>
      <p:sp>
        <p:nvSpPr>
          <p:cNvPr id="5" name="Text 3"/>
          <p:cNvSpPr txBox="1"/>
          <p:nvPr/>
        </p:nvSpPr>
        <p:spPr>
          <a:xfrm>
            <a:off x="731520"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The flag is atomic. Isn't the reader safe now?</a:t>
            </a:r>
            <a:endParaRPr lang="en-US" sz="1600" dirty="0"/>
          </a:p>
        </p:txBody>
      </p:sp>
      <p:sp>
        <p:nvSpPr>
          <p:cNvPr id="6" name="Text 4"/>
          <p:cNvSpPr txBox="1"/>
          <p:nvPr/>
        </p:nvSpPr>
        <p:spPr>
          <a:xfrm>
            <a:off x="502920" y="188976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would expect the reader to always see 42. It is not guaranteed. To run faster, both the compiler and the processor are allowed to reorder memory operations when it makes no difference to a single thread. So the reader might see ready become true before the write of 42 has become visible to it, and read 0.</a:t>
            </a:r>
            <a:endParaRPr lang="en-US" sz="1500" dirty="0"/>
          </a:p>
        </p:txBody>
      </p:sp>
      <p:sp>
        <p:nvSpPr>
          <p:cNvPr id="7" name="Text 5"/>
          <p:cNvSpPr txBox="1"/>
          <p:nvPr/>
        </p:nvSpPr>
        <p:spPr>
          <a:xfrm>
            <a:off x="502920" y="3435096"/>
            <a:ext cx="5387188" cy="2542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Memory order is how you tell the compiler and the processor which reorderings are not allowed. memory_order_relaxed only promises that the operation itself is atomic, nothing more: fine for a counter, where we only care about the number. memory_order_release on the writer's store, paired with memory_order_acquire on the reader's load, promises that everything the writer did before the store is visible to the reader after the load that sees it. That is how one thread safely hands data to another. If you leave the memory order out, you get the strictest one, which is always correct, just a bit slower.</a:t>
            </a:r>
            <a:endParaRPr lang="en-US" sz="1500" dirty="0"/>
          </a:p>
        </p:txBody>
      </p:sp>
      <p:sp>
        <p:nvSpPr>
          <p:cNvPr id="8" name="Shape 6"/>
          <p:cNvSpPr/>
          <p:nvPr/>
        </p:nvSpPr>
        <p:spPr>
          <a:xfrm>
            <a:off x="6301588" y="1234440"/>
            <a:ext cx="5387188" cy="2806954"/>
          </a:xfrm>
          <a:prstGeom prst="roundRect">
            <a:avLst>
              <a:gd name="adj" fmla="val 1955"/>
            </a:avLst>
          </a:prstGeom>
          <a:solidFill>
            <a:srgbClr val="1E2230"/>
          </a:solidFill>
          <a:ln w="12700">
            <a:solidFill>
              <a:srgbClr val="1E2230"/>
            </a:solidFill>
            <a:prstDash val="solid"/>
          </a:ln>
        </p:spPr>
      </p:sp>
      <p:sp>
        <p:nvSpPr>
          <p:cNvPr id="9" name="Text 7"/>
          <p:cNvSpPr txBox="1"/>
          <p:nvPr/>
        </p:nvSpPr>
        <p:spPr>
          <a:xfrm>
            <a:off x="6484468" y="1371600"/>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submitted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run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fetch_add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tasks_completed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0" name="Text 8"/>
          <p:cNvSpPr txBox="1"/>
          <p:nvPr/>
        </p:nvSpPr>
        <p:spPr>
          <a:xfrm>
            <a:off x="6301588" y="418769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For our two counters relaxed is enough. Each counter only needs to count correctly on its own, and the dashboard does not use them to decide when some other data is ready.</a:t>
            </a:r>
            <a:endParaRPr lang="en-US" sz="1500" dirty="0"/>
          </a:p>
        </p:txBody>
      </p:sp>
      <p:sp>
        <p:nvSpPr>
          <p:cNvPr id="11" name="Shape 9"/>
          <p:cNvSpPr/>
          <p:nvPr/>
        </p:nvSpPr>
        <p:spPr>
          <a:xfrm>
            <a:off x="6301588" y="5047234"/>
            <a:ext cx="5387188" cy="1234440"/>
          </a:xfrm>
          <a:prstGeom prst="roundRect">
            <a:avLst>
              <a:gd name="adj" fmla="val 4444"/>
            </a:avLst>
          </a:prstGeom>
          <a:solidFill>
            <a:srgbClr val="E3F2EF"/>
          </a:solidFill>
          <a:ln w="12700">
            <a:solidFill>
              <a:srgbClr val="E3F2EF"/>
            </a:solidFill>
            <a:prstDash val="solid"/>
          </a:ln>
        </p:spPr>
      </p:sp>
      <p:sp>
        <p:nvSpPr>
          <p:cNvPr id="12" name="Text 10"/>
          <p:cNvSpPr txBox="1"/>
          <p:nvPr/>
        </p:nvSpPr>
        <p:spPr>
          <a:xfrm>
            <a:off x="6530188" y="5175250"/>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3" name="Text 11"/>
          <p:cNvSpPr txBox="1"/>
          <p:nvPr/>
        </p:nvSpPr>
        <p:spPr>
          <a:xfrm>
            <a:off x="6530188" y="5467858"/>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pool's statistics counters are atomics with relaxed order. Release and acquire come back in v13, where they carry every item through the lock-free ring.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After 10,000 tasks have been submitted and have all finished, what must submitted and completed read?</a:t>
            </a:r>
            <a:endParaRPr lang="en-US" sz="1500" dirty="0"/>
          </a:p>
        </p:txBody>
      </p:sp>
      <p:sp>
        <p:nvSpPr>
          <p:cNvPr id="6" name="Shape 4"/>
          <p:cNvSpPr/>
          <p:nvPr/>
        </p:nvSpPr>
        <p:spPr>
          <a:xfrm>
            <a:off x="502920" y="2322576"/>
            <a:ext cx="5387188" cy="1709928"/>
          </a:xfrm>
          <a:prstGeom prst="roundRect">
            <a:avLst>
              <a:gd name="adj" fmla="val 3209"/>
            </a:avLst>
          </a:prstGeom>
          <a:solidFill>
            <a:srgbClr val="F1F4F7"/>
          </a:solidFill>
          <a:ln w="12700">
            <a:solidFill>
              <a:srgbClr val="F1F4F7"/>
            </a:solidFill>
            <a:prstDash val="solid"/>
          </a:ln>
        </p:spPr>
      </p:sp>
      <p:sp>
        <p:nvSpPr>
          <p:cNvPr id="7" name="Text 5"/>
          <p:cNvSpPr txBox="1"/>
          <p:nvPr/>
        </p:nvSpPr>
        <p:spPr>
          <a:xfrm>
            <a:off x="685800" y="2450592"/>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Both must read exactly 10,000. Every submit() does one fetch_add on submitted and every finished task does one fetch_add on completed, and an atomic fetch_add can never lose an update, no matter how many threads do it at the same time. With a plain int, both counters would usually end up below 10,000, by a different amount every run.</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dashboard reads submitted, then reads completed. Can it ever show completed greater than submitted?</a:t>
            </a:r>
            <a:endParaRPr lang="en-US" sz="1500" dirty="0"/>
          </a:p>
        </p:txBody>
      </p:sp>
      <p:sp>
        <p:nvSpPr>
          <p:cNvPr id="9" name="Shape 7"/>
          <p:cNvSpPr/>
          <p:nvPr/>
        </p:nvSpPr>
        <p:spPr>
          <a:xfrm>
            <a:off x="6301588" y="1792224"/>
            <a:ext cx="5387188" cy="1923288"/>
          </a:xfrm>
          <a:prstGeom prst="roundRect">
            <a:avLst>
              <a:gd name="adj" fmla="val 2853"/>
            </a:avLst>
          </a:prstGeom>
          <a:solidFill>
            <a:srgbClr val="F1F4F7"/>
          </a:solidFill>
          <a:ln w="12700">
            <a:solidFill>
              <a:srgbClr val="F1F4F7"/>
            </a:solidFill>
            <a:prstDash val="solid"/>
          </a:ln>
        </p:spPr>
      </p:sp>
      <p:sp>
        <p:nvSpPr>
          <p:cNvPr id="10" name="Text 8"/>
          <p:cNvSpPr txBox="1"/>
          <p:nvPr/>
        </p:nvSpPr>
        <p:spPr>
          <a:xfrm>
            <a:off x="6484468" y="1920240"/>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Yes. The two loads happen at two different moments, so they are not a snapshot of one instant. Say submitted reads 100. Before the dashboard reads completed, ten more tasks are submitted and finished. Now completed reads 105, more than the 100 it showed for submitted. Reading completed first and submitted second avoids this, or you can accept that the dashboard shows an estimate.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Counting without a lock</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Make v9's default_pool() create its pool lazily using an atomic pointer instead of a static variable.</a:t>
            </a:r>
            <a:endParaRPr lang="en-US" sz="1500" dirty="0"/>
          </a:p>
        </p:txBody>
      </p:sp>
      <p:sp>
        <p:nvSpPr>
          <p:cNvPr id="5" name="Shape 3"/>
          <p:cNvSpPr/>
          <p:nvPr/>
        </p:nvSpPr>
        <p:spPr>
          <a:xfrm>
            <a:off x="502920" y="1792224"/>
            <a:ext cx="5387188" cy="2350008"/>
          </a:xfrm>
          <a:prstGeom prst="roundRect">
            <a:avLst>
              <a:gd name="adj" fmla="val 2335"/>
            </a:avLst>
          </a:prstGeom>
          <a:solidFill>
            <a:srgbClr val="F1F4F7"/>
          </a:solidFill>
          <a:ln w="12700">
            <a:solidFill>
              <a:srgbClr val="F1F4F7"/>
            </a:solidFill>
            <a:prstDash val="solid"/>
          </a:ln>
        </p:spPr>
      </p:sp>
      <p:sp>
        <p:nvSpPr>
          <p:cNvPr id="6" name="Text 4"/>
          <p:cNvSpPr txBox="1"/>
          <p:nvPr/>
        </p:nvSpPr>
        <p:spPr>
          <a:xfrm>
            <a:off x="685800" y="1920240"/>
            <a:ext cx="5021428" cy="21214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Keep a std::atomic&lt;ThreadPool*&gt; that starts as nullptr, plus a mutex. First load the pointer with acquire. If it is not null, the pool exists, so return it. If it is null, lock the mutex and load it again, because another thread may have created it while you were waiting. If it is still null, create the pool and store the pointer with release. The release store makes sure any thread that later sees the pointer also sees a fully built pool. This is called double-checked locking.</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v11: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v11 needs, file by file: queue.hpp, thread_group.hpp, pool.hpp, main.cpp. If your version does not work, compare it with this one. Build and run it from the master folder with ./run.sh v11 main.</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a:t>
            </a:r>
            <a:endParaRPr lang="en-US" sz="1100" dirty="0"/>
          </a:p>
        </p:txBody>
      </p:sp>
      <p:sp>
        <p:nvSpPr>
          <p:cNvPr id="6" name="Shape 4"/>
          <p:cNvSpPr/>
          <p:nvPr/>
        </p:nvSpPr>
        <p:spPr>
          <a:xfrm>
            <a:off x="502920" y="2615184"/>
            <a:ext cx="5387188" cy="3684524"/>
          </a:xfrm>
          <a:prstGeom prst="roundRect">
            <a:avLst>
              <a:gd name="adj" fmla="val 1241"/>
            </a:avLst>
          </a:prstGeom>
          <a:solidFill>
            <a:srgbClr val="1E2230"/>
          </a:solidFill>
          <a:ln w="12700">
            <a:solidFill>
              <a:srgbClr val="1E2230"/>
            </a:solidFill>
            <a:prstDash val="solid"/>
          </a:ln>
        </p:spPr>
      </p:sp>
      <p:sp>
        <p:nvSpPr>
          <p:cNvPr id="7" name="Text 5"/>
          <p:cNvSpPr txBox="1"/>
          <p:nvPr/>
        </p:nvSpPr>
        <p:spPr>
          <a:xfrm>
            <a:off x="612648" y="2734056"/>
            <a:ext cx="5204308" cy="35016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v7 · Generic queue&lt;T&gt;</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Values are moved in and out, so move-only types (unique_ptr, tasks)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work and no item can be lost to a throwing copy.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utility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caller holds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9" name="Shape 7"/>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0" name="Text 8"/>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by value, then moved in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v11: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5" name="Shape 3"/>
          <p:cNvSpPr/>
          <p:nvPr/>
        </p:nvSpPr>
        <p:spPr>
          <a:xfrm>
            <a:off x="502920" y="1527048"/>
            <a:ext cx="5387188" cy="4733544"/>
          </a:xfrm>
          <a:prstGeom prst="roundRect">
            <a:avLst>
              <a:gd name="adj" fmla="val 966"/>
            </a:avLst>
          </a:prstGeom>
          <a:solidFill>
            <a:srgbClr val="1E2230"/>
          </a:solidFill>
          <a:ln w="12700">
            <a:solidFill>
              <a:srgbClr val="1E2230"/>
            </a:solidFill>
            <a:prstDash val="solid"/>
          </a:ln>
        </p:spPr>
      </p:sp>
      <p:sp>
        <p:nvSpPr>
          <p:cNvPr id="6" name="Text 4"/>
          <p:cNvSpPr txBox="1"/>
          <p:nvPr/>
        </p:nvSpPr>
        <p:spPr>
          <a:xfrm>
            <a:off x="612648"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closed and drained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std::scoped_lock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8" name="Shape 6"/>
          <p:cNvSpPr/>
          <p:nvPr/>
        </p:nvSpPr>
        <p:spPr>
          <a:xfrm>
            <a:off x="6301588" y="1527048"/>
            <a:ext cx="5387188" cy="2335784"/>
          </a:xfrm>
          <a:prstGeom prst="roundRect">
            <a:avLst>
              <a:gd name="adj" fmla="val 1957"/>
            </a:avLst>
          </a:prstGeom>
          <a:solidFill>
            <a:srgbClr val="1E2230"/>
          </a:solidFill>
          <a:ln w="12700">
            <a:solidFill>
              <a:srgbClr val="1E2230"/>
            </a:solidFill>
            <a:prstDash val="solid"/>
          </a:ln>
        </p:spPr>
      </p:sp>
      <p:sp>
        <p:nvSpPr>
          <p:cNvPr id="9" name="Text 7"/>
          <p:cNvSpPr txBox="1"/>
          <p:nvPr/>
        </p:nvSpPr>
        <p:spPr>
          <a:xfrm>
            <a:off x="6411316" y="1645920"/>
            <a:ext cx="5204308" cy="21529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400913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a:t>
            </a:r>
            <a:endParaRPr lang="en-US" sz="1100" dirty="0"/>
          </a:p>
        </p:txBody>
      </p:sp>
      <p:sp>
        <p:nvSpPr>
          <p:cNvPr id="11" name="Shape 9"/>
          <p:cNvSpPr/>
          <p:nvPr/>
        </p:nvSpPr>
        <p:spPr>
          <a:xfrm>
            <a:off x="6301588" y="4301744"/>
            <a:ext cx="5387188" cy="2036064"/>
          </a:xfrm>
          <a:prstGeom prst="roundRect">
            <a:avLst>
              <a:gd name="adj" fmla="val 2246"/>
            </a:avLst>
          </a:prstGeom>
          <a:solidFill>
            <a:srgbClr val="1E2230"/>
          </a:solidFill>
          <a:ln w="12700">
            <a:solidFill>
              <a:srgbClr val="1E2230"/>
            </a:solidFill>
            <a:prstDash val="solid"/>
          </a:ln>
        </p:spPr>
      </p:sp>
      <p:sp>
        <p:nvSpPr>
          <p:cNvPr id="12" name="Text 10"/>
          <p:cNvSpPr txBox="1"/>
          <p:nvPr/>
        </p:nvSpPr>
        <p:spPr>
          <a:xfrm>
            <a:off x="6411316" y="4420616"/>
            <a:ext cx="5204308" cy="185318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 RAII owner for threads. Every thread added is joined in the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destructor, on every exit path, including exceptions.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default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v11: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 (continued)</a:t>
            </a:r>
            <a:endParaRPr lang="en-US" sz="1100" dirty="0"/>
          </a:p>
        </p:txBody>
      </p:sp>
      <p:sp>
        <p:nvSpPr>
          <p:cNvPr id="5" name="Shape 3"/>
          <p:cNvSpPr/>
          <p:nvPr/>
        </p:nvSpPr>
        <p:spPr>
          <a:xfrm>
            <a:off x="502920" y="1527048"/>
            <a:ext cx="5387188" cy="1436624"/>
          </a:xfrm>
          <a:prstGeom prst="roundRect">
            <a:avLst>
              <a:gd name="adj" fmla="val 3182"/>
            </a:avLst>
          </a:prstGeom>
          <a:solidFill>
            <a:srgbClr val="1E2230"/>
          </a:solidFill>
          <a:ln w="12700">
            <a:solidFill>
              <a:srgbClr val="1E2230"/>
            </a:solidFill>
            <a:prstDash val="solid"/>
          </a:ln>
        </p:spPr>
      </p:sp>
      <p:sp>
        <p:nvSpPr>
          <p:cNvPr id="6" name="Text 4"/>
          <p:cNvSpPr txBox="1"/>
          <p:nvPr/>
        </p:nvSpPr>
        <p:spPr>
          <a:xfrm>
            <a:off x="612648" y="1645920"/>
            <a:ext cx="5204308" cy="12537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502920" y="31099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pool.hpp</a:t>
            </a:r>
            <a:endParaRPr lang="en-US" sz="1100" dirty="0"/>
          </a:p>
        </p:txBody>
      </p:sp>
      <p:sp>
        <p:nvSpPr>
          <p:cNvPr id="8" name="Shape 6"/>
          <p:cNvSpPr/>
          <p:nvPr/>
        </p:nvSpPr>
        <p:spPr>
          <a:xfrm>
            <a:off x="502920" y="3402584"/>
            <a:ext cx="5387188" cy="2935224"/>
          </a:xfrm>
          <a:prstGeom prst="roundRect">
            <a:avLst>
              <a:gd name="adj" fmla="val 1558"/>
            </a:avLst>
          </a:prstGeom>
          <a:solidFill>
            <a:srgbClr val="1E2230"/>
          </a:solidFill>
          <a:ln w="12700">
            <a:solidFill>
              <a:srgbClr val="1E2230"/>
            </a:solidFill>
            <a:prstDash val="solid"/>
          </a:ln>
        </p:spPr>
      </p:sp>
      <p:sp>
        <p:nvSpPr>
          <p:cNvPr id="9" name="Text 7"/>
          <p:cNvSpPr txBox="1"/>
          <p:nvPr/>
        </p:nvSpPr>
        <p:spPr>
          <a:xfrm>
            <a:off x="612648" y="3521456"/>
            <a:ext cx="5204308" cy="27523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v11 · Atomics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pool counts submitted and completed tasks with std::atomic, so a</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monitoring thread can read the numbers without touching any lock.</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memory_order_relaxed: each counter is exact on its own, but the two</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are not updated together, so the difference is only a snapshot.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chrono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functional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future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memory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stdexcept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"thread_group.hpp"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std::function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p:txBody>
      </p:sp>
      <p:sp>
        <p:nvSpPr>
          <p:cNvPr id="10" name="Text 8"/>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pool.hpp (continued)</a:t>
            </a:r>
            <a:endParaRPr lang="en-US" sz="1100" dirty="0"/>
          </a:p>
        </p:txBody>
      </p:sp>
      <p:sp>
        <p:nvSpPr>
          <p:cNvPr id="11" name="Shape 9"/>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2" name="Text 10"/>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default_workers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hardware_concurrency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0 means "unknown"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destroyed last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submitted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destroyed (joined) first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run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fetch_add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run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explicit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default_workers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unsigned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work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decltype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v11</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v11: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pool.hpp (continued)</a:t>
            </a:r>
            <a:endParaRPr lang="en-US" sz="1100" dirty="0"/>
          </a:p>
        </p:txBody>
      </p:sp>
      <p:sp>
        <p:nvSpPr>
          <p:cNvPr id="5" name="Shape 3"/>
          <p:cNvSpPr/>
          <p:nvPr/>
        </p:nvSpPr>
        <p:spPr>
          <a:xfrm>
            <a:off x="502920" y="1527048"/>
            <a:ext cx="5387188" cy="4583684"/>
          </a:xfrm>
          <a:prstGeom prst="roundRect">
            <a:avLst>
              <a:gd name="adj" fmla="val 997"/>
            </a:avLst>
          </a:prstGeom>
          <a:solidFill>
            <a:srgbClr val="1E2230"/>
          </a:solidFill>
          <a:ln w="12700">
            <a:solidFill>
              <a:srgbClr val="1E2230"/>
            </a:solidFill>
            <a:prstDash val="solid"/>
          </a:ln>
        </p:spPr>
      </p:sp>
      <p:sp>
        <p:nvSpPr>
          <p:cNvPr id="6" name="Text 4"/>
          <p:cNvSpPr txBox="1"/>
          <p:nvPr/>
        </p:nvSpPr>
        <p:spPr>
          <a:xfrm>
            <a:off x="612648" y="1645920"/>
            <a:ext cx="5204308" cy="44008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decltype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Job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std::packaged_task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move-only, so shared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std::make_shared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Job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get_future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throw</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std::runtime_error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"submit() after 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submitted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fetch_add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result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wait_helping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use in tasks, not get()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namespace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std::chrono_literals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std::future_status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ready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Task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run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help: run a queued task</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else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yield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tasks_submitted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submitted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tasks_completed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completed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pool.hpp (continued)</a:t>
            </a:r>
            <a:endParaRPr lang="en-US" sz="1100" dirty="0"/>
          </a:p>
        </p:txBody>
      </p:sp>
      <p:sp>
        <p:nvSpPr>
          <p:cNvPr id="8" name="Shape 6"/>
          <p:cNvSpPr/>
          <p:nvPr/>
        </p:nvSpPr>
        <p:spPr>
          <a:xfrm>
            <a:off x="6301588" y="1527048"/>
            <a:ext cx="5387188" cy="1136904"/>
          </a:xfrm>
          <a:prstGeom prst="roundRect">
            <a:avLst>
              <a:gd name="adj" fmla="val 4021"/>
            </a:avLst>
          </a:prstGeom>
          <a:solidFill>
            <a:srgbClr val="1E2230"/>
          </a:solidFill>
          <a:ln w="12700">
            <a:solidFill>
              <a:srgbClr val="1E2230"/>
            </a:solidFill>
            <a:prstDash val="solid"/>
          </a:ln>
        </p:spPr>
      </p:sp>
      <p:sp>
        <p:nvSpPr>
          <p:cNvPr id="9" name="Text 7"/>
          <p:cNvSpPr txBox="1"/>
          <p:nvPr/>
        </p:nvSpPr>
        <p:spPr>
          <a:xfrm>
            <a:off x="6411316" y="1645920"/>
            <a:ext cx="5204308" cy="9540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then ~workers joins them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281025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11" name="Shape 9"/>
          <p:cNvSpPr/>
          <p:nvPr/>
        </p:nvSpPr>
        <p:spPr>
          <a:xfrm>
            <a:off x="6301588" y="3102864"/>
            <a:ext cx="5387188" cy="3085084"/>
          </a:xfrm>
          <a:prstGeom prst="roundRect">
            <a:avLst>
              <a:gd name="adj" fmla="val 1482"/>
            </a:avLst>
          </a:prstGeom>
          <a:solidFill>
            <a:srgbClr val="1E2230"/>
          </a:solidFill>
          <a:ln w="12700">
            <a:solidFill>
              <a:srgbClr val="1E2230"/>
            </a:solidFill>
            <a:prstDash val="solid"/>
          </a:ln>
        </p:spPr>
      </p:sp>
      <p:sp>
        <p:nvSpPr>
          <p:cNvPr id="12" name="Text 10"/>
          <p:cNvSpPr txBox="1"/>
          <p:nvPr/>
        </p:nvSpPr>
        <p:spPr>
          <a:xfrm>
            <a:off x="6411316" y="3221736"/>
            <a:ext cx="5204308" cy="290220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v11: counters any thread can read without a lock.</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"pool.hpp"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std::future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submit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"sum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"submitted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tasks_submitted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"completed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tasks_completed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Producers and consumers share one lock</a:t>
            </a:r>
            <a:endParaRPr lang="en-US" sz="1800" dirty="0"/>
          </a:p>
        </p:txBody>
      </p:sp>
      <p:sp>
        <p:nvSpPr>
          <p:cNvPr id="5" name="Text 3"/>
          <p:cNvSpPr txBox="1"/>
          <p:nvPr/>
        </p:nvSpPr>
        <p:spPr>
          <a:xfrm>
            <a:off x="502920"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Look at how threads use our queue. A producer only ever adds at the back. A consumer only ever takes from the front. They work on opposite ends. Yet with one mutex, a producer has to wait whenever a consumer holds the lock, and the other way round. When we measure, the queue gets slower as we add threads:</a:t>
            </a:r>
            <a:endParaRPr lang="en-US" sz="1500" dirty="0"/>
          </a:p>
        </p:txBody>
      </p:sp>
      <p:sp>
        <p:nvSpPr>
          <p:cNvPr id="6" name="Shape 4"/>
          <p:cNvSpPr/>
          <p:nvPr/>
        </p:nvSpPr>
        <p:spPr>
          <a:xfrm>
            <a:off x="502920" y="3310128"/>
            <a:ext cx="5387188" cy="1053592"/>
          </a:xfrm>
          <a:prstGeom prst="roundRect">
            <a:avLst>
              <a:gd name="adj" fmla="val 5207"/>
            </a:avLst>
          </a:prstGeom>
          <a:solidFill>
            <a:srgbClr val="0F1419"/>
          </a:solidFill>
          <a:ln w="12700">
            <a:solidFill>
              <a:srgbClr val="0F1419"/>
            </a:solidFill>
            <a:prstDash val="solid"/>
          </a:ln>
        </p:spPr>
      </p:sp>
      <p:sp>
        <p:nvSpPr>
          <p:cNvPr id="7" name="Text 5"/>
          <p:cNvSpPr txBox="1"/>
          <p:nvPr/>
        </p:nvSpPr>
        <p:spPr>
          <a:xfrm>
            <a:off x="685800" y="3447288"/>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v11 next_bug     (one mutex)</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1x1: 5.7 M items/s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4x4: 3.0 M items/s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8x8: 2.0 M items/s</a:t>
            </a:r>
            <a:endParaRPr lang="en-US" sz="1300" dirty="0"/>
          </a:p>
        </p:txBody>
      </p:sp>
      <p:sp>
        <p:nvSpPr>
          <p:cNvPr id="8" name="Shape 6"/>
          <p:cNvSpPr/>
          <p:nvPr/>
        </p:nvSpPr>
        <p:spPr>
          <a:xfrm>
            <a:off x="502920" y="4510024"/>
            <a:ext cx="5387188" cy="752856"/>
          </a:xfrm>
          <a:prstGeom prst="roundRect">
            <a:avLst>
              <a:gd name="adj" fmla="val 7287"/>
            </a:avLst>
          </a:prstGeom>
          <a:solidFill>
            <a:srgbClr val="FBEDE3"/>
          </a:solidFill>
          <a:ln w="12700">
            <a:solidFill>
              <a:srgbClr val="FBEDE3"/>
            </a:solidFill>
            <a:prstDash val="solid"/>
          </a:ln>
        </p:spPr>
      </p:sp>
      <p:sp>
        <p:nvSpPr>
          <p:cNvPr id="9" name="Text 7"/>
          <p:cNvSpPr txBox="1"/>
          <p:nvPr/>
        </p:nvSpPr>
        <p:spPr>
          <a:xfrm>
            <a:off x="731520" y="4647184"/>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Producers and consumers touch different ends. Why should they share one key?</a:t>
            </a:r>
            <a:endParaRPr lang="en-US" sz="1600" dirty="0"/>
          </a:p>
        </p:txBody>
      </p:sp>
      <p:sp>
        <p:nvSpPr>
          <p:cNvPr id="10" name="Text 8"/>
          <p:cNvSpPr txBox="1"/>
          <p:nvPr/>
        </p:nvSpPr>
        <p:spPr>
          <a:xfrm>
            <a:off x="502920" y="5409184"/>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 the idea is to give each end its own lock: one for producers, one for consumers. Then a push and a pop could run at the same time.</a:t>
            </a:r>
            <a:endParaRPr lang="en-US" sz="1500" dirty="0"/>
          </a:p>
        </p:txBody>
      </p:sp>
      <p:sp>
        <p:nvSpPr>
          <p:cNvPr id="11" name="Text 9"/>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linked list with a dummy node</a:t>
            </a:r>
            <a:endParaRPr lang="en-US" sz="1800" dirty="0"/>
          </a:p>
        </p:txBody>
      </p:sp>
      <p:sp>
        <p:nvSpPr>
          <p:cNvPr id="12" name="Text 10"/>
          <p:cNvSpPr txBox="1"/>
          <p:nvPr/>
        </p:nvSpPr>
        <p:spPr>
          <a:xfrm>
            <a:off x="6301588" y="1764792"/>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std::queue does not let us lock its two ends separately, so we build the queue ourselves as a linked list. Each item lives in a node, and each node points to the next one. head points to the first node, where consumers take from. tail points to the last one, where producers add.</a:t>
            </a:r>
            <a:endParaRPr lang="en-US" sz="1500" dirty="0"/>
          </a:p>
        </p:txBody>
      </p:sp>
      <p:sp>
        <p:nvSpPr>
          <p:cNvPr id="13" name="Shape 11"/>
          <p:cNvSpPr/>
          <p:nvPr/>
        </p:nvSpPr>
        <p:spPr>
          <a:xfrm>
            <a:off x="6301588" y="3081528"/>
            <a:ext cx="5387188" cy="509016"/>
          </a:xfrm>
          <a:prstGeom prst="roundRect">
            <a:avLst>
              <a:gd name="adj" fmla="val 10778"/>
            </a:avLst>
          </a:prstGeom>
          <a:solidFill>
            <a:srgbClr val="FBEDE3"/>
          </a:solidFill>
          <a:ln w="12700">
            <a:solidFill>
              <a:srgbClr val="FBEDE3"/>
            </a:solidFill>
            <a:prstDash val="solid"/>
          </a:ln>
        </p:spPr>
      </p:sp>
      <p:sp>
        <p:nvSpPr>
          <p:cNvPr id="14" name="Text 12"/>
          <p:cNvSpPr txBox="1"/>
          <p:nvPr/>
        </p:nvSpPr>
        <p:spPr>
          <a:xfrm>
            <a:off x="6530188" y="3218688"/>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Would two locks be safe on a normal linked list?</a:t>
            </a:r>
            <a:endParaRPr lang="en-US" sz="1600" dirty="0"/>
          </a:p>
        </p:txBody>
      </p:sp>
      <p:sp>
        <p:nvSpPr>
          <p:cNvPr id="15" name="Text 13"/>
          <p:cNvSpPr txBox="1"/>
          <p:nvPr/>
        </p:nvSpPr>
        <p:spPr>
          <a:xfrm>
            <a:off x="6301588" y="3736848"/>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problem. When the queue has exactly one item, head and tail point to the same node, so a producer and a consumer would both touch it, under two different locks. That is a data race again. The trick is to always keep one extra empty node at the end, called a dummy. The tail always points to the dummy, so the tail never points to a real item, and the two locks never protect the same node.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Shape 2"/>
          <p:cNvSpPr/>
          <p:nvPr/>
        </p:nvSpPr>
        <p:spPr>
          <a:xfrm>
            <a:off x="502920" y="1234440"/>
            <a:ext cx="5387188" cy="1248410"/>
          </a:xfrm>
          <a:prstGeom prst="roundRect">
            <a:avLst>
              <a:gd name="adj" fmla="val 4395"/>
            </a:avLst>
          </a:prstGeom>
          <a:solidFill>
            <a:srgbClr val="F1F4F7"/>
          </a:solidFill>
          <a:ln w="12700">
            <a:solidFill>
              <a:srgbClr val="F1F4F7"/>
            </a:solidFill>
            <a:prstDash val="solid"/>
          </a:ln>
        </p:spPr>
      </p:sp>
      <p:sp>
        <p:nvSpPr>
          <p:cNvPr id="5" name="Text 3"/>
          <p:cNvSpPr txBox="1"/>
          <p:nvPr/>
        </p:nvSpPr>
        <p:spPr>
          <a:xfrm>
            <a:off x="685800" y="1371600"/>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head_m                          tail_m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v                               v</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 ] -&gt; [ b ] -&gt; [ c ] -&gt; [ dummy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consumers take here        producers fill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the dummy here</a:t>
            </a:r>
            <a:endParaRPr lang="en-US" sz="1300" dirty="0"/>
          </a:p>
        </p:txBody>
      </p:sp>
      <p:sp>
        <p:nvSpPr>
          <p:cNvPr id="6" name="Text 4"/>
          <p:cNvSpPr txBox="1"/>
          <p:nvPr/>
        </p:nvSpPr>
        <p:spPr>
          <a:xfrm>
            <a:off x="502920" y="2629154"/>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To push, a producer puts the new value into the current dummy and attaches a fresh empty node behind it, which becomes the new dummy. It only needs tail_m to do that. To pop, a consumer takes the first node under head_m.</a:t>
            </a:r>
            <a:endParaRPr lang="en-US" sz="1500" dirty="0"/>
          </a:p>
        </p:txBody>
      </p:sp>
      <p:sp>
        <p:nvSpPr>
          <p:cNvPr id="7" name="Shape 5"/>
          <p:cNvSpPr/>
          <p:nvPr/>
        </p:nvSpPr>
        <p:spPr>
          <a:xfrm>
            <a:off x="6301588" y="1234440"/>
            <a:ext cx="5387188" cy="2806954"/>
          </a:xfrm>
          <a:prstGeom prst="roundRect">
            <a:avLst>
              <a:gd name="adj" fmla="val 1955"/>
            </a:avLst>
          </a:prstGeom>
          <a:solidFill>
            <a:srgbClr val="1E2230"/>
          </a:solidFill>
          <a:ln w="12700">
            <a:solidFill>
              <a:srgbClr val="1E2230"/>
            </a:solidFill>
            <a:prstDash val="solid"/>
          </a:ln>
        </p:spPr>
      </p:sp>
      <p:sp>
        <p:nvSpPr>
          <p:cNvPr id="8" name="Text 6"/>
          <p:cNvSpPr txBox="1"/>
          <p:nvPr/>
        </p:nvSpPr>
        <p:spPr>
          <a:xfrm>
            <a:off x="6484468" y="1371600"/>
            <a:ext cx="5021428" cy="2532634"/>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std::make_unique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tail_m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fill dummy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new dummy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9" name="Text 7"/>
          <p:cNvSpPr txBox="1"/>
          <p:nvPr/>
        </p:nvSpPr>
        <p:spPr>
          <a:xfrm>
            <a:off x="6301588" y="4187698"/>
            <a:ext cx="5387188" cy="713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Notice that the new node is created before the lock is taken. Allocating memory is slow, and doing it outside the lock means other producers do not have to wait for it.</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lost wake-up comes back</a:t>
            </a:r>
            <a:endParaRPr lang="en-US" sz="1800" dirty="0"/>
          </a:p>
        </p:txBody>
      </p:sp>
      <p:sp>
        <p:nvSpPr>
          <p:cNvPr id="5" name="Text 3"/>
          <p:cNvSpPr txBox="1"/>
          <p:nvPr/>
        </p:nvSpPr>
        <p:spPr>
          <a:xfrm>
            <a:off x="502920"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What is that strange empty block with head_m near the end of push()? Consumers wait on the condition variable while holding head_m. Producers now only hold tail_m. So the gap from v4 opens up again.</a:t>
            </a:r>
            <a:endParaRPr lang="en-US" sz="1500" dirty="0"/>
          </a:p>
        </p:txBody>
      </p:sp>
      <p:sp>
        <p:nvSpPr>
          <p:cNvPr id="6" name="Shape 4"/>
          <p:cNvSpPr/>
          <p:nvPr/>
        </p:nvSpPr>
        <p:spPr>
          <a:xfrm>
            <a:off x="502920" y="2852928"/>
            <a:ext cx="5387188" cy="1248410"/>
          </a:xfrm>
          <a:prstGeom prst="roundRect">
            <a:avLst>
              <a:gd name="adj" fmla="val 4395"/>
            </a:avLst>
          </a:prstGeom>
          <a:solidFill>
            <a:srgbClr val="F1F4F7"/>
          </a:solidFill>
          <a:ln w="12700">
            <a:solidFill>
              <a:srgbClr val="F1F4F7"/>
            </a:solidFill>
            <a:prstDash val="solid"/>
          </a:ln>
        </p:spPr>
      </p:sp>
      <p:sp>
        <p:nvSpPr>
          <p:cNvPr id="7" name="Text 5"/>
          <p:cNvSpPr txBox="1"/>
          <p:nvPr/>
        </p:nvSpPr>
        <p:spPr>
          <a:xfrm>
            <a:off x="685800" y="29900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consumer (holds head_m)   producer (holds tail_m)</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checks: queue is empty</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appends item, notifies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(nobody waiting yet)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starts waiting, never wakes</a:t>
            </a:r>
            <a:endParaRPr lang="en-US" sz="1300" dirty="0"/>
          </a:p>
        </p:txBody>
      </p:sp>
      <p:sp>
        <p:nvSpPr>
          <p:cNvPr id="8" name="Text 6"/>
          <p:cNvSpPr txBox="1"/>
          <p:nvPr/>
        </p:nvSpPr>
        <p:spPr>
          <a:xfrm>
            <a:off x="502920" y="4247642"/>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consumer has checked the queue but has not started waiting yet. The producer, which does not need head_m, appends and notifies right in that gap, and the notification is lost. By briefly taking and releasing head_m before notifying, the producer has to wait until the consumer has either finished checking and is properly asleep, or has not checked yet. Either way the notification can no longer fall into the gap.</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Did it help?</a:t>
            </a:r>
            <a:endParaRPr lang="en-US" sz="1800" dirty="0"/>
          </a:p>
        </p:txBody>
      </p:sp>
      <p:sp>
        <p:nvSpPr>
          <p:cNvPr id="10" name="Shape 8"/>
          <p:cNvSpPr/>
          <p:nvPr/>
        </p:nvSpPr>
        <p:spPr>
          <a:xfrm>
            <a:off x="6301588" y="1764792"/>
            <a:ext cx="5387188" cy="509016"/>
          </a:xfrm>
          <a:prstGeom prst="roundRect">
            <a:avLst>
              <a:gd name="adj" fmla="val 10778"/>
            </a:avLst>
          </a:prstGeom>
          <a:solidFill>
            <a:srgbClr val="FBEDE3"/>
          </a:solidFill>
          <a:ln w="12700">
            <a:solidFill>
              <a:srgbClr val="FBEDE3"/>
            </a:solidFill>
            <a:prstDash val="solid"/>
          </a:ln>
        </p:spPr>
      </p:sp>
      <p:sp>
        <p:nvSpPr>
          <p:cNvPr id="11" name="Text 9"/>
          <p:cNvSpPr txBox="1"/>
          <p:nvPr/>
        </p:nvSpPr>
        <p:spPr>
          <a:xfrm>
            <a:off x="6530188" y="1901952"/>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Less waiting must mean faster. Right?</a:t>
            </a:r>
            <a:endParaRPr lang="en-US" sz="1600" dirty="0"/>
          </a:p>
        </p:txBody>
      </p:sp>
      <p:sp>
        <p:nvSpPr>
          <p:cNvPr id="12" name="Shape 10"/>
          <p:cNvSpPr/>
          <p:nvPr/>
        </p:nvSpPr>
        <p:spPr>
          <a:xfrm>
            <a:off x="6301588" y="2420112"/>
            <a:ext cx="5387188" cy="858774"/>
          </a:xfrm>
          <a:prstGeom prst="roundRect">
            <a:avLst>
              <a:gd name="adj" fmla="val 6389"/>
            </a:avLst>
          </a:prstGeom>
          <a:solidFill>
            <a:srgbClr val="0F1419"/>
          </a:solidFill>
          <a:ln w="12700">
            <a:solidFill>
              <a:srgbClr val="0F1419"/>
            </a:solidFill>
            <a:prstDash val="solid"/>
          </a:ln>
        </p:spPr>
      </p:sp>
      <p:sp>
        <p:nvSpPr>
          <p:cNvPr id="13" name="Text 11"/>
          <p:cNvSpPr txBox="1"/>
          <p:nvPr/>
        </p:nvSpPr>
        <p:spPr>
          <a:xfrm>
            <a:off x="6484468" y="2557272"/>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v12 tiny_contention</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1x1 one mutex: 6.1 M/s   two locks: 0.9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4x4 one mutex: 3.7 M/s   two locks: 1.1 M/s</a:t>
            </a:r>
            <a:endParaRPr lang="en-US" sz="1300" dirty="0"/>
          </a:p>
        </p:txBody>
      </p:sp>
      <p:sp>
        <p:nvSpPr>
          <p:cNvPr id="14" name="Text 12"/>
          <p:cNvSpPr txBox="1"/>
          <p:nvPr/>
        </p:nvSpPr>
        <p:spPr>
          <a:xfrm>
            <a:off x="6301588" y="3425190"/>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Most people expect the two-lock queue to win. On this machine it lost, by a lot. It did remove the waiting between producers and consumers. But every push now allocates a node on the heap, and takes two locks instead of one, and those costs turned out to be bigger than the waiting we saved. Finer locking is always a trade between less waiting and more work per operation, and only a measurement can tell you which side wins on your machine. That is a lesson worth more than the queue itself.</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Two locks instead of one</a:t>
            </a:r>
            <a:endParaRPr lang="en-US" sz="2600" dirty="0"/>
          </a:p>
        </p:txBody>
      </p:sp>
      <p:sp>
        <p:nvSpPr>
          <p:cNvPr id="4" name="Shape 2"/>
          <p:cNvSpPr/>
          <p:nvPr/>
        </p:nvSpPr>
        <p:spPr>
          <a:xfrm>
            <a:off x="502920" y="1234440"/>
            <a:ext cx="5387188" cy="1234440"/>
          </a:xfrm>
          <a:prstGeom prst="roundRect">
            <a:avLst>
              <a:gd name="adj" fmla="val 4444"/>
            </a:avLst>
          </a:prstGeom>
          <a:solidFill>
            <a:srgbClr val="E3F2EF"/>
          </a:solidFill>
          <a:ln w="12700">
            <a:solidFill>
              <a:srgbClr val="E3F2EF"/>
            </a:solidFill>
            <a:prstDash val="solid"/>
          </a:ln>
        </p:spPr>
      </p:sp>
      <p:sp>
        <p:nvSpPr>
          <p:cNvPr id="5" name="Text 3"/>
          <p:cNvSpPr txBox="1"/>
          <p:nvPr/>
        </p:nvSpPr>
        <p:spPr>
          <a:xfrm>
            <a:off x="731520" y="1362456"/>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6" name="Text 4"/>
          <p:cNvSpPr txBox="1"/>
          <p:nvPr/>
        </p:nvSpPr>
        <p:spPr>
          <a:xfrm>
            <a:off x="731520" y="1655064"/>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The idea of a lock per part comes back in our Allocator and Simulator projects: a lock per bucket, a lock per order book side. Measure it every time.</a:t>
            </a:r>
            <a:endParaRPr lang="en-US" sz="1400" dirty="0"/>
          </a:p>
        </p:txBody>
      </p:sp>
      <p:sp>
        <p:nvSpPr>
          <p:cNvPr id="7" name="Text 5"/>
          <p:cNvSpPr txBox="1"/>
          <p:nvPr/>
        </p:nvSpPr>
        <p:spPr>
          <a:xfrm>
            <a:off x="502920" y="267004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8" name="Text 6"/>
          <p:cNvSpPr txBox="1"/>
          <p:nvPr/>
        </p:nvSpPr>
        <p:spPr>
          <a:xfrm>
            <a:off x="502920" y="314553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push a million items. Roughly how many heap allocations happen in the v7 queue, and how many in v12?</a:t>
            </a:r>
            <a:endParaRPr lang="en-US" sz="1500" dirty="0"/>
          </a:p>
        </p:txBody>
      </p:sp>
      <p:sp>
        <p:nvSpPr>
          <p:cNvPr id="9" name="Shape 7"/>
          <p:cNvSpPr/>
          <p:nvPr/>
        </p:nvSpPr>
        <p:spPr>
          <a:xfrm>
            <a:off x="502920" y="3703320"/>
            <a:ext cx="5387188" cy="1923288"/>
          </a:xfrm>
          <a:prstGeom prst="roundRect">
            <a:avLst>
              <a:gd name="adj" fmla="val 2853"/>
            </a:avLst>
          </a:prstGeom>
          <a:solidFill>
            <a:srgbClr val="F1F4F7"/>
          </a:solidFill>
          <a:ln w="12700">
            <a:solidFill>
              <a:srgbClr val="F1F4F7"/>
            </a:solidFill>
            <a:prstDash val="solid"/>
          </a:ln>
        </p:spPr>
      </p:sp>
      <p:sp>
        <p:nvSpPr>
          <p:cNvPr id="10" name="Text 8"/>
          <p:cNvSpPr txBox="1"/>
          <p:nvPr/>
        </p:nvSpPr>
        <p:spPr>
          <a:xfrm>
            <a:off x="685800" y="3831336"/>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std::queue in v7 stores its items in fixed-size blocks, each holding many items, so it only allocates when a block fills up, a few thousand times for a million ints. The v12 queue allocates one node for every single push, so a million allocations. Each allocation costs tens of nanoseconds, which is a big part of why the two-lock queue was slower.</a:t>
            </a:r>
            <a:endParaRPr lang="en-US" sz="1400" dirty="0"/>
          </a:p>
        </p:txBody>
      </p:sp>
      <p:sp>
        <p:nvSpPr>
          <p:cNvPr id="11" name="Text 9"/>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Remove the empty head_m block from push(). Trace how a consumer can sleep forever.</a:t>
            </a:r>
            <a:endParaRPr lang="en-US" sz="1500" dirty="0"/>
          </a:p>
        </p:txBody>
      </p:sp>
      <p:sp>
        <p:nvSpPr>
          <p:cNvPr id="12" name="Shape 10"/>
          <p:cNvSpPr/>
          <p:nvPr/>
        </p:nvSpPr>
        <p:spPr>
          <a:xfrm>
            <a:off x="6301588" y="1792224"/>
            <a:ext cx="5387188" cy="1923288"/>
          </a:xfrm>
          <a:prstGeom prst="roundRect">
            <a:avLst>
              <a:gd name="adj" fmla="val 2853"/>
            </a:avLst>
          </a:prstGeom>
          <a:solidFill>
            <a:srgbClr val="F1F4F7"/>
          </a:solidFill>
          <a:ln w="12700">
            <a:solidFill>
              <a:srgbClr val="F1F4F7"/>
            </a:solidFill>
            <a:prstDash val="solid"/>
          </a:ln>
        </p:spPr>
      </p:sp>
      <p:sp>
        <p:nvSpPr>
          <p:cNvPr id="13" name="Text 11"/>
          <p:cNvSpPr txBox="1"/>
          <p:nvPr/>
        </p:nvSpPr>
        <p:spPr>
          <a:xfrm>
            <a:off x="6484468" y="1920240"/>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consumer holds head_m and checks: the queue is empty, so it decides to wait. Before wait() actually puts it to sleep, the producer, holding only tail_m, appends an item and calls notify_one(). No thread is waiting yet, so the notification is lost. Then the consumer goes to sleep. The item is in the queue, but nobody will notify again, so the consumer sleeps forever. That is the lost wake-up from v4.</a:t>
            </a:r>
            <a:endParaRPr lang="en-US" sz="1400" dirty="0"/>
          </a:p>
        </p:txBody>
      </p:sp>
      <p:sp>
        <p:nvSpPr>
          <p:cNvPr id="14" name="Text 12"/>
          <p:cNvSpPr txBox="1"/>
          <p:nvPr/>
        </p:nvSpPr>
        <p:spPr>
          <a:xfrm>
            <a:off x="6301588" y="386181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Use the same idea, separate locks for separate parts, for a hash map. What do you lock?</a:t>
            </a:r>
            <a:endParaRPr lang="en-US" sz="1500" dirty="0"/>
          </a:p>
        </p:txBody>
      </p:sp>
      <p:sp>
        <p:nvSpPr>
          <p:cNvPr id="15" name="Shape 13"/>
          <p:cNvSpPr/>
          <p:nvPr/>
        </p:nvSpPr>
        <p:spPr>
          <a:xfrm>
            <a:off x="6301588" y="4419600"/>
            <a:ext cx="5387188" cy="1923288"/>
          </a:xfrm>
          <a:prstGeom prst="roundRect">
            <a:avLst>
              <a:gd name="adj" fmla="val 2853"/>
            </a:avLst>
          </a:prstGeom>
          <a:solidFill>
            <a:srgbClr val="F1F4F7"/>
          </a:solidFill>
          <a:ln w="12700">
            <a:solidFill>
              <a:srgbClr val="F1F4F7"/>
            </a:solidFill>
            <a:prstDash val="solid"/>
          </a:ln>
        </p:spPr>
      </p:sp>
      <p:sp>
        <p:nvSpPr>
          <p:cNvPr id="16" name="Text 14"/>
          <p:cNvSpPr txBox="1"/>
          <p:nvPr/>
        </p:nvSpPr>
        <p:spPr>
          <a:xfrm>
            <a:off x="6484468" y="4547616"/>
            <a:ext cx="5021428" cy="169468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Give each bucket of the hash map its own mutex. A key always lives in one bucket, chosen by its hash, so an operation on a key only needs to lock that one bucket. Two threads working on keys in different buckets never wait for each other, and with many buckets most operations do not collide at all. Only operations that touch the whole map, like resizing, need to lock every bucket.</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v12: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v12 needs, file by file: thread_group.hpp, two_lock_queue.hpp, main.cpp. If your version does not work, compare it with this one. Build and run it from the master folder with ./run.sh v12 main.</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thread_group.hpp</a:t>
            </a:r>
            <a:endParaRPr lang="en-US" sz="1100" dirty="0"/>
          </a:p>
        </p:txBody>
      </p:sp>
      <p:sp>
        <p:nvSpPr>
          <p:cNvPr id="6" name="Shape 4"/>
          <p:cNvSpPr/>
          <p:nvPr/>
        </p:nvSpPr>
        <p:spPr>
          <a:xfrm>
            <a:off x="502920" y="2615184"/>
            <a:ext cx="5387188" cy="3234944"/>
          </a:xfrm>
          <a:prstGeom prst="roundRect">
            <a:avLst>
              <a:gd name="adj" fmla="val 1413"/>
            </a:avLst>
          </a:prstGeom>
          <a:solidFill>
            <a:srgbClr val="1E2230"/>
          </a:solidFill>
          <a:ln w="12700">
            <a:solidFill>
              <a:srgbClr val="1E2230"/>
            </a:solidFill>
            <a:prstDash val="solid"/>
          </a:ln>
        </p:spPr>
      </p:sp>
      <p:sp>
        <p:nvSpPr>
          <p:cNvPr id="7" name="Text 5"/>
          <p:cNvSpPr txBox="1"/>
          <p:nvPr/>
        </p:nvSpPr>
        <p:spPr>
          <a:xfrm>
            <a:off x="612648" y="2734056"/>
            <a:ext cx="5204308" cy="30520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 RAII owner for threads. Every thread added is joined in the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destructor, on every exit path, including exceptions.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default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two_lock_queue.hpp</a:t>
            </a:r>
            <a:endParaRPr lang="en-US" sz="1100" dirty="0"/>
          </a:p>
        </p:txBody>
      </p:sp>
      <p:sp>
        <p:nvSpPr>
          <p:cNvPr id="9" name="Shape 7"/>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0" name="Text 8"/>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v12 · Two-lock queue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 singly linked list with a dummy node at the end. Producers lock</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only the tail, consumers only the head, so a push and a pop can run</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at the same time (Williams, C++ Concurrency in Action, chapter 6).</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memory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utility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struct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empty in the dummy node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std::unique_ptr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std::unique_ptr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head_m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tail_m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waits under head_m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get_tail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v12: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two_lock_queue.hpp (continued)</a:t>
            </a:r>
            <a:endParaRPr lang="en-US" sz="1100" dirty="0"/>
          </a:p>
        </p:txBody>
      </p:sp>
      <p:sp>
        <p:nvSpPr>
          <p:cNvPr id="5" name="Shape 3"/>
          <p:cNvSpPr/>
          <p:nvPr/>
        </p:nvSpPr>
        <p:spPr>
          <a:xfrm>
            <a:off x="502920" y="1527048"/>
            <a:ext cx="5387188" cy="4733544"/>
          </a:xfrm>
          <a:prstGeom prst="roundRect">
            <a:avLst>
              <a:gd name="adj" fmla="val 966"/>
            </a:avLst>
          </a:prstGeom>
          <a:solidFill>
            <a:srgbClr val="1E2230"/>
          </a:solidFill>
          <a:ln w="12700">
            <a:solidFill>
              <a:srgbClr val="1E2230"/>
            </a:solidFill>
            <a:prstDash val="solid"/>
          </a:ln>
        </p:spPr>
      </p:sp>
      <p:sp>
        <p:nvSpPr>
          <p:cNvPr id="6" name="Text 4"/>
          <p:cNvSpPr txBox="1"/>
          <p:nvPr/>
        </p:nvSpPr>
        <p:spPr>
          <a:xfrm>
            <a:off x="612648"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has_items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caller holds head_m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get_tail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pop_head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caller holds head_m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frees the old first node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std::make_unique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 loop, not recursion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std::make_unique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no lock held yet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old dummy gets it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two_lock_queue.hpp (continued)</a:t>
            </a:r>
            <a:endParaRPr lang="en-US" sz="1100" dirty="0"/>
          </a:p>
        </p:txBody>
      </p:sp>
      <p:sp>
        <p:nvSpPr>
          <p:cNvPr id="8" name="Shape 6"/>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9" name="Text 7"/>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new node is the dummy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see below</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has_items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pop_head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has_items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has_items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closed and drained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pop_head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v12</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v12: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two_lock_queue.hpp (continued)</a:t>
            </a:r>
            <a:endParaRPr lang="en-US" sz="1100" dirty="0"/>
          </a:p>
        </p:txBody>
      </p:sp>
      <p:sp>
        <p:nvSpPr>
          <p:cNvPr id="5" name="Shape 3"/>
          <p:cNvSpPr/>
          <p:nvPr/>
        </p:nvSpPr>
        <p:spPr>
          <a:xfrm>
            <a:off x="502920" y="1527048"/>
            <a:ext cx="5387188" cy="2335784"/>
          </a:xfrm>
          <a:prstGeom prst="roundRect">
            <a:avLst>
              <a:gd name="adj" fmla="val 1957"/>
            </a:avLst>
          </a:prstGeom>
          <a:solidFill>
            <a:srgbClr val="1E2230"/>
          </a:solidFill>
          <a:ln w="12700">
            <a:solidFill>
              <a:srgbClr val="1E2230"/>
            </a:solidFill>
            <a:prstDash val="solid"/>
          </a:ln>
        </p:spPr>
      </p:sp>
      <p:sp>
        <p:nvSpPr>
          <p:cNvPr id="6" name="Text 4"/>
          <p:cNvSpPr txBox="1"/>
          <p:nvPr/>
        </p:nvSpPr>
        <p:spPr>
          <a:xfrm>
            <a:off x="612648" y="1645920"/>
            <a:ext cx="5204308" cy="21529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has_items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Why push() briefly locks head_m before notifying: a consumer checks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for data while holding head_m and only then goes to sleep. Taking</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head_m in push() means the notify cannot slip in between that check</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and the sleep, which would lose the wake-up.</a:t>
            </a:r>
            <a:endParaRPr lang="en-US" sz="1000" dirty="0"/>
          </a:p>
        </p:txBody>
      </p:sp>
      <p:sp>
        <p:nvSpPr>
          <p:cNvPr id="7" name="Text 5"/>
          <p:cNvSpPr txBox="1"/>
          <p:nvPr/>
        </p:nvSpPr>
        <p:spPr>
          <a:xfrm>
            <a:off x="502920" y="400913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8" name="Shape 6"/>
          <p:cNvSpPr/>
          <p:nvPr/>
        </p:nvSpPr>
        <p:spPr>
          <a:xfrm>
            <a:off x="502920" y="4301744"/>
            <a:ext cx="5387188" cy="2036064"/>
          </a:xfrm>
          <a:prstGeom prst="roundRect">
            <a:avLst>
              <a:gd name="adj" fmla="val 2246"/>
            </a:avLst>
          </a:prstGeom>
          <a:solidFill>
            <a:srgbClr val="1E2230"/>
          </a:solidFill>
          <a:ln w="12700">
            <a:solidFill>
              <a:srgbClr val="1E2230"/>
            </a:solidFill>
            <a:prstDash val="solid"/>
          </a:ln>
        </p:spPr>
      </p:sp>
      <p:sp>
        <p:nvSpPr>
          <p:cNvPr id="9" name="Text 7"/>
          <p:cNvSpPr txBox="1"/>
          <p:nvPr/>
        </p:nvSpPr>
        <p:spPr>
          <a:xfrm>
            <a:off x="612648" y="4420616"/>
            <a:ext cx="5204308" cy="185318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v12: the two-lock queue with 4 producers and 4 consumers.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"thread_group.hpp"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"two_lock_queue.hpp"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100'000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 (continued)</a:t>
            </a:r>
            <a:endParaRPr lang="en-US" sz="1100" dirty="0"/>
          </a:p>
        </p:txBody>
      </p:sp>
      <p:sp>
        <p:nvSpPr>
          <p:cNvPr id="11" name="Shape 9"/>
          <p:cNvSpPr/>
          <p:nvPr/>
        </p:nvSpPr>
        <p:spPr>
          <a:xfrm>
            <a:off x="6301588" y="1527048"/>
            <a:ext cx="5387188" cy="2785364"/>
          </a:xfrm>
          <a:prstGeom prst="roundRect">
            <a:avLst>
              <a:gd name="adj" fmla="val 1641"/>
            </a:avLst>
          </a:prstGeom>
          <a:solidFill>
            <a:srgbClr val="1E2230"/>
          </a:solidFill>
          <a:ln w="12700">
            <a:solidFill>
              <a:srgbClr val="1E2230"/>
            </a:solidFill>
            <a:prstDash val="solid"/>
          </a:ln>
        </p:spPr>
      </p:sp>
      <p:sp>
        <p:nvSpPr>
          <p:cNvPr id="12" name="Text 10"/>
          <p:cNvSpPr txBox="1"/>
          <p:nvPr/>
        </p:nvSpPr>
        <p:spPr>
          <a:xfrm>
            <a:off x="6411316" y="1645920"/>
            <a:ext cx="5204308" cy="260248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consumers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ThreadGroup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"sum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 (expected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2</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One producer, one consumer</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Some programs have a very particular shape. A market data feed handler, for example, has exactly one thread reading messages from the network and exactly one thread parsing them. Millions of messages a second go from the first thread to the second. In v12 each item cost between one and four microseconds, but parsing a message takes about 100 nanoseconds. The queue costs far more than the work.</a:t>
            </a:r>
            <a:endParaRPr lang="en-US" sz="1500" dirty="0"/>
          </a:p>
        </p:txBody>
      </p:sp>
      <p:sp>
        <p:nvSpPr>
          <p:cNvPr id="6" name="Shape 4"/>
          <p:cNvSpPr/>
          <p:nvPr/>
        </p:nvSpPr>
        <p:spPr>
          <a:xfrm>
            <a:off x="502920" y="3538728"/>
            <a:ext cx="5387188" cy="752856"/>
          </a:xfrm>
          <a:prstGeom prst="roundRect">
            <a:avLst>
              <a:gd name="adj" fmla="val 7287"/>
            </a:avLst>
          </a:prstGeom>
          <a:solidFill>
            <a:srgbClr val="FBEDE3"/>
          </a:solidFill>
          <a:ln w="12700">
            <a:solidFill>
              <a:srgbClr val="FBEDE3"/>
            </a:solidFill>
            <a:prstDash val="solid"/>
          </a:ln>
        </p:spPr>
      </p:sp>
      <p:sp>
        <p:nvSpPr>
          <p:cNvPr id="7" name="Text 5"/>
          <p:cNvSpPr txBox="1"/>
          <p:nvPr/>
        </p:nvSpPr>
        <p:spPr>
          <a:xfrm>
            <a:off x="731520" y="367588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If the work is 100 ns, where are the other microseconds going?</a:t>
            </a:r>
            <a:endParaRPr lang="en-US" sz="1600" dirty="0"/>
          </a:p>
        </p:txBody>
      </p:sp>
      <p:sp>
        <p:nvSpPr>
          <p:cNvPr id="8" name="Text 6"/>
          <p:cNvSpPr txBox="1"/>
          <p:nvPr/>
        </p:nvSpPr>
        <p:spPr>
          <a:xfrm>
            <a:off x="502920" y="4437888"/>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Where does that time go? Into locks, into allocating nodes, and into putting threads to sleep and waking them up. With exactly one producer and one consumer we can get rid of all three. This version only works for that one shape, which is why its name says it: SPSC, single producer, single consumer.</a:t>
            </a:r>
            <a:endParaRPr lang="en-US" sz="1500" dirty="0"/>
          </a:p>
        </p:txBody>
      </p:sp>
      <p:sp>
        <p:nvSpPr>
          <p:cNvPr id="9" name="Text 7"/>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A ring buffer</a:t>
            </a:r>
            <a:endParaRPr lang="en-US" sz="1800" dirty="0"/>
          </a:p>
        </p:txBody>
      </p:sp>
      <p:sp>
        <p:nvSpPr>
          <p:cNvPr id="10" name="Text 8"/>
          <p:cNvSpPr txBox="1"/>
          <p:nvPr/>
        </p:nvSpPr>
        <p:spPr>
          <a:xfrm>
            <a:off x="6301588" y="176479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Instead of a linked list we use a fixed array of N slots, allocated once. Two counters say where we are. tail is the next slot the producer will write. head is the next slot the consumer will read. When either one reaches the end of the array, it wraps around to the start, which is why this is called a ring buffer.</a:t>
            </a:r>
            <a:endParaRPr lang="en-US" sz="1500" dirty="0"/>
          </a:p>
        </p:txBody>
      </p:sp>
      <p:sp>
        <p:nvSpPr>
          <p:cNvPr id="11" name="Shape 9"/>
          <p:cNvSpPr/>
          <p:nvPr/>
        </p:nvSpPr>
        <p:spPr>
          <a:xfrm>
            <a:off x="6301588" y="3310128"/>
            <a:ext cx="5387188" cy="1248410"/>
          </a:xfrm>
          <a:prstGeom prst="roundRect">
            <a:avLst>
              <a:gd name="adj" fmla="val 4395"/>
            </a:avLst>
          </a:prstGeom>
          <a:solidFill>
            <a:srgbClr val="F1F4F7"/>
          </a:solidFill>
          <a:ln w="12700">
            <a:solidFill>
              <a:srgbClr val="F1F4F7"/>
            </a:solidFill>
            <a:prstDash val="solid"/>
          </a:ln>
        </p:spPr>
      </p:sp>
      <p:sp>
        <p:nvSpPr>
          <p:cNvPr id="12" name="Text 10"/>
          <p:cNvSpPr txBox="1"/>
          <p:nvPr/>
        </p:nvSpPr>
        <p:spPr>
          <a:xfrm>
            <a:off x="6484468" y="3447288"/>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slots: [ . | a | b | c | . | . | . |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head        tail</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only the consumer writes head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only the producer writes tail</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Shape 2"/>
          <p:cNvSpPr/>
          <p:nvPr/>
        </p:nvSpPr>
        <p:spPr>
          <a:xfrm>
            <a:off x="502920" y="1234440"/>
            <a:ext cx="5387188" cy="752856"/>
          </a:xfrm>
          <a:prstGeom prst="roundRect">
            <a:avLst>
              <a:gd name="adj" fmla="val 7287"/>
            </a:avLst>
          </a:prstGeom>
          <a:solidFill>
            <a:srgbClr val="FBEDE3"/>
          </a:solidFill>
          <a:ln w="12700">
            <a:solidFill>
              <a:srgbClr val="FBEDE3"/>
            </a:solidFill>
            <a:prstDash val="solid"/>
          </a:ln>
        </p:spPr>
      </p:sp>
      <p:sp>
        <p:nvSpPr>
          <p:cNvPr id="5" name="Text 3"/>
          <p:cNvSpPr txBox="1"/>
          <p:nvPr/>
        </p:nvSpPr>
        <p:spPr>
          <a:xfrm>
            <a:off x="731520"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Two threads, shared memory, and no lock. How can that possibly be safe?</a:t>
            </a:r>
            <a:endParaRPr lang="en-US" sz="1600" dirty="0"/>
          </a:p>
        </p:txBody>
      </p:sp>
      <p:sp>
        <p:nvSpPr>
          <p:cNvPr id="6" name="Text 4"/>
          <p:cNvSpPr txBox="1"/>
          <p:nvPr/>
        </p:nvSpPr>
        <p:spPr>
          <a:xfrm>
            <a:off x="502920" y="213360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Here is the key observation. Only the producer ever changes tail, and only the consumer ever changes head. Each one only reads the other's counter. A data race needs two threads writing the same variable, or one writing while another reads without coordination. Each counter has exactly one writer, so there is nothing to lock. We only need a safe way to tell the other side that something changed.</a:t>
            </a:r>
            <a:endParaRPr lang="en-US" sz="1500" dirty="0"/>
          </a:p>
        </p:txBody>
      </p:sp>
      <p:sp>
        <p:nvSpPr>
          <p:cNvPr id="7" name="Text 5"/>
          <p:cNvSpPr txBox="1"/>
          <p:nvPr/>
        </p:nvSpPr>
        <p:spPr>
          <a:xfrm>
            <a:off x="502920" y="4136136"/>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That is the release and acquire pattern from v11. Follow one item through the ring.</a:t>
            </a:r>
            <a:endParaRPr lang="en-US" sz="1500" dirty="0"/>
          </a:p>
        </p:txBody>
      </p:sp>
      <p:sp>
        <p:nvSpPr>
          <p:cNvPr id="8" name="Shape 6"/>
          <p:cNvSpPr/>
          <p:nvPr/>
        </p:nvSpPr>
        <p:spPr>
          <a:xfrm>
            <a:off x="6301588" y="1234440"/>
            <a:ext cx="5387188" cy="1638046"/>
          </a:xfrm>
          <a:prstGeom prst="roundRect">
            <a:avLst>
              <a:gd name="adj" fmla="val 3349"/>
            </a:avLst>
          </a:prstGeom>
          <a:solidFill>
            <a:srgbClr val="F1F4F7"/>
          </a:solidFill>
          <a:ln w="12700">
            <a:solidFill>
              <a:srgbClr val="F1F4F7"/>
            </a:solidFill>
            <a:prstDash val="solid"/>
          </a:ln>
        </p:spPr>
      </p:sp>
      <p:sp>
        <p:nvSpPr>
          <p:cNvPr id="9" name="Text 7"/>
          <p:cNvSpPr txBox="1"/>
          <p:nvPr/>
        </p:nvSpPr>
        <p:spPr>
          <a:xfrm>
            <a:off x="6484468" y="1371600"/>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producer                     consumer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write slot 5</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tail.store(6, release) ----&gt; tail.load(acquire)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sees 6</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slot 5 is visible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read slot 5</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head.store(6, release)</a:t>
            </a:r>
            <a:endParaRPr lang="en-US" sz="1300" dirty="0"/>
          </a:p>
        </p:txBody>
      </p:sp>
      <p:sp>
        <p:nvSpPr>
          <p:cNvPr id="10" name="Text 8"/>
          <p:cNvSpPr txBox="1"/>
          <p:nvPr/>
        </p:nvSpPr>
        <p:spPr>
          <a:xfrm>
            <a:off x="6301588" y="3018790"/>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producer first writes the item into slot 5, then stores tail = 6 with release. The consumer loads tail with acquire and sees 6. Because of the release and acquire pair, the write to slot 5 is guaranteed to be visible to the consumer now, so it can read the slot safely. Then it stores head = 6 with release, which tells the producer that slot 5 is free to be used again.</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Shape 2"/>
          <p:cNvSpPr/>
          <p:nvPr/>
        </p:nvSpPr>
        <p:spPr>
          <a:xfrm>
            <a:off x="502920" y="1234440"/>
            <a:ext cx="5387188" cy="2027682"/>
          </a:xfrm>
          <a:prstGeom prst="roundRect">
            <a:avLst>
              <a:gd name="adj" fmla="val 2706"/>
            </a:avLst>
          </a:prstGeom>
          <a:solidFill>
            <a:srgbClr val="1E2230"/>
          </a:solidFill>
          <a:ln w="12700">
            <a:solidFill>
              <a:srgbClr val="1E2230"/>
            </a:solidFill>
            <a:prstDash val="solid"/>
          </a:ln>
        </p:spPr>
      </p:sp>
      <p:sp>
        <p:nvSpPr>
          <p:cNvPr id="5" name="Text 3"/>
          <p:cNvSpPr txBox="1"/>
          <p:nvPr/>
        </p:nvSpPr>
        <p:spPr>
          <a:xfrm>
            <a:off x="685800" y="1371600"/>
            <a:ext cx="5021428" cy="1753362"/>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try_push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producer only</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std::memory_order_acquire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ring is full</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slots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store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std::memory_order_release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502920" y="3408426"/>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counters only ever grow. t - h is the number of items in the ring, and if it equals N the ring is full. N is always a power of two, like 1024, so t &amp; (N - 1) gives the same result as t % N, the position inside the array, but much more cheaply. try_pop() is the mirror image: it reads the slot at head and then increases head. Neither function ever waits. If the ring is full or empty, they just return false, and the caller decides whether to try again immediately, yield, or sleep.</a:t>
            </a:r>
            <a:endParaRPr lang="en-US" sz="1500" dirty="0"/>
          </a:p>
        </p:txBody>
      </p:sp>
      <p:sp>
        <p:nvSpPr>
          <p:cNvPr id="7" name="Text 5"/>
          <p:cNvSpPr txBox="1"/>
          <p:nvPr/>
        </p:nvSpPr>
        <p:spPr>
          <a:xfrm>
            <a:off x="6301588"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False sharing</a:t>
            </a:r>
            <a:endParaRPr lang="en-US" sz="1800" dirty="0"/>
          </a:p>
        </p:txBody>
      </p:sp>
      <p:sp>
        <p:nvSpPr>
          <p:cNvPr id="8" name="Text 6"/>
          <p:cNvSpPr txBox="1"/>
          <p:nvPr/>
        </p:nvSpPr>
        <p:spPr>
          <a:xfrm>
            <a:off x="6301588" y="1764792"/>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There is one more cost, and you cannot see it in the source code at all. Here two threads each increment their own counter. They never touch each other's variable, so nothing is shared.</a:t>
            </a:r>
            <a:endParaRPr lang="en-US" sz="1500" dirty="0"/>
          </a:p>
        </p:txBody>
      </p:sp>
      <p:sp>
        <p:nvSpPr>
          <p:cNvPr id="9" name="Shape 7"/>
          <p:cNvSpPr/>
          <p:nvPr/>
        </p:nvSpPr>
        <p:spPr>
          <a:xfrm>
            <a:off x="6301588" y="2852928"/>
            <a:ext cx="5387188" cy="1638046"/>
          </a:xfrm>
          <a:prstGeom prst="roundRect">
            <a:avLst>
              <a:gd name="adj" fmla="val 3349"/>
            </a:avLst>
          </a:prstGeom>
          <a:solidFill>
            <a:srgbClr val="1E2230"/>
          </a:solidFill>
          <a:ln w="12700">
            <a:solidFill>
              <a:srgbClr val="1E2230"/>
            </a:solidFill>
            <a:prstDash val="solid"/>
          </a:ln>
        </p:spPr>
      </p:sp>
      <p:sp>
        <p:nvSpPr>
          <p:cNvPr id="10" name="Text 8"/>
          <p:cNvSpPr txBox="1"/>
          <p:nvPr/>
        </p:nvSpPr>
        <p:spPr>
          <a:xfrm>
            <a:off x="6484468" y="2990088"/>
            <a:ext cx="5021428" cy="1363726"/>
          </a:xfrm>
          <a:prstGeom prst="rect">
            <a:avLst/>
          </a:prstGeom>
          <a:noFill/>
          <a:ln/>
        </p:spPr>
        <p:txBody>
          <a:bodyPr wrap="square" lIns="0" tIns="0" rIns="0" bIns="0" rtlCol="0" anchor="t"/>
          <a:lstStyle/>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struct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Together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side by side</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struct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Apart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1" name="Shape 9"/>
          <p:cNvSpPr/>
          <p:nvPr/>
        </p:nvSpPr>
        <p:spPr>
          <a:xfrm>
            <a:off x="6301588" y="4637278"/>
            <a:ext cx="5387188" cy="858774"/>
          </a:xfrm>
          <a:prstGeom prst="roundRect">
            <a:avLst>
              <a:gd name="adj" fmla="val 6389"/>
            </a:avLst>
          </a:prstGeom>
          <a:solidFill>
            <a:srgbClr val="0F1419"/>
          </a:solidFill>
          <a:ln w="12700">
            <a:solidFill>
              <a:srgbClr val="0F1419"/>
            </a:solidFill>
            <a:prstDash val="solid"/>
          </a:ln>
        </p:spPr>
      </p:sp>
      <p:sp>
        <p:nvSpPr>
          <p:cNvPr id="12" name="Text 10"/>
          <p:cNvSpPr txBox="1"/>
          <p:nvPr/>
        </p:nvSpPr>
        <p:spPr>
          <a:xfrm>
            <a:off x="6484468" y="4774438"/>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v13 tiny_false_sharing</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same cache line:      1.53 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separate cache lines: 0.39 s</a:t>
            </a:r>
            <a:endParaRPr lang="en-US" sz="13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Shape 2"/>
          <p:cNvSpPr/>
          <p:nvPr/>
        </p:nvSpPr>
        <p:spPr>
          <a:xfrm>
            <a:off x="502920" y="1234440"/>
            <a:ext cx="5387188" cy="509016"/>
          </a:xfrm>
          <a:prstGeom prst="roundRect">
            <a:avLst>
              <a:gd name="adj" fmla="val 10778"/>
            </a:avLst>
          </a:prstGeom>
          <a:solidFill>
            <a:srgbClr val="FBEDE3"/>
          </a:solidFill>
          <a:ln w="12700">
            <a:solidFill>
              <a:srgbClr val="FBEDE3"/>
            </a:solidFill>
            <a:prstDash val="solid"/>
          </a:ln>
        </p:spPr>
      </p:sp>
      <p:sp>
        <p:nvSpPr>
          <p:cNvPr id="5" name="Text 3"/>
          <p:cNvSpPr txBox="1"/>
          <p:nvPr/>
        </p:nvSpPr>
        <p:spPr>
          <a:xfrm>
            <a:off x="731520" y="1371600"/>
            <a:ext cx="4929988" cy="23469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Nothing is shared. Why would one be slower?</a:t>
            </a:r>
            <a:endParaRPr lang="en-US" sz="1600" dirty="0"/>
          </a:p>
        </p:txBody>
      </p:sp>
      <p:sp>
        <p:nvSpPr>
          <p:cNvPr id="6" name="Text 4"/>
          <p:cNvSpPr txBox="1"/>
          <p:nvPr/>
        </p:nvSpPr>
        <p:spPr>
          <a:xfrm>
            <a:off x="502920" y="1889760"/>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only difference is where the two counters sit in memory, yet one version is four times slower. The reason is the cache. A core does not read single bytes from memory. It copies memory in blocks of 64 bytes, called cache lines, into its own fast cache. Before a core can write to a line, it must have the only copy of that line.</a:t>
            </a:r>
            <a:endParaRPr lang="en-US" sz="1500" dirty="0"/>
          </a:p>
        </p:txBody>
      </p:sp>
      <p:sp>
        <p:nvSpPr>
          <p:cNvPr id="7" name="Shape 5"/>
          <p:cNvSpPr/>
          <p:nvPr/>
        </p:nvSpPr>
        <p:spPr>
          <a:xfrm>
            <a:off x="502920" y="3435096"/>
            <a:ext cx="5387188" cy="1053592"/>
          </a:xfrm>
          <a:prstGeom prst="roundRect">
            <a:avLst>
              <a:gd name="adj" fmla="val 5207"/>
            </a:avLst>
          </a:prstGeom>
          <a:solidFill>
            <a:srgbClr val="F1F4F7"/>
          </a:solidFill>
          <a:ln w="12700">
            <a:solidFill>
              <a:srgbClr val="F1F4F7"/>
            </a:solidFill>
            <a:prstDash val="solid"/>
          </a:ln>
        </p:spPr>
      </p:sp>
      <p:sp>
        <p:nvSpPr>
          <p:cNvPr id="8" name="Text 6"/>
          <p:cNvSpPr txBox="1"/>
          <p:nvPr/>
        </p:nvSpPr>
        <p:spPr>
          <a:xfrm>
            <a:off x="685800" y="3572256"/>
            <a:ext cx="5021428" cy="779272"/>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0  writes a: takes the line from core 1</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core 1  writes b: takes the line from core 0</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 the same 64 bytes bounce back and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forth fifty million times</a:t>
            </a:r>
            <a:endParaRPr lang="en-US" sz="1300" dirty="0"/>
          </a:p>
        </p:txBody>
      </p:sp>
      <p:sp>
        <p:nvSpPr>
          <p:cNvPr id="9" name="Text 7"/>
          <p:cNvSpPr txBox="1"/>
          <p:nvPr/>
        </p:nvSpPr>
        <p:spPr>
          <a:xfrm>
            <a:off x="6301588" y="1234440"/>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When a and b sit side by side, they are in the same cache line. Every time core 0 writes a, it takes the line away from core 1, and every time core 1 writes b, it takes it back. The two threads share nothing in the code, but they share a cache line, so they slow each other down. This is called false sharing. alignas(64) puts each counter at the start of its own 64-byte line, and the problem disappears. Our ring puts head and tail on separate lines for exactly this reason.</a:t>
            </a:r>
            <a:endParaRPr lang="en-US" sz="1500" dirty="0"/>
          </a:p>
        </p:txBody>
      </p:sp>
      <p:sp>
        <p:nvSpPr>
          <p:cNvPr id="10" name="Text 8"/>
          <p:cNvSpPr txBox="1"/>
          <p:nvPr/>
        </p:nvSpPr>
        <p:spPr>
          <a:xfrm>
            <a:off x="6301588" y="3465576"/>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price of all this speed is a strict rule: exactly one producer and one consumer. If two producers use the ring, both can read the same tail and write into the same slot, and one item silently replaces the other. In the test, the consumer received 1,255,101 of the 2,000,000 items that were pushed.</a:t>
            </a:r>
            <a:endParaRPr lang="en-US" sz="1500" dirty="0"/>
          </a:p>
        </p:txBody>
      </p:sp>
      <p:sp>
        <p:nvSpPr>
          <p:cNvPr id="11" name="Shape 9"/>
          <p:cNvSpPr/>
          <p:nvPr/>
        </p:nvSpPr>
        <p:spPr>
          <a:xfrm>
            <a:off x="6301588" y="5010912"/>
            <a:ext cx="5387188" cy="1234440"/>
          </a:xfrm>
          <a:prstGeom prst="roundRect">
            <a:avLst>
              <a:gd name="adj" fmla="val 4444"/>
            </a:avLst>
          </a:prstGeom>
          <a:solidFill>
            <a:srgbClr val="E3F2EF"/>
          </a:solidFill>
          <a:ln w="12700">
            <a:solidFill>
              <a:srgbClr val="E3F2EF"/>
            </a:solidFill>
            <a:prstDash val="solid"/>
          </a:ln>
        </p:spPr>
      </p:sp>
      <p:sp>
        <p:nvSpPr>
          <p:cNvPr id="12" name="Text 10"/>
          <p:cNvSpPr txBox="1"/>
          <p:nvPr/>
        </p:nvSpPr>
        <p:spPr>
          <a:xfrm>
            <a:off x="6530188" y="5138928"/>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3" name="Text 11"/>
          <p:cNvSpPr txBox="1"/>
          <p:nvPr/>
        </p:nvSpPr>
        <p:spPr>
          <a:xfrm>
            <a:off x="6530188" y="5431536"/>
            <a:ext cx="4929988" cy="70408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This ring is the starting point of the Feed Handler project: the network thread is the producer, the parser thread is the consumer.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5" name="Text 3"/>
          <p:cNvSpPr txBox="1"/>
          <p:nvPr/>
        </p:nvSpPr>
        <p:spPr>
          <a:xfrm>
            <a:off x="502920" y="1764792"/>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A ring has N = 1024 slots, tail = 5000 and head = 4000. How many items are in it, and can the producer push one more?</a:t>
            </a:r>
            <a:endParaRPr lang="en-US" sz="1500" dirty="0"/>
          </a:p>
        </p:txBody>
      </p:sp>
      <p:sp>
        <p:nvSpPr>
          <p:cNvPr id="6" name="Shape 4"/>
          <p:cNvSpPr/>
          <p:nvPr/>
        </p:nvSpPr>
        <p:spPr>
          <a:xfrm>
            <a:off x="502920" y="2322576"/>
            <a:ext cx="5387188" cy="1496568"/>
          </a:xfrm>
          <a:prstGeom prst="roundRect">
            <a:avLst>
              <a:gd name="adj" fmla="val 3666"/>
            </a:avLst>
          </a:prstGeom>
          <a:solidFill>
            <a:srgbClr val="F1F4F7"/>
          </a:solidFill>
          <a:ln w="12700">
            <a:solidFill>
              <a:srgbClr val="F1F4F7"/>
            </a:solidFill>
            <a:prstDash val="solid"/>
          </a:ln>
        </p:spPr>
      </p:sp>
      <p:sp>
        <p:nvSpPr>
          <p:cNvPr id="7" name="Text 5"/>
          <p:cNvSpPr txBox="1"/>
          <p:nvPr/>
        </p:nvSpPr>
        <p:spPr>
          <a:xfrm>
            <a:off x="685800" y="2450592"/>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number of items is tail - head = 5000 - 4000 = 1000. The ring can hold 1024, and 1000 is less than 1024, so try_push() succeeds. The new item goes into slot 5000 &amp; 1023 = 904, and then tail becomes 5001. The producer could push 24 items in total before the ring is full.</a:t>
            </a:r>
            <a:endParaRPr lang="en-US" sz="1400" dirty="0"/>
          </a:p>
        </p:txBody>
      </p:sp>
      <p:sp>
        <p:nvSpPr>
          <p:cNvPr id="8" name="Text 6"/>
          <p:cNvSpPr txBox="1"/>
          <p:nvPr/>
        </p:nvSpPr>
        <p:spPr>
          <a:xfrm>
            <a:off x="6301588"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Two producers use the ring at the same time, and both read tail = 7. Trace what happens.</a:t>
            </a:r>
            <a:endParaRPr lang="en-US" sz="1500" dirty="0"/>
          </a:p>
        </p:txBody>
      </p:sp>
      <p:sp>
        <p:nvSpPr>
          <p:cNvPr id="9" name="Shape 7"/>
          <p:cNvSpPr/>
          <p:nvPr/>
        </p:nvSpPr>
        <p:spPr>
          <a:xfrm>
            <a:off x="6301588" y="1792224"/>
            <a:ext cx="5387188" cy="2350008"/>
          </a:xfrm>
          <a:prstGeom prst="roundRect">
            <a:avLst>
              <a:gd name="adj" fmla="val 2335"/>
            </a:avLst>
          </a:prstGeom>
          <a:solidFill>
            <a:srgbClr val="F1F4F7"/>
          </a:solidFill>
          <a:ln w="12700">
            <a:solidFill>
              <a:srgbClr val="F1F4F7"/>
            </a:solidFill>
            <a:prstDash val="solid"/>
          </a:ln>
        </p:spPr>
      </p:sp>
      <p:sp>
        <p:nvSpPr>
          <p:cNvPr id="10" name="Text 8"/>
          <p:cNvSpPr txBox="1"/>
          <p:nvPr/>
        </p:nvSpPr>
        <p:spPr>
          <a:xfrm>
            <a:off x="6484468" y="1920240"/>
            <a:ext cx="5021428" cy="212140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Both producers check that there is space, and both see that slot 7 is the next free one. Both write their item into slot 7, so the second write replaces the first. Then both store tail = 8. The consumer will read slot 7 once and get only one of the two items. The other is lost, with no error at all. Writing the same variable from two threads without coordination is also a data race, which is undefined behaviour. That is why the ring must only have one producer.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No locks at all</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The consumer calls try_pop() and finds the ring empty. Should it spin, yield or sleep before trying again?</a:t>
            </a:r>
            <a:endParaRPr lang="en-US" sz="1500" dirty="0"/>
          </a:p>
        </p:txBody>
      </p:sp>
      <p:sp>
        <p:nvSpPr>
          <p:cNvPr id="5" name="Shape 3"/>
          <p:cNvSpPr/>
          <p:nvPr/>
        </p:nvSpPr>
        <p:spPr>
          <a:xfrm>
            <a:off x="502920" y="1792224"/>
            <a:ext cx="5387188" cy="2136648"/>
          </a:xfrm>
          <a:prstGeom prst="roundRect">
            <a:avLst>
              <a:gd name="adj" fmla="val 2568"/>
            </a:avLst>
          </a:prstGeom>
          <a:solidFill>
            <a:srgbClr val="F1F4F7"/>
          </a:solidFill>
          <a:ln w="12700">
            <a:solidFill>
              <a:srgbClr val="F1F4F7"/>
            </a:solidFill>
            <a:prstDash val="solid"/>
          </a:ln>
        </p:spPr>
      </p:sp>
      <p:sp>
        <p:nvSpPr>
          <p:cNvPr id="6" name="Text 4"/>
          <p:cNvSpPr txBox="1"/>
          <p:nvPr/>
        </p:nvSpPr>
        <p:spPr>
          <a:xfrm>
            <a:off x="685800" y="1920240"/>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It depends on what matters most. Spinning, trying again immediately, gives the lowest delay when the next item arrives, but uses a whole core. Yielding lets other threads run for a moment and is fairer, at the cost of a little delay. Sleeping saves the most CPU when the ring is often empty for a long time, but adds the most delay. A feed handler usually spins, because every microsecond counts. That is why the ring leaves the choice to the caller.</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v13: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v13 needs, file by file: spsc_ring.hpp, main.cpp. If your version does not work, compare it with this one. Build and run it from the master folder with ./run.sh v13 main.</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spsc_ring.hpp</a:t>
            </a:r>
            <a:endParaRPr lang="en-US" sz="1100" dirty="0"/>
          </a:p>
        </p:txBody>
      </p:sp>
      <p:sp>
        <p:nvSpPr>
          <p:cNvPr id="6" name="Shape 4"/>
          <p:cNvSpPr/>
          <p:nvPr/>
        </p:nvSpPr>
        <p:spPr>
          <a:xfrm>
            <a:off x="502920" y="2615184"/>
            <a:ext cx="5387188" cy="3684524"/>
          </a:xfrm>
          <a:prstGeom prst="roundRect">
            <a:avLst>
              <a:gd name="adj" fmla="val 1241"/>
            </a:avLst>
          </a:prstGeom>
          <a:solidFill>
            <a:srgbClr val="1E2230"/>
          </a:solidFill>
          <a:ln w="12700">
            <a:solidFill>
              <a:srgbClr val="1E2230"/>
            </a:solidFill>
            <a:prstDash val="solid"/>
          </a:ln>
        </p:spPr>
      </p:sp>
      <p:sp>
        <p:nvSpPr>
          <p:cNvPr id="7" name="Text 5"/>
          <p:cNvSpPr txBox="1"/>
          <p:nvPr/>
        </p:nvSpPr>
        <p:spPr>
          <a:xfrm>
            <a:off x="612648" y="2734056"/>
            <a:ext cx="5204308" cy="35016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v13 · Lock-free SPSC ring buffer</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Exactly ONE producer thread and ONE consumer thread. No locks, no</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allocation after construction. The producer owns 'tail', the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consumer owns 'head'; each only reads the other's index.</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array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utility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N: a power of two</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SpscRing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static_assert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2</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"N: power of two"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Each index on its own 64-byte cache line, so the producer</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writing 'tail' doesn't keep stealing the line holding 'head'.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next to read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next to write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std::array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slots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producer thread only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spsc_ring.hpp (continued)</a:t>
            </a:r>
            <a:endParaRPr lang="en-US" sz="1100" dirty="0"/>
          </a:p>
        </p:txBody>
      </p:sp>
      <p:sp>
        <p:nvSpPr>
          <p:cNvPr id="9" name="Shape 7"/>
          <p:cNvSpPr/>
          <p:nvPr/>
        </p:nvSpPr>
        <p:spPr>
          <a:xfrm>
            <a:off x="6301588" y="1527048"/>
            <a:ext cx="5387188" cy="3384804"/>
          </a:xfrm>
          <a:prstGeom prst="roundRect">
            <a:avLst>
              <a:gd name="adj" fmla="val 1351"/>
            </a:avLst>
          </a:prstGeom>
          <a:solidFill>
            <a:srgbClr val="1E2230"/>
          </a:solidFill>
          <a:ln w="12700">
            <a:solidFill>
              <a:srgbClr val="1E2230"/>
            </a:solidFill>
            <a:prstDash val="solid"/>
          </a:ln>
        </p:spPr>
      </p:sp>
      <p:sp>
        <p:nvSpPr>
          <p:cNvPr id="10" name="Text 8"/>
          <p:cNvSpPr txBox="1"/>
          <p:nvPr/>
        </p:nvSpPr>
        <p:spPr>
          <a:xfrm>
            <a:off x="6411316" y="1645920"/>
            <a:ext cx="5204308" cy="32019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std::memory_order_acquire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full</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slots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store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std::memory_order_release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publish</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consumer thread only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std::memory_order_acquire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empty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slots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store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std::memory_order_release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free slot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 snapshot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std::memory_order_acquire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std::memory_order_acquire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v13</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v13: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main.cpp</a:t>
            </a:r>
            <a:endParaRPr lang="en-US" sz="1100" dirty="0"/>
          </a:p>
        </p:txBody>
      </p:sp>
      <p:sp>
        <p:nvSpPr>
          <p:cNvPr id="5" name="Shape 3"/>
          <p:cNvSpPr/>
          <p:nvPr/>
        </p:nvSpPr>
        <p:spPr>
          <a:xfrm>
            <a:off x="502920" y="1527048"/>
            <a:ext cx="5387188" cy="3984244"/>
          </a:xfrm>
          <a:prstGeom prst="roundRect">
            <a:avLst>
              <a:gd name="adj" fmla="val 1148"/>
            </a:avLst>
          </a:prstGeom>
          <a:solidFill>
            <a:srgbClr val="1E2230"/>
          </a:solidFill>
          <a:ln w="12700">
            <a:solidFill>
              <a:srgbClr val="1E2230"/>
            </a:solidFill>
            <a:prstDash val="solid"/>
          </a:ln>
        </p:spPr>
      </p:sp>
      <p:sp>
        <p:nvSpPr>
          <p:cNvPr id="6" name="Text 4"/>
          <p:cNvSpPr txBox="1"/>
          <p:nvPr/>
        </p:nvSpPr>
        <p:spPr>
          <a:xfrm>
            <a:off x="612648" y="1645920"/>
            <a:ext cx="5204308" cy="380136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v13: exactly one producer and one consumer, no locks.</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iostream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"spsc_ring.hpp"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static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SpscRing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1024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10'000'000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full: try again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yield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got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got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got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else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std::this_thread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yield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empty: try again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"sum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sum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 (expected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2</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Which queue is fastest?</a:t>
            </a:r>
            <a:endParaRPr lang="en-US" sz="1800" dirty="0"/>
          </a:p>
        </p:txBody>
      </p:sp>
      <p:sp>
        <p:nvSpPr>
          <p:cNvPr id="5" name="Text 3"/>
          <p:cNvSpPr txBox="1"/>
          <p:nvPr/>
        </p:nvSpPr>
        <p:spPr>
          <a:xfrm>
            <a:off x="502920" y="1764792"/>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We now have three queues: the mutex queue from v7, the two-lock queue from v12, and the ring from v13. Most people have an opinion about which is fastest. But look at how we measured so far: one run, on whatever the machine happened to be doing, reporting one average number. That is not good enough to decide anything. In this last version we build a small benchmark harness that measures properly.</a:t>
            </a:r>
            <a:endParaRPr lang="en-US" sz="1500" dirty="0"/>
          </a:p>
        </p:txBody>
      </p:sp>
      <p:sp>
        <p:nvSpPr>
          <p:cNvPr id="6" name="Text 4"/>
          <p:cNvSpPr txBox="1"/>
          <p:nvPr/>
        </p:nvSpPr>
        <p:spPr>
          <a:xfrm>
            <a:off x="502920" y="3593592"/>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compiler can delete your benchmark</a:t>
            </a:r>
            <a:endParaRPr lang="en-US" sz="1800" dirty="0"/>
          </a:p>
        </p:txBody>
      </p:sp>
      <p:sp>
        <p:nvSpPr>
          <p:cNvPr id="7" name="Text 5"/>
          <p:cNvSpPr txBox="1"/>
          <p:nvPr/>
        </p:nvSpPr>
        <p:spPr>
          <a:xfrm>
            <a:off x="502920" y="4069080"/>
            <a:ext cx="5387188" cy="484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first trap surprises almost everyone. Here we time a loop that adds up half a billion numbers.</a:t>
            </a:r>
            <a:endParaRPr lang="en-US" sz="1500" dirty="0"/>
          </a:p>
        </p:txBody>
      </p:sp>
      <p:sp>
        <p:nvSpPr>
          <p:cNvPr id="8" name="Shape 6"/>
          <p:cNvSpPr/>
          <p:nvPr/>
        </p:nvSpPr>
        <p:spPr>
          <a:xfrm>
            <a:off x="502920" y="4700016"/>
            <a:ext cx="5387188" cy="1248410"/>
          </a:xfrm>
          <a:prstGeom prst="roundRect">
            <a:avLst>
              <a:gd name="adj" fmla="val 4395"/>
            </a:avLst>
          </a:prstGeom>
          <a:solidFill>
            <a:srgbClr val="1E2230"/>
          </a:solidFill>
          <a:ln w="12700">
            <a:solidFill>
              <a:srgbClr val="1E2230"/>
            </a:solidFill>
            <a:prstDash val="solid"/>
          </a:ln>
        </p:spPr>
      </p:sp>
      <p:sp>
        <p:nvSpPr>
          <p:cNvPr id="9" name="Text 7"/>
          <p:cNvSpPr txBox="1"/>
          <p:nvPr/>
        </p:nvSpPr>
        <p:spPr>
          <a:xfrm>
            <a:off x="685800" y="4837176"/>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Stopwatch</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std::uint64_t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unused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std::uint64_t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500'000'000</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a:p>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unused</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F78C6C"/>
                </a:solidFill>
                <a:latin typeface="Consolas" pitchFamily="34" charset="0"/>
                <a:ea typeface="Consolas" pitchFamily="34" charset="-122"/>
                <a:cs typeface="Consolas" pitchFamily="34" charset="-120"/>
              </a:rPr>
              <a:t>7</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7F8AA3"/>
                </a:solidFill>
                <a:latin typeface="Consolas" pitchFamily="34" charset="0"/>
                <a:ea typeface="Consolas" pitchFamily="34" charset="-122"/>
                <a:cs typeface="Consolas" pitchFamily="34" charset="-120"/>
              </a:rPr>
              <a:t>// never used again</a:t>
            </a:r>
            <a:endParaRPr lang="en-US" sz="1300" dirty="0"/>
          </a:p>
          <a:p>
            <a:pPr indent="0" marL="0">
              <a:lnSpc>
                <a:spcPct val="100000"/>
              </a:lnSpc>
              <a:buNone/>
            </a:pPr>
            <a:r>
              <a:rPr lang="en-US" sz="1300" dirty="0">
                <a:solidFill>
                  <a:srgbClr val="82AAFF"/>
                </a:solidFill>
                <a:latin typeface="Consolas" pitchFamily="34" charset="0"/>
                <a:ea typeface="Consolas" pitchFamily="34" charset="-122"/>
                <a:cs typeface="Consolas" pitchFamily="34" charset="-120"/>
              </a:rPr>
              <a:t>std::cout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&lt;&lt;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sw</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seconds</a:t>
            </a:r>
            <a:pPr indent="0" marL="0">
              <a:lnSpc>
                <a:spcPct val="100000"/>
              </a:lnSpc>
              <a:buNone/>
            </a:pPr>
            <a:r>
              <a:rPr lang="en-US" sz="1300" dirty="0">
                <a:solidFill>
                  <a:srgbClr val="E4E7EE"/>
                </a:solidFill>
                <a:latin typeface="Consolas" pitchFamily="34" charset="0"/>
                <a:ea typeface="Consolas" pitchFamily="34" charset="-122"/>
                <a:cs typeface="Consolas" pitchFamily="34" charset="-120"/>
              </a:rPr>
              <a:t>();</a:t>
            </a:r>
            <a:endParaRPr lang="en-US" sz="1300" dirty="0"/>
          </a:p>
        </p:txBody>
      </p:sp>
      <p:sp>
        <p:nvSpPr>
          <p:cNvPr id="10" name="Shape 8"/>
          <p:cNvSpPr/>
          <p:nvPr/>
        </p:nvSpPr>
        <p:spPr>
          <a:xfrm>
            <a:off x="6301588" y="1234440"/>
            <a:ext cx="5387188" cy="858774"/>
          </a:xfrm>
          <a:prstGeom prst="roundRect">
            <a:avLst>
              <a:gd name="adj" fmla="val 6389"/>
            </a:avLst>
          </a:prstGeom>
          <a:solidFill>
            <a:srgbClr val="0F1419"/>
          </a:solidFill>
          <a:ln w="12700">
            <a:solidFill>
              <a:srgbClr val="0F1419"/>
            </a:solidFill>
            <a:prstDash val="solid"/>
          </a:ln>
        </p:spPr>
      </p:sp>
      <p:sp>
        <p:nvSpPr>
          <p:cNvPr id="11" name="Text 9"/>
          <p:cNvSpPr txBox="1"/>
          <p:nvPr/>
        </p:nvSpPr>
        <p:spPr>
          <a:xfrm>
            <a:off x="6484468" y="1371600"/>
            <a:ext cx="5021428" cy="584454"/>
          </a:xfrm>
          <a:prstGeom prst="rect">
            <a:avLst/>
          </a:prstGeom>
          <a:noFill/>
          <a:ln/>
        </p:spPr>
        <p:txBody>
          <a:bodyPr wrap="square" lIns="0" tIns="0" rIns="0" bIns="0" rtlCol="0" anchor="t"/>
          <a:lstStyle/>
          <a:p>
            <a:pPr indent="0" marL="0">
              <a:lnSpc>
                <a:spcPct val="100000"/>
              </a:lnSpc>
              <a:buNone/>
            </a:pPr>
            <a:r>
              <a:rPr lang="en-US" sz="1300" dirty="0">
                <a:solidFill>
                  <a:srgbClr val="FFFFFF"/>
                </a:solidFill>
                <a:latin typeface="Consolas" pitchFamily="34" charset="0"/>
                <a:ea typeface="Consolas" pitchFamily="34" charset="-122"/>
                <a:cs typeface="Consolas" pitchFamily="34" charset="-120"/>
              </a:rPr>
              <a:t>$ ./run.sh v14 tiny_optimizer</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result unused: 0.0002 ms</a:t>
            </a:r>
            <a:endParaRPr lang="en-US" sz="1300" dirty="0"/>
          </a:p>
          <a:p>
            <a:pPr indent="0" marL="0">
              <a:lnSpc>
                <a:spcPct val="100000"/>
              </a:lnSpc>
              <a:buNone/>
            </a:pPr>
            <a:r>
              <a:rPr lang="en-US" sz="1300" dirty="0">
                <a:solidFill>
                  <a:srgbClr val="B9F2C8"/>
                </a:solidFill>
                <a:latin typeface="Consolas" pitchFamily="34" charset="0"/>
                <a:ea typeface="Consolas" pitchFamily="34" charset="-122"/>
                <a:cs typeface="Consolas" pitchFamily="34" charset="-120"/>
              </a:rPr>
              <a:t>result used:   640 ms</a:t>
            </a:r>
            <a:endParaRPr lang="en-US" sz="1300" dirty="0"/>
          </a:p>
        </p:txBody>
      </p:sp>
      <p:sp>
        <p:nvSpPr>
          <p:cNvPr id="12" name="Shape 10"/>
          <p:cNvSpPr/>
          <p:nvPr/>
        </p:nvSpPr>
        <p:spPr>
          <a:xfrm>
            <a:off x="6301588" y="2239518"/>
            <a:ext cx="5387188" cy="752856"/>
          </a:xfrm>
          <a:prstGeom prst="roundRect">
            <a:avLst>
              <a:gd name="adj" fmla="val 7287"/>
            </a:avLst>
          </a:prstGeom>
          <a:solidFill>
            <a:srgbClr val="FBEDE3"/>
          </a:solidFill>
          <a:ln w="12700">
            <a:solidFill>
              <a:srgbClr val="FBEDE3"/>
            </a:solidFill>
            <a:prstDash val="solid"/>
          </a:ln>
        </p:spPr>
      </p:sp>
      <p:sp>
        <p:nvSpPr>
          <p:cNvPr id="13" name="Text 11"/>
          <p:cNvSpPr txBox="1"/>
          <p:nvPr/>
        </p:nvSpPr>
        <p:spPr>
          <a:xfrm>
            <a:off x="6530188" y="2376678"/>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Half a billion additions in 0.0002 ms? What happened?</a:t>
            </a:r>
            <a:endParaRPr lang="en-US" sz="1600" dirty="0"/>
          </a:p>
        </p:txBody>
      </p:sp>
      <p:sp>
        <p:nvSpPr>
          <p:cNvPr id="14" name="Text 12"/>
          <p:cNvSpPr txBox="1"/>
          <p:nvPr/>
        </p:nvSpPr>
        <p:spPr>
          <a:xfrm>
            <a:off x="6301588" y="3138678"/>
            <a:ext cx="5387188" cy="2084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Half a billion additions in 0.0002 ms is impossible. What happened is that the compiler noticed nobody ever reads unused after the loop. Removing the loop does not change what the program prints, so with optimisation turned on, the compiler removed it. The timer measured an empty piece of code. As soon as we print the sum, the loop has to run, and it takes 640 ms. So a benchmark must always use the result of the work it measures, and it must be built with the same optimisation level, -O2, that you will really use.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Throughput and latency are different questions</a:t>
            </a:r>
            <a:endParaRPr lang="en-US" sz="1800" dirty="0"/>
          </a:p>
        </p:txBody>
      </p:sp>
      <p:sp>
        <p:nvSpPr>
          <p:cNvPr id="5" name="Shape 3"/>
          <p:cNvSpPr/>
          <p:nvPr/>
        </p:nvSpPr>
        <p:spPr>
          <a:xfrm>
            <a:off x="502920" y="1764792"/>
            <a:ext cx="5387188" cy="1832864"/>
          </a:xfrm>
          <a:prstGeom prst="roundRect">
            <a:avLst>
              <a:gd name="adj" fmla="val 2993"/>
            </a:avLst>
          </a:prstGeom>
          <a:solidFill>
            <a:srgbClr val="F1F4F7"/>
          </a:solidFill>
          <a:ln w="12700">
            <a:solidFill>
              <a:srgbClr val="F1F4F7"/>
            </a:solidFill>
            <a:prstDash val="solid"/>
          </a:ln>
        </p:spPr>
      </p:sp>
      <p:sp>
        <p:nvSpPr>
          <p:cNvPr id="6" name="Text 4"/>
          <p:cNvSpPr txBox="1"/>
          <p:nvPr/>
        </p:nvSpPr>
        <p:spPr>
          <a:xfrm>
            <a:off x="685800" y="1901952"/>
            <a:ext cx="5021428" cy="1558544"/>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throughput  how many messages per second,</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running flat out</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latency     how long one message waits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from push to pop</a:t>
            </a:r>
            <a:endParaRPr lang="en-US" sz="1300" dirty="0"/>
          </a:p>
          <a:p>
            <a:pPr indent="0" marL="0">
              <a:lnSpc>
                <a:spcPct val="100000"/>
              </a:lnSpc>
              <a:buNone/>
            </a:pP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p50    the typical message</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p99    1 in 100 messages is slower</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p99.9  1 in 1,000: where the trouble is</a:t>
            </a:r>
            <a:endParaRPr lang="en-US" sz="1300" dirty="0"/>
          </a:p>
        </p:txBody>
      </p:sp>
      <p:sp>
        <p:nvSpPr>
          <p:cNvPr id="7" name="Text 5"/>
          <p:cNvSpPr txBox="1"/>
          <p:nvPr/>
        </p:nvSpPr>
        <p:spPr>
          <a:xfrm>
            <a:off x="502920" y="374396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Throughput tells you how much the queue can move in total. Latency tells you how long each single message spends waiting. A feed handler cares about both, but especially about latency, and not just the typical one. p50 is the median: half the messages are faster, half are slower. p99 is the time that 99 out of 100 messages beat. The slow ones at the end, the tail, are the messages that cause real trouble.</a:t>
            </a:r>
            <a:endParaRPr lang="en-US" sz="1500" dirty="0"/>
          </a:p>
        </p:txBody>
      </p:sp>
      <p:sp>
        <p:nvSpPr>
          <p:cNvPr id="8" name="Shape 6"/>
          <p:cNvSpPr/>
          <p:nvPr/>
        </p:nvSpPr>
        <p:spPr>
          <a:xfrm>
            <a:off x="6301588" y="1234440"/>
            <a:ext cx="5387188" cy="752856"/>
          </a:xfrm>
          <a:prstGeom prst="roundRect">
            <a:avLst>
              <a:gd name="adj" fmla="val 7287"/>
            </a:avLst>
          </a:prstGeom>
          <a:solidFill>
            <a:srgbClr val="FBEDE3"/>
          </a:solidFill>
          <a:ln w="12700">
            <a:solidFill>
              <a:srgbClr val="FBEDE3"/>
            </a:solidFill>
            <a:prstDash val="solid"/>
          </a:ln>
        </p:spPr>
      </p:sp>
      <p:sp>
        <p:nvSpPr>
          <p:cNvPr id="9" name="Text 7"/>
          <p:cNvSpPr txBox="1"/>
          <p:nvPr/>
        </p:nvSpPr>
        <p:spPr>
          <a:xfrm>
            <a:off x="6530188" y="1371600"/>
            <a:ext cx="4929988" cy="478536"/>
          </a:xfrm>
          <a:prstGeom prst="rect">
            <a:avLst/>
          </a:prstGeom>
          <a:noFill/>
          <a:ln/>
        </p:spPr>
        <p:txBody>
          <a:bodyPr wrap="square" lIns="0" tIns="0" rIns="0" bIns="0" rtlCol="0" anchor="t"/>
          <a:lstStyle/>
          <a:p>
            <a:pPr indent="0" marL="0">
              <a:buNone/>
            </a:pPr>
            <a:r>
              <a:rPr lang="en-US" sz="1600" b="1" i="1" dirty="0">
                <a:solidFill>
                  <a:srgbClr val="8A3B12"/>
                </a:solidFill>
                <a:latin typeface="Calibri" pitchFamily="34" charset="0"/>
                <a:ea typeface="Calibri" pitchFamily="34" charset="-122"/>
                <a:cs typeface="Calibri" pitchFamily="34" charset="-120"/>
              </a:rPr>
              <a:t>Why not just push as fast as possible and time each message?</a:t>
            </a:r>
            <a:endParaRPr lang="en-US" sz="1600" dirty="0"/>
          </a:p>
        </p:txBody>
      </p:sp>
      <p:sp>
        <p:nvSpPr>
          <p:cNvPr id="10" name="Text 8"/>
          <p:cNvSpPr txBox="1"/>
          <p:nvPr/>
        </p:nvSpPr>
        <p:spPr>
          <a:xfrm>
            <a:off x="6301588" y="2133600"/>
            <a:ext cx="5387188" cy="18562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 cannot measure latency by running the queue flat out. If the producer pushes as fast as it can, the queue fills up, and each message mostly waits behind the thousands in front of it. You end up measuring the length of the line, not the cost of the queue. So the harness sends messages at a steady rate of 500,000 per second, less than any of the queues can handle, stamps each one with the time it was pushed, and records how long it took to arrive.</a:t>
            </a:r>
            <a:endParaRPr lang="en-US" sz="1500" dirty="0"/>
          </a:p>
        </p:txBody>
      </p:sp>
      <p:sp>
        <p:nvSpPr>
          <p:cNvPr id="11" name="Text 9"/>
          <p:cNvSpPr txBox="1"/>
          <p:nvPr/>
        </p:nvSpPr>
        <p:spPr>
          <a:xfrm>
            <a:off x="6301588" y="4136136"/>
            <a:ext cx="5387188" cy="16276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The harness follows three more habits. It does one warm-up run and throws the result away, because the first run pays extra for empty caches and memory being set up. It repeats every measurement five times and reports the median, because one disturbed run can drag an average around but barely moves a median. And it always reports the tail as well as the typical case.</a:t>
            </a:r>
            <a:endParaRPr lang="en-US" sz="15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89304"/>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The result</a:t>
            </a:r>
            <a:endParaRPr lang="en-US" sz="1800" dirty="0"/>
          </a:p>
        </p:txBody>
      </p:sp>
      <p:sp>
        <p:nvSpPr>
          <p:cNvPr id="5" name="Shape 3"/>
          <p:cNvSpPr/>
          <p:nvPr/>
        </p:nvSpPr>
        <p:spPr>
          <a:xfrm>
            <a:off x="502920" y="1764792"/>
            <a:ext cx="5387188" cy="1248410"/>
          </a:xfrm>
          <a:prstGeom prst="roundRect">
            <a:avLst>
              <a:gd name="adj" fmla="val 4395"/>
            </a:avLst>
          </a:prstGeom>
          <a:solidFill>
            <a:srgbClr val="F1F4F7"/>
          </a:solidFill>
          <a:ln w="12700">
            <a:solidFill>
              <a:srgbClr val="F1F4F7"/>
            </a:solidFill>
            <a:prstDash val="solid"/>
          </a:ln>
        </p:spPr>
      </p:sp>
      <p:sp>
        <p:nvSpPr>
          <p:cNvPr id="6" name="Text 4"/>
          <p:cNvSpPr txBox="1"/>
          <p:nvPr/>
        </p:nvSpPr>
        <p:spPr>
          <a:xfrm>
            <a:off x="685800" y="1901952"/>
            <a:ext cx="5021428" cy="974090"/>
          </a:xfrm>
          <a:prstGeom prst="rect">
            <a:avLst/>
          </a:prstGeom>
          <a:noFill/>
          <a:ln/>
        </p:spPr>
        <p:txBody>
          <a:bodyPr wrap="square" lIns="0" tIns="0" rIns="0" bIns="0" rtlCol="0" anchor="t"/>
          <a:lstStyle/>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                 M msg/s    latency at 500k/s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queue            saturated  p50       p99</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ThreadSafeQueue     4.8     5.8 us    0.9 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TwoLockQueue        0.8    18.3 us    3.6 ms</a:t>
            </a:r>
            <a:endParaRPr lang="en-US" sz="1300" dirty="0"/>
          </a:p>
          <a:p>
            <a:pPr indent="0" marL="0">
              <a:lnSpc>
                <a:spcPct val="100000"/>
              </a:lnSpc>
              <a:buNone/>
            </a:pPr>
            <a:r>
              <a:rPr lang="en-US" sz="1300" dirty="0">
                <a:solidFill>
                  <a:srgbClr val="1C2430"/>
                </a:solidFill>
                <a:latin typeface="Consolas" pitchFamily="34" charset="0"/>
                <a:ea typeface="Consolas" pitchFamily="34" charset="-122"/>
                <a:cs typeface="Consolas" pitchFamily="34" charset="-120"/>
              </a:rPr>
              <a:t>SpscRing          104.8     0.26 us   0.05 ms</a:t>
            </a:r>
            <a:endParaRPr lang="en-US" sz="1300" dirty="0"/>
          </a:p>
        </p:txBody>
      </p:sp>
      <p:sp>
        <p:nvSpPr>
          <p:cNvPr id="7" name="Text 5"/>
          <p:cNvSpPr txBox="1"/>
          <p:nvPr/>
        </p:nvSpPr>
        <p:spPr>
          <a:xfrm>
            <a:off x="502920" y="3159506"/>
            <a:ext cx="5387188" cy="11704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Your numbers will be different, because they depend on your machine. What should stay the same is the ranking, and the reason behind it. The ring has no locks, no allocation and no sleeping, and it is about twenty times faster than the v7 queue on both throughput and typical latency.</a:t>
            </a:r>
            <a:endParaRPr lang="en-US" sz="1500" dirty="0"/>
          </a:p>
        </p:txBody>
      </p:sp>
      <p:sp>
        <p:nvSpPr>
          <p:cNvPr id="8" name="Text 6"/>
          <p:cNvSpPr txBox="1"/>
          <p:nvPr/>
        </p:nvSpPr>
        <p:spPr>
          <a:xfrm>
            <a:off x="502920" y="4476242"/>
            <a:ext cx="5387188" cy="13990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Even so, look at its tail: the ring's p99.9 reaches about a millisecond. That is not the queue. It is the operating system pausing one of the threads to run something else. Dealing with that, by giving the threads their own cores, is the first problem of the Feed Handler project, which starts from exactly this ring and this harness.</a:t>
            </a:r>
            <a:endParaRPr lang="en-US" sz="1500" dirty="0"/>
          </a:p>
        </p:txBody>
      </p:sp>
      <p:sp>
        <p:nvSpPr>
          <p:cNvPr id="9" name="Shape 7"/>
          <p:cNvSpPr/>
          <p:nvPr/>
        </p:nvSpPr>
        <p:spPr>
          <a:xfrm>
            <a:off x="6301588" y="1234440"/>
            <a:ext cx="5387188" cy="1021080"/>
          </a:xfrm>
          <a:prstGeom prst="roundRect">
            <a:avLst>
              <a:gd name="adj" fmla="val 5373"/>
            </a:avLst>
          </a:prstGeom>
          <a:solidFill>
            <a:srgbClr val="E3F2EF"/>
          </a:solidFill>
          <a:ln w="12700">
            <a:solidFill>
              <a:srgbClr val="E3F2EF"/>
            </a:solidFill>
            <a:prstDash val="solid"/>
          </a:ln>
        </p:spPr>
      </p:sp>
      <p:sp>
        <p:nvSpPr>
          <p:cNvPr id="10" name="Text 8"/>
          <p:cNvSpPr txBox="1"/>
          <p:nvPr/>
        </p:nvSpPr>
        <p:spPr>
          <a:xfrm>
            <a:off x="6530188" y="1362456"/>
            <a:ext cx="4929988" cy="237744"/>
          </a:xfrm>
          <a:prstGeom prst="rect">
            <a:avLst/>
          </a:prstGeom>
          <a:noFill/>
          <a:ln/>
        </p:spPr>
        <p:txBody>
          <a:bodyPr wrap="square" lIns="0" tIns="0" rIns="0" bIns="0" rtlCol="0" anchor="ctr"/>
          <a:lstStyle/>
          <a:p>
            <a:pPr indent="0" marL="0">
              <a:buNone/>
            </a:pPr>
            <a:r>
              <a:rPr lang="en-US" sz="1100" b="1" spc="150" kern="0" dirty="0">
                <a:solidFill>
                  <a:srgbClr val="0F766E"/>
                </a:solidFill>
                <a:latin typeface="Calibri" pitchFamily="34" charset="0"/>
                <a:ea typeface="Calibri" pitchFamily="34" charset="-122"/>
                <a:cs typeface="Calibri" pitchFamily="34" charset="-120"/>
              </a:rPr>
              <a:t>IN OUR PROJECT</a:t>
            </a:r>
            <a:endParaRPr lang="en-US" sz="1100" dirty="0"/>
          </a:p>
        </p:txBody>
      </p:sp>
      <p:sp>
        <p:nvSpPr>
          <p:cNvPr id="11" name="Text 9"/>
          <p:cNvSpPr txBox="1"/>
          <p:nvPr/>
        </p:nvSpPr>
        <p:spPr>
          <a:xfrm>
            <a:off x="6530188" y="1655064"/>
            <a:ext cx="4929988" cy="490728"/>
          </a:xfrm>
          <a:prstGeom prst="rect">
            <a:avLst/>
          </a:prstGeom>
          <a:noFill/>
          <a:ln/>
        </p:spPr>
        <p:txBody>
          <a:bodyPr wrap="square" lIns="0" tIns="0" rIns="0" bIns="0" rtlCol="0" anchor="t"/>
          <a:lstStyle/>
          <a:p>
            <a:pPr indent="0" marL="0">
              <a:buNone/>
            </a:pPr>
            <a:r>
              <a:rPr lang="en-US" sz="1400" dirty="0">
                <a:solidFill>
                  <a:srgbClr val="1C2430"/>
                </a:solidFill>
                <a:latin typeface="Calibri" pitchFamily="34" charset="0"/>
                <a:ea typeface="Calibri" pitchFamily="34" charset="-122"/>
                <a:cs typeface="Calibri" pitchFamily="34" charset="-120"/>
              </a:rPr>
              <a:t>Every performance claim in our projects is backed by this harness: warm-up, five runs, median, and p50, p99, p99.9.</a:t>
            </a:r>
            <a:endParaRPr lang="en-US" sz="1400" dirty="0"/>
          </a:p>
        </p:txBody>
      </p:sp>
      <p:sp>
        <p:nvSpPr>
          <p:cNvPr id="12" name="Text 10"/>
          <p:cNvSpPr txBox="1"/>
          <p:nvPr/>
        </p:nvSpPr>
        <p:spPr>
          <a:xfrm>
            <a:off x="6301588" y="2456688"/>
            <a:ext cx="5387188" cy="310896"/>
          </a:xfrm>
          <a:prstGeom prst="rect">
            <a:avLst/>
          </a:prstGeom>
          <a:noFill/>
          <a:ln/>
        </p:spPr>
        <p:txBody>
          <a:bodyPr wrap="square" lIns="0" tIns="0" rIns="0" bIns="0" rtlCol="0" anchor="t"/>
          <a:lstStyle/>
          <a:p>
            <a:pPr indent="0" marL="0">
              <a:buNone/>
            </a:pPr>
            <a:r>
              <a:rPr lang="en-US" sz="1800" b="1" dirty="0">
                <a:solidFill>
                  <a:srgbClr val="B4501A"/>
                </a:solidFill>
                <a:latin typeface="Cambria" pitchFamily="34" charset="0"/>
                <a:ea typeface="Cambria" pitchFamily="34" charset="-122"/>
                <a:cs typeface="Cambria" pitchFamily="34" charset="-120"/>
              </a:rPr>
              <a:t>Exercises</a:t>
            </a:r>
            <a:endParaRPr lang="en-US" sz="1800" dirty="0"/>
          </a:p>
        </p:txBody>
      </p:sp>
      <p:sp>
        <p:nvSpPr>
          <p:cNvPr id="13" name="Text 11"/>
          <p:cNvSpPr txBox="1"/>
          <p:nvPr/>
        </p:nvSpPr>
        <p:spPr>
          <a:xfrm>
            <a:off x="6301588" y="2932176"/>
            <a:ext cx="5387188" cy="7132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Five runs give 4.1, 4.8, 4.9, 5.0 and 12.0 million messages per second. What are the mean and the median, and which should you report?</a:t>
            </a:r>
            <a:endParaRPr lang="en-US" sz="1500" dirty="0"/>
          </a:p>
        </p:txBody>
      </p:sp>
      <p:sp>
        <p:nvSpPr>
          <p:cNvPr id="14" name="Shape 12"/>
          <p:cNvSpPr/>
          <p:nvPr/>
        </p:nvSpPr>
        <p:spPr>
          <a:xfrm>
            <a:off x="6301588" y="3718560"/>
            <a:ext cx="5387188" cy="1709928"/>
          </a:xfrm>
          <a:prstGeom prst="roundRect">
            <a:avLst>
              <a:gd name="adj" fmla="val 3209"/>
            </a:avLst>
          </a:prstGeom>
          <a:solidFill>
            <a:srgbClr val="F1F4F7"/>
          </a:solidFill>
          <a:ln w="12700">
            <a:solidFill>
              <a:srgbClr val="F1F4F7"/>
            </a:solidFill>
            <a:prstDash val="solid"/>
          </a:ln>
        </p:spPr>
      </p:sp>
      <p:sp>
        <p:nvSpPr>
          <p:cNvPr id="15" name="Text 13"/>
          <p:cNvSpPr txBox="1"/>
          <p:nvPr/>
        </p:nvSpPr>
        <p:spPr>
          <a:xfrm>
            <a:off x="6484468" y="3846576"/>
            <a:ext cx="5021428" cy="148132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The mean is (4.1 + 4.8 + 4.9 + 5.0 + 12.0) / 5 = 30.8 / 5 = 6.16. The median is the middle value after sorting, 4.9. Report the median. Four of the five runs are close to 5, and the 12.0 is one unusual run, maybe a measurement mistake. It pulls the mean up by more than a whole million, while the median stays where most runs actually are.</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Measuring honestly</a:t>
            </a:r>
            <a:endParaRPr lang="en-US" sz="2600" dirty="0"/>
          </a:p>
        </p:txBody>
      </p:sp>
      <p:sp>
        <p:nvSpPr>
          <p:cNvPr id="4" name="Text 2"/>
          <p:cNvSpPr txBox="1"/>
          <p:nvPr/>
        </p:nvSpPr>
        <p:spPr>
          <a:xfrm>
            <a:off x="502920" y="1234440"/>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recorded 1,000,000 latencies and sorted them from fastest to slowest. Which one is p99?</a:t>
            </a:r>
            <a:endParaRPr lang="en-US" sz="1500" dirty="0"/>
          </a:p>
        </p:txBody>
      </p:sp>
      <p:sp>
        <p:nvSpPr>
          <p:cNvPr id="5" name="Shape 3"/>
          <p:cNvSpPr/>
          <p:nvPr/>
        </p:nvSpPr>
        <p:spPr>
          <a:xfrm>
            <a:off x="502920" y="1792224"/>
            <a:ext cx="5387188" cy="1496568"/>
          </a:xfrm>
          <a:prstGeom prst="roundRect">
            <a:avLst>
              <a:gd name="adj" fmla="val 3666"/>
            </a:avLst>
          </a:prstGeom>
          <a:solidFill>
            <a:srgbClr val="F1F4F7"/>
          </a:solidFill>
          <a:ln w="12700">
            <a:solidFill>
              <a:srgbClr val="F1F4F7"/>
            </a:solidFill>
            <a:prstDash val="solid"/>
          </a:ln>
        </p:spPr>
      </p:sp>
      <p:sp>
        <p:nvSpPr>
          <p:cNvPr id="6" name="Text 4"/>
          <p:cNvSpPr txBox="1"/>
          <p:nvPr/>
        </p:nvSpPr>
        <p:spPr>
          <a:xfrm>
            <a:off x="685800" y="1920240"/>
            <a:ext cx="5021428" cy="126796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p99 is the value that 99% of the measurements are at or below. 99% of 1,000,000 is 990,000, so it is the value at position 990,000 in the sorted list. Only the 10,000 measurements after it are slower. In the same way, p50 is at position 500,000 and p99.9 at position 999,000.</a:t>
            </a:r>
            <a:endParaRPr lang="en-US" sz="1400" dirty="0"/>
          </a:p>
        </p:txBody>
      </p:sp>
      <p:sp>
        <p:nvSpPr>
          <p:cNvPr id="7" name="Text 5"/>
          <p:cNvSpPr txBox="1"/>
          <p:nvPr/>
        </p:nvSpPr>
        <p:spPr>
          <a:xfrm>
            <a:off x="502920" y="3435096"/>
            <a:ext cx="5387188" cy="484632"/>
          </a:xfrm>
          <a:prstGeom prst="rect">
            <a:avLst/>
          </a:prstGeom>
          <a:noFill/>
          <a:ln/>
        </p:spPr>
        <p:txBody>
          <a:bodyPr wrap="square" lIns="0" tIns="0" rIns="0" bIns="0" rtlCol="0" anchor="t"/>
          <a:lstStyle/>
          <a:p>
            <a:pPr indent="0" marL="0">
              <a:buNone/>
            </a:pPr>
            <a:r>
              <a:rPr lang="en-US" sz="1500" b="1" dirty="0">
                <a:solidFill>
                  <a:srgbClr val="1C2430"/>
                </a:solidFill>
                <a:latin typeface="Calibri" pitchFamily="34" charset="0"/>
                <a:ea typeface="Calibri" pitchFamily="34" charset="-122"/>
                <a:cs typeface="Calibri" pitchFamily="34" charset="-120"/>
              </a:rPr>
              <a:t>You want to compare your queue with a friend's fairly. What do you need to keep the same, and what do you report?</a:t>
            </a:r>
            <a:endParaRPr lang="en-US" sz="1500" dirty="0"/>
          </a:p>
        </p:txBody>
      </p:sp>
      <p:sp>
        <p:nvSpPr>
          <p:cNvPr id="8" name="Shape 6"/>
          <p:cNvSpPr/>
          <p:nvPr/>
        </p:nvSpPr>
        <p:spPr>
          <a:xfrm>
            <a:off x="502920" y="3992880"/>
            <a:ext cx="5387188" cy="2136648"/>
          </a:xfrm>
          <a:prstGeom prst="roundRect">
            <a:avLst>
              <a:gd name="adj" fmla="val 2568"/>
            </a:avLst>
          </a:prstGeom>
          <a:solidFill>
            <a:srgbClr val="F1F4F7"/>
          </a:solidFill>
          <a:ln w="12700">
            <a:solidFill>
              <a:srgbClr val="F1F4F7"/>
            </a:solidFill>
            <a:prstDash val="solid"/>
          </a:ln>
        </p:spPr>
      </p:sp>
      <p:sp>
        <p:nvSpPr>
          <p:cNvPr id="9" name="Text 7"/>
          <p:cNvSpPr txBox="1"/>
          <p:nvPr/>
        </p:nvSpPr>
        <p:spPr>
          <a:xfrm>
            <a:off x="685800" y="4120896"/>
            <a:ext cx="5021428" cy="1908048"/>
          </a:xfrm>
          <a:prstGeom prst="rect">
            <a:avLst/>
          </a:prstGeom>
          <a:noFill/>
          <a:ln/>
        </p:spPr>
        <p:txBody>
          <a:bodyPr wrap="square" lIns="0" tIns="0" rIns="0" bIns="0" rtlCol="0" anchor="t"/>
          <a:lstStyle/>
          <a:p>
            <a:pPr indent="0" marL="0">
              <a:buNone/>
            </a:pPr>
            <a:r>
              <a:rPr lang="en-US" sz="1400" b="1" dirty="0">
                <a:solidFill>
                  <a:srgbClr val="0F766E"/>
                </a:solidFill>
                <a:latin typeface="Calibri" pitchFamily="34" charset="0"/>
                <a:ea typeface="Calibri" pitchFamily="34" charset="-122"/>
                <a:cs typeface="Calibri" pitchFamily="34" charset="-120"/>
              </a:rPr>
              <a:t>Answer  </a:t>
            </a:r>
            <a:pPr indent="0" marL="0">
              <a:buNone/>
            </a:pPr>
            <a:r>
              <a:rPr lang="en-US" sz="1400" dirty="0">
                <a:solidFill>
                  <a:srgbClr val="1C2430"/>
                </a:solidFill>
                <a:latin typeface="Calibri" pitchFamily="34" charset="0"/>
                <a:ea typeface="Calibri" pitchFamily="34" charset="-122"/>
                <a:cs typeface="Calibri" pitchFamily="34" charset="-120"/>
              </a:rPr>
              <a:t>Run both on the same machine, built with the same compiler and the same flags, -O2, with the same message type and the same number of producers and consumers. Do a warm-up run first and repeat each measurement at least five times. Report the median throughput, and p50, p99 and p99.9 latency measured at the same paced rate. Then the numbers tell you about the queues, not about the conditions they ran in.</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v14: the complete code</a:t>
            </a:r>
            <a:endParaRPr lang="en-US" sz="2600" dirty="0"/>
          </a:p>
        </p:txBody>
      </p:sp>
      <p:sp>
        <p:nvSpPr>
          <p:cNvPr id="4" name="Text 2"/>
          <p:cNvSpPr txBox="1"/>
          <p:nvPr/>
        </p:nvSpPr>
        <p:spPr>
          <a:xfrm>
            <a:off x="502920" y="1234440"/>
            <a:ext cx="5387188" cy="941832"/>
          </a:xfrm>
          <a:prstGeom prst="rect">
            <a:avLst/>
          </a:prstGeom>
          <a:noFill/>
          <a:ln/>
        </p:spPr>
        <p:txBody>
          <a:bodyPr wrap="square" lIns="0" tIns="0" rIns="0" bIns="0" rtlCol="0" anchor="t"/>
          <a:lstStyle/>
          <a:p>
            <a:pPr indent="0" marL="0">
              <a:buNone/>
            </a:pPr>
            <a:r>
              <a:rPr lang="en-US" sz="1500" dirty="0">
                <a:solidFill>
                  <a:srgbClr val="1C2430"/>
                </a:solidFill>
                <a:latin typeface="Calibri" pitchFamily="34" charset="0"/>
                <a:ea typeface="Calibri" pitchFamily="34" charset="-122"/>
                <a:cs typeface="Calibri" pitchFamily="34" charset="-120"/>
              </a:rPr>
              <a:t>Everything v14 needs, file by file: bench.hpp, queue.hpp, spsc_ring.hpp, two_lock_queue.hpp, bench.cpp. If your version does not work, compare it with this one. Build and run it from the master folder with ./run.sh v14 bench.</a:t>
            </a:r>
            <a:endParaRPr lang="en-US" sz="1500" dirty="0"/>
          </a:p>
        </p:txBody>
      </p:sp>
      <p:sp>
        <p:nvSpPr>
          <p:cNvPr id="5" name="Text 3"/>
          <p:cNvSpPr txBox="1"/>
          <p:nvPr/>
        </p:nvSpPr>
        <p:spPr>
          <a:xfrm>
            <a:off x="502920" y="2322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bench.hpp</a:t>
            </a:r>
            <a:endParaRPr lang="en-US" sz="1100" dirty="0"/>
          </a:p>
        </p:txBody>
      </p:sp>
      <p:sp>
        <p:nvSpPr>
          <p:cNvPr id="6" name="Shape 4"/>
          <p:cNvSpPr/>
          <p:nvPr/>
        </p:nvSpPr>
        <p:spPr>
          <a:xfrm>
            <a:off x="502920" y="2615184"/>
            <a:ext cx="5387188" cy="3684524"/>
          </a:xfrm>
          <a:prstGeom prst="roundRect">
            <a:avLst>
              <a:gd name="adj" fmla="val 1241"/>
            </a:avLst>
          </a:prstGeom>
          <a:solidFill>
            <a:srgbClr val="1E2230"/>
          </a:solidFill>
          <a:ln w="12700">
            <a:solidFill>
              <a:srgbClr val="1E2230"/>
            </a:solidFill>
            <a:prstDash val="solid"/>
          </a:ln>
        </p:spPr>
      </p:sp>
      <p:sp>
        <p:nvSpPr>
          <p:cNvPr id="7" name="Text 5"/>
          <p:cNvSpPr txBox="1"/>
          <p:nvPr/>
        </p:nvSpPr>
        <p:spPr>
          <a:xfrm>
            <a:off x="612648" y="2734056"/>
            <a:ext cx="5204308" cy="35016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v14 · Benchmark harness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Two questions, measured separately:</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throughput: messages per second at full speed (saturated)</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latency:    time for ONE message, at a steady rate the queue can</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sustain (at full speed you'd only measure the backlog)</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Rules: warm up first, repeat runs, report the median, read the tail.</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algorithm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chrono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struct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Result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double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million_per_sec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saturated throughput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double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p50_ns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p99_ns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p999_ns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latency at the paced rate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now_ns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namespace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std::chrono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steady_clock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now</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time_since_epoch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duration_cast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nanoseconds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count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8" name="Text 6"/>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bench.hpp (continued)</a:t>
            </a:r>
            <a:endParaRPr lang="en-US" sz="1100" dirty="0"/>
          </a:p>
        </p:txBody>
      </p:sp>
      <p:sp>
        <p:nvSpPr>
          <p:cNvPr id="9" name="Shape 7"/>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0" name="Text 8"/>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smallest step the clock can show. Latencies below it read as 0:</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on some Windows toolchains steady_clock only ticks every microsecond.</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clock_resolution_ns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best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1'000'000'000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now_ns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now_ns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now_ns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best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best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best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inline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double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percentile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double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static_cast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std::nth_element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begin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begin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end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static_cast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double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push(q, value) and pop(q) adapt each queue to one interface.</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double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throughput_once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start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now_ns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static_cast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v14: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bench.hpp (continued)</a:t>
            </a:r>
            <a:endParaRPr lang="en-US" sz="1100" dirty="0"/>
          </a:p>
        </p:txBody>
      </p:sp>
      <p:sp>
        <p:nvSpPr>
          <p:cNvPr id="5" name="Shape 3"/>
          <p:cNvSpPr/>
          <p:nvPr/>
        </p:nvSpPr>
        <p:spPr>
          <a:xfrm>
            <a:off x="502920" y="1527048"/>
            <a:ext cx="5387188" cy="4733544"/>
          </a:xfrm>
          <a:prstGeom prst="roundRect">
            <a:avLst>
              <a:gd name="adj" fmla="val 966"/>
            </a:avLst>
          </a:prstGeom>
          <a:solidFill>
            <a:srgbClr val="1E2230"/>
          </a:solidFill>
          <a:ln w="12700">
            <a:solidFill>
              <a:srgbClr val="1E2230"/>
            </a:solidFill>
            <a:prstDash val="solid"/>
          </a:ln>
        </p:spPr>
      </p:sp>
      <p:sp>
        <p:nvSpPr>
          <p:cNvPr id="6" name="Text 4"/>
          <p:cNvSpPr txBox="1"/>
          <p:nvPr/>
        </p:nvSpPr>
        <p:spPr>
          <a:xfrm>
            <a:off x="612648"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double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seconds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now_ns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start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1e9</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seconds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1e6</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latency_once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double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per_sec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static_cast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1e9</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per_sec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std::thread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now_ns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now_ns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wait for the send time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now_ns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message: its send time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gap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sent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now_ns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sent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producer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join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MakeQueue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Result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measure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MakeQueue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make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runs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double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per_sec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warm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make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warm-up run, discarded</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bench.hpp (continued)</a:t>
            </a:r>
            <a:endParaRPr lang="en-US" sz="1100" dirty="0"/>
          </a:p>
        </p:txBody>
      </p:sp>
      <p:sp>
        <p:nvSpPr>
          <p:cNvPr id="8" name="Shape 6"/>
          <p:cNvSpPr/>
          <p:nvPr/>
        </p:nvSpPr>
        <p:spPr>
          <a:xfrm>
            <a:off x="6301588" y="1527048"/>
            <a:ext cx="5387188" cy="2935224"/>
          </a:xfrm>
          <a:prstGeom prst="roundRect">
            <a:avLst>
              <a:gd name="adj" fmla="val 1558"/>
            </a:avLst>
          </a:prstGeom>
          <a:solidFill>
            <a:srgbClr val="1E2230"/>
          </a:solidFill>
          <a:ln w="12700">
            <a:solidFill>
              <a:srgbClr val="1E2230"/>
            </a:solidFill>
            <a:prstDash val="solid"/>
          </a:ln>
        </p:spPr>
      </p:sp>
      <p:sp>
        <p:nvSpPr>
          <p:cNvPr id="9" name="Text 7"/>
          <p:cNvSpPr txBox="1"/>
          <p:nvPr/>
        </p:nvSpPr>
        <p:spPr>
          <a:xfrm>
            <a:off x="6411316" y="1645920"/>
            <a:ext cx="5204308" cy="27523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throughput_once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warm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double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runs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make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push_back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throughput_once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q2</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make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latency_once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q2</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per_sec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std::sort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begin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end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Result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million_per_sec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2</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median run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p50_ns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percentile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0.50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p99_ns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percentile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0.99</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p999_ns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percentile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0.999</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res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6301588" y="460857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a:t>
            </a:r>
            <a:endParaRPr lang="en-US" sz="1100" dirty="0"/>
          </a:p>
        </p:txBody>
      </p:sp>
      <p:sp>
        <p:nvSpPr>
          <p:cNvPr id="11" name="Shape 9"/>
          <p:cNvSpPr/>
          <p:nvPr/>
        </p:nvSpPr>
        <p:spPr>
          <a:xfrm>
            <a:off x="6301588" y="4901184"/>
            <a:ext cx="5387188" cy="1436624"/>
          </a:xfrm>
          <a:prstGeom prst="roundRect">
            <a:avLst>
              <a:gd name="adj" fmla="val 3182"/>
            </a:avLst>
          </a:prstGeom>
          <a:solidFill>
            <a:srgbClr val="1E2230"/>
          </a:solidFill>
          <a:ln w="12700">
            <a:solidFill>
              <a:srgbClr val="1E2230"/>
            </a:solidFill>
            <a:prstDash val="solid"/>
          </a:ln>
        </p:spPr>
      </p:sp>
      <p:sp>
        <p:nvSpPr>
          <p:cNvPr id="12" name="Text 10"/>
          <p:cNvSpPr txBox="1"/>
          <p:nvPr/>
        </p:nvSpPr>
        <p:spPr>
          <a:xfrm>
            <a:off x="6411316" y="5020056"/>
            <a:ext cx="5204308" cy="125374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v7 · Generic queue&lt;T&gt;</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Values are moved in and out, so move-only types (unique_ptr, tasks)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work and no item can be lost to a throwing copy.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v14: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5" name="Shape 3"/>
          <p:cNvSpPr/>
          <p:nvPr/>
        </p:nvSpPr>
        <p:spPr>
          <a:xfrm>
            <a:off x="502920" y="1527048"/>
            <a:ext cx="5387188" cy="4733544"/>
          </a:xfrm>
          <a:prstGeom prst="roundRect">
            <a:avLst>
              <a:gd name="adj" fmla="val 966"/>
            </a:avLst>
          </a:prstGeom>
          <a:solidFill>
            <a:srgbClr val="1E2230"/>
          </a:solidFill>
          <a:ln w="12700">
            <a:solidFill>
              <a:srgbClr val="1E2230"/>
            </a:solidFill>
            <a:prstDash val="solid"/>
          </a:ln>
        </p:spPr>
      </p:sp>
      <p:sp>
        <p:nvSpPr>
          <p:cNvPr id="6" name="Text 4"/>
          <p:cNvSpPr txBox="1"/>
          <p:nvPr/>
        </p:nvSpPr>
        <p:spPr>
          <a:xfrm>
            <a:off x="612648"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utility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mutable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caller holds 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by value, then moved in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std::vector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8" name="Shape 6"/>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9" name="Text 7"/>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push_locked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closed and drained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move_all_to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this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v14: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queue.hpp (continued)</a:t>
            </a:r>
            <a:endParaRPr lang="en-US" sz="1100" dirty="0"/>
          </a:p>
        </p:txBody>
      </p:sp>
      <p:sp>
        <p:nvSpPr>
          <p:cNvPr id="5" name="Shape 3"/>
          <p:cNvSpPr/>
          <p:nvPr/>
        </p:nvSpPr>
        <p:spPr>
          <a:xfrm>
            <a:off x="502920" y="1527048"/>
            <a:ext cx="5387188" cy="4583684"/>
          </a:xfrm>
          <a:prstGeom prst="roundRect">
            <a:avLst>
              <a:gd name="adj" fmla="val 997"/>
            </a:avLst>
          </a:prstGeom>
          <a:solidFill>
            <a:srgbClr val="1E2230"/>
          </a:solidFill>
          <a:ln w="12700">
            <a:solidFill>
              <a:srgbClr val="1E2230"/>
            </a:solidFill>
            <a:prstDash val="solid"/>
          </a:ln>
        </p:spPr>
      </p:sp>
      <p:sp>
        <p:nvSpPr>
          <p:cNvPr id="6" name="Text 4"/>
          <p:cNvSpPr txBox="1"/>
          <p:nvPr/>
        </p:nvSpPr>
        <p:spPr>
          <a:xfrm>
            <a:off x="612648" y="1645920"/>
            <a:ext cx="5204308" cy="44008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std::scoped_lock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front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other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spsc_ring.hpp</a:t>
            </a:r>
            <a:endParaRPr lang="en-US" sz="1100" dirty="0"/>
          </a:p>
        </p:txBody>
      </p:sp>
      <p:sp>
        <p:nvSpPr>
          <p:cNvPr id="8" name="Shape 6"/>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9" name="Text 7"/>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v13 · Lock-free SPSC ring buffer</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Exactly ONE producer thread and ONE consumer thread. No locks, no</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allocation after construction. The producer owns 'tail', the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consumer owns 'head'; each only reads the other's index.</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array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cstddef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utility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N: a power of two</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SpscRing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static_assert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2</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"N: power of two"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Each index on its own 64-byte cache line, so the producer</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writing 'tail' doesn't keep stealing the line holding 'head'.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next to read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next to write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alignas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64</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std::array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slots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producer thread only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std::memory_order_acquire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full</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slots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store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std::memory_order_release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publish</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v14: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spsc_ring.hpp (continued)</a:t>
            </a:r>
            <a:endParaRPr lang="en-US" sz="1100" dirty="0"/>
          </a:p>
        </p:txBody>
      </p:sp>
      <p:sp>
        <p:nvSpPr>
          <p:cNvPr id="5" name="Shape 3"/>
          <p:cNvSpPr/>
          <p:nvPr/>
        </p:nvSpPr>
        <p:spPr>
          <a:xfrm>
            <a:off x="502920" y="1527048"/>
            <a:ext cx="5387188" cy="2335784"/>
          </a:xfrm>
          <a:prstGeom prst="roundRect">
            <a:avLst>
              <a:gd name="adj" fmla="val 1957"/>
            </a:avLst>
          </a:prstGeom>
          <a:solidFill>
            <a:srgbClr val="1E2230"/>
          </a:solidFill>
          <a:ln w="12700">
            <a:solidFill>
              <a:srgbClr val="1E2230"/>
            </a:solidFill>
            <a:prstDash val="solid"/>
          </a:ln>
        </p:spPr>
      </p:sp>
      <p:sp>
        <p:nvSpPr>
          <p:cNvPr id="6" name="Text 4"/>
          <p:cNvSpPr txBox="1"/>
          <p:nvPr/>
        </p:nvSpPr>
        <p:spPr>
          <a:xfrm>
            <a:off x="612648" y="1645920"/>
            <a:ext cx="5204308" cy="215290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consumer thread only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std::memory_order_relaxed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std::memory_order_acquire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empty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slots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store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std::memory_order_release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free slot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size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 snapshot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std::memory_order_acquire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std::memory_order_acquire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502920" y="400913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two_lock_queue.hpp</a:t>
            </a:r>
            <a:endParaRPr lang="en-US" sz="1100" dirty="0"/>
          </a:p>
        </p:txBody>
      </p:sp>
      <p:sp>
        <p:nvSpPr>
          <p:cNvPr id="8" name="Shape 6"/>
          <p:cNvSpPr/>
          <p:nvPr/>
        </p:nvSpPr>
        <p:spPr>
          <a:xfrm>
            <a:off x="502920" y="4301744"/>
            <a:ext cx="5387188" cy="2036064"/>
          </a:xfrm>
          <a:prstGeom prst="roundRect">
            <a:avLst>
              <a:gd name="adj" fmla="val 2246"/>
            </a:avLst>
          </a:prstGeom>
          <a:solidFill>
            <a:srgbClr val="1E2230"/>
          </a:solidFill>
          <a:ln w="12700">
            <a:solidFill>
              <a:srgbClr val="1E2230"/>
            </a:solidFill>
            <a:prstDash val="solid"/>
          </a:ln>
        </p:spPr>
      </p:sp>
      <p:sp>
        <p:nvSpPr>
          <p:cNvPr id="9" name="Text 7"/>
          <p:cNvSpPr txBox="1"/>
          <p:nvPr/>
        </p:nvSpPr>
        <p:spPr>
          <a:xfrm>
            <a:off x="612648" y="4420616"/>
            <a:ext cx="5204308" cy="185318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pragma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once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v12 · Two-lock queue</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 singly linked list with a dummy node at the end. Producers lock</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only the tail, consumers only the head, so a push and a pop can run</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at the same time (Williams, C++ Concurrency in Action, chapter 6).</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memory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utility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p:txBody>
      </p:sp>
      <p:sp>
        <p:nvSpPr>
          <p:cNvPr id="10" name="Text 8"/>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two_lock_queue.hpp (continued)</a:t>
            </a:r>
            <a:endParaRPr lang="en-US" sz="1100" dirty="0"/>
          </a:p>
        </p:txBody>
      </p:sp>
      <p:sp>
        <p:nvSpPr>
          <p:cNvPr id="11" name="Shape 9"/>
          <p:cNvSpPr/>
          <p:nvPr/>
        </p:nvSpPr>
        <p:spPr>
          <a:xfrm>
            <a:off x="6301588" y="1527048"/>
            <a:ext cx="5387188" cy="4733544"/>
          </a:xfrm>
          <a:prstGeom prst="roundRect">
            <a:avLst>
              <a:gd name="adj" fmla="val 966"/>
            </a:avLst>
          </a:prstGeom>
          <a:solidFill>
            <a:srgbClr val="1E2230"/>
          </a:solidFill>
          <a:ln w="12700">
            <a:solidFill>
              <a:srgbClr val="1E2230"/>
            </a:solidFill>
            <a:prstDash val="solid"/>
          </a:ln>
        </p:spPr>
      </p:sp>
      <p:sp>
        <p:nvSpPr>
          <p:cNvPr id="12" name="Text 10"/>
          <p:cNvSpPr txBox="1"/>
          <p:nvPr/>
        </p:nvSpPr>
        <p:spPr>
          <a:xfrm>
            <a:off x="6411316"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template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class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struct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empty in the dummy node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std::unique_ptr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std::unique_ptr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head_m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guarded by tail_m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std::condition_variable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waits under head_m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std::atomic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get_tail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has_items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caller holds head_m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get_tail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pop_head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caller holds head_m</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frees the old first node</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public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v14: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two_lock_queue.hpp (continued)</a:t>
            </a:r>
            <a:endParaRPr lang="en-US" sz="1100" dirty="0"/>
          </a:p>
        </p:txBody>
      </p:sp>
      <p:sp>
        <p:nvSpPr>
          <p:cNvPr id="5" name="Shape 3"/>
          <p:cNvSpPr/>
          <p:nvPr/>
        </p:nvSpPr>
        <p:spPr>
          <a:xfrm>
            <a:off x="502920" y="1527048"/>
            <a:ext cx="5387188" cy="4733544"/>
          </a:xfrm>
          <a:prstGeom prst="roundRect">
            <a:avLst>
              <a:gd name="adj" fmla="val 966"/>
            </a:avLst>
          </a:prstGeom>
          <a:solidFill>
            <a:srgbClr val="1E2230"/>
          </a:solidFill>
          <a:ln w="12700">
            <a:solidFill>
              <a:srgbClr val="1E2230"/>
            </a:solidFill>
            <a:prstDash val="solid"/>
          </a:ln>
        </p:spPr>
      </p:sp>
      <p:sp>
        <p:nvSpPr>
          <p:cNvPr id="6" name="Text 4"/>
          <p:cNvSpPr txBox="1"/>
          <p:nvPr/>
        </p:nvSpPr>
        <p:spPr>
          <a:xfrm>
            <a:off x="612648" y="1645920"/>
            <a:ext cx="5204308" cy="455066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std::make_unique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operator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delete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 loop, not recursion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std::make_unique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no lock held yet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value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old dummy gets it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Node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get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next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std::move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dummy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new_tail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the new node is the dummy</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see below</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notify_one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two_lock_queue.hpp (continued)</a:t>
            </a:r>
            <a:endParaRPr lang="en-US" sz="1100" dirty="0"/>
          </a:p>
        </p:txBody>
      </p:sp>
      <p:sp>
        <p:nvSpPr>
          <p:cNvPr id="8" name="Shape 6"/>
          <p:cNvSpPr/>
          <p:nvPr/>
        </p:nvSpPr>
        <p:spPr>
          <a:xfrm>
            <a:off x="6301588" y="1527048"/>
            <a:ext cx="5387188" cy="4134104"/>
          </a:xfrm>
          <a:prstGeom prst="roundRect">
            <a:avLst>
              <a:gd name="adj" fmla="val 1106"/>
            </a:avLst>
          </a:prstGeom>
          <a:solidFill>
            <a:srgbClr val="1E2230"/>
          </a:solidFill>
          <a:ln w="12700">
            <a:solidFill>
              <a:srgbClr val="1E2230"/>
            </a:solidFill>
            <a:prstDash val="solid"/>
          </a:ln>
        </p:spPr>
      </p:sp>
      <p:sp>
        <p:nvSpPr>
          <p:cNvPr id="9" name="Text 7"/>
          <p:cNvSpPr txBox="1"/>
          <p:nvPr/>
        </p:nvSpPr>
        <p:spPr>
          <a:xfrm>
            <a:off x="6411316" y="1645920"/>
            <a:ext cx="5204308" cy="39512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has_items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false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out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pop_head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std::optional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std::unique_lock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has_items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has_items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closed and drained</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std::nullopt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pop_head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shutdown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closed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true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notify_all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bool</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empty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std::lock_guard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std::mutex</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lock</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head_m</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has_items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v14: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two_lock_queue.hpp (continued)</a:t>
            </a:r>
            <a:endParaRPr lang="en-US" sz="1100" dirty="0"/>
          </a:p>
        </p:txBody>
      </p:sp>
      <p:sp>
        <p:nvSpPr>
          <p:cNvPr id="5" name="Shape 3"/>
          <p:cNvSpPr/>
          <p:nvPr/>
        </p:nvSpPr>
        <p:spPr>
          <a:xfrm>
            <a:off x="502920" y="1527048"/>
            <a:ext cx="5387188" cy="1136904"/>
          </a:xfrm>
          <a:prstGeom prst="roundRect">
            <a:avLst>
              <a:gd name="adj" fmla="val 4021"/>
            </a:avLst>
          </a:prstGeom>
          <a:solidFill>
            <a:srgbClr val="1E2230"/>
          </a:solidFill>
          <a:ln w="12700">
            <a:solidFill>
              <a:srgbClr val="1E2230"/>
            </a:solidFill>
            <a:prstDash val="solid"/>
          </a:ln>
        </p:spPr>
      </p:sp>
      <p:sp>
        <p:nvSpPr>
          <p:cNvPr id="6" name="Text 4"/>
          <p:cNvSpPr txBox="1"/>
          <p:nvPr/>
        </p:nvSpPr>
        <p:spPr>
          <a:xfrm>
            <a:off x="612648" y="1645920"/>
            <a:ext cx="5204308" cy="9540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Why push() briefly locks head_m before notifying: a consumer checks</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for data while holding head_m and only then goes to sleep. Taking</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head_m in push() means the notify cannot slip in between that check</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and the sleep, which would lose the wake-up.</a:t>
            </a:r>
            <a:endParaRPr lang="en-US" sz="1000" dirty="0"/>
          </a:p>
        </p:txBody>
      </p:sp>
      <p:sp>
        <p:nvSpPr>
          <p:cNvPr id="7" name="Text 5"/>
          <p:cNvSpPr txBox="1"/>
          <p:nvPr/>
        </p:nvSpPr>
        <p:spPr>
          <a:xfrm>
            <a:off x="502920" y="2810256"/>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bench.cpp</a:t>
            </a:r>
            <a:endParaRPr lang="en-US" sz="1100" dirty="0"/>
          </a:p>
        </p:txBody>
      </p:sp>
      <p:sp>
        <p:nvSpPr>
          <p:cNvPr id="8" name="Shape 6"/>
          <p:cNvSpPr/>
          <p:nvPr/>
        </p:nvSpPr>
        <p:spPr>
          <a:xfrm>
            <a:off x="502920" y="3102864"/>
            <a:ext cx="5387188" cy="3234944"/>
          </a:xfrm>
          <a:prstGeom prst="roundRect">
            <a:avLst>
              <a:gd name="adj" fmla="val 1413"/>
            </a:avLst>
          </a:prstGeom>
          <a:solidFill>
            <a:srgbClr val="1E2230"/>
          </a:solidFill>
          <a:ln w="12700">
            <a:solidFill>
              <a:srgbClr val="1E2230"/>
            </a:solidFill>
            <a:prstDash val="solid"/>
          </a:ln>
        </p:spPr>
      </p:sp>
      <p:sp>
        <p:nvSpPr>
          <p:cNvPr id="9" name="Text 7"/>
          <p:cNvSpPr txBox="1"/>
          <p:nvPr/>
        </p:nvSpPr>
        <p:spPr>
          <a:xfrm>
            <a:off x="612648" y="3221736"/>
            <a:ext cx="5204308" cy="3052064"/>
          </a:xfrm>
          <a:prstGeom prst="rect">
            <a:avLst/>
          </a:prstGeom>
          <a:noFill/>
          <a:ln/>
        </p:spPr>
        <p:txBody>
          <a:bodyPr wrap="square" lIns="0" tIns="0" rIns="0" bIns="0" rtlCol="0" anchor="t"/>
          <a:lstStyle/>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v14: one producer, one consumer, three queues. Build with -O2:</a:t>
            </a:r>
            <a:endParaRPr lang="en-US" sz="1000" dirty="0"/>
          </a:p>
          <a:p>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g++ -std=c++20 -O2 -pthread bench.cpp -o bench &amp;&amp; ./bench</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cstdio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memory</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"bench.hpp"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"spsc_ring.hpp"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include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"two_lock_queue.hpp"</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Msg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std::int64_t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void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print_row</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char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name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Result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std::printf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"%-22s %9.2f %9.0f %9.0f %9.0f\n"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name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million_per_sec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p50_ns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p99_ns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p999_ns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main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std::size_t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2'000'000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messages per throughput run</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int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runs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5</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const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double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500'000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7F8AA3"/>
                </a:solidFill>
                <a:latin typeface="Consolas" pitchFamily="34" charset="0"/>
                <a:ea typeface="Consolas" pitchFamily="34" charset="-122"/>
                <a:cs typeface="Consolas" pitchFamily="34" charset="-120"/>
              </a:rPr>
              <a:t>// latency runs: msg/s</a:t>
            </a:r>
            <a:endParaRPr lang="en-US" sz="1000" dirty="0"/>
          </a:p>
        </p:txBody>
      </p:sp>
      <p:sp>
        <p:nvSpPr>
          <p:cNvPr id="10" name="Text 8"/>
          <p:cNvSpPr txBox="1"/>
          <p:nvPr/>
        </p:nvSpPr>
        <p:spPr>
          <a:xfrm>
            <a:off x="6301588"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bench.cpp (continued)</a:t>
            </a:r>
            <a:endParaRPr lang="en-US" sz="1100" dirty="0"/>
          </a:p>
        </p:txBody>
      </p:sp>
      <p:sp>
        <p:nvSpPr>
          <p:cNvPr id="11" name="Shape 9"/>
          <p:cNvSpPr/>
          <p:nvPr/>
        </p:nvSpPr>
        <p:spPr>
          <a:xfrm>
            <a:off x="6301588" y="1527048"/>
            <a:ext cx="5387188" cy="4134104"/>
          </a:xfrm>
          <a:prstGeom prst="roundRect">
            <a:avLst>
              <a:gd name="adj" fmla="val 1106"/>
            </a:avLst>
          </a:prstGeom>
          <a:solidFill>
            <a:srgbClr val="1E2230"/>
          </a:solidFill>
          <a:ln w="12700">
            <a:solidFill>
              <a:srgbClr val="1E2230"/>
            </a:solidFill>
            <a:prstDash val="solid"/>
          </a:ln>
        </p:spPr>
      </p:sp>
      <p:sp>
        <p:nvSpPr>
          <p:cNvPr id="12" name="Text 10"/>
          <p:cNvSpPr txBox="1"/>
          <p:nvPr/>
        </p:nvSpPr>
        <p:spPr>
          <a:xfrm>
            <a:off x="6411316" y="1645920"/>
            <a:ext cx="5204308" cy="39512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block_push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Msg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block_pop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wait_and_pop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spin_push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Msg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spin_pop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&amp;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Msg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while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q</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try_pop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v</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ThreadSafeQueue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Msg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TwoLockQueue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Msg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using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SpscRing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Msg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78C6C"/>
                </a:solidFill>
                <a:latin typeface="Consolas" pitchFamily="34" charset="0"/>
                <a:ea typeface="Consolas" pitchFamily="34" charset="-122"/>
                <a:cs typeface="Consolas" pitchFamily="34" charset="-120"/>
              </a:rPr>
              <a:t>4096</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make_a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std::make_unique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make_b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std::make_unique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auto</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make_c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std::make_unique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QueueC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Result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measure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make_a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runs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block_push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block_pop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Result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measure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make_b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runs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block_push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block_pop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Result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measure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make_c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runs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rate</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spin_push</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spin_pop</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std::printf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"clock resolution: %lld ns (below that reads as 0)\n\n"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static_cast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&lt;</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792EA"/>
                </a:solidFill>
                <a:latin typeface="Consolas" pitchFamily="34" charset="0"/>
                <a:ea typeface="Consolas" pitchFamily="34" charset="-122"/>
                <a:cs typeface="Consolas" pitchFamily="34" charset="-120"/>
              </a:rPr>
              <a:t>long</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&gt;(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clock_resolution_ns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std::printf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"%-22s %9s   latency at 500k msg/s, ns\n"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"M msg/s"</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txBox="1"/>
          <p:nvPr/>
        </p:nvSpPr>
        <p:spPr>
          <a:xfrm>
            <a:off x="502920" y="228600"/>
            <a:ext cx="2743200" cy="256032"/>
          </a:xfrm>
          <a:prstGeom prst="rect">
            <a:avLst/>
          </a:prstGeom>
          <a:noFill/>
          <a:ln/>
        </p:spPr>
        <p:txBody>
          <a:bodyPr wrap="square" lIns="0" tIns="0" rIns="0" bIns="0" rtlCol="0" anchor="ctr"/>
          <a:lstStyle/>
          <a:p>
            <a:pPr indent="0" marL="0">
              <a:buNone/>
            </a:pPr>
            <a:r>
              <a:rPr lang="en-US" sz="1300" b="1" dirty="0">
                <a:solidFill>
                  <a:srgbClr val="B4501A"/>
                </a:solidFill>
                <a:latin typeface="Calibri" pitchFamily="34" charset="0"/>
                <a:ea typeface="Calibri" pitchFamily="34" charset="-122"/>
                <a:cs typeface="Calibri" pitchFamily="34" charset="-120"/>
              </a:rPr>
              <a:t>v14</a:t>
            </a:r>
            <a:endParaRPr lang="en-US" sz="1300" dirty="0"/>
          </a:p>
        </p:txBody>
      </p:sp>
      <p:sp>
        <p:nvSpPr>
          <p:cNvPr id="3"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v14: the complete code</a:t>
            </a:r>
            <a:endParaRPr lang="en-US" sz="2600" dirty="0"/>
          </a:p>
        </p:txBody>
      </p:sp>
      <p:sp>
        <p:nvSpPr>
          <p:cNvPr id="4" name="Text 2"/>
          <p:cNvSpPr txBox="1"/>
          <p:nvPr/>
        </p:nvSpPr>
        <p:spPr>
          <a:xfrm>
            <a:off x="502920" y="1234440"/>
            <a:ext cx="5387188" cy="237744"/>
          </a:xfrm>
          <a:prstGeom prst="rect">
            <a:avLst/>
          </a:prstGeom>
          <a:noFill/>
          <a:ln/>
        </p:spPr>
        <p:txBody>
          <a:bodyPr wrap="square" lIns="0" tIns="0" rIns="0" bIns="0" rtlCol="0" anchor="ctr"/>
          <a:lstStyle/>
          <a:p>
            <a:pPr indent="0" marL="0">
              <a:buNone/>
            </a:pPr>
            <a:r>
              <a:rPr lang="en-US" sz="1100" b="1" dirty="0">
                <a:solidFill>
                  <a:srgbClr val="B4501A"/>
                </a:solidFill>
                <a:latin typeface="Consolas" pitchFamily="34" charset="0"/>
                <a:ea typeface="Consolas" pitchFamily="34" charset="-122"/>
                <a:cs typeface="Consolas" pitchFamily="34" charset="-120"/>
              </a:rPr>
              <a:t>bench.cpp (continued)</a:t>
            </a:r>
            <a:endParaRPr lang="en-US" sz="1100" dirty="0"/>
          </a:p>
        </p:txBody>
      </p:sp>
      <p:sp>
        <p:nvSpPr>
          <p:cNvPr id="5" name="Shape 3"/>
          <p:cNvSpPr/>
          <p:nvPr/>
        </p:nvSpPr>
        <p:spPr>
          <a:xfrm>
            <a:off x="502920" y="1527048"/>
            <a:ext cx="5387188" cy="1136904"/>
          </a:xfrm>
          <a:prstGeom prst="roundRect">
            <a:avLst>
              <a:gd name="adj" fmla="val 4021"/>
            </a:avLst>
          </a:prstGeom>
          <a:solidFill>
            <a:srgbClr val="1E2230"/>
          </a:solidFill>
          <a:ln w="12700">
            <a:solidFill>
              <a:srgbClr val="1E2230"/>
            </a:solidFill>
            <a:prstDash val="solid"/>
          </a:ln>
        </p:spPr>
      </p:sp>
      <p:sp>
        <p:nvSpPr>
          <p:cNvPr id="6" name="Text 4"/>
          <p:cNvSpPr txBox="1"/>
          <p:nvPr/>
        </p:nvSpPr>
        <p:spPr>
          <a:xfrm>
            <a:off x="612648" y="1645920"/>
            <a:ext cx="5204308" cy="954024"/>
          </a:xfrm>
          <a:prstGeom prst="rect">
            <a:avLst/>
          </a:prstGeom>
          <a:noFill/>
          <a:ln/>
        </p:spPr>
        <p:txBody>
          <a:bodyPr wrap="square" lIns="0" tIns="0" rIns="0" bIns="0" rtlCol="0" anchor="t"/>
          <a:lstStyle/>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82AAFF"/>
                </a:solidFill>
                <a:latin typeface="Consolas" pitchFamily="34" charset="0"/>
                <a:ea typeface="Consolas" pitchFamily="34" charset="-122"/>
                <a:cs typeface="Consolas" pitchFamily="34" charset="-120"/>
              </a:rPr>
              <a:t>std::printf</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"%-22s %9s %9s %9s %9s\n"</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"queue (1P/1C)"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"saturated"</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"p50"</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"p99"</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"p99.9"</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print_row</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"ThreadSafeQueue (v7)"</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print_row</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"TwoLockQueue (v12)"</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b</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print_row</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C3E88D"/>
                </a:solidFill>
                <a:latin typeface="Consolas" pitchFamily="34" charset="0"/>
                <a:ea typeface="Consolas" pitchFamily="34" charset="-122"/>
                <a:cs typeface="Consolas" pitchFamily="34" charset="-120"/>
              </a:rPr>
              <a:t>"SpscRing (v13)"</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c</a:t>
            </a:r>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4E7EE"/>
                </a:solidFill>
                <a:latin typeface="Consolas" pitchFamily="34" charset="0"/>
                <a:ea typeface="Consolas" pitchFamily="34" charset="-122"/>
                <a:cs typeface="Consolas" pitchFamily="34" charset="-120"/>
              </a:rPr>
              <a:t>}</a:t>
            </a:r>
            <a:endParaRPr lang="en-US" sz="10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ph idx="100" type="title" hasCustomPrompt="1"/>
          </p:nvPr>
        </p:nvSpPr>
        <p:spPr>
          <a:xfrm>
            <a:off x="502920" y="502920"/>
            <a:ext cx="11185855" cy="548640"/>
          </a:xfrm>
          <a:prstGeom prst="rect">
            <a:avLst/>
          </a:prstGeom>
          <a:noFill/>
          <a:ln/>
        </p:spPr>
        <p:txBody>
          <a:bodyPr wrap="square" lIns="0" tIns="0" rIns="0" bIns="0" rtlCol="0" anchor="t"/>
          <a:lstStyle/>
          <a:p>
            <a:pPr algn="l" indent="0" marL="0">
              <a:buNone/>
            </a:pPr>
            <a:r>
              <a:rPr lang="en-US" sz="2600" b="1" dirty="0">
                <a:solidFill>
                  <a:srgbClr val="1C2430"/>
                </a:solidFill>
                <a:latin typeface="Cambria" pitchFamily="34" charset="0"/>
                <a:ea typeface="Cambria" pitchFamily="34" charset="-122"/>
                <a:cs typeface="Cambria" pitchFamily="34" charset="-120"/>
              </a:rPr>
              <a:t>Each tool and the bug that made us need it</a:t>
            </a:r>
            <a:endParaRPr lang="en-US" sz="2600" dirty="0"/>
          </a:p>
        </p:txBody>
      </p:sp>
      <p:sp>
        <p:nvSpPr>
          <p:cNvPr id="3" name="Shape 1"/>
          <p:cNvSpPr/>
          <p:nvPr/>
        </p:nvSpPr>
        <p:spPr>
          <a:xfrm>
            <a:off x="502920" y="1325880"/>
            <a:ext cx="3576218" cy="1005840"/>
          </a:xfrm>
          <a:prstGeom prst="roundRect">
            <a:avLst>
              <a:gd name="adj" fmla="val 5455"/>
            </a:avLst>
          </a:prstGeom>
          <a:solidFill>
            <a:srgbClr val="F1F4F7"/>
          </a:solidFill>
          <a:ln w="12700">
            <a:solidFill>
              <a:srgbClr val="F1F4F7"/>
            </a:solidFill>
            <a:prstDash val="solid"/>
          </a:ln>
        </p:spPr>
      </p:sp>
      <p:sp>
        <p:nvSpPr>
          <p:cNvPr id="4" name="Text 2"/>
          <p:cNvSpPr txBox="1"/>
          <p:nvPr/>
        </p:nvSpPr>
        <p:spPr>
          <a:xfrm>
            <a:off x="731520"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lost update</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mutex</a:t>
            </a:r>
            <a:endParaRPr lang="en-US" sz="1600" dirty="0"/>
          </a:p>
        </p:txBody>
      </p:sp>
      <p:sp>
        <p:nvSpPr>
          <p:cNvPr id="5" name="Text 3"/>
          <p:cNvSpPr txBox="1"/>
          <p:nvPr/>
        </p:nvSpPr>
        <p:spPr>
          <a:xfrm>
            <a:off x="3347618"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v2</a:t>
            </a:r>
            <a:endParaRPr lang="en-US" sz="1400" dirty="0"/>
          </a:p>
        </p:txBody>
      </p:sp>
      <p:sp>
        <p:nvSpPr>
          <p:cNvPr id="6" name="Shape 4"/>
          <p:cNvSpPr/>
          <p:nvPr/>
        </p:nvSpPr>
        <p:spPr>
          <a:xfrm>
            <a:off x="4307738" y="1325880"/>
            <a:ext cx="3576218" cy="1005840"/>
          </a:xfrm>
          <a:prstGeom prst="roundRect">
            <a:avLst>
              <a:gd name="adj" fmla="val 5455"/>
            </a:avLst>
          </a:prstGeom>
          <a:solidFill>
            <a:srgbClr val="F1F4F7"/>
          </a:solidFill>
          <a:ln w="12700">
            <a:solidFill>
              <a:srgbClr val="F1F4F7"/>
            </a:solidFill>
            <a:prstDash val="solid"/>
          </a:ln>
        </p:spPr>
      </p:sp>
      <p:sp>
        <p:nvSpPr>
          <p:cNvPr id="7" name="Text 5"/>
          <p:cNvSpPr txBox="1"/>
          <p:nvPr/>
        </p:nvSpPr>
        <p:spPr>
          <a:xfrm>
            <a:off x="4536338"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forgotten unlock</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lock_guard</a:t>
            </a:r>
            <a:endParaRPr lang="en-US" sz="1600" dirty="0"/>
          </a:p>
        </p:txBody>
      </p:sp>
      <p:sp>
        <p:nvSpPr>
          <p:cNvPr id="8" name="Text 6"/>
          <p:cNvSpPr txBox="1"/>
          <p:nvPr/>
        </p:nvSpPr>
        <p:spPr>
          <a:xfrm>
            <a:off x="7152437"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v3</a:t>
            </a:r>
            <a:endParaRPr lang="en-US" sz="1400" dirty="0"/>
          </a:p>
        </p:txBody>
      </p:sp>
      <p:sp>
        <p:nvSpPr>
          <p:cNvPr id="9" name="Shape 7"/>
          <p:cNvSpPr/>
          <p:nvPr/>
        </p:nvSpPr>
        <p:spPr>
          <a:xfrm>
            <a:off x="8112557" y="1325880"/>
            <a:ext cx="3576218" cy="1005840"/>
          </a:xfrm>
          <a:prstGeom prst="roundRect">
            <a:avLst>
              <a:gd name="adj" fmla="val 5455"/>
            </a:avLst>
          </a:prstGeom>
          <a:solidFill>
            <a:srgbClr val="F1F4F7"/>
          </a:solidFill>
          <a:ln w="12700">
            <a:solidFill>
              <a:srgbClr val="F1F4F7"/>
            </a:solidFill>
            <a:prstDash val="solid"/>
          </a:ln>
        </p:spPr>
      </p:sp>
      <p:sp>
        <p:nvSpPr>
          <p:cNvPr id="10" name="Text 8"/>
          <p:cNvSpPr txBox="1"/>
          <p:nvPr/>
        </p:nvSpPr>
        <p:spPr>
          <a:xfrm>
            <a:off x="8341157" y="1463040"/>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check, then act</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try_pop</a:t>
            </a:r>
            <a:endParaRPr lang="en-US" sz="1600" dirty="0"/>
          </a:p>
        </p:txBody>
      </p:sp>
      <p:sp>
        <p:nvSpPr>
          <p:cNvPr id="11" name="Text 9"/>
          <p:cNvSpPr txBox="1"/>
          <p:nvPr/>
        </p:nvSpPr>
        <p:spPr>
          <a:xfrm>
            <a:off x="10957255" y="1463040"/>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v3</a:t>
            </a:r>
            <a:endParaRPr lang="en-US" sz="1400" dirty="0"/>
          </a:p>
        </p:txBody>
      </p:sp>
      <p:sp>
        <p:nvSpPr>
          <p:cNvPr id="12" name="Shape 10"/>
          <p:cNvSpPr/>
          <p:nvPr/>
        </p:nvSpPr>
        <p:spPr>
          <a:xfrm>
            <a:off x="502920" y="2532888"/>
            <a:ext cx="3576218" cy="1005840"/>
          </a:xfrm>
          <a:prstGeom prst="roundRect">
            <a:avLst>
              <a:gd name="adj" fmla="val 5455"/>
            </a:avLst>
          </a:prstGeom>
          <a:solidFill>
            <a:srgbClr val="F1F4F7"/>
          </a:solidFill>
          <a:ln w="12700">
            <a:solidFill>
              <a:srgbClr val="F1F4F7"/>
            </a:solidFill>
            <a:prstDash val="solid"/>
          </a:ln>
        </p:spPr>
      </p:sp>
      <p:sp>
        <p:nvSpPr>
          <p:cNvPr id="13" name="Text 11"/>
          <p:cNvSpPr txBox="1"/>
          <p:nvPr/>
        </p:nvSpPr>
        <p:spPr>
          <a:xfrm>
            <a:off x="731520"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spinning consumer</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condition_variable</a:t>
            </a:r>
            <a:endParaRPr lang="en-US" sz="1600" dirty="0"/>
          </a:p>
        </p:txBody>
      </p:sp>
      <p:sp>
        <p:nvSpPr>
          <p:cNvPr id="14" name="Text 12"/>
          <p:cNvSpPr txBox="1"/>
          <p:nvPr/>
        </p:nvSpPr>
        <p:spPr>
          <a:xfrm>
            <a:off x="3347618"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v4</a:t>
            </a:r>
            <a:endParaRPr lang="en-US" sz="1400" dirty="0"/>
          </a:p>
        </p:txBody>
      </p:sp>
      <p:sp>
        <p:nvSpPr>
          <p:cNvPr id="15" name="Shape 13"/>
          <p:cNvSpPr/>
          <p:nvPr/>
        </p:nvSpPr>
        <p:spPr>
          <a:xfrm>
            <a:off x="4307738" y="2532888"/>
            <a:ext cx="3576218" cy="1005840"/>
          </a:xfrm>
          <a:prstGeom prst="roundRect">
            <a:avLst>
              <a:gd name="adj" fmla="val 5455"/>
            </a:avLst>
          </a:prstGeom>
          <a:solidFill>
            <a:srgbClr val="F1F4F7"/>
          </a:solidFill>
          <a:ln w="12700">
            <a:solidFill>
              <a:srgbClr val="F1F4F7"/>
            </a:solidFill>
            <a:prstDash val="solid"/>
          </a:ln>
        </p:spPr>
      </p:sp>
      <p:sp>
        <p:nvSpPr>
          <p:cNvPr id="16" name="Text 14"/>
          <p:cNvSpPr txBox="1"/>
          <p:nvPr/>
        </p:nvSpPr>
        <p:spPr>
          <a:xfrm>
            <a:off x="4536338"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opposite locks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scoped_lock</a:t>
            </a:r>
            <a:endParaRPr lang="en-US" sz="1600" dirty="0"/>
          </a:p>
        </p:txBody>
      </p:sp>
      <p:sp>
        <p:nvSpPr>
          <p:cNvPr id="17" name="Text 15"/>
          <p:cNvSpPr txBox="1"/>
          <p:nvPr/>
        </p:nvSpPr>
        <p:spPr>
          <a:xfrm>
            <a:off x="7152437"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v5</a:t>
            </a:r>
            <a:endParaRPr lang="en-US" sz="1400" dirty="0"/>
          </a:p>
        </p:txBody>
      </p:sp>
      <p:sp>
        <p:nvSpPr>
          <p:cNvPr id="18" name="Shape 16"/>
          <p:cNvSpPr/>
          <p:nvPr/>
        </p:nvSpPr>
        <p:spPr>
          <a:xfrm>
            <a:off x="8112557" y="2532888"/>
            <a:ext cx="3576218" cy="1005840"/>
          </a:xfrm>
          <a:prstGeom prst="roundRect">
            <a:avLst>
              <a:gd name="adj" fmla="val 5455"/>
            </a:avLst>
          </a:prstGeom>
          <a:solidFill>
            <a:srgbClr val="F1F4F7"/>
          </a:solidFill>
          <a:ln w="12700">
            <a:solidFill>
              <a:srgbClr val="F1F4F7"/>
            </a:solidFill>
            <a:prstDash val="solid"/>
          </a:ln>
        </p:spPr>
      </p:sp>
      <p:sp>
        <p:nvSpPr>
          <p:cNvPr id="19" name="Text 17"/>
          <p:cNvSpPr txBox="1"/>
          <p:nvPr/>
        </p:nvSpPr>
        <p:spPr>
          <a:xfrm>
            <a:off x="8341157" y="2670048"/>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no way to stop</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closed + notify_all</a:t>
            </a:r>
            <a:endParaRPr lang="en-US" sz="1600" dirty="0"/>
          </a:p>
        </p:txBody>
      </p:sp>
      <p:sp>
        <p:nvSpPr>
          <p:cNvPr id="20" name="Text 18"/>
          <p:cNvSpPr txBox="1"/>
          <p:nvPr/>
        </p:nvSpPr>
        <p:spPr>
          <a:xfrm>
            <a:off x="10957255" y="2670048"/>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v6</a:t>
            </a:r>
            <a:endParaRPr lang="en-US" sz="1400" dirty="0"/>
          </a:p>
        </p:txBody>
      </p:sp>
      <p:sp>
        <p:nvSpPr>
          <p:cNvPr id="21" name="Shape 19"/>
          <p:cNvSpPr/>
          <p:nvPr/>
        </p:nvSpPr>
        <p:spPr>
          <a:xfrm>
            <a:off x="502920" y="3739896"/>
            <a:ext cx="3576218" cy="1005840"/>
          </a:xfrm>
          <a:prstGeom prst="roundRect">
            <a:avLst>
              <a:gd name="adj" fmla="val 5455"/>
            </a:avLst>
          </a:prstGeom>
          <a:solidFill>
            <a:srgbClr val="F1F4F7"/>
          </a:solidFill>
          <a:ln w="12700">
            <a:solidFill>
              <a:srgbClr val="F1F4F7"/>
            </a:solidFill>
            <a:prstDash val="solid"/>
          </a:ln>
        </p:spPr>
      </p:sp>
      <p:sp>
        <p:nvSpPr>
          <p:cNvPr id="22" name="Text 20"/>
          <p:cNvSpPr txBox="1"/>
          <p:nvPr/>
        </p:nvSpPr>
        <p:spPr>
          <a:xfrm>
            <a:off x="731520"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values that can't be copied</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move + optional</a:t>
            </a:r>
            <a:endParaRPr lang="en-US" sz="1600" dirty="0"/>
          </a:p>
        </p:txBody>
      </p:sp>
      <p:sp>
        <p:nvSpPr>
          <p:cNvPr id="23" name="Text 21"/>
          <p:cNvSpPr txBox="1"/>
          <p:nvPr/>
        </p:nvSpPr>
        <p:spPr>
          <a:xfrm>
            <a:off x="3347618"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v7</a:t>
            </a:r>
            <a:endParaRPr lang="en-US" sz="1400" dirty="0"/>
          </a:p>
        </p:txBody>
      </p:sp>
      <p:sp>
        <p:nvSpPr>
          <p:cNvPr id="24" name="Shape 22"/>
          <p:cNvSpPr/>
          <p:nvPr/>
        </p:nvSpPr>
        <p:spPr>
          <a:xfrm>
            <a:off x="4307738" y="3739896"/>
            <a:ext cx="3576218" cy="1005840"/>
          </a:xfrm>
          <a:prstGeom prst="roundRect">
            <a:avLst>
              <a:gd name="adj" fmla="val 5455"/>
            </a:avLst>
          </a:prstGeom>
          <a:solidFill>
            <a:srgbClr val="F1F4F7"/>
          </a:solidFill>
          <a:ln w="12700">
            <a:solidFill>
              <a:srgbClr val="F1F4F7"/>
            </a:solidFill>
            <a:prstDash val="solid"/>
          </a:ln>
        </p:spPr>
      </p:sp>
      <p:sp>
        <p:nvSpPr>
          <p:cNvPr id="25" name="Text 23"/>
          <p:cNvSpPr txBox="1"/>
          <p:nvPr/>
        </p:nvSpPr>
        <p:spPr>
          <a:xfrm>
            <a:off x="4536338"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lost result</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future</a:t>
            </a:r>
            <a:endParaRPr lang="en-US" sz="1600" dirty="0"/>
          </a:p>
        </p:txBody>
      </p:sp>
      <p:sp>
        <p:nvSpPr>
          <p:cNvPr id="26" name="Text 24"/>
          <p:cNvSpPr txBox="1"/>
          <p:nvPr/>
        </p:nvSpPr>
        <p:spPr>
          <a:xfrm>
            <a:off x="7152437"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v10</a:t>
            </a:r>
            <a:endParaRPr lang="en-US" sz="1400" dirty="0"/>
          </a:p>
        </p:txBody>
      </p:sp>
      <p:sp>
        <p:nvSpPr>
          <p:cNvPr id="27" name="Shape 25"/>
          <p:cNvSpPr/>
          <p:nvPr/>
        </p:nvSpPr>
        <p:spPr>
          <a:xfrm>
            <a:off x="8112557" y="3739896"/>
            <a:ext cx="3576218" cy="1005840"/>
          </a:xfrm>
          <a:prstGeom prst="roundRect">
            <a:avLst>
              <a:gd name="adj" fmla="val 5455"/>
            </a:avLst>
          </a:prstGeom>
          <a:solidFill>
            <a:srgbClr val="F1F4F7"/>
          </a:solidFill>
          <a:ln w="12700">
            <a:solidFill>
              <a:srgbClr val="F1F4F7"/>
            </a:solidFill>
            <a:prstDash val="solid"/>
          </a:ln>
        </p:spPr>
      </p:sp>
      <p:sp>
        <p:nvSpPr>
          <p:cNvPr id="28" name="Text 26"/>
          <p:cNvSpPr txBox="1"/>
          <p:nvPr/>
        </p:nvSpPr>
        <p:spPr>
          <a:xfrm>
            <a:off x="8341157" y="3877056"/>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tasks waiting on tasks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wait_helping</a:t>
            </a:r>
            <a:endParaRPr lang="en-US" sz="1600" dirty="0"/>
          </a:p>
        </p:txBody>
      </p:sp>
      <p:sp>
        <p:nvSpPr>
          <p:cNvPr id="29" name="Text 27"/>
          <p:cNvSpPr txBox="1"/>
          <p:nvPr/>
        </p:nvSpPr>
        <p:spPr>
          <a:xfrm>
            <a:off x="10957255" y="3877056"/>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v10</a:t>
            </a:r>
            <a:endParaRPr lang="en-US" sz="1400" dirty="0"/>
          </a:p>
        </p:txBody>
      </p:sp>
      <p:sp>
        <p:nvSpPr>
          <p:cNvPr id="30" name="Shape 28"/>
          <p:cNvSpPr/>
          <p:nvPr/>
        </p:nvSpPr>
        <p:spPr>
          <a:xfrm>
            <a:off x="502920" y="4946904"/>
            <a:ext cx="3576218" cy="1005840"/>
          </a:xfrm>
          <a:prstGeom prst="roundRect">
            <a:avLst>
              <a:gd name="adj" fmla="val 5455"/>
            </a:avLst>
          </a:prstGeom>
          <a:solidFill>
            <a:srgbClr val="F1F4F7"/>
          </a:solidFill>
          <a:ln w="12700">
            <a:solidFill>
              <a:srgbClr val="F1F4F7"/>
            </a:solidFill>
            <a:prstDash val="solid"/>
          </a:ln>
        </p:spPr>
      </p:sp>
      <p:sp>
        <p:nvSpPr>
          <p:cNvPr id="31" name="Text 29"/>
          <p:cNvSpPr txBox="1"/>
          <p:nvPr/>
        </p:nvSpPr>
        <p:spPr>
          <a:xfrm>
            <a:off x="731520"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contended counter</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atomic</a:t>
            </a:r>
            <a:endParaRPr lang="en-US" sz="1600" dirty="0"/>
          </a:p>
        </p:txBody>
      </p:sp>
      <p:sp>
        <p:nvSpPr>
          <p:cNvPr id="32" name="Text 30"/>
          <p:cNvSpPr txBox="1"/>
          <p:nvPr/>
        </p:nvSpPr>
        <p:spPr>
          <a:xfrm>
            <a:off x="3347618"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v11</a:t>
            </a:r>
            <a:endParaRPr lang="en-US" sz="1400" dirty="0"/>
          </a:p>
        </p:txBody>
      </p:sp>
      <p:sp>
        <p:nvSpPr>
          <p:cNvPr id="33" name="Shape 31"/>
          <p:cNvSpPr/>
          <p:nvPr/>
        </p:nvSpPr>
        <p:spPr>
          <a:xfrm>
            <a:off x="4307738" y="4946904"/>
            <a:ext cx="3576218" cy="1005840"/>
          </a:xfrm>
          <a:prstGeom prst="roundRect">
            <a:avLst>
              <a:gd name="adj" fmla="val 5455"/>
            </a:avLst>
          </a:prstGeom>
          <a:solidFill>
            <a:srgbClr val="F1F4F7"/>
          </a:solidFill>
          <a:ln w="12700">
            <a:solidFill>
              <a:srgbClr val="F1F4F7"/>
            </a:solidFill>
            <a:prstDash val="solid"/>
          </a:ln>
        </p:spPr>
      </p:sp>
      <p:sp>
        <p:nvSpPr>
          <p:cNvPr id="34" name="Text 32"/>
          <p:cNvSpPr txBox="1"/>
          <p:nvPr/>
        </p:nvSpPr>
        <p:spPr>
          <a:xfrm>
            <a:off x="4536338"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slow hand-off</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SPSC ring</a:t>
            </a:r>
            <a:endParaRPr lang="en-US" sz="1600" dirty="0"/>
          </a:p>
        </p:txBody>
      </p:sp>
      <p:sp>
        <p:nvSpPr>
          <p:cNvPr id="35" name="Text 33"/>
          <p:cNvSpPr txBox="1"/>
          <p:nvPr/>
        </p:nvSpPr>
        <p:spPr>
          <a:xfrm>
            <a:off x="7152437"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v13</a:t>
            </a:r>
            <a:endParaRPr lang="en-US" sz="1400" dirty="0"/>
          </a:p>
        </p:txBody>
      </p:sp>
      <p:sp>
        <p:nvSpPr>
          <p:cNvPr id="36" name="Shape 34"/>
          <p:cNvSpPr/>
          <p:nvPr/>
        </p:nvSpPr>
        <p:spPr>
          <a:xfrm>
            <a:off x="8112557" y="4946904"/>
            <a:ext cx="3576218" cy="1005840"/>
          </a:xfrm>
          <a:prstGeom prst="roundRect">
            <a:avLst>
              <a:gd name="adj" fmla="val 5455"/>
            </a:avLst>
          </a:prstGeom>
          <a:solidFill>
            <a:srgbClr val="F1F4F7"/>
          </a:solidFill>
          <a:ln w="12700">
            <a:solidFill>
              <a:srgbClr val="F1F4F7"/>
            </a:solidFill>
            <a:prstDash val="solid"/>
          </a:ln>
        </p:spPr>
      </p:sp>
      <p:sp>
        <p:nvSpPr>
          <p:cNvPr id="37" name="Text 35"/>
          <p:cNvSpPr txBox="1"/>
          <p:nvPr/>
        </p:nvSpPr>
        <p:spPr>
          <a:xfrm>
            <a:off x="8341157" y="5084064"/>
            <a:ext cx="2661818" cy="731520"/>
          </a:xfrm>
          <a:prstGeom prst="rect">
            <a:avLst/>
          </a:prstGeom>
          <a:noFill/>
          <a:ln/>
        </p:spPr>
        <p:txBody>
          <a:bodyPr wrap="square" lIns="0" tIns="0" rIns="0" bIns="0" rtlCol="0" anchor="ctr"/>
          <a:lstStyle/>
          <a:p>
            <a:pPr indent="0" marL="0">
              <a:buNone/>
            </a:pPr>
            <a:r>
              <a:rPr lang="en-US" sz="1600" dirty="0">
                <a:solidFill>
                  <a:srgbClr val="55606C"/>
                </a:solidFill>
                <a:latin typeface="Calibri" pitchFamily="34" charset="0"/>
                <a:ea typeface="Calibri" pitchFamily="34" charset="-122"/>
                <a:cs typeface="Calibri" pitchFamily="34" charset="-120"/>
              </a:rPr>
              <a:t>one-run numbers</a:t>
            </a:r>
            <a:endParaRPr lang="en-US" sz="1600" dirty="0"/>
          </a:p>
          <a:p>
            <a:pPr indent="0" marL="0">
              <a:buNone/>
            </a:pPr>
            <a:r>
              <a:rPr lang="en-US" sz="1600" b="1" dirty="0">
                <a:solidFill>
                  <a:srgbClr val="1C2430"/>
                </a:solidFill>
                <a:latin typeface="Calibri" pitchFamily="34" charset="0"/>
                <a:ea typeface="Calibri" pitchFamily="34" charset="-122"/>
                <a:cs typeface="Calibri" pitchFamily="34" charset="-120"/>
              </a:rPr>
              <a:t>median and p99</a:t>
            </a:r>
            <a:endParaRPr lang="en-US" sz="1600" dirty="0"/>
          </a:p>
        </p:txBody>
      </p:sp>
      <p:sp>
        <p:nvSpPr>
          <p:cNvPr id="38" name="Text 36"/>
          <p:cNvSpPr txBox="1"/>
          <p:nvPr/>
        </p:nvSpPr>
        <p:spPr>
          <a:xfrm>
            <a:off x="10957255" y="5084064"/>
            <a:ext cx="502920" cy="731520"/>
          </a:xfrm>
          <a:prstGeom prst="rect">
            <a:avLst/>
          </a:prstGeom>
          <a:noFill/>
          <a:ln/>
        </p:spPr>
        <p:txBody>
          <a:bodyPr wrap="square" lIns="0" tIns="0" rIns="0" bIns="0" rtlCol="0" anchor="ctr"/>
          <a:lstStyle/>
          <a:p>
            <a:pPr algn="r" indent="0" marL="0">
              <a:buNone/>
            </a:pPr>
            <a:r>
              <a:rPr lang="en-US" sz="1400" b="1" dirty="0">
                <a:solidFill>
                  <a:srgbClr val="B4501A"/>
                </a:solidFill>
                <a:latin typeface="Consolas" pitchFamily="34" charset="0"/>
                <a:ea typeface="Consolas" pitchFamily="34" charset="-122"/>
                <a:cs typeface="Consolas" pitchFamily="34" charset="-120"/>
              </a:rPr>
              <a:t>v14</a:t>
            </a:r>
            <a:endParaRPr lang="en-US" sz="1400" dirty="0"/>
          </a:p>
        </p:txBody>
      </p:sp>
      <p:sp>
        <p:nvSpPr>
          <p:cNvPr id="25" name="Slide Number Placeholder 0"/>
          <p:cNvSpPr>
            <a:spLocks noGrp="1"/>
          </p:cNvSpPr>
          <p:nvPr>
            <p:ph type="sldNum" sz="quarter" idx="4294967295"/>
          </p:nvPr>
        </p:nvSpPr>
        <p:spPr>
          <a:xfrm>
            <a:off x="11140135" y="6510528"/>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55606C"/>
                </a:solidFill>
                <a:latin typeface="Calibri"/>
                <a:ea typeface="Calibri"/>
                <a:cs typeface="Calibri"/>
              </a:defRPr>
            </a:lvl1pPr>
          </a:lstStyle>
          <a:p>
            <a:pPr algn="r"/>
            <a:fld id="{F7021451-1387-4CA6-816F-3879F97B5CBC}" type="slidenum">
              <a:rPr b="0" lang="en-US"/>
              <a:t>150</a:t>
            </a:fld>
            <a:endParaRPr lang="en-US"/>
          </a:p>
        </p:txBody>
      </p:sp>
    </p:spTree>
  </p:cSld>
  <p:clrMapOvr>
    <a:masterClrMapping/>
  </p:clrMapOvr>
</p:sld>
</file>

<file path=ppt/theme/theme1.xml><?xml version="1.0" encoding="utf-8"?>
<a:theme xmlns:a="http://schemas.openxmlformats.org/drawingml/2006/main" name="Queue Course">
  <a:themeElements>
    <a:clrScheme name="Queue Course">
      <a:dk1>
        <a:srgbClr val="1C2430"/>
      </a:dk1>
      <a:lt1>
        <a:srgbClr val="FFFFFF"/>
      </a:lt1>
      <a:dk2>
        <a:srgbClr val="14283A"/>
      </a:dk2>
      <a:lt2>
        <a:srgbClr val="F1F4F7"/>
      </a:lt2>
      <a:accent1>
        <a:srgbClr val="B4501A"/>
      </a:accent1>
      <a:accent2>
        <a:srgbClr val="0F766E"/>
      </a:accent2>
      <a:accent3>
        <a:srgbClr val="55606C"/>
      </a:accent3>
      <a:accent4>
        <a:srgbClr val="E9B44C"/>
      </a:accent4>
      <a:accent5>
        <a:srgbClr val="2E6DA4"/>
      </a:accent5>
      <a:accent6>
        <a:srgbClr val="8A3B12"/>
      </a:accent6>
      <a:hlink>
        <a:srgbClr val="2E6DA4"/>
      </a:hlink>
      <a:folHlink>
        <a:srgbClr val="55606C"/>
      </a:folHlink>
    </a:clrScheme>
    <a:fontScheme name="Queue Cour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150</Slides>
  <Notes>150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150</vt:i4>
      </vt:variant>
    </vt:vector>
  </HeadingPairs>
  <TitlesOfParts>
    <vt:vector size="1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 Broken Queue to a Thread Pool</dc:title>
  <dc:subject>PptxGenJS Presentation</dc:subject>
  <dc:creator>PptxGenJS</dc:creator>
  <cp:lastModifiedBy>PptxGenJS</cp:lastModifiedBy>
  <cp:revision>1</cp:revision>
  <dcterms:created xsi:type="dcterms:W3CDTF">2026-10-04T09:25:31Z</dcterms:created>
  <dcterms:modified xsi:type="dcterms:W3CDTF">2026-10-04T09:25:31Z</dcterms:modified>
</cp:coreProperties>
</file>