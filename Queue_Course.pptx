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Lst>
  <p:notesMasterIdLst>
    <p:notesMasterId r:id="rId9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e9eda5cb-5eb9-2805-4b8c-f4e6f986fae1}">
          <p14:sldIdLst>
            <p14:sldId id="256"/>
            <p14:sldId id="257"/>
          </p14:sldIdLst>
        </p14:section>
        <p14:section name="Part 1 · The queue" id="{aa52be7c-7fa0-4e70-541e-d84244b06a12}">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Lst>
        </p14:section>
        <p14:section name="Part 2 · The pool" id="{772b3362-901b-a401-cfa4-e0509494bf5a}">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Lst>
        </p14:section>
        <p14:section name="Part 3 · Faster" id="{fe3a136f-3d9c-ffb1-c1c3-808d162b8621}">
          <p14:sldIdLst>
            <p14:sldId id="329"/>
            <p14:sldId id="330"/>
            <p14:sldId id="331"/>
            <p14:sldId id="332"/>
            <p14:sldId id="333"/>
            <p14:sldId id="334"/>
            <p14:sldId id="335"/>
            <p14:sldId id="336"/>
            <p14:sldId id="337"/>
            <p14:sldId id="338"/>
            <p14:sldId id="339"/>
            <p14:sldId id="340"/>
            <p14:sldId id="341"/>
            <p14:sldId id="342"/>
            <p14:sldId id="343"/>
            <p14:sldId id="344"/>
            <p14:sldId id="345"/>
          </p14:sldIdLst>
        </p14:section>
        <p14:section name="Finish" id="{70f734ca-5d9c-a715-952e-447d7bdf366f}">
          <p14:sldIdLst>
            <p14:sldId id="34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notesMaster" Target="notesMasters/notesMaster1.xml"/><Relationship Id="rId94" Type="http://schemas.openxmlformats.org/officeDocument/2006/relationships/presProps" Target="presProps.xml"/><Relationship Id="rId95" Type="http://schemas.openxmlformats.org/officeDocument/2006/relationships/viewProps" Target="viewProps.xml"/><Relationship Id="rId96" Type="http://schemas.openxmlformats.org/officeDocument/2006/relationships/theme" Target="theme/theme1.xml"/><Relationship Id="rId9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Producing and consuming happen one after the other. If we put them on two threads, will the program run twice as fast?
How long does A take? How long does B take? Did either task itself get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starts a thread and returns. The std::thread object is destroyed while the thread runs. What should C++ do?
Does this print "working" and exit normally?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threads call q.push() at the same time. Is this safe?
What does it print? Will it be the same every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queue is empty and pop() throws. What happens to the mutex?
Where did unlock() go? What happens when the producer calls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empty() locks. pop() locks. One item, two consumers. Can anything go wrong?
Both consumers received false. How? What does B's pop()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queue is empty for one second. What is this consumer doing during that second?
Guess the number. Is any of that work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run printed the right total. How sure are you that 4 producers and 4 consumers never lose or duplicate an item?
Are both correct? How much faster is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Thread 1 moves q1 → q2 while thread 2 moves q2 → q1. Each locks its own queue first, then the other. What can happen?
Draw who holds what and who waits for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Consumers no longer know how many items will come. How can they find out that no more items are coming?
How many consumers wake up and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queue only holds int and copies values everywhere. What breaks when values are big, or can't be copied?
If the caller's assignment throws, where is the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task throws an exception on the worker. main wrapped its push() in try/catch. Does main catch it?
What prints? What happens to the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 tasks wait in line for one worker. How many workers should we start, and how do they all stop?
Which pool size is fastest for sleepy tasks? For busy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 of these jobs on 8 workers take as long as on 1 worker. Why?
Which line actually needs the 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you need to build so main can wait for the result, or get the exception?
Count the parts. Would you want to write this for every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packaged_task wraps a function. What if the value comes from a callback? And what if 8 threads need one result?
What do the two get() calls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stop waiting after 1 second? And does that stop fetch()?
When is the scope left: after 1 s or after 3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recursive sum submits half its work and waits for it. With 2 workers and 2 outer tasks, what happens?
Does it print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a mutex the only way to make ++ safe across threads?
Which totals are 2,000,000? Rank A, B, C by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Producers touch only the tail, consumers only the head. Why should they wait for each other?
Will more threads move more items per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Locks, allocation and sleeping cost more than the message. With exactly one producer and one consumer, which of them do we really need?
Nothing is shared. Which struct is faster, and by how much?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so far came from one run, at whatever load. Is that proof?
How long does the loop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566928"/>
          </a:xfrm>
          <a:prstGeom prst="rect">
            <a:avLst/>
          </a:prstGeom>
          <a:noFill/>
          <a:ln/>
        </p:spPr>
        <p:txBody>
          <a:bodyPr wrap="square" rtlCol="0"/>
          <a:lstStyle>
            <a:lvl1pPr algn="l" indent="0" marL="0">
              <a:buNone/>
              <a:defRPr lang="en-US" sz="2800" b="1" dirty="0">
                <a:solidFill>
                  <a:srgbClr val="1B2430"/>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329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566928"/>
          </a:xfrm>
          <a:prstGeom prst="rect">
            <a:avLst/>
          </a:prstGeom>
          <a:noFill/>
          <a:ln/>
        </p:spPr>
        <p:txBody>
          <a:bodyPr wrap="square" rtlCol="0"/>
          <a:lstStyle>
            <a:lvl1pPr algn="l" indent="0" marL="0">
              <a:buNone/>
              <a:defRPr lang="en-US" sz="28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D3DCE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828800"/>
            <a:ext cx="10058400" cy="2103120"/>
          </a:xfrm>
          <a:prstGeom prst="rect">
            <a:avLst/>
          </a:prstGeom>
          <a:noFill/>
          <a:ln/>
        </p:spPr>
        <p:txBody>
          <a:bodyPr wrap="square" lIns="0" tIns="0" rIns="0" bIns="0" rtlCol="0" anchor="t"/>
          <a:lstStyle/>
          <a:p>
            <a:pPr indent="0" marL="0">
              <a:buNone/>
            </a:pPr>
            <a:r>
              <a:rPr lang="en-US" sz="5600" b="1" dirty="0">
                <a:solidFill>
                  <a:srgbClr val="FFFFFF"/>
                </a:solidFill>
                <a:latin typeface="Cambria" pitchFamily="34" charset="0"/>
                <a:ea typeface="Cambria" pitchFamily="34" charset="-122"/>
                <a:cs typeface="Cambria" pitchFamily="34" charset="-120"/>
              </a:rPr>
              <a:t>From a broken queue</a:t>
            </a:r>
            <a:endParaRPr lang="en-US" sz="5600" dirty="0"/>
          </a:p>
          <a:p>
            <a:pPr indent="0" marL="0">
              <a:buNone/>
            </a:pPr>
            <a:r>
              <a:rPr lang="en-US" sz="5600" b="1" dirty="0">
                <a:solidFill>
                  <a:srgbClr val="FFFFFF"/>
                </a:solidFill>
                <a:latin typeface="Cambria" pitchFamily="34" charset="0"/>
                <a:ea typeface="Cambria" pitchFamily="34" charset="-122"/>
                <a:cs typeface="Cambria" pitchFamily="34" charset="-120"/>
              </a:rPr>
              <a:t>to a thread pool</a:t>
            </a:r>
            <a:endParaRPr lang="en-US" sz="5600" dirty="0"/>
          </a:p>
        </p:txBody>
      </p:sp>
      <p:sp>
        <p:nvSpPr>
          <p:cNvPr id="3" name="Text 1"/>
          <p:cNvSpPr txBox="1"/>
          <p:nvPr/>
        </p:nvSpPr>
        <p:spPr>
          <a:xfrm>
            <a:off x="548640" y="4389120"/>
            <a:ext cx="11094415" cy="640080"/>
          </a:xfrm>
          <a:prstGeom prst="rect">
            <a:avLst/>
          </a:prstGeom>
          <a:noFill/>
          <a:ln/>
        </p:spPr>
        <p:txBody>
          <a:bodyPr wrap="square" lIns="0" tIns="0" rIns="0" bIns="0" rtlCol="0" anchor="ctr"/>
          <a:lstStyle/>
          <a:p>
            <a:pPr indent="0" marL="0">
              <a:buNone/>
            </a:pPr>
            <a:r>
              <a:rPr lang="en-US" sz="1400" dirty="0">
                <a:solidFill>
                  <a:srgbClr val="D3DCE5"/>
                </a:solidFill>
                <a:latin typeface="Courier New" pitchFamily="34" charset="0"/>
                <a:ea typeface="Courier New" pitchFamily="34" charset="-122"/>
                <a:cs typeface="Courier New" pitchFamily="34" charset="-120"/>
              </a:rPr>
              <a:t>v0 queue → threads → mutex → RAII → condition_variable → load → shutdown → &lt;T&gt; → tasks → pool → futures → atomics → two locks → lock-free → benchmarks</a:t>
            </a:r>
            <a:endParaRPr lang="en-US" sz="1400" dirty="0"/>
          </a:p>
        </p:txBody>
      </p:sp>
      <p:sp>
        <p:nvSpPr>
          <p:cNvPr id="4"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D3DCE5"/>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How to use this deck</a:t>
            </a:r>
            <a:endParaRPr lang="en-US" sz="2800" dirty="0"/>
          </a:p>
        </p:txBody>
      </p:sp>
      <p:sp>
        <p:nvSpPr>
          <p:cNvPr id="3" name="Shape 1"/>
          <p:cNvSpPr/>
          <p:nvPr/>
        </p:nvSpPr>
        <p:spPr>
          <a:xfrm>
            <a:off x="548640" y="1417320"/>
            <a:ext cx="2651760" cy="384048"/>
          </a:xfrm>
          <a:prstGeom prst="roundRect">
            <a:avLst>
              <a:gd name="adj" fmla="val 16667"/>
            </a:avLst>
          </a:prstGeom>
          <a:solidFill>
            <a:srgbClr val="1B2430"/>
          </a:solidFill>
          <a:ln w="12700">
            <a:solidFill>
              <a:srgbClr val="1B2430"/>
            </a:solidFill>
            <a:prstDash val="solid"/>
          </a:ln>
        </p:spPr>
      </p:sp>
      <p:sp>
        <p:nvSpPr>
          <p:cNvPr id="4" name="Text 2"/>
          <p:cNvSpPr txBox="1"/>
          <p:nvPr/>
        </p:nvSpPr>
        <p:spPr>
          <a:xfrm>
            <a:off x="548640" y="1417320"/>
            <a:ext cx="26517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PROBLEM</a:t>
            </a:r>
            <a:endParaRPr lang="en-US" sz="1300" dirty="0"/>
          </a:p>
        </p:txBody>
      </p:sp>
      <p:sp>
        <p:nvSpPr>
          <p:cNvPr id="5" name="Text 3"/>
          <p:cNvSpPr txBox="1"/>
          <p:nvPr/>
        </p:nvSpPr>
        <p:spPr>
          <a:xfrm>
            <a:off x="548640" y="1965960"/>
            <a:ext cx="2651760" cy="93573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A situation in our queue. Answer the question and write a prediction before reading the answer.</a:t>
            </a:r>
            <a:endParaRPr lang="en-US" sz="1500" dirty="0"/>
          </a:p>
        </p:txBody>
      </p:sp>
      <p:sp>
        <p:nvSpPr>
          <p:cNvPr id="6" name="Shape 4"/>
          <p:cNvSpPr/>
          <p:nvPr/>
        </p:nvSpPr>
        <p:spPr>
          <a:xfrm>
            <a:off x="3383280" y="1417320"/>
            <a:ext cx="2651760" cy="384048"/>
          </a:xfrm>
          <a:prstGeom prst="roundRect">
            <a:avLst>
              <a:gd name="adj" fmla="val 16667"/>
            </a:avLst>
          </a:prstGeom>
          <a:solidFill>
            <a:srgbClr val="1B2430"/>
          </a:solidFill>
          <a:ln w="12700">
            <a:solidFill>
              <a:srgbClr val="1B2430"/>
            </a:solidFill>
            <a:prstDash val="solid"/>
          </a:ln>
        </p:spPr>
      </p:sp>
      <p:sp>
        <p:nvSpPr>
          <p:cNvPr id="7" name="Text 5"/>
          <p:cNvSpPr txBox="1"/>
          <p:nvPr/>
        </p:nvSpPr>
        <p:spPr>
          <a:xfrm>
            <a:off x="3383280" y="1417320"/>
            <a:ext cx="26517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WHY IT BREAKS</a:t>
            </a:r>
            <a:endParaRPr lang="en-US" sz="1300" dirty="0"/>
          </a:p>
        </p:txBody>
      </p:sp>
      <p:sp>
        <p:nvSpPr>
          <p:cNvPr id="8" name="Text 6"/>
          <p:cNvSpPr txBox="1"/>
          <p:nvPr/>
        </p:nvSpPr>
        <p:spPr>
          <a:xfrm>
            <a:off x="3383280" y="1965960"/>
            <a:ext cx="2651760" cy="71094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Run the real program, then follow the timeline of what the threads did.</a:t>
            </a:r>
            <a:endParaRPr lang="en-US" sz="1500" dirty="0"/>
          </a:p>
        </p:txBody>
      </p:sp>
      <p:sp>
        <p:nvSpPr>
          <p:cNvPr id="9" name="Shape 7"/>
          <p:cNvSpPr/>
          <p:nvPr/>
        </p:nvSpPr>
        <p:spPr>
          <a:xfrm>
            <a:off x="6217920" y="1417320"/>
            <a:ext cx="2651760" cy="384048"/>
          </a:xfrm>
          <a:prstGeom prst="roundRect">
            <a:avLst>
              <a:gd name="adj" fmla="val 16667"/>
            </a:avLst>
          </a:prstGeom>
          <a:solidFill>
            <a:srgbClr val="1B2430"/>
          </a:solidFill>
          <a:ln w="12700">
            <a:solidFill>
              <a:srgbClr val="1B2430"/>
            </a:solidFill>
            <a:prstDash val="solid"/>
          </a:ln>
        </p:spPr>
      </p:sp>
      <p:sp>
        <p:nvSpPr>
          <p:cNvPr id="10" name="Text 8"/>
          <p:cNvSpPr txBox="1"/>
          <p:nvPr/>
        </p:nvSpPr>
        <p:spPr>
          <a:xfrm>
            <a:off x="6217920" y="1417320"/>
            <a:ext cx="26517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THE FIX</a:t>
            </a:r>
            <a:endParaRPr lang="en-US" sz="1300" dirty="0"/>
          </a:p>
        </p:txBody>
      </p:sp>
      <p:sp>
        <p:nvSpPr>
          <p:cNvPr id="11" name="Text 9"/>
          <p:cNvSpPr txBox="1"/>
          <p:nvPr/>
        </p:nvSpPr>
        <p:spPr>
          <a:xfrm>
            <a:off x="6217920" y="1965960"/>
            <a:ext cx="2651760" cy="93573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The concept and the code change it needs. Green lines are added, red removed.</a:t>
            </a:r>
            <a:endParaRPr lang="en-US" sz="1500" dirty="0"/>
          </a:p>
        </p:txBody>
      </p:sp>
      <p:sp>
        <p:nvSpPr>
          <p:cNvPr id="12" name="Shape 10"/>
          <p:cNvSpPr/>
          <p:nvPr/>
        </p:nvSpPr>
        <p:spPr>
          <a:xfrm>
            <a:off x="9052560" y="1417320"/>
            <a:ext cx="2651760" cy="384048"/>
          </a:xfrm>
          <a:prstGeom prst="roundRect">
            <a:avLst>
              <a:gd name="adj" fmla="val 16667"/>
            </a:avLst>
          </a:prstGeom>
          <a:solidFill>
            <a:srgbClr val="1B2430"/>
          </a:solidFill>
          <a:ln w="12700">
            <a:solidFill>
              <a:srgbClr val="1B2430"/>
            </a:solidFill>
            <a:prstDash val="solid"/>
          </a:ln>
        </p:spPr>
      </p:sp>
      <p:sp>
        <p:nvSpPr>
          <p:cNvPr id="13" name="Text 11"/>
          <p:cNvSpPr txBox="1"/>
          <p:nvPr/>
        </p:nvSpPr>
        <p:spPr>
          <a:xfrm>
            <a:off x="9052560" y="1417320"/>
            <a:ext cx="26517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CHECK YOURSELF</a:t>
            </a:r>
            <a:endParaRPr lang="en-US" sz="1300" dirty="0"/>
          </a:p>
        </p:txBody>
      </p:sp>
      <p:sp>
        <p:nvSpPr>
          <p:cNvPr id="14" name="Text 12"/>
          <p:cNvSpPr txBox="1"/>
          <p:nvPr/>
        </p:nvSpPr>
        <p:spPr>
          <a:xfrm>
            <a:off x="9052560" y="1965960"/>
            <a:ext cx="2651760" cy="71094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Explain the questions without looking, then do the three exercises.</a:t>
            </a:r>
            <a:endParaRPr lang="en-US" sz="1500" dirty="0"/>
          </a:p>
        </p:txBody>
      </p:sp>
      <p:sp>
        <p:nvSpPr>
          <p:cNvPr id="15" name="Text 13"/>
          <p:cNvSpPr txBox="1"/>
          <p:nvPr/>
        </p:nvSpPr>
        <p:spPr>
          <a:xfrm>
            <a:off x="548640" y="3520440"/>
            <a:ext cx="548640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BUILD AND RUN</a:t>
            </a:r>
            <a:endParaRPr lang="en-US" sz="1200" dirty="0"/>
          </a:p>
        </p:txBody>
      </p:sp>
      <p:sp>
        <p:nvSpPr>
          <p:cNvPr id="16" name="Shape 14"/>
          <p:cNvSpPr/>
          <p:nvPr/>
        </p:nvSpPr>
        <p:spPr>
          <a:xfrm>
            <a:off x="548640" y="3840480"/>
            <a:ext cx="6766560" cy="1517904"/>
          </a:xfrm>
          <a:prstGeom prst="roundRect">
            <a:avLst>
              <a:gd name="adj" fmla="val 4819"/>
            </a:avLst>
          </a:prstGeom>
          <a:solidFill>
            <a:srgbClr val="161C24"/>
          </a:solidFill>
          <a:ln w="12700">
            <a:solidFill>
              <a:srgbClr val="161C24"/>
            </a:solidFill>
            <a:prstDash val="solid"/>
          </a:ln>
        </p:spPr>
      </p:sp>
      <p:sp>
        <p:nvSpPr>
          <p:cNvPr id="17" name="Text 15"/>
          <p:cNvSpPr txBox="1"/>
          <p:nvPr/>
        </p:nvSpPr>
        <p:spPr>
          <a:xfrm>
            <a:off x="731520" y="4005072"/>
            <a:ext cx="6400800" cy="1188720"/>
          </a:xfrm>
          <a:prstGeom prst="rect">
            <a:avLst/>
          </a:prstGeom>
          <a:noFill/>
          <a:ln/>
        </p:spPr>
        <p:txBody>
          <a:bodyPr wrap="square" lIns="0" tIns="0" rIns="0" bIns="0" rtlCol="0" anchor="t"/>
          <a:lstStyle/>
          <a:p>
            <a:pPr indent="0" marL="0">
              <a:lnSpc>
                <a:spcPct val="100000"/>
              </a:lnSpc>
              <a:buNone/>
            </a:pPr>
            <a:r>
              <a:rPr lang="en-US" sz="1300" dirty="0">
                <a:solidFill>
                  <a:srgbClr val="E8E4DA"/>
                </a:solidFill>
                <a:latin typeface="Courier New" pitchFamily="34" charset="0"/>
                <a:ea typeface="Courier New" pitchFamily="34" charset="-122"/>
                <a:cs typeface="Courier New" pitchFamily="34" charset="-120"/>
              </a:rPr>
              <a:t># explore bugs</a:t>
            </a:r>
            <a:endParaRPr lang="en-US" sz="1300" dirty="0"/>
          </a:p>
          <a:p>
            <a:pPr indent="0" marL="0">
              <a:lnSpc>
                <a:spcPct val="100000"/>
              </a:lnSpc>
              <a:buNone/>
            </a:pPr>
            <a:r>
              <a:rPr lang="en-US" sz="1300" dirty="0">
                <a:solidFill>
                  <a:srgbClr val="E8E4DA"/>
                </a:solidFill>
                <a:latin typeface="Courier New" pitchFamily="34" charset="0"/>
                <a:ea typeface="Courier New" pitchFamily="34" charset="-122"/>
                <a:cs typeface="Courier New" pitchFamily="34" charset="-120"/>
              </a:rPr>
              <a:t>g++ -std=c++20 -O0 -g -pthread -I../common tests.cpp -o tests</a:t>
            </a:r>
            <a:endParaRPr lang="en-US" sz="1300" dirty="0"/>
          </a:p>
          <a:p>
            <a:pPr indent="0" marL="0">
              <a:lnSpc>
                <a:spcPct val="100000"/>
              </a:lnSpc>
              <a:buNone/>
            </a:pPr>
            <a:r>
              <a:rPr lang="en-US" sz="1300" dirty="0">
                <a:solidFill>
                  <a:srgbClr val="E8E4DA"/>
                </a:solidFill>
                <a:latin typeface="Courier New" pitchFamily="34" charset="0"/>
                <a:ea typeface="Courier New" pitchFamily="34" charset="-122"/>
                <a:cs typeface="Courier New" pitchFamily="34" charset="-120"/>
              </a:rPr>
              <a:t># measure speed</a:t>
            </a:r>
            <a:endParaRPr lang="en-US" sz="1300" dirty="0"/>
          </a:p>
          <a:p>
            <a:pPr indent="0" marL="0">
              <a:lnSpc>
                <a:spcPct val="100000"/>
              </a:lnSpc>
              <a:buNone/>
            </a:pPr>
            <a:r>
              <a:rPr lang="en-US" sz="1300" dirty="0">
                <a:solidFill>
                  <a:srgbClr val="E8E4DA"/>
                </a:solidFill>
                <a:latin typeface="Courier New" pitchFamily="34" charset="0"/>
                <a:ea typeface="Courier New" pitchFamily="34" charset="-122"/>
                <a:cs typeface="Courier New" pitchFamily="34" charset="-120"/>
              </a:rPr>
              <a:t>g++ -std=c++20 -O2 -pthread -I../common tiny.cpp -o tiny</a:t>
            </a:r>
            <a:endParaRPr lang="en-US" sz="1300" dirty="0"/>
          </a:p>
          <a:p>
            <a:pPr indent="0" marL="0">
              <a:lnSpc>
                <a:spcPct val="100000"/>
              </a:lnSpc>
              <a:buNone/>
            </a:pPr>
            <a:r>
              <a:rPr lang="en-US" sz="1300" dirty="0">
                <a:solidFill>
                  <a:srgbClr val="E8E4DA"/>
                </a:solidFill>
                <a:latin typeface="Courier New" pitchFamily="34" charset="0"/>
                <a:ea typeface="Courier New" pitchFamily="34" charset="-122"/>
                <a:cs typeface="Courier New" pitchFamily="34" charset="-120"/>
              </a:rPr>
              <a:t># every version, with demos</a:t>
            </a:r>
            <a:endParaRPr lang="en-US" sz="1300" dirty="0"/>
          </a:p>
          <a:p>
            <a:pPr indent="0" marL="0">
              <a:lnSpc>
                <a:spcPct val="100000"/>
              </a:lnSpc>
              <a:buNone/>
            </a:pPr>
            <a:r>
              <a:rPr lang="en-US" sz="1300" dirty="0">
                <a:solidFill>
                  <a:srgbClr val="E8E4DA"/>
                </a:solidFill>
                <a:latin typeface="Courier New" pitchFamily="34" charset="0"/>
                <a:ea typeface="Courier New" pitchFamily="34" charset="-122"/>
                <a:cs typeface="Courier New" pitchFamily="34" charset="-120"/>
              </a:rPr>
              <a:t>./build_all.sh --demos</a:t>
            </a:r>
            <a:endParaRPr lang="en-US" sz="1300" dirty="0"/>
          </a:p>
        </p:txBody>
      </p:sp>
      <p:sp>
        <p:nvSpPr>
          <p:cNvPr id="18" name="Text 16"/>
          <p:cNvSpPr txBox="1"/>
          <p:nvPr/>
        </p:nvSpPr>
        <p:spPr>
          <a:xfrm>
            <a:off x="7680960" y="3520440"/>
            <a:ext cx="393192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WHAT TO STUDY</a:t>
            </a:r>
            <a:endParaRPr lang="en-US" sz="1200" dirty="0"/>
          </a:p>
        </p:txBody>
      </p:sp>
      <p:sp>
        <p:nvSpPr>
          <p:cNvPr id="19" name="Text 17"/>
          <p:cNvSpPr txBox="1"/>
          <p:nvPr/>
        </p:nvSpPr>
        <p:spPr>
          <a:xfrm>
            <a:off x="7680960" y="3840480"/>
            <a:ext cx="3959352" cy="116052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Each version's main file (queue.hpp, later pool.hpp) and its tiny examples. Skip common/.</a:t>
            </a:r>
            <a:endParaRPr lang="en-US" sz="1500" dirty="0"/>
          </a:p>
          <a:p>
            <a:pPr indent="0" marL="0">
              <a:lnSpc>
                <a:spcPct val="105000"/>
              </a:lnSpc>
              <a:buNone/>
            </a:pP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Don't open the next version early.</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011680"/>
            <a:ext cx="5486400" cy="320040"/>
          </a:xfrm>
          <a:prstGeom prst="rect">
            <a:avLst/>
          </a:prstGeom>
          <a:noFill/>
          <a:ln/>
        </p:spPr>
        <p:txBody>
          <a:bodyPr wrap="square" lIns="0" tIns="0" rIns="0" bIns="0" rtlCol="0" anchor="ctr"/>
          <a:lstStyle/>
          <a:p>
            <a:pPr indent="0" marL="0">
              <a:buNone/>
            </a:pPr>
            <a:r>
              <a:rPr lang="en-US" sz="1400" b="1" spc="200" kern="0" dirty="0">
                <a:solidFill>
                  <a:srgbClr val="F2C14E"/>
                </a:solidFill>
                <a:latin typeface="Calibri" pitchFamily="34" charset="0"/>
                <a:ea typeface="Calibri" pitchFamily="34" charset="-122"/>
                <a:cs typeface="Calibri" pitchFamily="34" charset="-120"/>
              </a:rPr>
              <a:t>PART 1  ·  v0–v7</a:t>
            </a:r>
            <a:endParaRPr lang="en-US" sz="1400" dirty="0"/>
          </a:p>
        </p:txBody>
      </p:sp>
      <p:sp>
        <p:nvSpPr>
          <p:cNvPr id="3" name="Text 1"/>
          <p:cNvSpPr txBox="1"/>
          <p:nvPr/>
        </p:nvSpPr>
        <p:spPr>
          <a:xfrm>
            <a:off x="548640" y="2468880"/>
            <a:ext cx="6035040" cy="164592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Build the queue</a:t>
            </a:r>
            <a:endParaRPr lang="en-US" sz="4400" dirty="0"/>
          </a:p>
        </p:txBody>
      </p:sp>
      <p:sp>
        <p:nvSpPr>
          <p:cNvPr id="4" name="Text 2"/>
          <p:cNvSpPr txBox="1"/>
          <p:nvPr/>
        </p:nvSpPr>
        <p:spPr>
          <a:xfrm>
            <a:off x="7223760" y="2011680"/>
            <a:ext cx="4389120" cy="3291840"/>
          </a:xfrm>
          <a:prstGeom prst="rect">
            <a:avLst/>
          </a:prstGeom>
          <a:noFill/>
          <a:ln/>
        </p:spPr>
        <p:txBody>
          <a:bodyPr wrap="square" lIns="0" tIns="0" rIns="0" bIns="0" rtlCol="0" anchor="t"/>
          <a:lstStyle/>
          <a:p>
            <a:pPr indent="0" marL="0">
              <a:spcAft>
                <a:spcPts val="800"/>
              </a:spcAft>
              <a:buNone/>
            </a:pPr>
            <a:r>
              <a:rPr lang="en-US" sz="1600" dirty="0">
                <a:solidFill>
                  <a:srgbClr val="D3DCE5"/>
                </a:solidFill>
                <a:latin typeface="Courier New" pitchFamily="34" charset="0"/>
                <a:ea typeface="Courier New" pitchFamily="34" charset="-122"/>
                <a:cs typeface="Courier New" pitchFamily="34" charset="-120"/>
              </a:rPr>
              <a:t>v0  ordinary queue</a:t>
            </a:r>
            <a:endParaRPr lang="en-US" sz="1600" dirty="0"/>
          </a:p>
          <a:p>
            <a:pPr indent="0" marL="0">
              <a:spcAft>
                <a:spcPts val="800"/>
              </a:spcAft>
              <a:buNone/>
            </a:pPr>
            <a:r>
              <a:rPr lang="en-US" sz="1600" dirty="0">
                <a:solidFill>
                  <a:srgbClr val="D3DCE5"/>
                </a:solidFill>
                <a:latin typeface="Courier New" pitchFamily="34" charset="0"/>
                <a:ea typeface="Courier New" pitchFamily="34" charset="-122"/>
                <a:cs typeface="Courier New" pitchFamily="34" charset="-120"/>
              </a:rPr>
              <a:t>v1  threads</a:t>
            </a:r>
            <a:endParaRPr lang="en-US" sz="1600" dirty="0"/>
          </a:p>
          <a:p>
            <a:pPr indent="0" marL="0">
              <a:spcAft>
                <a:spcPts val="800"/>
              </a:spcAft>
              <a:buNone/>
            </a:pPr>
            <a:r>
              <a:rPr lang="en-US" sz="1600" dirty="0">
                <a:solidFill>
                  <a:srgbClr val="D3DCE5"/>
                </a:solidFill>
                <a:latin typeface="Courier New" pitchFamily="34" charset="0"/>
                <a:ea typeface="Courier New" pitchFamily="34" charset="-122"/>
                <a:cs typeface="Courier New" pitchFamily="34" charset="-120"/>
              </a:rPr>
              <a:t>v2  mutex</a:t>
            </a:r>
            <a:endParaRPr lang="en-US" sz="1600" dirty="0"/>
          </a:p>
          <a:p>
            <a:pPr indent="0" marL="0">
              <a:spcAft>
                <a:spcPts val="800"/>
              </a:spcAft>
              <a:buNone/>
            </a:pPr>
            <a:r>
              <a:rPr lang="en-US" sz="1600" dirty="0">
                <a:solidFill>
                  <a:srgbClr val="D3DCE5"/>
                </a:solidFill>
                <a:latin typeface="Courier New" pitchFamily="34" charset="0"/>
                <a:ea typeface="Courier New" pitchFamily="34" charset="-122"/>
                <a:cs typeface="Courier New" pitchFamily="34" charset="-120"/>
              </a:rPr>
              <a:t>v3  RAII · interface races</a:t>
            </a:r>
            <a:endParaRPr lang="en-US" sz="1600" dirty="0"/>
          </a:p>
          <a:p>
            <a:pPr indent="0" marL="0">
              <a:spcAft>
                <a:spcPts val="800"/>
              </a:spcAft>
              <a:buNone/>
            </a:pPr>
            <a:r>
              <a:rPr lang="en-US" sz="1600" dirty="0">
                <a:solidFill>
                  <a:srgbClr val="D3DCE5"/>
                </a:solidFill>
                <a:latin typeface="Courier New" pitchFamily="34" charset="0"/>
                <a:ea typeface="Courier New" pitchFamily="34" charset="-122"/>
                <a:cs typeface="Courier New" pitchFamily="34" charset="-120"/>
              </a:rPr>
              <a:t>v4  condition_variable</a:t>
            </a:r>
            <a:endParaRPr lang="en-US" sz="1600" dirty="0"/>
          </a:p>
          <a:p>
            <a:pPr indent="0" marL="0">
              <a:spcAft>
                <a:spcPts val="800"/>
              </a:spcAft>
              <a:buNone/>
            </a:pPr>
            <a:r>
              <a:rPr lang="en-US" sz="1600" dirty="0">
                <a:solidFill>
                  <a:srgbClr val="D3DCE5"/>
                </a:solidFill>
                <a:latin typeface="Courier New" pitchFamily="34" charset="0"/>
                <a:ea typeface="Courier New" pitchFamily="34" charset="-122"/>
                <a:cs typeface="Courier New" pitchFamily="34" charset="-120"/>
              </a:rPr>
              <a:t>v5  load · deadlock</a:t>
            </a:r>
            <a:endParaRPr lang="en-US" sz="1600" dirty="0"/>
          </a:p>
          <a:p>
            <a:pPr indent="0" marL="0">
              <a:spcAft>
                <a:spcPts val="800"/>
              </a:spcAft>
              <a:buNone/>
            </a:pPr>
            <a:r>
              <a:rPr lang="en-US" sz="1600" dirty="0">
                <a:solidFill>
                  <a:srgbClr val="D3DCE5"/>
                </a:solidFill>
                <a:latin typeface="Courier New" pitchFamily="34" charset="0"/>
                <a:ea typeface="Courier New" pitchFamily="34" charset="-122"/>
                <a:cs typeface="Courier New" pitchFamily="34" charset="-120"/>
              </a:rPr>
              <a:t>v6  shutdown</a:t>
            </a:r>
            <a:endParaRPr lang="en-US" sz="1600" dirty="0"/>
          </a:p>
          <a:p>
            <a:pPr indent="0" marL="0">
              <a:spcAft>
                <a:spcPts val="800"/>
              </a:spcAft>
              <a:buNone/>
            </a:pPr>
            <a:r>
              <a:rPr lang="en-US" sz="1600" dirty="0">
                <a:solidFill>
                  <a:srgbClr val="D3DCE5"/>
                </a:solidFill>
                <a:latin typeface="Courier New" pitchFamily="34" charset="0"/>
                <a:ea typeface="Courier New" pitchFamily="34" charset="-122"/>
                <a:cs typeface="Courier New" pitchFamily="34" charset="-120"/>
              </a:rPr>
              <a:t>v7  queue&lt;T&gt;</a:t>
            </a:r>
            <a:endParaRPr lang="en-US" sz="1600" dirty="0"/>
          </a:p>
        </p:txBody>
      </p:sp>
      <p:sp>
        <p:nvSpPr>
          <p:cNvPr id="5"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D3DCE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V0  ·  ORDINARY QUEUE</a:t>
            </a:r>
            <a:endParaRPr lang="en-US" sz="1200" dirty="0"/>
          </a:p>
        </p:txBody>
      </p:sp>
      <p:sp>
        <p:nvSpPr>
          <p:cNvPr id="3" name="Shape 1"/>
          <p:cNvSpPr/>
          <p:nvPr/>
        </p:nvSpPr>
        <p:spPr>
          <a:xfrm>
            <a:off x="6229807" y="292608"/>
            <a:ext cx="1298448" cy="274320"/>
          </a:xfrm>
          <a:prstGeom prst="roundRect">
            <a:avLst>
              <a:gd name="adj" fmla="val 23333"/>
            </a:avLst>
          </a:prstGeom>
          <a:solidFill>
            <a:srgbClr val="1B2430"/>
          </a:solidFill>
          <a:ln w="12700">
            <a:solidFill>
              <a:srgbClr val="1B2430"/>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Can a second thread make this faster?</a:t>
            </a:r>
            <a:endParaRPr lang="en-US" sz="2800" dirty="0"/>
          </a:p>
        </p:txBody>
      </p:sp>
      <p:sp>
        <p:nvSpPr>
          <p:cNvPr id="12" name="Shape 10"/>
          <p:cNvSpPr/>
          <p:nvPr/>
        </p:nvSpPr>
        <p:spPr>
          <a:xfrm>
            <a:off x="548640" y="1417320"/>
            <a:ext cx="6766560" cy="1472184"/>
          </a:xfrm>
          <a:prstGeom prst="roundRect">
            <a:avLst>
              <a:gd name="adj" fmla="val 4969"/>
            </a:avLst>
          </a:prstGeom>
          <a:solidFill>
            <a:srgbClr val="EEF2F5"/>
          </a:solidFill>
          <a:ln w="12700">
            <a:solidFill>
              <a:srgbClr val="EEF2F5"/>
            </a:solidFill>
            <a:prstDash val="solid"/>
          </a:ln>
        </p:spPr>
      </p:sp>
      <p:sp>
        <p:nvSpPr>
          <p:cNvPr id="13" name="Text 11"/>
          <p:cNvSpPr txBox="1"/>
          <p:nvPr/>
        </p:nvSpPr>
        <p:spPr>
          <a:xfrm>
            <a:off x="731520" y="1581912"/>
            <a:ext cx="6400800" cy="11430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main thread</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 produce produce produce  consume consume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time →</a:t>
            </a:r>
            <a:endParaRPr lang="en-US" sz="1500" dirty="0"/>
          </a:p>
        </p:txBody>
      </p:sp>
      <p:sp>
        <p:nvSpPr>
          <p:cNvPr id="14" name="Shape 12"/>
          <p:cNvSpPr/>
          <p:nvPr/>
        </p:nvSpPr>
        <p:spPr>
          <a:xfrm>
            <a:off x="548640" y="3118104"/>
            <a:ext cx="6766560" cy="2157984"/>
          </a:xfrm>
          <a:prstGeom prst="roundRect">
            <a:avLst>
              <a:gd name="adj" fmla="val 3390"/>
            </a:avLst>
          </a:prstGeom>
          <a:solidFill>
            <a:srgbClr val="161C24"/>
          </a:solidFill>
          <a:ln w="12700">
            <a:solidFill>
              <a:srgbClr val="161C24"/>
            </a:solidFill>
            <a:prstDash val="solid"/>
          </a:ln>
        </p:spPr>
      </p:sp>
      <p:sp>
        <p:nvSpPr>
          <p:cNvPr id="15" name="Text 13"/>
          <p:cNvSpPr txBox="1"/>
          <p:nvPr/>
        </p:nvSpPr>
        <p:spPr>
          <a:xfrm>
            <a:off x="731520" y="3282696"/>
            <a:ext cx="6400800" cy="1828800"/>
          </a:xfrm>
          <a:prstGeom prst="rect">
            <a:avLst/>
          </a:prstGeom>
          <a:noFill/>
          <a:ln/>
        </p:spPr>
        <p:txBody>
          <a:bodyPr wrap="square" lIns="0" tIns="0" rIns="0" bIns="0" rtlCol="0" anchor="t"/>
          <a:lstStyle/>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void task() { sleep_for(2s); }   // waits, no CPU</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A: one thread</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task(); task();</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B: two threads</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std::thread t1(task), t2(task);</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t1.join(); t2.join();</a:t>
            </a:r>
            <a:endParaRPr lang="en-US" sz="1500" dirty="0"/>
          </a:p>
        </p:txBody>
      </p:sp>
      <p:sp>
        <p:nvSpPr>
          <p:cNvPr id="16" name="Text 14"/>
          <p:cNvSpPr txBox="1"/>
          <p:nvPr/>
        </p:nvSpPr>
        <p:spPr>
          <a:xfrm>
            <a:off x="7680960" y="1417320"/>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THE QUESTION</a:t>
            </a:r>
            <a:endParaRPr lang="en-US" sz="1200" dirty="0"/>
          </a:p>
        </p:txBody>
      </p:sp>
      <p:sp>
        <p:nvSpPr>
          <p:cNvPr id="17" name="Text 15"/>
          <p:cNvSpPr txBox="1"/>
          <p:nvPr/>
        </p:nvSpPr>
        <p:spPr>
          <a:xfrm>
            <a:off x="7680960" y="1728216"/>
            <a:ext cx="3962095" cy="1115568"/>
          </a:xfrm>
          <a:prstGeom prst="rect">
            <a:avLst/>
          </a:prstGeom>
          <a:noFill/>
          <a:ln/>
        </p:spPr>
        <p:txBody>
          <a:bodyPr wrap="square" lIns="0" tIns="0" rIns="0" bIns="0" rtlCol="0" anchor="t"/>
          <a:lstStyle/>
          <a:p>
            <a:pPr indent="0" marL="0">
              <a:lnSpc>
                <a:spcPct val="105000"/>
              </a:lnSpc>
              <a:buNone/>
            </a:pPr>
            <a:r>
              <a:rPr lang="en-US" sz="1800" b="1" dirty="0">
                <a:solidFill>
                  <a:srgbClr val="1B2430"/>
                </a:solidFill>
                <a:latin typeface="Calibri" pitchFamily="34" charset="0"/>
                <a:ea typeface="Calibri" pitchFamily="34" charset="-122"/>
                <a:cs typeface="Calibri" pitchFamily="34" charset="-120"/>
              </a:rPr>
              <a:t>Producing and consuming happen one after the other. If we put them on two threads, will the program run twice as fast?</a:t>
            </a:r>
            <a:endParaRPr lang="en-US" sz="1800" dirty="0"/>
          </a:p>
        </p:txBody>
      </p:sp>
      <p:sp>
        <p:nvSpPr>
          <p:cNvPr id="18" name="Text 16"/>
          <p:cNvSpPr txBox="1"/>
          <p:nvPr/>
        </p:nvSpPr>
        <p:spPr>
          <a:xfrm>
            <a:off x="7680960" y="3072384"/>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PREDICT</a:t>
            </a:r>
            <a:endParaRPr lang="en-US" sz="1200" dirty="0"/>
          </a:p>
        </p:txBody>
      </p:sp>
      <p:sp>
        <p:nvSpPr>
          <p:cNvPr id="19" name="Text 17"/>
          <p:cNvSpPr txBox="1"/>
          <p:nvPr/>
        </p:nvSpPr>
        <p:spPr>
          <a:xfrm>
            <a:off x="7680960" y="3383280"/>
            <a:ext cx="396209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How long does A take? How long does B take? Did either task itself get faster?</a:t>
            </a:r>
            <a:endParaRPr lang="en-US" sz="1600" dirty="0"/>
          </a:p>
        </p:txBody>
      </p:sp>
      <p:sp>
        <p:nvSpPr>
          <p:cNvPr id="20" name="Shape 18"/>
          <p:cNvSpPr/>
          <p:nvPr/>
        </p:nvSpPr>
        <p:spPr>
          <a:xfrm>
            <a:off x="7680960" y="4413504"/>
            <a:ext cx="3962095" cy="1539240"/>
          </a:xfrm>
          <a:prstGeom prst="roundRect">
            <a:avLst>
              <a:gd name="adj" fmla="val 4752"/>
            </a:avLst>
          </a:prstGeom>
          <a:solidFill>
            <a:srgbClr val="EEF2F5"/>
          </a:solidFill>
          <a:ln w="12700">
            <a:solidFill>
              <a:srgbClr val="EEF2F5"/>
            </a:solidFill>
            <a:prstDash val="solid"/>
          </a:ln>
        </p:spPr>
      </p:sp>
      <p:sp>
        <p:nvSpPr>
          <p:cNvPr id="21" name="Text 19"/>
          <p:cNvSpPr txBox="1"/>
          <p:nvPr/>
        </p:nvSpPr>
        <p:spPr>
          <a:xfrm>
            <a:off x="7909560" y="4596384"/>
            <a:ext cx="3504895"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ANSWER</a:t>
            </a:r>
            <a:endParaRPr lang="en-US" sz="1200" dirty="0"/>
          </a:p>
        </p:txBody>
      </p:sp>
      <p:sp>
        <p:nvSpPr>
          <p:cNvPr id="22" name="Text 20"/>
          <p:cNvSpPr txBox="1"/>
          <p:nvPr/>
        </p:nvSpPr>
        <p:spPr>
          <a:xfrm>
            <a:off x="7909560" y="4907280"/>
            <a:ext cx="3504895" cy="93573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A: 4 s. B: 2 s.</a:t>
            </a:r>
            <a:endParaRPr lang="en-US" sz="1500" dirty="0"/>
          </a:p>
          <a:p>
            <a:pPr indent="0" marL="0">
              <a:lnSpc>
                <a:spcPct val="105000"/>
              </a:lnSpc>
              <a:buNone/>
            </a:pP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Neither task got faster. The two waits overlapped.</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V0  ·  ORDINARY QUEUE</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1B2430"/>
          </a:solidFill>
          <a:ln w="12700">
            <a:solidFill>
              <a:srgbClr val="1B2430"/>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Taking turns is not running together</a:t>
            </a:r>
            <a:endParaRPr lang="en-US" sz="2800" dirty="0"/>
          </a:p>
        </p:txBody>
      </p:sp>
      <p:sp>
        <p:nvSpPr>
          <p:cNvPr id="12" name="Text 10"/>
          <p:cNvSpPr txBox="1"/>
          <p:nvPr/>
        </p:nvSpPr>
        <p:spPr>
          <a:xfrm>
            <a:off x="548640" y="1417320"/>
            <a:ext cx="429768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RUN IT</a:t>
            </a:r>
            <a:endParaRPr lang="en-US" sz="1200" dirty="0"/>
          </a:p>
        </p:txBody>
      </p:sp>
      <p:sp>
        <p:nvSpPr>
          <p:cNvPr id="13" name="Shape 11"/>
          <p:cNvSpPr/>
          <p:nvPr/>
        </p:nvSpPr>
        <p:spPr>
          <a:xfrm>
            <a:off x="548640" y="1728216"/>
            <a:ext cx="4297680" cy="969264"/>
          </a:xfrm>
          <a:prstGeom prst="roundRect">
            <a:avLst>
              <a:gd name="adj" fmla="val 7547"/>
            </a:avLst>
          </a:prstGeom>
          <a:solidFill>
            <a:srgbClr val="0D1117"/>
          </a:solidFill>
          <a:ln w="12700">
            <a:solidFill>
              <a:srgbClr val="0D1117"/>
            </a:solidFill>
            <a:prstDash val="solid"/>
          </a:ln>
        </p:spPr>
      </p:sp>
      <p:sp>
        <p:nvSpPr>
          <p:cNvPr id="14" name="Text 12"/>
          <p:cNvSpPr txBox="1"/>
          <p:nvPr/>
        </p:nvSpPr>
        <p:spPr>
          <a:xfrm>
            <a:off x="731520" y="1892808"/>
            <a:ext cx="3931920" cy="640080"/>
          </a:xfrm>
          <a:prstGeom prst="rect">
            <a:avLst/>
          </a:prstGeom>
          <a:noFill/>
          <a:ln/>
        </p:spPr>
        <p:txBody>
          <a:bodyPr wrap="square" lIns="0" tIns="0" rIns="0" bIns="0" rtlCol="0" anchor="t"/>
          <a:lstStyle/>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 ./tiny</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sequential:  4.00 s</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two threads: 2.00 s</a:t>
            </a:r>
            <a:endParaRPr lang="en-US" sz="1400" dirty="0"/>
          </a:p>
        </p:txBody>
      </p:sp>
      <p:sp>
        <p:nvSpPr>
          <p:cNvPr id="15" name="Text 13"/>
          <p:cNvSpPr txBox="1"/>
          <p:nvPr/>
        </p:nvSpPr>
        <p:spPr>
          <a:xfrm>
            <a:off x="548640" y="2880360"/>
            <a:ext cx="4297680" cy="71094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Now replace sleep with a loop that computes. On one core, two threads take turns and nothing gets faster.</a:t>
            </a:r>
            <a:endParaRPr lang="en-US" sz="1500" dirty="0"/>
          </a:p>
        </p:txBody>
      </p:sp>
      <p:sp>
        <p:nvSpPr>
          <p:cNvPr id="16" name="Text 14"/>
          <p:cNvSpPr txBox="1"/>
          <p:nvPr/>
        </p:nvSpPr>
        <p:spPr>
          <a:xfrm>
            <a:off x="5166360" y="1417320"/>
            <a:ext cx="6476695"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WHAT HAPPENS, STEP BY STEP</a:t>
            </a:r>
            <a:endParaRPr lang="en-US" sz="1200" dirty="0"/>
          </a:p>
        </p:txBody>
      </p:sp>
      <p:sp>
        <p:nvSpPr>
          <p:cNvPr id="17" name="Shape 15"/>
          <p:cNvSpPr/>
          <p:nvPr/>
        </p:nvSpPr>
        <p:spPr>
          <a:xfrm>
            <a:off x="5166360" y="1728216"/>
            <a:ext cx="6476695" cy="1182624"/>
          </a:xfrm>
          <a:prstGeom prst="roundRect">
            <a:avLst>
              <a:gd name="adj" fmla="val 6186"/>
            </a:avLst>
          </a:prstGeom>
          <a:solidFill>
            <a:srgbClr val="EEF2F5"/>
          </a:solidFill>
          <a:ln w="12700">
            <a:solidFill>
              <a:srgbClr val="EEF2F5"/>
            </a:solidFill>
            <a:prstDash val="solid"/>
          </a:ln>
        </p:spPr>
      </p:sp>
      <p:sp>
        <p:nvSpPr>
          <p:cNvPr id="18" name="Text 16"/>
          <p:cNvSpPr txBox="1"/>
          <p:nvPr/>
        </p:nvSpPr>
        <p:spPr>
          <a:xfrm>
            <a:off x="5349240" y="1892808"/>
            <a:ext cx="6110935" cy="853440"/>
          </a:xfrm>
          <a:prstGeom prst="rect">
            <a:avLst/>
          </a:prstGeom>
          <a:noFill/>
          <a:ln/>
        </p:spPr>
        <p:txBody>
          <a:bodyPr wrap="square" lIns="0" tIns="0" rIns="0" bIns="0" rtlCol="0" anchor="t"/>
          <a:lstStyle/>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ONE CORE, TWO THREADS            TWO CORES</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core 0: T1 T1 T2 T1 T2 T2        core 0: T1 T1 T1 T1 T1</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        ↑ the OS switches        core 1: T2 T2 T2 T2 T2</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          between them                   ↑ truly at once</a:t>
            </a:r>
            <a:endParaRPr lang="en-US" sz="1400" dirty="0"/>
          </a:p>
        </p:txBody>
      </p:sp>
      <p:sp>
        <p:nvSpPr>
          <p:cNvPr id="19" name="Shape 17"/>
          <p:cNvSpPr/>
          <p:nvPr/>
        </p:nvSpPr>
        <p:spPr>
          <a:xfrm>
            <a:off x="5166360" y="3139440"/>
            <a:ext cx="6476695" cy="1089660"/>
          </a:xfrm>
          <a:prstGeom prst="roundRect">
            <a:avLst>
              <a:gd name="adj" fmla="val 6713"/>
            </a:avLst>
          </a:prstGeom>
          <a:solidFill>
            <a:srgbClr val="FDF1E8"/>
          </a:solidFill>
          <a:ln w="12700">
            <a:solidFill>
              <a:srgbClr val="FDF1E8"/>
            </a:solidFill>
            <a:prstDash val="solid"/>
          </a:ln>
        </p:spPr>
      </p:sp>
      <p:sp>
        <p:nvSpPr>
          <p:cNvPr id="20" name="Text 18"/>
          <p:cNvSpPr txBox="1"/>
          <p:nvPr/>
        </p:nvSpPr>
        <p:spPr>
          <a:xfrm>
            <a:off x="5394960" y="3322320"/>
            <a:ext cx="60194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SO</a:t>
            </a:r>
            <a:endParaRPr lang="en-US" sz="1200" dirty="0"/>
          </a:p>
        </p:txBody>
      </p:sp>
      <p:sp>
        <p:nvSpPr>
          <p:cNvPr id="21" name="Text 19"/>
          <p:cNvSpPr txBox="1"/>
          <p:nvPr/>
        </p:nvSpPr>
        <p:spPr>
          <a:xfrm>
            <a:off x="5394960" y="3633216"/>
            <a:ext cx="6019495"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Concurrency: several tasks in progress (structure).</a:t>
            </a: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Parallelism: running at the same instant (needs cores).</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V0  ·  ORDINARY QUEUE</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1B2430"/>
          </a:solidFill>
          <a:ln w="12700">
            <a:solidFill>
              <a:srgbClr val="1B2430"/>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First, a correct baseline</a:t>
            </a:r>
            <a:endParaRPr lang="en-US" sz="2800" dirty="0"/>
          </a:p>
        </p:txBody>
      </p:sp>
      <p:sp>
        <p:nvSpPr>
          <p:cNvPr id="12" name="Text 10"/>
          <p:cNvSpPr txBox="1"/>
          <p:nvPr/>
        </p:nvSpPr>
        <p:spPr>
          <a:xfrm>
            <a:off x="548640" y="1417320"/>
            <a:ext cx="676656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queue.hpp</a:t>
            </a:r>
            <a:endParaRPr lang="en-US" sz="1200" dirty="0"/>
          </a:p>
        </p:txBody>
      </p:sp>
      <p:sp>
        <p:nvSpPr>
          <p:cNvPr id="13" name="Shape 11"/>
          <p:cNvSpPr/>
          <p:nvPr/>
        </p:nvSpPr>
        <p:spPr>
          <a:xfrm>
            <a:off x="548640" y="1728216"/>
            <a:ext cx="7132320" cy="2843784"/>
          </a:xfrm>
          <a:prstGeom prst="roundRect">
            <a:avLst>
              <a:gd name="adj" fmla="val 2572"/>
            </a:avLst>
          </a:prstGeom>
          <a:solidFill>
            <a:srgbClr val="161C24"/>
          </a:solidFill>
          <a:ln w="12700">
            <a:solidFill>
              <a:srgbClr val="161C24"/>
            </a:solidFill>
            <a:prstDash val="solid"/>
          </a:ln>
        </p:spPr>
      </p:sp>
      <p:sp>
        <p:nvSpPr>
          <p:cNvPr id="14" name="Text 12"/>
          <p:cNvSpPr txBox="1"/>
          <p:nvPr/>
        </p:nvSpPr>
        <p:spPr>
          <a:xfrm>
            <a:off x="731520" y="1892808"/>
            <a:ext cx="6766560" cy="2514600"/>
          </a:xfrm>
          <a:prstGeom prst="rect">
            <a:avLst/>
          </a:prstGeom>
          <a:noFill/>
          <a:ln/>
        </p:spPr>
        <p:txBody>
          <a:bodyPr wrap="square" lIns="0" tIns="0" rIns="0" bIns="0" rtlCol="0" anchor="t"/>
          <a:lstStyle/>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class Queue {</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std::queue&lt;int&gt; q;</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public:</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void push(int x) { q.push(x); }</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int pop() {</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int v = q.front();</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q.pop();</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return v;</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std::size_t size() const { return q.size(); }</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a:t>
            </a:r>
            <a:endParaRPr lang="en-US" sz="1500" dirty="0"/>
          </a:p>
        </p:txBody>
      </p:sp>
      <p:sp>
        <p:nvSpPr>
          <p:cNvPr id="15" name="Shape 13"/>
          <p:cNvSpPr/>
          <p:nvPr/>
        </p:nvSpPr>
        <p:spPr>
          <a:xfrm>
            <a:off x="8001000" y="1728216"/>
            <a:ext cx="365760" cy="365760"/>
          </a:xfrm>
          <a:prstGeom prst="ellipse">
            <a:avLst/>
          </a:prstGeom>
          <a:solidFill>
            <a:srgbClr val="0F766E"/>
          </a:solidFill>
          <a:ln w="12700">
            <a:solidFill>
              <a:srgbClr val="0F766E"/>
            </a:solidFill>
            <a:prstDash val="solid"/>
          </a:ln>
        </p:spPr>
      </p:sp>
      <p:sp>
        <p:nvSpPr>
          <p:cNvPr id="16" name="Text 14"/>
          <p:cNvSpPr txBox="1"/>
          <p:nvPr/>
        </p:nvSpPr>
        <p:spPr>
          <a:xfrm>
            <a:off x="8001000" y="17282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8503920" y="1764792"/>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A thin wrapper around std::queue&lt;int&gt;.</a:t>
            </a:r>
            <a:endParaRPr lang="en-US" sz="1600" dirty="0"/>
          </a:p>
        </p:txBody>
      </p:sp>
      <p:sp>
        <p:nvSpPr>
          <p:cNvPr id="18" name="Shape 16"/>
          <p:cNvSpPr/>
          <p:nvPr/>
        </p:nvSpPr>
        <p:spPr>
          <a:xfrm>
            <a:off x="8001000" y="2518664"/>
            <a:ext cx="365760" cy="365760"/>
          </a:xfrm>
          <a:prstGeom prst="ellipse">
            <a:avLst/>
          </a:prstGeom>
          <a:solidFill>
            <a:srgbClr val="0F766E"/>
          </a:solidFill>
          <a:ln w="12700">
            <a:solidFill>
              <a:srgbClr val="0F766E"/>
            </a:solidFill>
            <a:prstDash val="solid"/>
          </a:ln>
        </p:spPr>
      </p:sp>
      <p:sp>
        <p:nvSpPr>
          <p:cNvPr id="19" name="Text 17"/>
          <p:cNvSpPr txBox="1"/>
          <p:nvPr/>
        </p:nvSpPr>
        <p:spPr>
          <a:xfrm>
            <a:off x="8001000" y="25186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8503920" y="2555240"/>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One thread: producer() fills it, then consumer() drains it.</a:t>
            </a:r>
            <a:endParaRPr lang="en-US" sz="1600" dirty="0"/>
          </a:p>
        </p:txBody>
      </p:sp>
      <p:sp>
        <p:nvSpPr>
          <p:cNvPr id="21" name="Shape 19"/>
          <p:cNvSpPr/>
          <p:nvPr/>
        </p:nvSpPr>
        <p:spPr>
          <a:xfrm>
            <a:off x="8001000" y="3548888"/>
            <a:ext cx="365760" cy="365760"/>
          </a:xfrm>
          <a:prstGeom prst="ellipse">
            <a:avLst/>
          </a:prstGeom>
          <a:solidFill>
            <a:srgbClr val="0F766E"/>
          </a:solidFill>
          <a:ln w="12700">
            <a:solidFill>
              <a:srgbClr val="0F766E"/>
            </a:solidFill>
            <a:prstDash val="solid"/>
          </a:ln>
        </p:spPr>
      </p:sp>
      <p:sp>
        <p:nvSpPr>
          <p:cNvPr id="22" name="Text 20"/>
          <p:cNvSpPr txBox="1"/>
          <p:nvPr/>
        </p:nvSpPr>
        <p:spPr>
          <a:xfrm>
            <a:off x="8001000" y="354888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503920" y="3585464"/>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Measure it: about 60 ns per push + pop. Every later version is compared to this.</a:t>
            </a:r>
            <a:endParaRPr lang="en-US" sz="16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V0  ·  ORDINARY QUEUE</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1B2430"/>
          </a:solidFill>
          <a:ln w="12700">
            <a:solidFill>
              <a:srgbClr val="1B2430"/>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Check yourself</a:t>
            </a:r>
            <a:endParaRPr lang="en-US" sz="2800" dirty="0"/>
          </a:p>
        </p:txBody>
      </p:sp>
      <p:sp>
        <p:nvSpPr>
          <p:cNvPr id="12" name="Shape 10"/>
          <p:cNvSpPr/>
          <p:nvPr/>
        </p:nvSpPr>
        <p:spPr>
          <a:xfrm>
            <a:off x="548640" y="1417320"/>
            <a:ext cx="4206240" cy="1149604"/>
          </a:xfrm>
          <a:prstGeom prst="roundRect">
            <a:avLst>
              <a:gd name="adj" fmla="val 6363"/>
            </a:avLst>
          </a:prstGeom>
          <a:solidFill>
            <a:srgbClr val="EEF2F5"/>
          </a:solidFill>
          <a:ln w="12700">
            <a:solidFill>
              <a:srgbClr val="EEF2F5"/>
            </a:solidFill>
            <a:prstDash val="solid"/>
          </a:ln>
        </p:spPr>
      </p:sp>
      <p:sp>
        <p:nvSpPr>
          <p:cNvPr id="13" name="Text 11"/>
          <p:cNvSpPr txBox="1"/>
          <p:nvPr/>
        </p:nvSpPr>
        <p:spPr>
          <a:xfrm>
            <a:off x="777240" y="1600200"/>
            <a:ext cx="3749040"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THE LESSON</a:t>
            </a:r>
            <a:endParaRPr lang="en-US" sz="1200" dirty="0"/>
          </a:p>
        </p:txBody>
      </p:sp>
      <p:sp>
        <p:nvSpPr>
          <p:cNvPr id="14" name="Text 12"/>
          <p:cNvSpPr txBox="1"/>
          <p:nvPr/>
        </p:nvSpPr>
        <p:spPr>
          <a:xfrm>
            <a:off x="777240" y="1911096"/>
            <a:ext cx="3749040" cy="546100"/>
          </a:xfrm>
          <a:prstGeom prst="rect">
            <a:avLst/>
          </a:prstGeom>
          <a:noFill/>
          <a:ln/>
        </p:spPr>
        <p:txBody>
          <a:bodyPr wrap="square" lIns="0" tIns="0" rIns="0" bIns="0" rtlCol="0" anchor="t"/>
          <a:lstStyle/>
          <a:p>
            <a:pPr indent="0" marL="0">
              <a:lnSpc>
                <a:spcPct val="105000"/>
              </a:lnSpc>
              <a:buNone/>
            </a:pPr>
            <a:r>
              <a:rPr lang="en-US" sz="1700" dirty="0">
                <a:solidFill>
                  <a:srgbClr val="1B2430"/>
                </a:solidFill>
                <a:latin typeface="Calibri" pitchFamily="34" charset="0"/>
                <a:ea typeface="Calibri" pitchFamily="34" charset="-122"/>
                <a:cs typeface="Calibri" pitchFamily="34" charset="-120"/>
              </a:rPr>
              <a:t>Threads overlap waiting. Only more cores speed up computing.</a:t>
            </a:r>
            <a:endParaRPr lang="en-US" sz="1700" dirty="0"/>
          </a:p>
        </p:txBody>
      </p:sp>
      <p:sp>
        <p:nvSpPr>
          <p:cNvPr id="15" name="Text 13"/>
          <p:cNvSpPr txBox="1"/>
          <p:nvPr/>
        </p:nvSpPr>
        <p:spPr>
          <a:xfrm>
            <a:off x="548640" y="2841244"/>
            <a:ext cx="420624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EXPLAIN WITHOUT LOOKING</a:t>
            </a:r>
            <a:endParaRPr lang="en-US" sz="1200" dirty="0"/>
          </a:p>
        </p:txBody>
      </p:sp>
      <p:sp>
        <p:nvSpPr>
          <p:cNvPr id="16" name="Shape 14"/>
          <p:cNvSpPr/>
          <p:nvPr/>
        </p:nvSpPr>
        <p:spPr>
          <a:xfrm>
            <a:off x="548640" y="3234436"/>
            <a:ext cx="182880" cy="182880"/>
          </a:xfrm>
          <a:prstGeom prst="rect">
            <a:avLst/>
          </a:prstGeom>
          <a:solidFill>
            <a:srgbClr val="FFFFFF"/>
          </a:solidFill>
          <a:ln w="15875">
            <a:solidFill>
              <a:srgbClr val="0F766E"/>
            </a:solidFill>
            <a:prstDash val="solid"/>
          </a:ln>
        </p:spPr>
      </p:sp>
      <p:sp>
        <p:nvSpPr>
          <p:cNvPr id="17" name="Text 15"/>
          <p:cNvSpPr txBox="1"/>
          <p:nvPr/>
        </p:nvSpPr>
        <p:spPr>
          <a:xfrm>
            <a:off x="868680" y="3188716"/>
            <a:ext cx="3886200"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is concurrency? What is parallelism?</a:t>
            </a:r>
            <a:endParaRPr lang="en-US" sz="1500" dirty="0"/>
          </a:p>
        </p:txBody>
      </p:sp>
      <p:sp>
        <p:nvSpPr>
          <p:cNvPr id="18" name="Shape 16"/>
          <p:cNvSpPr/>
          <p:nvPr/>
        </p:nvSpPr>
        <p:spPr>
          <a:xfrm>
            <a:off x="548640" y="3830320"/>
            <a:ext cx="182880" cy="182880"/>
          </a:xfrm>
          <a:prstGeom prst="rect">
            <a:avLst/>
          </a:prstGeom>
          <a:solidFill>
            <a:srgbClr val="FFFFFF"/>
          </a:solidFill>
          <a:ln w="15875">
            <a:solidFill>
              <a:srgbClr val="0F766E"/>
            </a:solidFill>
            <a:prstDash val="solid"/>
          </a:ln>
        </p:spPr>
      </p:sp>
      <p:sp>
        <p:nvSpPr>
          <p:cNvPr id="19" name="Text 17"/>
          <p:cNvSpPr txBox="1"/>
          <p:nvPr/>
        </p:nvSpPr>
        <p:spPr>
          <a:xfrm>
            <a:off x="868680" y="3784600"/>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When can two threads help on one core?</a:t>
            </a:r>
            <a:endParaRPr lang="en-US" sz="1500" dirty="0"/>
          </a:p>
        </p:txBody>
      </p:sp>
      <p:sp>
        <p:nvSpPr>
          <p:cNvPr id="20" name="Shape 18"/>
          <p:cNvSpPr/>
          <p:nvPr/>
        </p:nvSpPr>
        <p:spPr>
          <a:xfrm>
            <a:off x="548640" y="4201414"/>
            <a:ext cx="182880" cy="182880"/>
          </a:xfrm>
          <a:prstGeom prst="rect">
            <a:avLst/>
          </a:prstGeom>
          <a:solidFill>
            <a:srgbClr val="FFFFFF"/>
          </a:solidFill>
          <a:ln w="15875">
            <a:solidFill>
              <a:srgbClr val="0F766E"/>
            </a:solidFill>
            <a:prstDash val="solid"/>
          </a:ln>
        </p:spPr>
      </p:sp>
      <p:sp>
        <p:nvSpPr>
          <p:cNvPr id="21" name="Text 19"/>
          <p:cNvSpPr txBox="1"/>
          <p:nvPr/>
        </p:nvSpPr>
        <p:spPr>
          <a:xfrm>
            <a:off x="868680" y="4155694"/>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Who decides which thread runs next?</a:t>
            </a:r>
            <a:endParaRPr lang="en-US" sz="1500" dirty="0"/>
          </a:p>
        </p:txBody>
      </p:sp>
      <p:sp>
        <p:nvSpPr>
          <p:cNvPr id="22" name="Shape 20"/>
          <p:cNvSpPr/>
          <p:nvPr/>
        </p:nvSpPr>
        <p:spPr>
          <a:xfrm>
            <a:off x="548640" y="4572508"/>
            <a:ext cx="182880" cy="182880"/>
          </a:xfrm>
          <a:prstGeom prst="rect">
            <a:avLst/>
          </a:prstGeom>
          <a:solidFill>
            <a:srgbClr val="FFFFFF"/>
          </a:solidFill>
          <a:ln w="15875">
            <a:solidFill>
              <a:srgbClr val="0F766E"/>
            </a:solidFill>
            <a:prstDash val="solid"/>
          </a:ln>
        </p:spPr>
      </p:sp>
      <p:sp>
        <p:nvSpPr>
          <p:cNvPr id="23" name="Text 21"/>
          <p:cNvSpPr txBox="1"/>
          <p:nvPr/>
        </p:nvSpPr>
        <p:spPr>
          <a:xfrm>
            <a:off x="868680" y="4526788"/>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measure before adding threads?</a:t>
            </a:r>
            <a:endParaRPr lang="en-US" sz="1500" dirty="0"/>
          </a:p>
        </p:txBody>
      </p:sp>
      <p:sp>
        <p:nvSpPr>
          <p:cNvPr id="24" name="Shape 22"/>
          <p:cNvSpPr/>
          <p:nvPr/>
        </p:nvSpPr>
        <p:spPr>
          <a:xfrm>
            <a:off x="5166360" y="1417320"/>
            <a:ext cx="6476695" cy="1518920"/>
          </a:xfrm>
          <a:prstGeom prst="roundRect">
            <a:avLst>
              <a:gd name="adj" fmla="val 4816"/>
            </a:avLst>
          </a:prstGeom>
          <a:solidFill>
            <a:srgbClr val="FFFFFF"/>
          </a:solidFill>
          <a:ln w="12700">
            <a:solidFill>
              <a:srgbClr val="D5DDE5"/>
            </a:solidFill>
            <a:prstDash val="solid"/>
          </a:ln>
        </p:spPr>
      </p:sp>
      <p:sp>
        <p:nvSpPr>
          <p:cNvPr id="25" name="Text 23"/>
          <p:cNvSpPr txBox="1"/>
          <p:nvPr/>
        </p:nvSpPr>
        <p:spPr>
          <a:xfrm>
            <a:off x="5394960" y="15819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NUMBERS</a:t>
            </a:r>
            <a:endParaRPr lang="en-US" sz="1200" dirty="0"/>
          </a:p>
        </p:txBody>
      </p:sp>
      <p:sp>
        <p:nvSpPr>
          <p:cNvPr id="26" name="Text 24"/>
          <p:cNvSpPr txBox="1"/>
          <p:nvPr/>
        </p:nvSpPr>
        <p:spPr>
          <a:xfrm>
            <a:off x="5394960" y="18928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64 tasks each sleep 100 ms. How long on 1 thread? On 64 threads?</a:t>
            </a:r>
            <a:endParaRPr lang="en-US" sz="1500" dirty="0"/>
          </a:p>
        </p:txBody>
      </p:sp>
      <p:sp>
        <p:nvSpPr>
          <p:cNvPr id="27" name="Text 25"/>
          <p:cNvSpPr txBox="1"/>
          <p:nvPr/>
        </p:nvSpPr>
        <p:spPr>
          <a:xfrm>
            <a:off x="5394960" y="24704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6.4 s vs about 0.1 s. Waiting overlaps perfectly.</a:t>
            </a:r>
            <a:endParaRPr lang="en-US" sz="1400" dirty="0"/>
          </a:p>
        </p:txBody>
      </p:sp>
      <p:sp>
        <p:nvSpPr>
          <p:cNvPr id="28" name="Shape 26"/>
          <p:cNvSpPr/>
          <p:nvPr/>
        </p:nvSpPr>
        <p:spPr>
          <a:xfrm>
            <a:off x="5166360" y="3119120"/>
            <a:ext cx="6476695" cy="1503934"/>
          </a:xfrm>
          <a:prstGeom prst="roundRect">
            <a:avLst>
              <a:gd name="adj" fmla="val 4864"/>
            </a:avLst>
          </a:prstGeom>
          <a:solidFill>
            <a:srgbClr val="FFFFFF"/>
          </a:solidFill>
          <a:ln w="12700">
            <a:solidFill>
              <a:srgbClr val="D5DDE5"/>
            </a:solidFill>
            <a:prstDash val="solid"/>
          </a:ln>
        </p:spPr>
      </p:sp>
      <p:sp>
        <p:nvSpPr>
          <p:cNvPr id="29" name="Text 27"/>
          <p:cNvSpPr txBox="1"/>
          <p:nvPr/>
        </p:nvSpPr>
        <p:spPr>
          <a:xfrm>
            <a:off x="5394960" y="32837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TRACE IT</a:t>
            </a:r>
            <a:endParaRPr lang="en-US" sz="1200" dirty="0"/>
          </a:p>
        </p:txBody>
      </p:sp>
      <p:sp>
        <p:nvSpPr>
          <p:cNvPr id="30" name="Text 28"/>
          <p:cNvSpPr txBox="1"/>
          <p:nvPr/>
        </p:nvSpPr>
        <p:spPr>
          <a:xfrm>
            <a:off x="5394960" y="3594608"/>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Two threads each print 1 to 3. Is "1 1 2 3 2 3" possible?</a:t>
            </a:r>
            <a:endParaRPr lang="en-US" sz="1500" dirty="0"/>
          </a:p>
        </p:txBody>
      </p:sp>
      <p:sp>
        <p:nvSpPr>
          <p:cNvPr id="31" name="Text 29"/>
          <p:cNvSpPr txBox="1"/>
          <p:nvPr/>
        </p:nvSpPr>
        <p:spPr>
          <a:xfrm>
            <a:off x="5394960" y="3947414"/>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Yes. Any interleaving that keeps each thread's own order is possible.</a:t>
            </a:r>
            <a:endParaRPr lang="en-US" sz="1400" dirty="0"/>
          </a:p>
        </p:txBody>
      </p:sp>
      <p:sp>
        <p:nvSpPr>
          <p:cNvPr id="32" name="Shape 30"/>
          <p:cNvSpPr/>
          <p:nvPr/>
        </p:nvSpPr>
        <p:spPr>
          <a:xfrm>
            <a:off x="5166360" y="4805934"/>
            <a:ext cx="6476695" cy="1728724"/>
          </a:xfrm>
          <a:prstGeom prst="roundRect">
            <a:avLst>
              <a:gd name="adj" fmla="val 4232"/>
            </a:avLst>
          </a:prstGeom>
          <a:solidFill>
            <a:srgbClr val="FFFFFF"/>
          </a:solidFill>
          <a:ln w="12700">
            <a:solidFill>
              <a:srgbClr val="D5DDE5"/>
            </a:solidFill>
            <a:prstDash val="solid"/>
          </a:ln>
        </p:spPr>
      </p:sp>
      <p:sp>
        <p:nvSpPr>
          <p:cNvPr id="33" name="Text 31"/>
          <p:cNvSpPr txBox="1"/>
          <p:nvPr/>
        </p:nvSpPr>
        <p:spPr>
          <a:xfrm>
            <a:off x="5394960" y="4970526"/>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DESIGN</a:t>
            </a:r>
            <a:endParaRPr lang="en-US" sz="1200" dirty="0"/>
          </a:p>
        </p:txBody>
      </p:sp>
      <p:sp>
        <p:nvSpPr>
          <p:cNvPr id="34" name="Text 32"/>
          <p:cNvSpPr txBox="1"/>
          <p:nvPr/>
        </p:nvSpPr>
        <p:spPr>
          <a:xfrm>
            <a:off x="5394960" y="5281422"/>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A program downloads 10 files, then hashes them. Where would threads help?</a:t>
            </a:r>
            <a:endParaRPr lang="en-US" sz="1500" dirty="0"/>
          </a:p>
        </p:txBody>
      </p:sp>
      <p:sp>
        <p:nvSpPr>
          <p:cNvPr id="35" name="Text 33"/>
          <p:cNvSpPr txBox="1"/>
          <p:nvPr/>
        </p:nvSpPr>
        <p:spPr>
          <a:xfrm>
            <a:off x="5394960" y="5859018"/>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The downloads (waiting). The hashing only speeds up with more cores.</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  ·  MULTIPLE THREADS</a:t>
            </a:r>
            <a:endParaRPr lang="en-US" sz="1200" dirty="0"/>
          </a:p>
        </p:txBody>
      </p:sp>
      <p:sp>
        <p:nvSpPr>
          <p:cNvPr id="3" name="Shape 1"/>
          <p:cNvSpPr/>
          <p:nvPr/>
        </p:nvSpPr>
        <p:spPr>
          <a:xfrm>
            <a:off x="6229807" y="292608"/>
            <a:ext cx="1298448" cy="274320"/>
          </a:xfrm>
          <a:prstGeom prst="roundRect">
            <a:avLst>
              <a:gd name="adj" fmla="val 23333"/>
            </a:avLst>
          </a:prstGeom>
          <a:solidFill>
            <a:srgbClr val="1B2430"/>
          </a:solidFill>
          <a:ln w="12700">
            <a:solidFill>
              <a:srgbClr val="1B2430"/>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Give the producer its own thread</a:t>
            </a:r>
            <a:endParaRPr lang="en-US" sz="2800" dirty="0"/>
          </a:p>
        </p:txBody>
      </p:sp>
      <p:sp>
        <p:nvSpPr>
          <p:cNvPr id="12" name="Shape 10"/>
          <p:cNvSpPr/>
          <p:nvPr/>
        </p:nvSpPr>
        <p:spPr>
          <a:xfrm>
            <a:off x="548640" y="1417320"/>
            <a:ext cx="6766560" cy="1472184"/>
          </a:xfrm>
          <a:prstGeom prst="roundRect">
            <a:avLst>
              <a:gd name="adj" fmla="val 4969"/>
            </a:avLst>
          </a:prstGeom>
          <a:solidFill>
            <a:srgbClr val="EEF2F5"/>
          </a:solidFill>
          <a:ln w="12700">
            <a:solidFill>
              <a:srgbClr val="EEF2F5"/>
            </a:solidFill>
            <a:prstDash val="solid"/>
          </a:ln>
        </p:spPr>
      </p:sp>
      <p:sp>
        <p:nvSpPr>
          <p:cNvPr id="13" name="Text 11"/>
          <p:cNvSpPr txBox="1"/>
          <p:nvPr/>
        </p:nvSpPr>
        <p:spPr>
          <a:xfrm>
            <a:off x="731520" y="1581912"/>
            <a:ext cx="6400800" cy="11430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main ──creates──► std::thread t(producer)</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 returns from main ... t is destroyed</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what happens to</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the running thread?</a:t>
            </a:r>
            <a:endParaRPr lang="en-US" sz="1500" dirty="0"/>
          </a:p>
        </p:txBody>
      </p:sp>
      <p:sp>
        <p:nvSpPr>
          <p:cNvPr id="14" name="Shape 12"/>
          <p:cNvSpPr/>
          <p:nvPr/>
        </p:nvSpPr>
        <p:spPr>
          <a:xfrm>
            <a:off x="548640" y="3118104"/>
            <a:ext cx="6766560" cy="1472184"/>
          </a:xfrm>
          <a:prstGeom prst="roundRect">
            <a:avLst>
              <a:gd name="adj" fmla="val 4969"/>
            </a:avLst>
          </a:prstGeom>
          <a:solidFill>
            <a:srgbClr val="161C24"/>
          </a:solidFill>
          <a:ln w="12700">
            <a:solidFill>
              <a:srgbClr val="161C24"/>
            </a:solidFill>
            <a:prstDash val="solid"/>
          </a:ln>
        </p:spPr>
      </p:sp>
      <p:sp>
        <p:nvSpPr>
          <p:cNvPr id="15" name="Text 13"/>
          <p:cNvSpPr txBox="1"/>
          <p:nvPr/>
        </p:nvSpPr>
        <p:spPr>
          <a:xfrm>
            <a:off x="731520" y="3282696"/>
            <a:ext cx="6400800" cy="1143000"/>
          </a:xfrm>
          <a:prstGeom prst="rect">
            <a:avLst/>
          </a:prstGeom>
          <a:noFill/>
          <a:ln/>
        </p:spPr>
        <p:txBody>
          <a:bodyPr wrap="square" lIns="0" tIns="0" rIns="0" bIns="0" rtlCol="0" anchor="t"/>
          <a:lstStyle/>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void work() { std::cout &lt;&lt; "working\n"; }</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int main() {</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std::thread t(work);</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 t is destroyed here</a:t>
            </a:r>
            <a:endParaRPr lang="en-US" sz="1500" dirty="0"/>
          </a:p>
        </p:txBody>
      </p:sp>
      <p:sp>
        <p:nvSpPr>
          <p:cNvPr id="16" name="Text 14"/>
          <p:cNvSpPr txBox="1"/>
          <p:nvPr/>
        </p:nvSpPr>
        <p:spPr>
          <a:xfrm>
            <a:off x="7680960" y="1417320"/>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THE QUESTION</a:t>
            </a:r>
            <a:endParaRPr lang="en-US" sz="1200" dirty="0"/>
          </a:p>
        </p:txBody>
      </p:sp>
      <p:sp>
        <p:nvSpPr>
          <p:cNvPr id="17" name="Text 15"/>
          <p:cNvSpPr txBox="1"/>
          <p:nvPr/>
        </p:nvSpPr>
        <p:spPr>
          <a:xfrm>
            <a:off x="7680960" y="1728216"/>
            <a:ext cx="3962095" cy="1115568"/>
          </a:xfrm>
          <a:prstGeom prst="rect">
            <a:avLst/>
          </a:prstGeom>
          <a:noFill/>
          <a:ln/>
        </p:spPr>
        <p:txBody>
          <a:bodyPr wrap="square" lIns="0" tIns="0" rIns="0" bIns="0" rtlCol="0" anchor="t"/>
          <a:lstStyle/>
          <a:p>
            <a:pPr indent="0" marL="0">
              <a:lnSpc>
                <a:spcPct val="105000"/>
              </a:lnSpc>
              <a:buNone/>
            </a:pPr>
            <a:r>
              <a:rPr lang="en-US" sz="1800" b="1" dirty="0">
                <a:solidFill>
                  <a:srgbClr val="1B2430"/>
                </a:solidFill>
                <a:latin typeface="Calibri" pitchFamily="34" charset="0"/>
                <a:ea typeface="Calibri" pitchFamily="34" charset="-122"/>
                <a:cs typeface="Calibri" pitchFamily="34" charset="-120"/>
              </a:rPr>
              <a:t>main starts a thread and returns. The std::thread object is destroyed while the thread runs. What should C++ do?</a:t>
            </a:r>
            <a:endParaRPr lang="en-US" sz="1800" dirty="0"/>
          </a:p>
        </p:txBody>
      </p:sp>
      <p:sp>
        <p:nvSpPr>
          <p:cNvPr id="18" name="Text 16"/>
          <p:cNvSpPr txBox="1"/>
          <p:nvPr/>
        </p:nvSpPr>
        <p:spPr>
          <a:xfrm>
            <a:off x="7680960" y="3072384"/>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PREDICT</a:t>
            </a:r>
            <a:endParaRPr lang="en-US" sz="1200" dirty="0"/>
          </a:p>
        </p:txBody>
      </p:sp>
      <p:sp>
        <p:nvSpPr>
          <p:cNvPr id="19" name="Text 17"/>
          <p:cNvSpPr txBox="1"/>
          <p:nvPr/>
        </p:nvSpPr>
        <p:spPr>
          <a:xfrm>
            <a:off x="7680960" y="3383280"/>
            <a:ext cx="396209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Does this print "working" and exit normally?</a:t>
            </a:r>
            <a:endParaRPr lang="en-US" sz="1600" dirty="0"/>
          </a:p>
        </p:txBody>
      </p:sp>
      <p:sp>
        <p:nvSpPr>
          <p:cNvPr id="20" name="Shape 18"/>
          <p:cNvSpPr/>
          <p:nvPr/>
        </p:nvSpPr>
        <p:spPr>
          <a:xfrm>
            <a:off x="7680960" y="4173728"/>
            <a:ext cx="3962095" cy="1764030"/>
          </a:xfrm>
          <a:prstGeom prst="roundRect">
            <a:avLst>
              <a:gd name="adj" fmla="val 4147"/>
            </a:avLst>
          </a:prstGeom>
          <a:solidFill>
            <a:srgbClr val="EEF2F5"/>
          </a:solidFill>
          <a:ln w="12700">
            <a:solidFill>
              <a:srgbClr val="EEF2F5"/>
            </a:solidFill>
            <a:prstDash val="solid"/>
          </a:ln>
        </p:spPr>
      </p:sp>
      <p:sp>
        <p:nvSpPr>
          <p:cNvPr id="21" name="Text 19"/>
          <p:cNvSpPr txBox="1"/>
          <p:nvPr/>
        </p:nvSpPr>
        <p:spPr>
          <a:xfrm>
            <a:off x="7909560" y="4356608"/>
            <a:ext cx="3504895"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ANSWER</a:t>
            </a:r>
            <a:endParaRPr lang="en-US" sz="1200" dirty="0"/>
          </a:p>
        </p:txBody>
      </p:sp>
      <p:sp>
        <p:nvSpPr>
          <p:cNvPr id="22" name="Text 20"/>
          <p:cNvSpPr txBox="1"/>
          <p:nvPr/>
        </p:nvSpPr>
        <p:spPr>
          <a:xfrm>
            <a:off x="7909560" y="4667504"/>
            <a:ext cx="3504895" cy="116052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No. The program aborts (std::terminate).</a:t>
            </a:r>
            <a:endParaRPr lang="en-US" sz="1500" dirty="0"/>
          </a:p>
          <a:p>
            <a:pPr indent="0" marL="0">
              <a:lnSpc>
                <a:spcPct val="105000"/>
              </a:lnSpc>
              <a:buNone/>
            </a:pP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A std::thread that is still joinable must not be destroyed.</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  ·  MULTIPLE THREADS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1B2430"/>
          </a:solidFill>
          <a:ln w="12700">
            <a:solidFill>
              <a:srgbClr val="1B2430"/>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A thread object owns a running thread</a:t>
            </a:r>
            <a:endParaRPr lang="en-US" sz="2800" dirty="0"/>
          </a:p>
        </p:txBody>
      </p:sp>
      <p:sp>
        <p:nvSpPr>
          <p:cNvPr id="12" name="Text 10"/>
          <p:cNvSpPr txBox="1"/>
          <p:nvPr/>
        </p:nvSpPr>
        <p:spPr>
          <a:xfrm>
            <a:off x="548640" y="1417320"/>
            <a:ext cx="429768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RUN IT</a:t>
            </a:r>
            <a:endParaRPr lang="en-US" sz="1200" dirty="0"/>
          </a:p>
        </p:txBody>
      </p:sp>
      <p:sp>
        <p:nvSpPr>
          <p:cNvPr id="13" name="Shape 11"/>
          <p:cNvSpPr/>
          <p:nvPr/>
        </p:nvSpPr>
        <p:spPr>
          <a:xfrm>
            <a:off x="548640" y="1728216"/>
            <a:ext cx="4297680" cy="832104"/>
          </a:xfrm>
          <a:prstGeom prst="roundRect">
            <a:avLst>
              <a:gd name="adj" fmla="val 8791"/>
            </a:avLst>
          </a:prstGeom>
          <a:solidFill>
            <a:srgbClr val="0D1117"/>
          </a:solidFill>
          <a:ln w="12700">
            <a:solidFill>
              <a:srgbClr val="0D1117"/>
            </a:solidFill>
            <a:prstDash val="solid"/>
          </a:ln>
        </p:spPr>
      </p:sp>
      <p:sp>
        <p:nvSpPr>
          <p:cNvPr id="14" name="Text 12"/>
          <p:cNvSpPr txBox="1"/>
          <p:nvPr/>
        </p:nvSpPr>
        <p:spPr>
          <a:xfrm>
            <a:off x="731520" y="1892808"/>
            <a:ext cx="3931920" cy="502920"/>
          </a:xfrm>
          <a:prstGeom prst="rect">
            <a:avLst/>
          </a:prstGeom>
          <a:noFill/>
          <a:ln/>
        </p:spPr>
        <p:txBody>
          <a:bodyPr wrap="square" lIns="0" tIns="0" rIns="0" bIns="0" rtlCol="0" anchor="t"/>
          <a:lstStyle/>
          <a:p>
            <a:pPr indent="0" marL="0">
              <a:lnSpc>
                <a:spcPct val="100000"/>
              </a:lnSpc>
              <a:buNone/>
            </a:pPr>
            <a:r>
              <a:rPr lang="en-US" sz="1100" dirty="0">
                <a:solidFill>
                  <a:srgbClr val="CDE8D9"/>
                </a:solidFill>
                <a:latin typeface="Courier New" pitchFamily="34" charset="0"/>
                <a:ea typeface="Courier New" pitchFamily="34" charset="-122"/>
                <a:cs typeface="Courier New" pitchFamily="34" charset="-120"/>
              </a:rPr>
              <a:t>$ ./tiny terminate</a:t>
            </a:r>
            <a:endParaRPr lang="en-US" sz="1100" dirty="0"/>
          </a:p>
          <a:p>
            <a:pPr indent="0" marL="0">
              <a:lnSpc>
                <a:spcPct val="100000"/>
              </a:lnSpc>
              <a:buNone/>
            </a:pPr>
            <a:r>
              <a:rPr lang="en-US" sz="1100" dirty="0">
                <a:solidFill>
                  <a:srgbClr val="CDE8D9"/>
                </a:solidFill>
                <a:latin typeface="Courier New" pitchFamily="34" charset="0"/>
                <a:ea typeface="Courier New" pitchFamily="34" charset="-122"/>
                <a:cs typeface="Courier New" pitchFamily="34" charset="-120"/>
              </a:rPr>
              <a:t>terminate called without an active exception</a:t>
            </a:r>
            <a:endParaRPr lang="en-US" sz="1100" dirty="0"/>
          </a:p>
          <a:p>
            <a:pPr indent="0" marL="0">
              <a:lnSpc>
                <a:spcPct val="100000"/>
              </a:lnSpc>
              <a:buNone/>
            </a:pPr>
            <a:r>
              <a:rPr lang="en-US" sz="1100" dirty="0">
                <a:solidFill>
                  <a:srgbClr val="CDE8D9"/>
                </a:solidFill>
                <a:latin typeface="Courier New" pitchFamily="34" charset="0"/>
                <a:ea typeface="Courier New" pitchFamily="34" charset="-122"/>
                <a:cs typeface="Courier New" pitchFamily="34" charset="-120"/>
              </a:rPr>
              <a:t>Aborted</a:t>
            </a:r>
            <a:endParaRPr lang="en-US" sz="1100" dirty="0"/>
          </a:p>
        </p:txBody>
      </p:sp>
      <p:sp>
        <p:nvSpPr>
          <p:cNvPr id="15" name="Text 13"/>
          <p:cNvSpPr txBox="1"/>
          <p:nvPr/>
        </p:nvSpPr>
        <p:spPr>
          <a:xfrm>
            <a:off x="548640" y="2743200"/>
            <a:ext cx="4297680" cy="71094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Then pass the queue without std::ref: the thread fills its own copy, and main's queue stays empty.</a:t>
            </a:r>
            <a:endParaRPr lang="en-US" sz="1500" dirty="0"/>
          </a:p>
        </p:txBody>
      </p:sp>
      <p:sp>
        <p:nvSpPr>
          <p:cNvPr id="16" name="Text 14"/>
          <p:cNvSpPr txBox="1"/>
          <p:nvPr/>
        </p:nvSpPr>
        <p:spPr>
          <a:xfrm>
            <a:off x="5166360" y="1417320"/>
            <a:ext cx="6476695"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WHAT HAPPENS, STEP BY STEP</a:t>
            </a:r>
            <a:endParaRPr lang="en-US" sz="1200" dirty="0"/>
          </a:p>
        </p:txBody>
      </p:sp>
      <p:sp>
        <p:nvSpPr>
          <p:cNvPr id="17" name="Shape 15"/>
          <p:cNvSpPr/>
          <p:nvPr/>
        </p:nvSpPr>
        <p:spPr>
          <a:xfrm>
            <a:off x="5166360" y="1728216"/>
            <a:ext cx="6476695" cy="1929384"/>
          </a:xfrm>
          <a:prstGeom prst="roundRect">
            <a:avLst>
              <a:gd name="adj" fmla="val 3791"/>
            </a:avLst>
          </a:prstGeom>
          <a:solidFill>
            <a:srgbClr val="EEF2F5"/>
          </a:solidFill>
          <a:ln w="12700">
            <a:solidFill>
              <a:srgbClr val="EEF2F5"/>
            </a:solidFill>
            <a:prstDash val="solid"/>
          </a:ln>
        </p:spPr>
      </p:sp>
      <p:sp>
        <p:nvSpPr>
          <p:cNvPr id="18" name="Text 16"/>
          <p:cNvSpPr txBox="1"/>
          <p:nvPr/>
        </p:nvSpPr>
        <p:spPr>
          <a:xfrm>
            <a:off x="5349240" y="1892808"/>
            <a:ext cx="6110935" cy="16002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std::thread object ──owns──► OS thread</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before the object dies, choose one:</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join()    wait here until it finishes</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detach()  let it run with no owner</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destroyed while joinable → std::terminate</a:t>
            </a:r>
            <a:endParaRPr lang="en-US" sz="1500" dirty="0"/>
          </a:p>
        </p:txBody>
      </p:sp>
      <p:sp>
        <p:nvSpPr>
          <p:cNvPr id="19" name="Shape 17"/>
          <p:cNvSpPr/>
          <p:nvPr/>
        </p:nvSpPr>
        <p:spPr>
          <a:xfrm>
            <a:off x="5166360" y="3886200"/>
            <a:ext cx="6476695" cy="1089660"/>
          </a:xfrm>
          <a:prstGeom prst="roundRect">
            <a:avLst>
              <a:gd name="adj" fmla="val 6713"/>
            </a:avLst>
          </a:prstGeom>
          <a:solidFill>
            <a:srgbClr val="FDF1E8"/>
          </a:solidFill>
          <a:ln w="12700">
            <a:solidFill>
              <a:srgbClr val="FDF1E8"/>
            </a:solidFill>
            <a:prstDash val="solid"/>
          </a:ln>
        </p:spPr>
      </p:sp>
      <p:sp>
        <p:nvSpPr>
          <p:cNvPr id="20" name="Text 18"/>
          <p:cNvSpPr txBox="1"/>
          <p:nvPr/>
        </p:nvSpPr>
        <p:spPr>
          <a:xfrm>
            <a:off x="5394960" y="4069080"/>
            <a:ext cx="60194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SO</a:t>
            </a:r>
            <a:endParaRPr lang="en-US" sz="1200" dirty="0"/>
          </a:p>
        </p:txBody>
      </p:sp>
      <p:sp>
        <p:nvSpPr>
          <p:cNvPr id="21" name="Text 19"/>
          <p:cNvSpPr txBox="1"/>
          <p:nvPr/>
        </p:nvSpPr>
        <p:spPr>
          <a:xfrm>
            <a:off x="5394960" y="4379976"/>
            <a:ext cx="6019495"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C++ refuses to guess. Arguments are COPIED into the new thread: std::ref(q) shares the real queue.</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  ·  MULTIPLE THREADS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1B2430"/>
          </a:solidFill>
          <a:ln w="12700">
            <a:solidFill>
              <a:srgbClr val="1B2430"/>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An owner that always joins</a:t>
            </a:r>
            <a:endParaRPr lang="en-US" sz="2800" dirty="0"/>
          </a:p>
        </p:txBody>
      </p:sp>
      <p:sp>
        <p:nvSpPr>
          <p:cNvPr id="12" name="Text 10"/>
          <p:cNvSpPr txBox="1"/>
          <p:nvPr/>
        </p:nvSpPr>
        <p:spPr>
          <a:xfrm>
            <a:off x="548640" y="1417320"/>
            <a:ext cx="676656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thread_group.hpp</a:t>
            </a:r>
            <a:endParaRPr lang="en-US" sz="1200" dirty="0"/>
          </a:p>
        </p:txBody>
      </p:sp>
      <p:sp>
        <p:nvSpPr>
          <p:cNvPr id="13" name="Shape 11"/>
          <p:cNvSpPr/>
          <p:nvPr/>
        </p:nvSpPr>
        <p:spPr>
          <a:xfrm>
            <a:off x="548640" y="1728216"/>
            <a:ext cx="7132320" cy="2676144"/>
          </a:xfrm>
          <a:prstGeom prst="roundRect">
            <a:avLst>
              <a:gd name="adj" fmla="val 2733"/>
            </a:avLst>
          </a:prstGeom>
          <a:solidFill>
            <a:srgbClr val="161C24"/>
          </a:solidFill>
          <a:ln w="12700">
            <a:solidFill>
              <a:srgbClr val="161C24"/>
            </a:solidFill>
            <a:prstDash val="solid"/>
          </a:ln>
        </p:spPr>
      </p:sp>
      <p:sp>
        <p:nvSpPr>
          <p:cNvPr id="14" name="Text 12"/>
          <p:cNvSpPr txBox="1"/>
          <p:nvPr/>
        </p:nvSpPr>
        <p:spPr>
          <a:xfrm>
            <a:off x="731520" y="1892808"/>
            <a:ext cx="6766560" cy="2346960"/>
          </a:xfrm>
          <a:prstGeom prst="rect">
            <a:avLst/>
          </a:prstGeom>
          <a:noFill/>
          <a:ln/>
        </p:spPr>
        <p:txBody>
          <a:bodyPr wrap="square" lIns="0" tIns="0" rIns="0" bIns="0" rtlCol="0" anchor="t"/>
          <a:lstStyle/>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class ThreadGroup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std::vector&lt;std::thread&gt; ts;</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public:</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void add(std::thread t) { ts.push_back(std::move(t));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~ThreadGroup()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for (auto&amp; t : ts)</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if (t.joinable()) t.join();</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a:t>
            </a:r>
            <a:endParaRPr lang="en-US" sz="1400" dirty="0"/>
          </a:p>
          <a:p>
            <a:pPr indent="0" marL="0">
              <a:lnSpc>
                <a:spcPct val="100000"/>
              </a:lnSpc>
              <a:buNone/>
            </a:pPr>
            <a:r>
              <a:rPr lang="en-US" sz="1400" dirty="0">
                <a:solidFill>
                  <a:srgbClr val="A9B4BF"/>
                </a:solidFill>
                <a:latin typeface="Courier New" pitchFamily="34" charset="0"/>
                <a:ea typeface="Courier New" pitchFamily="34" charset="-122"/>
                <a:cs typeface="Courier New" pitchFamily="34" charset="-120"/>
              </a:rPr>
              <a:t>  ThreadGroup g;</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g.add(std::thread(producer, std::ref(q), n));</a:t>
            </a:r>
            <a:endParaRPr lang="en-US" sz="1400" dirty="0"/>
          </a:p>
        </p:txBody>
      </p:sp>
      <p:sp>
        <p:nvSpPr>
          <p:cNvPr id="15" name="Shape 13"/>
          <p:cNvSpPr/>
          <p:nvPr/>
        </p:nvSpPr>
        <p:spPr>
          <a:xfrm>
            <a:off x="8001000" y="1728216"/>
            <a:ext cx="365760" cy="365760"/>
          </a:xfrm>
          <a:prstGeom prst="ellipse">
            <a:avLst/>
          </a:prstGeom>
          <a:solidFill>
            <a:srgbClr val="0F766E"/>
          </a:solidFill>
          <a:ln w="12700">
            <a:solidFill>
              <a:srgbClr val="0F766E"/>
            </a:solidFill>
            <a:prstDash val="solid"/>
          </a:ln>
        </p:spPr>
      </p:sp>
      <p:sp>
        <p:nvSpPr>
          <p:cNvPr id="16" name="Text 14"/>
          <p:cNvSpPr txBox="1"/>
          <p:nvPr/>
        </p:nvSpPr>
        <p:spPr>
          <a:xfrm>
            <a:off x="8001000" y="17282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8503920" y="1764792"/>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The destructor joins every thread, on every path out, even an exception.</a:t>
            </a:r>
            <a:endParaRPr lang="en-US" sz="1600" dirty="0"/>
          </a:p>
        </p:txBody>
      </p:sp>
      <p:sp>
        <p:nvSpPr>
          <p:cNvPr id="18" name="Shape 16"/>
          <p:cNvSpPr/>
          <p:nvPr/>
        </p:nvSpPr>
        <p:spPr>
          <a:xfrm>
            <a:off x="8001000" y="2758440"/>
            <a:ext cx="365760" cy="365760"/>
          </a:xfrm>
          <a:prstGeom prst="ellipse">
            <a:avLst/>
          </a:prstGeom>
          <a:solidFill>
            <a:srgbClr val="0F766E"/>
          </a:solidFill>
          <a:ln w="12700">
            <a:solidFill>
              <a:srgbClr val="0F766E"/>
            </a:solidFill>
            <a:prstDash val="solid"/>
          </a:ln>
        </p:spPr>
      </p:sp>
      <p:sp>
        <p:nvSpPr>
          <p:cNvPr id="19" name="Text 17"/>
          <p:cNvSpPr txBox="1"/>
          <p:nvPr/>
        </p:nvSpPr>
        <p:spPr>
          <a:xfrm>
            <a:off x="8001000" y="27584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8503920" y="2795016"/>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std::ref(q) passes the real queue, not a copy.</a:t>
            </a:r>
            <a:endParaRPr lang="en-US" sz="1600" dirty="0"/>
          </a:p>
        </p:txBody>
      </p:sp>
      <p:sp>
        <p:nvSpPr>
          <p:cNvPr id="21" name="Shape 19"/>
          <p:cNvSpPr/>
          <p:nvPr/>
        </p:nvSpPr>
        <p:spPr>
          <a:xfrm>
            <a:off x="8001000" y="3548888"/>
            <a:ext cx="365760" cy="365760"/>
          </a:xfrm>
          <a:prstGeom prst="ellipse">
            <a:avLst/>
          </a:prstGeom>
          <a:solidFill>
            <a:srgbClr val="0F766E"/>
          </a:solidFill>
          <a:ln w="12700">
            <a:solidFill>
              <a:srgbClr val="0F766E"/>
            </a:solidFill>
            <a:prstDash val="solid"/>
          </a:ln>
        </p:spPr>
      </p:sp>
      <p:sp>
        <p:nvSpPr>
          <p:cNvPr id="22" name="Text 20"/>
          <p:cNvSpPr txBox="1"/>
          <p:nvPr/>
        </p:nvSpPr>
        <p:spPr>
          <a:xfrm>
            <a:off x="8001000" y="354888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503920" y="3585464"/>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In this project we never detach.</a:t>
            </a:r>
            <a:endParaRPr lang="en-US" sz="16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  ·  MULTIPLE THREADS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1B2430"/>
          </a:solidFill>
          <a:ln w="12700">
            <a:solidFill>
              <a:srgbClr val="1B2430"/>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Check yourself</a:t>
            </a:r>
            <a:endParaRPr lang="en-US" sz="2800" dirty="0"/>
          </a:p>
        </p:txBody>
      </p:sp>
      <p:sp>
        <p:nvSpPr>
          <p:cNvPr id="12" name="Shape 10"/>
          <p:cNvSpPr/>
          <p:nvPr/>
        </p:nvSpPr>
        <p:spPr>
          <a:xfrm>
            <a:off x="548640" y="1417320"/>
            <a:ext cx="4206240" cy="1404366"/>
          </a:xfrm>
          <a:prstGeom prst="roundRect">
            <a:avLst>
              <a:gd name="adj" fmla="val 5209"/>
            </a:avLst>
          </a:prstGeom>
          <a:solidFill>
            <a:srgbClr val="EEF2F5"/>
          </a:solidFill>
          <a:ln w="12700">
            <a:solidFill>
              <a:srgbClr val="EEF2F5"/>
            </a:solidFill>
            <a:prstDash val="solid"/>
          </a:ln>
        </p:spPr>
      </p:sp>
      <p:sp>
        <p:nvSpPr>
          <p:cNvPr id="13" name="Text 11"/>
          <p:cNvSpPr txBox="1"/>
          <p:nvPr/>
        </p:nvSpPr>
        <p:spPr>
          <a:xfrm>
            <a:off x="777240" y="1600200"/>
            <a:ext cx="3749040"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THE LESSON</a:t>
            </a:r>
            <a:endParaRPr lang="en-US" sz="1200" dirty="0"/>
          </a:p>
        </p:txBody>
      </p:sp>
      <p:sp>
        <p:nvSpPr>
          <p:cNvPr id="14" name="Text 12"/>
          <p:cNvSpPr txBox="1"/>
          <p:nvPr/>
        </p:nvSpPr>
        <p:spPr>
          <a:xfrm>
            <a:off x="777240" y="1911096"/>
            <a:ext cx="3749040" cy="800862"/>
          </a:xfrm>
          <a:prstGeom prst="rect">
            <a:avLst/>
          </a:prstGeom>
          <a:noFill/>
          <a:ln/>
        </p:spPr>
        <p:txBody>
          <a:bodyPr wrap="square" lIns="0" tIns="0" rIns="0" bIns="0" rtlCol="0" anchor="t"/>
          <a:lstStyle/>
          <a:p>
            <a:pPr indent="0" marL="0">
              <a:lnSpc>
                <a:spcPct val="105000"/>
              </a:lnSpc>
              <a:buNone/>
            </a:pPr>
            <a:r>
              <a:rPr lang="en-US" sz="1700" dirty="0">
                <a:solidFill>
                  <a:srgbClr val="1B2430"/>
                </a:solidFill>
                <a:latin typeface="Calibri" pitchFamily="34" charset="0"/>
                <a:ea typeface="Calibri" pitchFamily="34" charset="-122"/>
                <a:cs typeface="Calibri" pitchFamily="34" charset="-120"/>
              </a:rPr>
              <a:t>Every thread needs exactly one owner that joins it. Let a destructor be that owner.</a:t>
            </a:r>
            <a:endParaRPr lang="en-US" sz="1700" dirty="0"/>
          </a:p>
        </p:txBody>
      </p:sp>
      <p:sp>
        <p:nvSpPr>
          <p:cNvPr id="15" name="Text 13"/>
          <p:cNvSpPr txBox="1"/>
          <p:nvPr/>
        </p:nvSpPr>
        <p:spPr>
          <a:xfrm>
            <a:off x="548640" y="3096006"/>
            <a:ext cx="420624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EXPLAIN WITHOUT LOOKING</a:t>
            </a:r>
            <a:endParaRPr lang="en-US" sz="1200" dirty="0"/>
          </a:p>
        </p:txBody>
      </p:sp>
      <p:sp>
        <p:nvSpPr>
          <p:cNvPr id="16" name="Shape 14"/>
          <p:cNvSpPr/>
          <p:nvPr/>
        </p:nvSpPr>
        <p:spPr>
          <a:xfrm>
            <a:off x="548640" y="3489198"/>
            <a:ext cx="182880" cy="182880"/>
          </a:xfrm>
          <a:prstGeom prst="rect">
            <a:avLst/>
          </a:prstGeom>
          <a:solidFill>
            <a:srgbClr val="FFFFFF"/>
          </a:solidFill>
          <a:ln w="15875">
            <a:solidFill>
              <a:srgbClr val="0F766E"/>
            </a:solidFill>
            <a:prstDash val="solid"/>
          </a:ln>
        </p:spPr>
      </p:sp>
      <p:sp>
        <p:nvSpPr>
          <p:cNvPr id="17" name="Text 15"/>
          <p:cNvSpPr txBox="1"/>
          <p:nvPr/>
        </p:nvSpPr>
        <p:spPr>
          <a:xfrm>
            <a:off x="868680" y="3443478"/>
            <a:ext cx="3886200"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happens if a joinable thread is destroyed?</a:t>
            </a:r>
            <a:endParaRPr lang="en-US" sz="1500" dirty="0"/>
          </a:p>
        </p:txBody>
      </p:sp>
      <p:sp>
        <p:nvSpPr>
          <p:cNvPr id="18" name="Shape 16"/>
          <p:cNvSpPr/>
          <p:nvPr/>
        </p:nvSpPr>
        <p:spPr>
          <a:xfrm>
            <a:off x="548640" y="4085082"/>
            <a:ext cx="182880" cy="182880"/>
          </a:xfrm>
          <a:prstGeom prst="rect">
            <a:avLst/>
          </a:prstGeom>
          <a:solidFill>
            <a:srgbClr val="FFFFFF"/>
          </a:solidFill>
          <a:ln w="15875">
            <a:solidFill>
              <a:srgbClr val="0F766E"/>
            </a:solidFill>
            <a:prstDash val="solid"/>
          </a:ln>
        </p:spPr>
      </p:sp>
      <p:sp>
        <p:nvSpPr>
          <p:cNvPr id="19" name="Text 17"/>
          <p:cNvSpPr txBox="1"/>
          <p:nvPr/>
        </p:nvSpPr>
        <p:spPr>
          <a:xfrm>
            <a:off x="868680" y="4039362"/>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are thread arguments copied?</a:t>
            </a:r>
            <a:endParaRPr lang="en-US" sz="1500" dirty="0"/>
          </a:p>
        </p:txBody>
      </p:sp>
      <p:sp>
        <p:nvSpPr>
          <p:cNvPr id="20" name="Shape 18"/>
          <p:cNvSpPr/>
          <p:nvPr/>
        </p:nvSpPr>
        <p:spPr>
          <a:xfrm>
            <a:off x="548640" y="4456176"/>
            <a:ext cx="182880" cy="182880"/>
          </a:xfrm>
          <a:prstGeom prst="rect">
            <a:avLst/>
          </a:prstGeom>
          <a:solidFill>
            <a:srgbClr val="FFFFFF"/>
          </a:solidFill>
          <a:ln w="15875">
            <a:solidFill>
              <a:srgbClr val="0F766E"/>
            </a:solidFill>
            <a:prstDash val="solid"/>
          </a:ln>
        </p:spPr>
      </p:sp>
      <p:sp>
        <p:nvSpPr>
          <p:cNvPr id="21" name="Text 19"/>
          <p:cNvSpPr txBox="1"/>
          <p:nvPr/>
        </p:nvSpPr>
        <p:spPr>
          <a:xfrm>
            <a:off x="868680" y="4410456"/>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is std::thread move-only?</a:t>
            </a:r>
            <a:endParaRPr lang="en-US" sz="1500" dirty="0"/>
          </a:p>
        </p:txBody>
      </p:sp>
      <p:sp>
        <p:nvSpPr>
          <p:cNvPr id="22" name="Shape 20"/>
          <p:cNvSpPr/>
          <p:nvPr/>
        </p:nvSpPr>
        <p:spPr>
          <a:xfrm>
            <a:off x="548640" y="4827270"/>
            <a:ext cx="182880" cy="182880"/>
          </a:xfrm>
          <a:prstGeom prst="rect">
            <a:avLst/>
          </a:prstGeom>
          <a:solidFill>
            <a:srgbClr val="FFFFFF"/>
          </a:solidFill>
          <a:ln w="15875">
            <a:solidFill>
              <a:srgbClr val="0F766E"/>
            </a:solidFill>
            <a:prstDash val="solid"/>
          </a:ln>
        </p:spPr>
      </p:sp>
      <p:sp>
        <p:nvSpPr>
          <p:cNvPr id="23" name="Text 21"/>
          <p:cNvSpPr txBox="1"/>
          <p:nvPr/>
        </p:nvSpPr>
        <p:spPr>
          <a:xfrm>
            <a:off x="868680" y="4781550"/>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When is detach() safe?</a:t>
            </a:r>
            <a:endParaRPr lang="en-US" sz="1500" dirty="0"/>
          </a:p>
        </p:txBody>
      </p:sp>
      <p:sp>
        <p:nvSpPr>
          <p:cNvPr id="24" name="Shape 22"/>
          <p:cNvSpPr/>
          <p:nvPr/>
        </p:nvSpPr>
        <p:spPr>
          <a:xfrm>
            <a:off x="5166360" y="1417320"/>
            <a:ext cx="6476695" cy="1518920"/>
          </a:xfrm>
          <a:prstGeom prst="roundRect">
            <a:avLst>
              <a:gd name="adj" fmla="val 4816"/>
            </a:avLst>
          </a:prstGeom>
          <a:solidFill>
            <a:srgbClr val="FFFFFF"/>
          </a:solidFill>
          <a:ln w="12700">
            <a:solidFill>
              <a:srgbClr val="D5DDE5"/>
            </a:solidFill>
            <a:prstDash val="solid"/>
          </a:ln>
        </p:spPr>
      </p:sp>
      <p:sp>
        <p:nvSpPr>
          <p:cNvPr id="25" name="Text 23"/>
          <p:cNvSpPr txBox="1"/>
          <p:nvPr/>
        </p:nvSpPr>
        <p:spPr>
          <a:xfrm>
            <a:off x="5394960" y="15819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NUMBERS</a:t>
            </a:r>
            <a:endParaRPr lang="en-US" sz="1200" dirty="0"/>
          </a:p>
        </p:txBody>
      </p:sp>
      <p:sp>
        <p:nvSpPr>
          <p:cNvPr id="26" name="Text 24"/>
          <p:cNvSpPr txBox="1"/>
          <p:nvPr/>
        </p:nvSpPr>
        <p:spPr>
          <a:xfrm>
            <a:off x="5394960" y="18928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4 producers × 100,000 pushes into one plain std::queue. Expected size?</a:t>
            </a:r>
            <a:endParaRPr lang="en-US" sz="1500" dirty="0"/>
          </a:p>
        </p:txBody>
      </p:sp>
      <p:sp>
        <p:nvSpPr>
          <p:cNvPr id="27" name="Text 25"/>
          <p:cNvSpPr txBox="1"/>
          <p:nvPr/>
        </p:nvSpPr>
        <p:spPr>
          <a:xfrm>
            <a:off x="5394960" y="24704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400,000 expected. In practice: a crash or hang. That's v2.</a:t>
            </a:r>
            <a:endParaRPr lang="en-US" sz="1400" dirty="0"/>
          </a:p>
        </p:txBody>
      </p:sp>
      <p:sp>
        <p:nvSpPr>
          <p:cNvPr id="28" name="Shape 26"/>
          <p:cNvSpPr/>
          <p:nvPr/>
        </p:nvSpPr>
        <p:spPr>
          <a:xfrm>
            <a:off x="5166360" y="3119120"/>
            <a:ext cx="6476695" cy="1518920"/>
          </a:xfrm>
          <a:prstGeom prst="roundRect">
            <a:avLst>
              <a:gd name="adj" fmla="val 4816"/>
            </a:avLst>
          </a:prstGeom>
          <a:solidFill>
            <a:srgbClr val="FFFFFF"/>
          </a:solidFill>
          <a:ln w="12700">
            <a:solidFill>
              <a:srgbClr val="D5DDE5"/>
            </a:solidFill>
            <a:prstDash val="solid"/>
          </a:ln>
        </p:spPr>
      </p:sp>
      <p:sp>
        <p:nvSpPr>
          <p:cNvPr id="29" name="Text 27"/>
          <p:cNvSpPr txBox="1"/>
          <p:nvPr/>
        </p:nvSpPr>
        <p:spPr>
          <a:xfrm>
            <a:off x="5394960" y="32837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TRACE IT</a:t>
            </a:r>
            <a:endParaRPr lang="en-US" sz="1200" dirty="0"/>
          </a:p>
        </p:txBody>
      </p:sp>
      <p:sp>
        <p:nvSpPr>
          <p:cNvPr id="30" name="Text 28"/>
          <p:cNvSpPr txBox="1"/>
          <p:nvPr/>
        </p:nvSpPr>
        <p:spPr>
          <a:xfrm>
            <a:off x="5394960" y="35946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t1.join(); t2.join(); std::cout &lt;&lt; "Done"; Can "Done" print before A or B?</a:t>
            </a:r>
            <a:endParaRPr lang="en-US" sz="1500" dirty="0"/>
          </a:p>
        </p:txBody>
      </p:sp>
      <p:sp>
        <p:nvSpPr>
          <p:cNvPr id="31" name="Text 29"/>
          <p:cNvSpPr txBox="1"/>
          <p:nvPr/>
        </p:nvSpPr>
        <p:spPr>
          <a:xfrm>
            <a:off x="5394960" y="41722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No. Done waits for both joins. A and B can be in either order.</a:t>
            </a:r>
            <a:endParaRPr lang="en-US" sz="1400" dirty="0"/>
          </a:p>
        </p:txBody>
      </p:sp>
      <p:sp>
        <p:nvSpPr>
          <p:cNvPr id="32" name="Shape 30"/>
          <p:cNvSpPr/>
          <p:nvPr/>
        </p:nvSpPr>
        <p:spPr>
          <a:xfrm>
            <a:off x="5166360" y="4820920"/>
            <a:ext cx="6476695" cy="1518920"/>
          </a:xfrm>
          <a:prstGeom prst="roundRect">
            <a:avLst>
              <a:gd name="adj" fmla="val 4816"/>
            </a:avLst>
          </a:prstGeom>
          <a:solidFill>
            <a:srgbClr val="FFFFFF"/>
          </a:solidFill>
          <a:ln w="12700">
            <a:solidFill>
              <a:srgbClr val="D5DDE5"/>
            </a:solidFill>
            <a:prstDash val="solid"/>
          </a:ln>
        </p:spPr>
      </p:sp>
      <p:sp>
        <p:nvSpPr>
          <p:cNvPr id="33" name="Text 31"/>
          <p:cNvSpPr txBox="1"/>
          <p:nvPr/>
        </p:nvSpPr>
        <p:spPr>
          <a:xfrm>
            <a:off x="5394960" y="49855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DESIGN</a:t>
            </a:r>
            <a:endParaRPr lang="en-US" sz="1200" dirty="0"/>
          </a:p>
        </p:txBody>
      </p:sp>
      <p:sp>
        <p:nvSpPr>
          <p:cNvPr id="34" name="Text 32"/>
          <p:cNvSpPr txBox="1"/>
          <p:nvPr/>
        </p:nvSpPr>
        <p:spPr>
          <a:xfrm>
            <a:off x="5394960" y="52964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An exception is thrown after starting 3 threads. How do you make sure they're joined?</a:t>
            </a:r>
            <a:endParaRPr lang="en-US" sz="1500" dirty="0"/>
          </a:p>
        </p:txBody>
      </p:sp>
      <p:sp>
        <p:nvSpPr>
          <p:cNvPr id="35" name="Text 33"/>
          <p:cNvSpPr txBox="1"/>
          <p:nvPr/>
        </p:nvSpPr>
        <p:spPr>
          <a:xfrm>
            <a:off x="5394960" y="58740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Put them in an RAII owner (ThreadGroup or std::jthread).</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V2  ·  MUTEX PROTECTED</a:t>
            </a:r>
            <a:endParaRPr lang="en-US" sz="1200" dirty="0"/>
          </a:p>
        </p:txBody>
      </p:sp>
      <p:sp>
        <p:nvSpPr>
          <p:cNvPr id="3" name="Shape 1"/>
          <p:cNvSpPr/>
          <p:nvPr/>
        </p:nvSpPr>
        <p:spPr>
          <a:xfrm>
            <a:off x="6229807" y="292608"/>
            <a:ext cx="1298448" cy="274320"/>
          </a:xfrm>
          <a:prstGeom prst="roundRect">
            <a:avLst>
              <a:gd name="adj" fmla="val 23333"/>
            </a:avLst>
          </a:prstGeom>
          <a:solidFill>
            <a:srgbClr val="1B2430"/>
          </a:solidFill>
          <a:ln w="12700">
            <a:solidFill>
              <a:srgbClr val="1B2430"/>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Two producers, one queue</a:t>
            </a:r>
            <a:endParaRPr lang="en-US" sz="2800" dirty="0"/>
          </a:p>
        </p:txBody>
      </p:sp>
      <p:sp>
        <p:nvSpPr>
          <p:cNvPr id="12" name="Shape 10"/>
          <p:cNvSpPr/>
          <p:nvPr/>
        </p:nvSpPr>
        <p:spPr>
          <a:xfrm>
            <a:off x="548640" y="1417320"/>
            <a:ext cx="6766560" cy="1929384"/>
          </a:xfrm>
          <a:prstGeom prst="roundRect">
            <a:avLst>
              <a:gd name="adj" fmla="val 3791"/>
            </a:avLst>
          </a:prstGeom>
          <a:solidFill>
            <a:srgbClr val="EEF2F5"/>
          </a:solidFill>
          <a:ln w="12700">
            <a:solidFill>
              <a:srgbClr val="EEF2F5"/>
            </a:solidFill>
            <a:prstDash val="solid"/>
          </a:ln>
        </p:spPr>
      </p:sp>
      <p:sp>
        <p:nvSpPr>
          <p:cNvPr id="13" name="Text 11"/>
          <p:cNvSpPr txBox="1"/>
          <p:nvPr/>
        </p:nvSpPr>
        <p:spPr>
          <a:xfrm>
            <a:off x="731520" y="1581912"/>
            <a:ext cx="6400800" cy="16002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SHARED QUEUE</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  10   20   30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Producer   Producer</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T1           T2</a:t>
            </a:r>
            <a:endParaRPr lang="en-US" sz="1500" dirty="0"/>
          </a:p>
        </p:txBody>
      </p:sp>
      <p:sp>
        <p:nvSpPr>
          <p:cNvPr id="14" name="Shape 12"/>
          <p:cNvSpPr/>
          <p:nvPr/>
        </p:nvSpPr>
        <p:spPr>
          <a:xfrm>
            <a:off x="548640" y="3575304"/>
            <a:ext cx="6766560" cy="2157984"/>
          </a:xfrm>
          <a:prstGeom prst="roundRect">
            <a:avLst>
              <a:gd name="adj" fmla="val 3390"/>
            </a:avLst>
          </a:prstGeom>
          <a:solidFill>
            <a:srgbClr val="161C24"/>
          </a:solidFill>
          <a:ln w="12700">
            <a:solidFill>
              <a:srgbClr val="161C24"/>
            </a:solidFill>
            <a:prstDash val="solid"/>
          </a:ln>
        </p:spPr>
      </p:sp>
      <p:sp>
        <p:nvSpPr>
          <p:cNvPr id="15" name="Text 13"/>
          <p:cNvSpPr txBox="1"/>
          <p:nvPr/>
        </p:nvSpPr>
        <p:spPr>
          <a:xfrm>
            <a:off x="731520" y="3739896"/>
            <a:ext cx="6400800" cy="1828800"/>
          </a:xfrm>
          <a:prstGeom prst="rect">
            <a:avLst/>
          </a:prstGeom>
          <a:noFill/>
          <a:ln/>
        </p:spPr>
        <p:txBody>
          <a:bodyPr wrap="square" lIns="0" tIns="0" rIns="0" bIns="0" rtlCol="0" anchor="t"/>
          <a:lstStyle/>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int counter = 0;</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void inc() {</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for (int i = 0; i &lt; 1'000'000; ++i)</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++counter;</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std::thread t1(inc), t2(inc);</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t1.join(); t2.join();</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std::cout &lt;&lt; counter;</a:t>
            </a:r>
            <a:endParaRPr lang="en-US" sz="1500" dirty="0"/>
          </a:p>
        </p:txBody>
      </p:sp>
      <p:sp>
        <p:nvSpPr>
          <p:cNvPr id="16" name="Text 14"/>
          <p:cNvSpPr txBox="1"/>
          <p:nvPr/>
        </p:nvSpPr>
        <p:spPr>
          <a:xfrm>
            <a:off x="7680960" y="1417320"/>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THE QUESTION</a:t>
            </a:r>
            <a:endParaRPr lang="en-US" sz="1200" dirty="0"/>
          </a:p>
        </p:txBody>
      </p:sp>
      <p:sp>
        <p:nvSpPr>
          <p:cNvPr id="17" name="Text 15"/>
          <p:cNvSpPr txBox="1"/>
          <p:nvPr/>
        </p:nvSpPr>
        <p:spPr>
          <a:xfrm>
            <a:off x="7680960" y="1728216"/>
            <a:ext cx="3962095" cy="576072"/>
          </a:xfrm>
          <a:prstGeom prst="rect">
            <a:avLst/>
          </a:prstGeom>
          <a:noFill/>
          <a:ln/>
        </p:spPr>
        <p:txBody>
          <a:bodyPr wrap="square" lIns="0" tIns="0" rIns="0" bIns="0" rtlCol="0" anchor="t"/>
          <a:lstStyle/>
          <a:p>
            <a:pPr indent="0" marL="0">
              <a:lnSpc>
                <a:spcPct val="105000"/>
              </a:lnSpc>
              <a:buNone/>
            </a:pPr>
            <a:r>
              <a:rPr lang="en-US" sz="1800" b="1" dirty="0">
                <a:solidFill>
                  <a:srgbClr val="1B2430"/>
                </a:solidFill>
                <a:latin typeface="Calibri" pitchFamily="34" charset="0"/>
                <a:ea typeface="Calibri" pitchFamily="34" charset="-122"/>
                <a:cs typeface="Calibri" pitchFamily="34" charset="-120"/>
              </a:rPr>
              <a:t>Both threads call q.push() at the same time. Is this safe?</a:t>
            </a:r>
            <a:endParaRPr lang="en-US" sz="1800" dirty="0"/>
          </a:p>
        </p:txBody>
      </p:sp>
      <p:sp>
        <p:nvSpPr>
          <p:cNvPr id="18" name="Text 16"/>
          <p:cNvSpPr txBox="1"/>
          <p:nvPr/>
        </p:nvSpPr>
        <p:spPr>
          <a:xfrm>
            <a:off x="7680960" y="2532888"/>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PREDICT</a:t>
            </a:r>
            <a:endParaRPr lang="en-US" sz="1200" dirty="0"/>
          </a:p>
        </p:txBody>
      </p:sp>
      <p:sp>
        <p:nvSpPr>
          <p:cNvPr id="19" name="Text 17"/>
          <p:cNvSpPr txBox="1"/>
          <p:nvPr/>
        </p:nvSpPr>
        <p:spPr>
          <a:xfrm>
            <a:off x="7680960" y="2843784"/>
            <a:ext cx="396209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What does it print? Will it be the same every run?</a:t>
            </a:r>
            <a:endParaRPr lang="en-US" sz="1600" dirty="0"/>
          </a:p>
        </p:txBody>
      </p:sp>
      <p:sp>
        <p:nvSpPr>
          <p:cNvPr id="20" name="Shape 18"/>
          <p:cNvSpPr/>
          <p:nvPr/>
        </p:nvSpPr>
        <p:spPr>
          <a:xfrm>
            <a:off x="7680960" y="3634232"/>
            <a:ext cx="3962095" cy="1539240"/>
          </a:xfrm>
          <a:prstGeom prst="roundRect">
            <a:avLst>
              <a:gd name="adj" fmla="val 4752"/>
            </a:avLst>
          </a:prstGeom>
          <a:solidFill>
            <a:srgbClr val="EEF2F5"/>
          </a:solidFill>
          <a:ln w="12700">
            <a:solidFill>
              <a:srgbClr val="EEF2F5"/>
            </a:solidFill>
            <a:prstDash val="solid"/>
          </a:ln>
        </p:spPr>
      </p:sp>
      <p:sp>
        <p:nvSpPr>
          <p:cNvPr id="21" name="Text 19"/>
          <p:cNvSpPr txBox="1"/>
          <p:nvPr/>
        </p:nvSpPr>
        <p:spPr>
          <a:xfrm>
            <a:off x="7909560" y="3817112"/>
            <a:ext cx="3504895"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ANSWER</a:t>
            </a:r>
            <a:endParaRPr lang="en-US" sz="1200" dirty="0"/>
          </a:p>
        </p:txBody>
      </p:sp>
      <p:sp>
        <p:nvSpPr>
          <p:cNvPr id="22" name="Text 20"/>
          <p:cNvSpPr txBox="1"/>
          <p:nvPr/>
        </p:nvSpPr>
        <p:spPr>
          <a:xfrm>
            <a:off x="7909560" y="4128008"/>
            <a:ext cx="3504895" cy="93573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Not 2,000,000, and different every run.</a:t>
            </a:r>
            <a:endParaRPr lang="en-US" sz="1500" dirty="0"/>
          </a:p>
          <a:p>
            <a:pPr indent="0" marL="0">
              <a:lnSpc>
                <a:spcPct val="105000"/>
              </a:lnSpc>
              <a:buNone/>
            </a:pP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The next three slides show why.</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V2  ·  MUTEX PROTECTED</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1B2430"/>
          </a:solidFill>
          <a:ln w="12700">
            <a:solidFill>
              <a:srgbClr val="1B2430"/>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++counter is three steps</a:t>
            </a:r>
            <a:endParaRPr lang="en-US" sz="2800" dirty="0"/>
          </a:p>
        </p:txBody>
      </p:sp>
      <p:sp>
        <p:nvSpPr>
          <p:cNvPr id="12" name="Text 10"/>
          <p:cNvSpPr txBox="1"/>
          <p:nvPr/>
        </p:nvSpPr>
        <p:spPr>
          <a:xfrm>
            <a:off x="548640" y="1417320"/>
            <a:ext cx="429768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RUN IT</a:t>
            </a:r>
            <a:endParaRPr lang="en-US" sz="1200" dirty="0"/>
          </a:p>
        </p:txBody>
      </p:sp>
      <p:sp>
        <p:nvSpPr>
          <p:cNvPr id="13" name="Shape 11"/>
          <p:cNvSpPr/>
          <p:nvPr/>
        </p:nvSpPr>
        <p:spPr>
          <a:xfrm>
            <a:off x="548640" y="1728216"/>
            <a:ext cx="4297680" cy="1609344"/>
          </a:xfrm>
          <a:prstGeom prst="roundRect">
            <a:avLst>
              <a:gd name="adj" fmla="val 4545"/>
            </a:avLst>
          </a:prstGeom>
          <a:solidFill>
            <a:srgbClr val="0D1117"/>
          </a:solidFill>
          <a:ln w="12700">
            <a:solidFill>
              <a:srgbClr val="0D1117"/>
            </a:solidFill>
            <a:prstDash val="solid"/>
          </a:ln>
        </p:spPr>
      </p:sp>
      <p:sp>
        <p:nvSpPr>
          <p:cNvPr id="14" name="Text 12"/>
          <p:cNvSpPr txBox="1"/>
          <p:nvPr/>
        </p:nvSpPr>
        <p:spPr>
          <a:xfrm>
            <a:off x="731520" y="1892808"/>
            <a:ext cx="3931920" cy="1280160"/>
          </a:xfrm>
          <a:prstGeom prst="rect">
            <a:avLst/>
          </a:prstGeom>
          <a:noFill/>
          <a:ln/>
        </p:spPr>
        <p:txBody>
          <a:bodyPr wrap="square" lIns="0" tIns="0" rIns="0" bIns="0" rtlCol="0" anchor="t"/>
          <a:lstStyle/>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 ./tiny     # run 5 times, -O0</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race: 1556397</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race: 1114575</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race: 1363955</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race: 1099554</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race: 1074728</a:t>
            </a:r>
            <a:endParaRPr lang="en-US" sz="1400" dirty="0"/>
          </a:p>
        </p:txBody>
      </p:sp>
      <p:sp>
        <p:nvSpPr>
          <p:cNvPr id="15" name="Text 13"/>
          <p:cNvSpPr txBox="1"/>
          <p:nvPr/>
        </p:nvSpPr>
        <p:spPr>
          <a:xfrm>
            <a:off x="548640" y="3520440"/>
            <a:ext cx="4297680" cy="71094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And v1's 4 producers × 100,000: segmentation fault. push() changes the queue's internal pointers the same way.</a:t>
            </a:r>
            <a:endParaRPr lang="en-US" sz="1500" dirty="0"/>
          </a:p>
        </p:txBody>
      </p:sp>
      <p:sp>
        <p:nvSpPr>
          <p:cNvPr id="16" name="Text 14"/>
          <p:cNvSpPr txBox="1"/>
          <p:nvPr/>
        </p:nvSpPr>
        <p:spPr>
          <a:xfrm>
            <a:off x="5166360" y="1417320"/>
            <a:ext cx="6476695"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WHAT HAPPENS, STEP BY STEP</a:t>
            </a:r>
            <a:endParaRPr lang="en-US" sz="1200" dirty="0"/>
          </a:p>
        </p:txBody>
      </p:sp>
      <p:sp>
        <p:nvSpPr>
          <p:cNvPr id="17" name="Shape 15"/>
          <p:cNvSpPr/>
          <p:nvPr/>
        </p:nvSpPr>
        <p:spPr>
          <a:xfrm>
            <a:off x="5166360" y="1728216"/>
            <a:ext cx="6476695" cy="2615184"/>
          </a:xfrm>
          <a:prstGeom prst="roundRect">
            <a:avLst>
              <a:gd name="adj" fmla="val 2797"/>
            </a:avLst>
          </a:prstGeom>
          <a:solidFill>
            <a:srgbClr val="EEF2F5"/>
          </a:solidFill>
          <a:ln w="12700">
            <a:solidFill>
              <a:srgbClr val="EEF2F5"/>
            </a:solidFill>
            <a:prstDash val="solid"/>
          </a:ln>
        </p:spPr>
      </p:sp>
      <p:sp>
        <p:nvSpPr>
          <p:cNvPr id="18" name="Text 16"/>
          <p:cNvSpPr txBox="1"/>
          <p:nvPr/>
        </p:nvSpPr>
        <p:spPr>
          <a:xfrm>
            <a:off x="5349240" y="1892808"/>
            <a:ext cx="6110935" cy="22860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T1                         T2</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READ  counter → 0</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READ  counter → 0</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ADD   → 1</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WRITE 1</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ADD   → 1</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WRITE 1</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two increments, counter is 1: one update lost</a:t>
            </a:r>
            <a:endParaRPr lang="en-US" sz="1500" dirty="0"/>
          </a:p>
        </p:txBody>
      </p:sp>
      <p:sp>
        <p:nvSpPr>
          <p:cNvPr id="19" name="Shape 17"/>
          <p:cNvSpPr/>
          <p:nvPr/>
        </p:nvSpPr>
        <p:spPr>
          <a:xfrm>
            <a:off x="5166360" y="4572000"/>
            <a:ext cx="6476695" cy="1314450"/>
          </a:xfrm>
          <a:prstGeom prst="roundRect">
            <a:avLst>
              <a:gd name="adj" fmla="val 5565"/>
            </a:avLst>
          </a:prstGeom>
          <a:solidFill>
            <a:srgbClr val="FDF1E8"/>
          </a:solidFill>
          <a:ln w="12700">
            <a:solidFill>
              <a:srgbClr val="FDF1E8"/>
            </a:solidFill>
            <a:prstDash val="solid"/>
          </a:ln>
        </p:spPr>
      </p:sp>
      <p:sp>
        <p:nvSpPr>
          <p:cNvPr id="20" name="Text 18"/>
          <p:cNvSpPr txBox="1"/>
          <p:nvPr/>
        </p:nvSpPr>
        <p:spPr>
          <a:xfrm>
            <a:off x="5394960" y="4754880"/>
            <a:ext cx="60194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SO</a:t>
            </a:r>
            <a:endParaRPr lang="en-US" sz="1200" dirty="0"/>
          </a:p>
        </p:txBody>
      </p:sp>
      <p:sp>
        <p:nvSpPr>
          <p:cNvPr id="21" name="Text 19"/>
          <p:cNvSpPr txBox="1"/>
          <p:nvPr/>
        </p:nvSpPr>
        <p:spPr>
          <a:xfrm>
            <a:off x="5394960" y="5065776"/>
            <a:ext cx="6019495" cy="71094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Both threads work from shared state the other can change.</a:t>
            </a: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That is a DATA RACE: same memory, at least one write, no synchronization. Undefined behaviour.</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V2  ·  MUTEX PROTECTED</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1B2430"/>
          </a:solidFill>
          <a:ln w="12700">
            <a:solidFill>
              <a:srgbClr val="1B2430"/>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Only one thread inside at a time</a:t>
            </a:r>
            <a:endParaRPr lang="en-US" sz="2800" dirty="0"/>
          </a:p>
        </p:txBody>
      </p:sp>
      <p:sp>
        <p:nvSpPr>
          <p:cNvPr id="12" name="Text 10"/>
          <p:cNvSpPr txBox="1"/>
          <p:nvPr/>
        </p:nvSpPr>
        <p:spPr>
          <a:xfrm>
            <a:off x="548640" y="1417320"/>
            <a:ext cx="676656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queue.hpp</a:t>
            </a:r>
            <a:endParaRPr lang="en-US" sz="1200" dirty="0"/>
          </a:p>
        </p:txBody>
      </p:sp>
      <p:sp>
        <p:nvSpPr>
          <p:cNvPr id="13" name="Shape 11"/>
          <p:cNvSpPr/>
          <p:nvPr/>
        </p:nvSpPr>
        <p:spPr>
          <a:xfrm>
            <a:off x="548640" y="1728216"/>
            <a:ext cx="7132320" cy="2615184"/>
          </a:xfrm>
          <a:prstGeom prst="roundRect">
            <a:avLst>
              <a:gd name="adj" fmla="val 2797"/>
            </a:avLst>
          </a:prstGeom>
          <a:solidFill>
            <a:srgbClr val="161C24"/>
          </a:solidFill>
          <a:ln w="12700">
            <a:solidFill>
              <a:srgbClr val="161C24"/>
            </a:solidFill>
            <a:prstDash val="solid"/>
          </a:ln>
        </p:spPr>
      </p:sp>
      <p:sp>
        <p:nvSpPr>
          <p:cNvPr id="14" name="Text 12"/>
          <p:cNvSpPr txBox="1"/>
          <p:nvPr/>
        </p:nvSpPr>
        <p:spPr>
          <a:xfrm>
            <a:off x="731520" y="1892808"/>
            <a:ext cx="6766560" cy="2286000"/>
          </a:xfrm>
          <a:prstGeom prst="rect">
            <a:avLst/>
          </a:prstGeom>
          <a:noFill/>
          <a:ln/>
        </p:spPr>
        <p:txBody>
          <a:bodyPr wrap="square" lIns="0" tIns="0" rIns="0" bIns="0" rtlCol="0" anchor="t"/>
          <a:lstStyle/>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class Queue {</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std::queue&lt;int&gt; q;     // guarded by m</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std::mutex m;</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public:</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void push(int x) {</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m.lock();</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q.push(x);</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m.unlock();</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a:t>
            </a:r>
            <a:endParaRPr lang="en-US" sz="1500" dirty="0"/>
          </a:p>
        </p:txBody>
      </p:sp>
      <p:sp>
        <p:nvSpPr>
          <p:cNvPr id="15" name="Shape 13"/>
          <p:cNvSpPr/>
          <p:nvPr/>
        </p:nvSpPr>
        <p:spPr>
          <a:xfrm>
            <a:off x="8001000" y="1728216"/>
            <a:ext cx="365760" cy="365760"/>
          </a:xfrm>
          <a:prstGeom prst="ellipse">
            <a:avLst/>
          </a:prstGeom>
          <a:solidFill>
            <a:srgbClr val="0F766E"/>
          </a:solidFill>
          <a:ln w="12700">
            <a:solidFill>
              <a:srgbClr val="0F766E"/>
            </a:solidFill>
            <a:prstDash val="solid"/>
          </a:ln>
        </p:spPr>
      </p:sp>
      <p:sp>
        <p:nvSpPr>
          <p:cNvPr id="16" name="Text 14"/>
          <p:cNvSpPr txBox="1"/>
          <p:nvPr/>
        </p:nvSpPr>
        <p:spPr>
          <a:xfrm>
            <a:off x="8001000" y="17282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8503920" y="1764792"/>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We need: if T1 is modifying the queue, T2 must WAIT. That is mutual exclusion.</a:t>
            </a:r>
            <a:endParaRPr lang="en-US" sz="1600" dirty="0"/>
          </a:p>
        </p:txBody>
      </p:sp>
      <p:sp>
        <p:nvSpPr>
          <p:cNvPr id="18" name="Shape 16"/>
          <p:cNvSpPr/>
          <p:nvPr/>
        </p:nvSpPr>
        <p:spPr>
          <a:xfrm>
            <a:off x="8001000" y="2758440"/>
            <a:ext cx="365760" cy="365760"/>
          </a:xfrm>
          <a:prstGeom prst="ellipse">
            <a:avLst/>
          </a:prstGeom>
          <a:solidFill>
            <a:srgbClr val="0F766E"/>
          </a:solidFill>
          <a:ln w="12700">
            <a:solidFill>
              <a:srgbClr val="0F766E"/>
            </a:solidFill>
            <a:prstDash val="solid"/>
          </a:ln>
        </p:spPr>
      </p:sp>
      <p:sp>
        <p:nvSpPr>
          <p:cNvPr id="19" name="Text 17"/>
          <p:cNvSpPr txBox="1"/>
          <p:nvPr/>
        </p:nvSpPr>
        <p:spPr>
          <a:xfrm>
            <a:off x="8001000" y="27584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8503920" y="2795016"/>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lock() → enter the critical section → modify shared state → unlock().</a:t>
            </a:r>
            <a:endParaRPr lang="en-US" sz="1600" dirty="0"/>
          </a:p>
        </p:txBody>
      </p:sp>
      <p:sp>
        <p:nvSpPr>
          <p:cNvPr id="21" name="Shape 19"/>
          <p:cNvSpPr/>
          <p:nvPr/>
        </p:nvSpPr>
        <p:spPr>
          <a:xfrm>
            <a:off x="8001000" y="3788664"/>
            <a:ext cx="365760" cy="365760"/>
          </a:xfrm>
          <a:prstGeom prst="ellipse">
            <a:avLst/>
          </a:prstGeom>
          <a:solidFill>
            <a:srgbClr val="0F766E"/>
          </a:solidFill>
          <a:ln w="12700">
            <a:solidFill>
              <a:srgbClr val="0F766E"/>
            </a:solidFill>
            <a:prstDash val="solid"/>
          </a:ln>
        </p:spPr>
      </p:sp>
      <p:sp>
        <p:nvSpPr>
          <p:cNvPr id="22" name="Text 20"/>
          <p:cNvSpPr txBox="1"/>
          <p:nvPr/>
        </p:nvSpPr>
        <p:spPr>
          <a:xfrm>
            <a:off x="8001000" y="37886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503920" y="3825240"/>
            <a:ext cx="3139135" cy="995680"/>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Rule: every access to q goes through the same m. Readers too: size() reads while push() writes.</a:t>
            </a:r>
            <a:endParaRPr lang="en-US" sz="16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V2  ·  MUTEX PROTECTED</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1B2430"/>
          </a:solidFill>
          <a:ln w="12700">
            <a:solidFill>
              <a:srgbClr val="1B2430"/>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Check yourself</a:t>
            </a:r>
            <a:endParaRPr lang="en-US" sz="2800" dirty="0"/>
          </a:p>
        </p:txBody>
      </p:sp>
      <p:sp>
        <p:nvSpPr>
          <p:cNvPr id="12" name="Shape 10"/>
          <p:cNvSpPr/>
          <p:nvPr/>
        </p:nvSpPr>
        <p:spPr>
          <a:xfrm>
            <a:off x="548640" y="1417320"/>
            <a:ext cx="4206240" cy="1404366"/>
          </a:xfrm>
          <a:prstGeom prst="roundRect">
            <a:avLst>
              <a:gd name="adj" fmla="val 5209"/>
            </a:avLst>
          </a:prstGeom>
          <a:solidFill>
            <a:srgbClr val="EEF2F5"/>
          </a:solidFill>
          <a:ln w="12700">
            <a:solidFill>
              <a:srgbClr val="EEF2F5"/>
            </a:solidFill>
            <a:prstDash val="solid"/>
          </a:ln>
        </p:spPr>
      </p:sp>
      <p:sp>
        <p:nvSpPr>
          <p:cNvPr id="13" name="Text 11"/>
          <p:cNvSpPr txBox="1"/>
          <p:nvPr/>
        </p:nvSpPr>
        <p:spPr>
          <a:xfrm>
            <a:off x="777240" y="1600200"/>
            <a:ext cx="3749040"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THE LESSON</a:t>
            </a:r>
            <a:endParaRPr lang="en-US" sz="1200" dirty="0"/>
          </a:p>
        </p:txBody>
      </p:sp>
      <p:sp>
        <p:nvSpPr>
          <p:cNvPr id="14" name="Text 12"/>
          <p:cNvSpPr txBox="1"/>
          <p:nvPr/>
        </p:nvSpPr>
        <p:spPr>
          <a:xfrm>
            <a:off x="777240" y="1911096"/>
            <a:ext cx="3749040" cy="800862"/>
          </a:xfrm>
          <a:prstGeom prst="rect">
            <a:avLst/>
          </a:prstGeom>
          <a:noFill/>
          <a:ln/>
        </p:spPr>
        <p:txBody>
          <a:bodyPr wrap="square" lIns="0" tIns="0" rIns="0" bIns="0" rtlCol="0" anchor="t"/>
          <a:lstStyle/>
          <a:p>
            <a:pPr indent="0" marL="0">
              <a:lnSpc>
                <a:spcPct val="105000"/>
              </a:lnSpc>
              <a:buNone/>
            </a:pPr>
            <a:r>
              <a:rPr lang="en-US" sz="1700" dirty="0">
                <a:solidFill>
                  <a:srgbClr val="1B2430"/>
                </a:solidFill>
                <a:latin typeface="Calibri" pitchFamily="34" charset="0"/>
                <a:ea typeface="Calibri" pitchFamily="34" charset="-122"/>
                <a:cs typeface="Calibri" pitchFamily="34" charset="-120"/>
              </a:rPr>
              <a:t>A data race is unsynchronized access with at least one write. A mutex makes threads take turns.</a:t>
            </a:r>
            <a:endParaRPr lang="en-US" sz="1700" dirty="0"/>
          </a:p>
        </p:txBody>
      </p:sp>
      <p:sp>
        <p:nvSpPr>
          <p:cNvPr id="15" name="Text 13"/>
          <p:cNvSpPr txBox="1"/>
          <p:nvPr/>
        </p:nvSpPr>
        <p:spPr>
          <a:xfrm>
            <a:off x="548640" y="3096006"/>
            <a:ext cx="420624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EXPLAIN WITHOUT LOOKING</a:t>
            </a:r>
            <a:endParaRPr lang="en-US" sz="1200" dirty="0"/>
          </a:p>
        </p:txBody>
      </p:sp>
      <p:sp>
        <p:nvSpPr>
          <p:cNvPr id="16" name="Shape 14"/>
          <p:cNvSpPr/>
          <p:nvPr/>
        </p:nvSpPr>
        <p:spPr>
          <a:xfrm>
            <a:off x="548640" y="3489198"/>
            <a:ext cx="182880" cy="182880"/>
          </a:xfrm>
          <a:prstGeom prst="rect">
            <a:avLst/>
          </a:prstGeom>
          <a:solidFill>
            <a:srgbClr val="FFFFFF"/>
          </a:solidFill>
          <a:ln w="15875">
            <a:solidFill>
              <a:srgbClr val="0F766E"/>
            </a:solidFill>
            <a:prstDash val="solid"/>
          </a:ln>
        </p:spPr>
      </p:sp>
      <p:sp>
        <p:nvSpPr>
          <p:cNvPr id="17" name="Text 15"/>
          <p:cNvSpPr txBox="1"/>
          <p:nvPr/>
        </p:nvSpPr>
        <p:spPr>
          <a:xfrm>
            <a:off x="868680" y="3443478"/>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is shared state?</a:t>
            </a:r>
            <a:endParaRPr lang="en-US" sz="1500" dirty="0"/>
          </a:p>
        </p:txBody>
      </p:sp>
      <p:sp>
        <p:nvSpPr>
          <p:cNvPr id="18" name="Shape 16"/>
          <p:cNvSpPr/>
          <p:nvPr/>
        </p:nvSpPr>
        <p:spPr>
          <a:xfrm>
            <a:off x="548640" y="3860292"/>
            <a:ext cx="182880" cy="182880"/>
          </a:xfrm>
          <a:prstGeom prst="rect">
            <a:avLst/>
          </a:prstGeom>
          <a:solidFill>
            <a:srgbClr val="FFFFFF"/>
          </a:solidFill>
          <a:ln w="15875">
            <a:solidFill>
              <a:srgbClr val="0F766E"/>
            </a:solidFill>
            <a:prstDash val="solid"/>
          </a:ln>
        </p:spPr>
      </p:sp>
      <p:sp>
        <p:nvSpPr>
          <p:cNvPr id="19" name="Text 17"/>
          <p:cNvSpPr txBox="1"/>
          <p:nvPr/>
        </p:nvSpPr>
        <p:spPr>
          <a:xfrm>
            <a:off x="868680" y="3814572"/>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is a data race?</a:t>
            </a:r>
            <a:endParaRPr lang="en-US" sz="1500" dirty="0"/>
          </a:p>
        </p:txBody>
      </p:sp>
      <p:sp>
        <p:nvSpPr>
          <p:cNvPr id="20" name="Shape 18"/>
          <p:cNvSpPr/>
          <p:nvPr/>
        </p:nvSpPr>
        <p:spPr>
          <a:xfrm>
            <a:off x="548640" y="4231386"/>
            <a:ext cx="182880" cy="182880"/>
          </a:xfrm>
          <a:prstGeom prst="rect">
            <a:avLst/>
          </a:prstGeom>
          <a:solidFill>
            <a:srgbClr val="FFFFFF"/>
          </a:solidFill>
          <a:ln w="15875">
            <a:solidFill>
              <a:srgbClr val="0F766E"/>
            </a:solidFill>
            <a:prstDash val="solid"/>
          </a:ln>
        </p:spPr>
      </p:sp>
      <p:sp>
        <p:nvSpPr>
          <p:cNvPr id="21" name="Text 19"/>
          <p:cNvSpPr txBox="1"/>
          <p:nvPr/>
        </p:nvSpPr>
        <p:spPr>
          <a:xfrm>
            <a:off x="868680" y="4185666"/>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is a critical section?</a:t>
            </a:r>
            <a:endParaRPr lang="en-US" sz="1500" dirty="0"/>
          </a:p>
        </p:txBody>
      </p:sp>
      <p:sp>
        <p:nvSpPr>
          <p:cNvPr id="22" name="Shape 20"/>
          <p:cNvSpPr/>
          <p:nvPr/>
        </p:nvSpPr>
        <p:spPr>
          <a:xfrm>
            <a:off x="548640" y="4602480"/>
            <a:ext cx="182880" cy="182880"/>
          </a:xfrm>
          <a:prstGeom prst="rect">
            <a:avLst/>
          </a:prstGeom>
          <a:solidFill>
            <a:srgbClr val="FFFFFF"/>
          </a:solidFill>
          <a:ln w="15875">
            <a:solidFill>
              <a:srgbClr val="0F766E"/>
            </a:solidFill>
            <a:prstDash val="solid"/>
          </a:ln>
        </p:spPr>
      </p:sp>
      <p:sp>
        <p:nvSpPr>
          <p:cNvPr id="23" name="Text 21"/>
          <p:cNvSpPr txBox="1"/>
          <p:nvPr/>
        </p:nvSpPr>
        <p:spPr>
          <a:xfrm>
            <a:off x="868680" y="4556760"/>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do we need mutual exclusion?</a:t>
            </a:r>
            <a:endParaRPr lang="en-US" sz="1500" dirty="0"/>
          </a:p>
        </p:txBody>
      </p:sp>
      <p:sp>
        <p:nvSpPr>
          <p:cNvPr id="24" name="Shape 22"/>
          <p:cNvSpPr/>
          <p:nvPr/>
        </p:nvSpPr>
        <p:spPr>
          <a:xfrm>
            <a:off x="548640" y="4973574"/>
            <a:ext cx="182880" cy="182880"/>
          </a:xfrm>
          <a:prstGeom prst="rect">
            <a:avLst/>
          </a:prstGeom>
          <a:solidFill>
            <a:srgbClr val="FFFFFF"/>
          </a:solidFill>
          <a:ln w="15875">
            <a:solidFill>
              <a:srgbClr val="0F766E"/>
            </a:solidFill>
            <a:prstDash val="solid"/>
          </a:ln>
        </p:spPr>
      </p:sp>
      <p:sp>
        <p:nvSpPr>
          <p:cNvPr id="25" name="Text 23"/>
          <p:cNvSpPr txBox="1"/>
          <p:nvPr/>
        </p:nvSpPr>
        <p:spPr>
          <a:xfrm>
            <a:off x="868680" y="4927854"/>
            <a:ext cx="3886200"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Is "read-only" automatically thread-safe?</a:t>
            </a:r>
            <a:endParaRPr lang="en-US" sz="1500" dirty="0"/>
          </a:p>
        </p:txBody>
      </p:sp>
      <p:sp>
        <p:nvSpPr>
          <p:cNvPr id="26" name="Shape 24"/>
          <p:cNvSpPr/>
          <p:nvPr/>
        </p:nvSpPr>
        <p:spPr>
          <a:xfrm>
            <a:off x="5166360" y="1417320"/>
            <a:ext cx="6476695" cy="1503934"/>
          </a:xfrm>
          <a:prstGeom prst="roundRect">
            <a:avLst>
              <a:gd name="adj" fmla="val 4864"/>
            </a:avLst>
          </a:prstGeom>
          <a:solidFill>
            <a:srgbClr val="FFFFFF"/>
          </a:solidFill>
          <a:ln w="12700">
            <a:solidFill>
              <a:srgbClr val="D5DDE5"/>
            </a:solidFill>
            <a:prstDash val="solid"/>
          </a:ln>
        </p:spPr>
      </p:sp>
      <p:sp>
        <p:nvSpPr>
          <p:cNvPr id="27" name="Text 25"/>
          <p:cNvSpPr txBox="1"/>
          <p:nvPr/>
        </p:nvSpPr>
        <p:spPr>
          <a:xfrm>
            <a:off x="5394960" y="15819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NUMBERS</a:t>
            </a:r>
            <a:endParaRPr lang="en-US" sz="1200" dirty="0"/>
          </a:p>
        </p:txBody>
      </p:sp>
      <p:sp>
        <p:nvSpPr>
          <p:cNvPr id="28" name="Text 26"/>
          <p:cNvSpPr txBox="1"/>
          <p:nvPr/>
        </p:nvSpPr>
        <p:spPr>
          <a:xfrm>
            <a:off x="5394960" y="1892808"/>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Push cost: 44 ns on 1 thread, 141 ns each on 4. Why slower?</a:t>
            </a:r>
            <a:endParaRPr lang="en-US" sz="1500" dirty="0"/>
          </a:p>
        </p:txBody>
      </p:sp>
      <p:sp>
        <p:nvSpPr>
          <p:cNvPr id="29" name="Text 27"/>
          <p:cNvSpPr txBox="1"/>
          <p:nvPr/>
        </p:nvSpPr>
        <p:spPr>
          <a:xfrm>
            <a:off x="5394960" y="2245614"/>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4 threads queue up for one lock. Passing it between cores is expensive.</a:t>
            </a:r>
            <a:endParaRPr lang="en-US" sz="1400" dirty="0"/>
          </a:p>
        </p:txBody>
      </p:sp>
      <p:sp>
        <p:nvSpPr>
          <p:cNvPr id="30" name="Shape 28"/>
          <p:cNvSpPr/>
          <p:nvPr/>
        </p:nvSpPr>
        <p:spPr>
          <a:xfrm>
            <a:off x="5166360" y="3104134"/>
            <a:ext cx="6476695" cy="1503934"/>
          </a:xfrm>
          <a:prstGeom prst="roundRect">
            <a:avLst>
              <a:gd name="adj" fmla="val 4864"/>
            </a:avLst>
          </a:prstGeom>
          <a:solidFill>
            <a:srgbClr val="FFFFFF"/>
          </a:solidFill>
          <a:ln w="12700">
            <a:solidFill>
              <a:srgbClr val="D5DDE5"/>
            </a:solidFill>
            <a:prstDash val="solid"/>
          </a:ln>
        </p:spPr>
      </p:sp>
      <p:sp>
        <p:nvSpPr>
          <p:cNvPr id="31" name="Text 29"/>
          <p:cNvSpPr txBox="1"/>
          <p:nvPr/>
        </p:nvSpPr>
        <p:spPr>
          <a:xfrm>
            <a:off x="5394960" y="3268726"/>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TRACE IT</a:t>
            </a:r>
            <a:endParaRPr lang="en-US" sz="1200" dirty="0"/>
          </a:p>
        </p:txBody>
      </p:sp>
      <p:sp>
        <p:nvSpPr>
          <p:cNvPr id="32" name="Text 30"/>
          <p:cNvSpPr txBox="1"/>
          <p:nvPr/>
        </p:nvSpPr>
        <p:spPr>
          <a:xfrm>
            <a:off x="5394960" y="3579622"/>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m.lock(); foo(); m.unlock(); What happens if foo() throws?</a:t>
            </a:r>
            <a:endParaRPr lang="en-US" sz="1500" dirty="0"/>
          </a:p>
        </p:txBody>
      </p:sp>
      <p:sp>
        <p:nvSpPr>
          <p:cNvPr id="33" name="Text 31"/>
          <p:cNvSpPr txBox="1"/>
          <p:nvPr/>
        </p:nvSpPr>
        <p:spPr>
          <a:xfrm>
            <a:off x="5394960" y="3932428"/>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unlock() never runs. m stays locked; the next lock() waits forever. That's v3.</a:t>
            </a:r>
            <a:endParaRPr lang="en-US" sz="1400" dirty="0"/>
          </a:p>
        </p:txBody>
      </p:sp>
      <p:sp>
        <p:nvSpPr>
          <p:cNvPr id="34" name="Shape 32"/>
          <p:cNvSpPr/>
          <p:nvPr/>
        </p:nvSpPr>
        <p:spPr>
          <a:xfrm>
            <a:off x="5166360" y="4790948"/>
            <a:ext cx="6476695" cy="1728724"/>
          </a:xfrm>
          <a:prstGeom prst="roundRect">
            <a:avLst>
              <a:gd name="adj" fmla="val 4232"/>
            </a:avLst>
          </a:prstGeom>
          <a:solidFill>
            <a:srgbClr val="FFFFFF"/>
          </a:solidFill>
          <a:ln w="12700">
            <a:solidFill>
              <a:srgbClr val="D5DDE5"/>
            </a:solidFill>
            <a:prstDash val="solid"/>
          </a:ln>
        </p:spPr>
      </p:sp>
      <p:sp>
        <p:nvSpPr>
          <p:cNvPr id="35" name="Text 33"/>
          <p:cNvSpPr txBox="1"/>
          <p:nvPr/>
        </p:nvSpPr>
        <p:spPr>
          <a:xfrm>
            <a:off x="5394960" y="4955540"/>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DESIGN</a:t>
            </a:r>
            <a:endParaRPr lang="en-US" sz="1200" dirty="0"/>
          </a:p>
        </p:txBody>
      </p:sp>
      <p:sp>
        <p:nvSpPr>
          <p:cNvPr id="36" name="Text 34"/>
          <p:cNvSpPr txBox="1"/>
          <p:nvPr/>
        </p:nvSpPr>
        <p:spPr>
          <a:xfrm>
            <a:off x="5394960" y="5266436"/>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Thread A calls q.size() while B calls q.push(100). Safe without a lock?</a:t>
            </a:r>
            <a:endParaRPr lang="en-US" sz="1500" dirty="0"/>
          </a:p>
        </p:txBody>
      </p:sp>
      <p:sp>
        <p:nvSpPr>
          <p:cNvPr id="37" name="Text 35"/>
          <p:cNvSpPr txBox="1"/>
          <p:nvPr/>
        </p:nvSpPr>
        <p:spPr>
          <a:xfrm>
            <a:off x="5394960" y="5844032"/>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No. A reads state B is changing: a data race. size() must lock too.</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V3  ·  RAII LOCKING</a:t>
            </a:r>
            <a:endParaRPr lang="en-US" sz="1200" dirty="0"/>
          </a:p>
        </p:txBody>
      </p:sp>
      <p:sp>
        <p:nvSpPr>
          <p:cNvPr id="3" name="Shape 1"/>
          <p:cNvSpPr/>
          <p:nvPr/>
        </p:nvSpPr>
        <p:spPr>
          <a:xfrm>
            <a:off x="6229807" y="292608"/>
            <a:ext cx="1298448" cy="274320"/>
          </a:xfrm>
          <a:prstGeom prst="roundRect">
            <a:avLst>
              <a:gd name="adj" fmla="val 23333"/>
            </a:avLst>
          </a:prstGeom>
          <a:solidFill>
            <a:srgbClr val="1B2430"/>
          </a:solidFill>
          <a:ln w="12700">
            <a:solidFill>
              <a:srgbClr val="1B2430"/>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A consumer arrives too early</a:t>
            </a:r>
            <a:endParaRPr lang="en-US" sz="2800" dirty="0"/>
          </a:p>
        </p:txBody>
      </p:sp>
      <p:sp>
        <p:nvSpPr>
          <p:cNvPr id="12" name="Shape 10"/>
          <p:cNvSpPr/>
          <p:nvPr/>
        </p:nvSpPr>
        <p:spPr>
          <a:xfrm>
            <a:off x="548640" y="1417320"/>
            <a:ext cx="6766560" cy="1929384"/>
          </a:xfrm>
          <a:prstGeom prst="roundRect">
            <a:avLst>
              <a:gd name="adj" fmla="val 3791"/>
            </a:avLst>
          </a:prstGeom>
          <a:solidFill>
            <a:srgbClr val="EEF2F5"/>
          </a:solidFill>
          <a:ln w="12700">
            <a:solidFill>
              <a:srgbClr val="EEF2F5"/>
            </a:solidFill>
            <a:prstDash val="solid"/>
          </a:ln>
        </p:spPr>
      </p:sp>
      <p:sp>
        <p:nvSpPr>
          <p:cNvPr id="13" name="Text 11"/>
          <p:cNvSpPr txBox="1"/>
          <p:nvPr/>
        </p:nvSpPr>
        <p:spPr>
          <a:xfrm>
            <a:off x="731520" y="1581912"/>
            <a:ext cx="6400800" cy="16002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int pop()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m.lock();</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if (q.empty())</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throw std::runtime_error("empty");</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m.unlock();</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a:t>
            </a:r>
            <a:endParaRPr lang="en-US" sz="1500" dirty="0"/>
          </a:p>
        </p:txBody>
      </p:sp>
      <p:sp>
        <p:nvSpPr>
          <p:cNvPr id="14" name="Shape 12"/>
          <p:cNvSpPr/>
          <p:nvPr/>
        </p:nvSpPr>
        <p:spPr>
          <a:xfrm>
            <a:off x="548640" y="3575304"/>
            <a:ext cx="6766560" cy="1472184"/>
          </a:xfrm>
          <a:prstGeom prst="roundRect">
            <a:avLst>
              <a:gd name="adj" fmla="val 4969"/>
            </a:avLst>
          </a:prstGeom>
          <a:solidFill>
            <a:srgbClr val="161C24"/>
          </a:solidFill>
          <a:ln w="12700">
            <a:solidFill>
              <a:srgbClr val="161C24"/>
            </a:solidFill>
            <a:prstDash val="solid"/>
          </a:ln>
        </p:spPr>
      </p:sp>
      <p:sp>
        <p:nvSpPr>
          <p:cNvPr id="15" name="Text 13"/>
          <p:cNvSpPr txBox="1"/>
          <p:nvPr/>
        </p:nvSpPr>
        <p:spPr>
          <a:xfrm>
            <a:off x="731520" y="3739896"/>
            <a:ext cx="6400800" cy="1143000"/>
          </a:xfrm>
          <a:prstGeom prst="rect">
            <a:avLst/>
          </a:prstGeom>
          <a:noFill/>
          <a:ln/>
        </p:spPr>
        <p:txBody>
          <a:bodyPr wrap="square" lIns="0" tIns="0" rIns="0" bIns="0" rtlCol="0" anchor="t"/>
          <a:lstStyle/>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m.lock()</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throw</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m.unlock()  ?</a:t>
            </a:r>
            <a:endParaRPr lang="en-US" sz="1500" dirty="0"/>
          </a:p>
        </p:txBody>
      </p:sp>
      <p:sp>
        <p:nvSpPr>
          <p:cNvPr id="16" name="Text 14"/>
          <p:cNvSpPr txBox="1"/>
          <p:nvPr/>
        </p:nvSpPr>
        <p:spPr>
          <a:xfrm>
            <a:off x="7680960" y="1417320"/>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THE QUESTION</a:t>
            </a:r>
            <a:endParaRPr lang="en-US" sz="1200" dirty="0"/>
          </a:p>
        </p:txBody>
      </p:sp>
      <p:sp>
        <p:nvSpPr>
          <p:cNvPr id="17" name="Text 15"/>
          <p:cNvSpPr txBox="1"/>
          <p:nvPr/>
        </p:nvSpPr>
        <p:spPr>
          <a:xfrm>
            <a:off x="7680960" y="1728216"/>
            <a:ext cx="3962095" cy="845820"/>
          </a:xfrm>
          <a:prstGeom prst="rect">
            <a:avLst/>
          </a:prstGeom>
          <a:noFill/>
          <a:ln/>
        </p:spPr>
        <p:txBody>
          <a:bodyPr wrap="square" lIns="0" tIns="0" rIns="0" bIns="0" rtlCol="0" anchor="t"/>
          <a:lstStyle/>
          <a:p>
            <a:pPr indent="0" marL="0">
              <a:lnSpc>
                <a:spcPct val="105000"/>
              </a:lnSpc>
              <a:buNone/>
            </a:pPr>
            <a:r>
              <a:rPr lang="en-US" sz="1800" b="1" dirty="0">
                <a:solidFill>
                  <a:srgbClr val="1B2430"/>
                </a:solidFill>
                <a:latin typeface="Calibri" pitchFamily="34" charset="0"/>
                <a:ea typeface="Calibri" pitchFamily="34" charset="-122"/>
                <a:cs typeface="Calibri" pitchFamily="34" charset="-120"/>
              </a:rPr>
              <a:t>The queue is empty and pop() throws. What happens to the mutex?</a:t>
            </a:r>
            <a:endParaRPr lang="en-US" sz="1800" dirty="0"/>
          </a:p>
        </p:txBody>
      </p:sp>
      <p:sp>
        <p:nvSpPr>
          <p:cNvPr id="18" name="Text 16"/>
          <p:cNvSpPr txBox="1"/>
          <p:nvPr/>
        </p:nvSpPr>
        <p:spPr>
          <a:xfrm>
            <a:off x="7680960" y="2802636"/>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PREDICT</a:t>
            </a:r>
            <a:endParaRPr lang="en-US" sz="1200" dirty="0"/>
          </a:p>
        </p:txBody>
      </p:sp>
      <p:sp>
        <p:nvSpPr>
          <p:cNvPr id="19" name="Text 17"/>
          <p:cNvSpPr txBox="1"/>
          <p:nvPr/>
        </p:nvSpPr>
        <p:spPr>
          <a:xfrm>
            <a:off x="7680960" y="3113532"/>
            <a:ext cx="396209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Where did unlock() go? What happens when the producer calls push()?</a:t>
            </a:r>
            <a:endParaRPr lang="en-US" sz="1600" dirty="0"/>
          </a:p>
        </p:txBody>
      </p:sp>
      <p:sp>
        <p:nvSpPr>
          <p:cNvPr id="20" name="Shape 18"/>
          <p:cNvSpPr/>
          <p:nvPr/>
        </p:nvSpPr>
        <p:spPr>
          <a:xfrm>
            <a:off x="7680960" y="3903980"/>
            <a:ext cx="3962095" cy="1539240"/>
          </a:xfrm>
          <a:prstGeom prst="roundRect">
            <a:avLst>
              <a:gd name="adj" fmla="val 4752"/>
            </a:avLst>
          </a:prstGeom>
          <a:solidFill>
            <a:srgbClr val="EEF2F5"/>
          </a:solidFill>
          <a:ln w="12700">
            <a:solidFill>
              <a:srgbClr val="EEF2F5"/>
            </a:solidFill>
            <a:prstDash val="solid"/>
          </a:ln>
        </p:spPr>
      </p:sp>
      <p:sp>
        <p:nvSpPr>
          <p:cNvPr id="21" name="Text 19"/>
          <p:cNvSpPr txBox="1"/>
          <p:nvPr/>
        </p:nvSpPr>
        <p:spPr>
          <a:xfrm>
            <a:off x="7909560" y="4086860"/>
            <a:ext cx="3504895"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ANSWER</a:t>
            </a:r>
            <a:endParaRPr lang="en-US" sz="1200" dirty="0"/>
          </a:p>
        </p:txBody>
      </p:sp>
      <p:sp>
        <p:nvSpPr>
          <p:cNvPr id="22" name="Text 20"/>
          <p:cNvSpPr txBox="1"/>
          <p:nvPr/>
        </p:nvSpPr>
        <p:spPr>
          <a:xfrm>
            <a:off x="7909560" y="4397756"/>
            <a:ext cx="3504895" cy="93573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unlock() never executes.</a:t>
            </a:r>
            <a:endParaRPr lang="en-US" sz="1500" dirty="0"/>
          </a:p>
          <a:p>
            <a:pPr indent="0" marL="0">
              <a:lnSpc>
                <a:spcPct val="105000"/>
              </a:lnSpc>
              <a:buNone/>
            </a:pP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The mutex stays locked. push() calls lock() and waits forever.</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V3  ·  RAII LOCKING</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1B2430"/>
          </a:solidFill>
          <a:ln w="12700">
            <a:solidFill>
              <a:srgbClr val="1B2430"/>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Something must run on every way out</a:t>
            </a:r>
            <a:endParaRPr lang="en-US" sz="2800" dirty="0"/>
          </a:p>
        </p:txBody>
      </p:sp>
      <p:sp>
        <p:nvSpPr>
          <p:cNvPr id="12" name="Text 10"/>
          <p:cNvSpPr txBox="1"/>
          <p:nvPr/>
        </p:nvSpPr>
        <p:spPr>
          <a:xfrm>
            <a:off x="548640" y="1417320"/>
            <a:ext cx="429768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RUN IT</a:t>
            </a:r>
            <a:endParaRPr lang="en-US" sz="1200" dirty="0"/>
          </a:p>
        </p:txBody>
      </p:sp>
      <p:sp>
        <p:nvSpPr>
          <p:cNvPr id="13" name="Shape 11"/>
          <p:cNvSpPr/>
          <p:nvPr/>
        </p:nvSpPr>
        <p:spPr>
          <a:xfrm>
            <a:off x="548640" y="1728216"/>
            <a:ext cx="4297680" cy="755904"/>
          </a:xfrm>
          <a:prstGeom prst="roundRect">
            <a:avLst>
              <a:gd name="adj" fmla="val 9677"/>
            </a:avLst>
          </a:prstGeom>
          <a:solidFill>
            <a:srgbClr val="0D1117"/>
          </a:solidFill>
          <a:ln w="12700">
            <a:solidFill>
              <a:srgbClr val="0D1117"/>
            </a:solidFill>
            <a:prstDash val="solid"/>
          </a:ln>
        </p:spPr>
      </p:sp>
      <p:sp>
        <p:nvSpPr>
          <p:cNvPr id="14" name="Text 12"/>
          <p:cNvSpPr txBox="1"/>
          <p:nvPr/>
        </p:nvSpPr>
        <p:spPr>
          <a:xfrm>
            <a:off x="731520" y="1892808"/>
            <a:ext cx="3931920" cy="426720"/>
          </a:xfrm>
          <a:prstGeom prst="rect">
            <a:avLst/>
          </a:prstGeom>
          <a:noFill/>
          <a:ln/>
        </p:spPr>
        <p:txBody>
          <a:bodyPr wrap="square" lIns="0" tIns="0" rIns="0" bIns="0" rtlCol="0" anchor="t"/>
          <a:lstStyle/>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 ./tiny_raii</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try_lock after the exception: 0</a:t>
            </a:r>
            <a:endParaRPr lang="en-US" sz="1400" dirty="0"/>
          </a:p>
        </p:txBody>
      </p:sp>
      <p:sp>
        <p:nvSpPr>
          <p:cNvPr id="15" name="Text 13"/>
          <p:cNvSpPr txBox="1"/>
          <p:nvPr/>
        </p:nvSpPr>
        <p:spPr>
          <a:xfrm>
            <a:off x="548640" y="2667000"/>
            <a:ext cx="4297680"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0 means the mutex is still held. In v2's project test every thread froze.</a:t>
            </a:r>
            <a:endParaRPr lang="en-US" sz="1500" dirty="0"/>
          </a:p>
        </p:txBody>
      </p:sp>
      <p:sp>
        <p:nvSpPr>
          <p:cNvPr id="16" name="Text 14"/>
          <p:cNvSpPr txBox="1"/>
          <p:nvPr/>
        </p:nvSpPr>
        <p:spPr>
          <a:xfrm>
            <a:off x="5166360" y="1417320"/>
            <a:ext cx="6476695"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WHAT HAPPENS, STEP BY STEP</a:t>
            </a:r>
            <a:endParaRPr lang="en-US" sz="1200" dirty="0"/>
          </a:p>
        </p:txBody>
      </p:sp>
      <p:sp>
        <p:nvSpPr>
          <p:cNvPr id="17" name="Shape 15"/>
          <p:cNvSpPr/>
          <p:nvPr/>
        </p:nvSpPr>
        <p:spPr>
          <a:xfrm>
            <a:off x="5166360" y="1728216"/>
            <a:ext cx="6476695" cy="2615184"/>
          </a:xfrm>
          <a:prstGeom prst="roundRect">
            <a:avLst>
              <a:gd name="adj" fmla="val 2797"/>
            </a:avLst>
          </a:prstGeom>
          <a:solidFill>
            <a:srgbClr val="EEF2F5"/>
          </a:solidFill>
          <a:ln w="12700">
            <a:solidFill>
              <a:srgbClr val="EEF2F5"/>
            </a:solidFill>
            <a:prstDash val="solid"/>
          </a:ln>
        </p:spPr>
      </p:sp>
      <p:sp>
        <p:nvSpPr>
          <p:cNvPr id="18" name="Text 16"/>
          <p:cNvSpPr txBox="1"/>
          <p:nvPr/>
        </p:nvSpPr>
        <p:spPr>
          <a:xfrm>
            <a:off x="5349240" y="1892808"/>
            <a:ext cx="6110935" cy="22860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mutex remains locked</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another thread calls lock()</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waits forever</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program hangs</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exception thrown → stack unwinds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destructors of every local STILL run</a:t>
            </a:r>
            <a:endParaRPr lang="en-US" sz="1500" dirty="0"/>
          </a:p>
        </p:txBody>
      </p:sp>
      <p:sp>
        <p:nvSpPr>
          <p:cNvPr id="19" name="Shape 17"/>
          <p:cNvSpPr/>
          <p:nvPr/>
        </p:nvSpPr>
        <p:spPr>
          <a:xfrm>
            <a:off x="5166360" y="4572000"/>
            <a:ext cx="6476695" cy="1089660"/>
          </a:xfrm>
          <a:prstGeom prst="roundRect">
            <a:avLst>
              <a:gd name="adj" fmla="val 6713"/>
            </a:avLst>
          </a:prstGeom>
          <a:solidFill>
            <a:srgbClr val="FDF1E8"/>
          </a:solidFill>
          <a:ln w="12700">
            <a:solidFill>
              <a:srgbClr val="FDF1E8"/>
            </a:solidFill>
            <a:prstDash val="solid"/>
          </a:ln>
        </p:spPr>
      </p:sp>
      <p:sp>
        <p:nvSpPr>
          <p:cNvPr id="20" name="Text 18"/>
          <p:cNvSpPr txBox="1"/>
          <p:nvPr/>
        </p:nvSpPr>
        <p:spPr>
          <a:xfrm>
            <a:off x="5394960" y="4754880"/>
            <a:ext cx="60194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SO</a:t>
            </a:r>
            <a:endParaRPr lang="en-US" sz="1200" dirty="0"/>
          </a:p>
        </p:txBody>
      </p:sp>
      <p:sp>
        <p:nvSpPr>
          <p:cNvPr id="21" name="Text 19"/>
          <p:cNvSpPr txBox="1"/>
          <p:nvPr/>
        </p:nvSpPr>
        <p:spPr>
          <a:xfrm>
            <a:off x="5394960" y="5065776"/>
            <a:ext cx="6019495"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We met this in v1: ThreadGroup joins in its destructor. Use the same trick for the lock.</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V3  ·  RAII LOCKING</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1B2430"/>
          </a:solidFill>
          <a:ln w="12700">
            <a:solidFill>
              <a:srgbClr val="1B2430"/>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The mutex tied to an object's lifetime</a:t>
            </a:r>
            <a:endParaRPr lang="en-US" sz="2800" dirty="0"/>
          </a:p>
        </p:txBody>
      </p:sp>
      <p:sp>
        <p:nvSpPr>
          <p:cNvPr id="12" name="Text 10"/>
          <p:cNvSpPr txBox="1"/>
          <p:nvPr/>
        </p:nvSpPr>
        <p:spPr>
          <a:xfrm>
            <a:off x="548640" y="1417320"/>
            <a:ext cx="676656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queue.hpp</a:t>
            </a:r>
            <a:endParaRPr lang="en-US" sz="1200" dirty="0"/>
          </a:p>
        </p:txBody>
      </p:sp>
      <p:sp>
        <p:nvSpPr>
          <p:cNvPr id="13" name="Shape 11"/>
          <p:cNvSpPr/>
          <p:nvPr/>
        </p:nvSpPr>
        <p:spPr>
          <a:xfrm>
            <a:off x="548640" y="1728216"/>
            <a:ext cx="7132320" cy="2386584"/>
          </a:xfrm>
          <a:prstGeom prst="roundRect">
            <a:avLst>
              <a:gd name="adj" fmla="val 3065"/>
            </a:avLst>
          </a:prstGeom>
          <a:solidFill>
            <a:srgbClr val="161C24"/>
          </a:solidFill>
          <a:ln w="12700">
            <a:solidFill>
              <a:srgbClr val="161C24"/>
            </a:solidFill>
            <a:prstDash val="solid"/>
          </a:ln>
        </p:spPr>
      </p:sp>
      <p:sp>
        <p:nvSpPr>
          <p:cNvPr id="14" name="Text 12"/>
          <p:cNvSpPr txBox="1"/>
          <p:nvPr/>
        </p:nvSpPr>
        <p:spPr>
          <a:xfrm>
            <a:off x="731520" y="1892808"/>
            <a:ext cx="6766560" cy="2057400"/>
          </a:xfrm>
          <a:prstGeom prst="rect">
            <a:avLst/>
          </a:prstGeom>
          <a:noFill/>
          <a:ln/>
        </p:spPr>
        <p:txBody>
          <a:bodyPr wrap="square" lIns="0" tIns="0" rIns="0" bIns="0" rtlCol="0" anchor="t"/>
          <a:lstStyle/>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int pop() {</a:t>
            </a:r>
            <a:endParaRPr lang="en-US" sz="1500" dirty="0"/>
          </a:p>
          <a:p>
            <a:pPr indent="0" marL="0">
              <a:lnSpc>
                <a:spcPct val="100000"/>
              </a:lnSpc>
              <a:buNone/>
            </a:pPr>
            <a:r>
              <a:rPr lang="en-US" sz="1500" strike="sngStrike" dirty="0">
                <a:solidFill>
                  <a:srgbClr val="FCA5A5"/>
                </a:solidFill>
                <a:latin typeface="Courier New" pitchFamily="34" charset="0"/>
                <a:ea typeface="Courier New" pitchFamily="34" charset="-122"/>
                <a:cs typeface="Courier New" pitchFamily="34" charset="-120"/>
              </a:rPr>
              <a:t>-     m.lock();</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std::lock_guard&lt;std::mutex&gt; lock(m);</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if (q.empty())</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throw std::runtime_error("empty");</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int v = q.front(); q.pop();</a:t>
            </a:r>
            <a:endParaRPr lang="en-US" sz="1500" dirty="0"/>
          </a:p>
          <a:p>
            <a:pPr indent="0" marL="0">
              <a:lnSpc>
                <a:spcPct val="100000"/>
              </a:lnSpc>
              <a:buNone/>
            </a:pPr>
            <a:r>
              <a:rPr lang="en-US" sz="1500" strike="sngStrike" dirty="0">
                <a:solidFill>
                  <a:srgbClr val="FCA5A5"/>
                </a:solidFill>
                <a:latin typeface="Courier New" pitchFamily="34" charset="0"/>
                <a:ea typeface="Courier New" pitchFamily="34" charset="-122"/>
                <a:cs typeface="Courier New" pitchFamily="34" charset="-120"/>
              </a:rPr>
              <a:t>-     m.unlock();</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return v;</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   // ← destructor: unlock()</a:t>
            </a:r>
            <a:endParaRPr lang="en-US" sz="1500" dirty="0"/>
          </a:p>
        </p:txBody>
      </p:sp>
      <p:sp>
        <p:nvSpPr>
          <p:cNvPr id="15" name="Shape 13"/>
          <p:cNvSpPr/>
          <p:nvPr/>
        </p:nvSpPr>
        <p:spPr>
          <a:xfrm>
            <a:off x="8001000" y="1728216"/>
            <a:ext cx="365760" cy="365760"/>
          </a:xfrm>
          <a:prstGeom prst="ellipse">
            <a:avLst/>
          </a:prstGeom>
          <a:solidFill>
            <a:srgbClr val="0F766E"/>
          </a:solidFill>
          <a:ln w="12700">
            <a:solidFill>
              <a:srgbClr val="0F766E"/>
            </a:solidFill>
            <a:prstDash val="solid"/>
          </a:ln>
        </p:spPr>
      </p:sp>
      <p:sp>
        <p:nvSpPr>
          <p:cNvPr id="16" name="Text 14"/>
          <p:cNvSpPr txBox="1"/>
          <p:nvPr/>
        </p:nvSpPr>
        <p:spPr>
          <a:xfrm>
            <a:off x="8001000" y="17282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8503920" y="1764792"/>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constructor → lock mutex ··· critical section ··· destructor → unlock mutex.</a:t>
            </a:r>
            <a:endParaRPr lang="en-US" sz="1600" dirty="0"/>
          </a:p>
        </p:txBody>
      </p:sp>
      <p:sp>
        <p:nvSpPr>
          <p:cNvPr id="18" name="Shape 16"/>
          <p:cNvSpPr/>
          <p:nvPr/>
        </p:nvSpPr>
        <p:spPr>
          <a:xfrm>
            <a:off x="8001000" y="2758440"/>
            <a:ext cx="365760" cy="365760"/>
          </a:xfrm>
          <a:prstGeom prst="ellipse">
            <a:avLst/>
          </a:prstGeom>
          <a:solidFill>
            <a:srgbClr val="0F766E"/>
          </a:solidFill>
          <a:ln w="12700">
            <a:solidFill>
              <a:srgbClr val="0F766E"/>
            </a:solidFill>
            <a:prstDash val="solid"/>
          </a:ln>
        </p:spPr>
      </p:sp>
      <p:sp>
        <p:nvSpPr>
          <p:cNvPr id="19" name="Text 17"/>
          <p:cNvSpPr txBox="1"/>
          <p:nvPr/>
        </p:nvSpPr>
        <p:spPr>
          <a:xfrm>
            <a:off x="8001000" y="27584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8503920" y="2795016"/>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Return, throw, break: the destructor runs on every path.</a:t>
            </a:r>
            <a:endParaRPr lang="en-US" sz="1600" dirty="0"/>
          </a:p>
        </p:txBody>
      </p:sp>
      <p:sp>
        <p:nvSpPr>
          <p:cNvPr id="21" name="Shape 19"/>
          <p:cNvSpPr/>
          <p:nvPr/>
        </p:nvSpPr>
        <p:spPr>
          <a:xfrm>
            <a:off x="8001000" y="3788664"/>
            <a:ext cx="365760" cy="365760"/>
          </a:xfrm>
          <a:prstGeom prst="ellipse">
            <a:avLst/>
          </a:prstGeom>
          <a:solidFill>
            <a:srgbClr val="0F766E"/>
          </a:solidFill>
          <a:ln w="12700">
            <a:solidFill>
              <a:srgbClr val="0F766E"/>
            </a:solidFill>
            <a:prstDash val="solid"/>
          </a:ln>
        </p:spPr>
      </p:sp>
      <p:sp>
        <p:nvSpPr>
          <p:cNvPr id="22" name="Text 20"/>
          <p:cNvSpPr txBox="1"/>
          <p:nvPr/>
        </p:nvSpPr>
        <p:spPr>
          <a:xfrm>
            <a:off x="8001000" y="37886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503920" y="3825240"/>
            <a:ext cx="3139135" cy="995680"/>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Name the object. lock_guard&lt;std::mutex&gt;(m); is a temporary that unlocks at the semicolon.</a:t>
            </a:r>
            <a:endParaRPr lang="en-US" sz="16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V3  ·  RAII LOCKING</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1B2430"/>
          </a:solidFill>
          <a:ln w="12700">
            <a:solidFill>
              <a:srgbClr val="1B2430"/>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Check yourself</a:t>
            </a:r>
            <a:endParaRPr lang="en-US" sz="2800" dirty="0"/>
          </a:p>
        </p:txBody>
      </p:sp>
      <p:sp>
        <p:nvSpPr>
          <p:cNvPr id="12" name="Shape 10"/>
          <p:cNvSpPr/>
          <p:nvPr/>
        </p:nvSpPr>
        <p:spPr>
          <a:xfrm>
            <a:off x="548640" y="1417320"/>
            <a:ext cx="4206240" cy="1149604"/>
          </a:xfrm>
          <a:prstGeom prst="roundRect">
            <a:avLst>
              <a:gd name="adj" fmla="val 6363"/>
            </a:avLst>
          </a:prstGeom>
          <a:solidFill>
            <a:srgbClr val="EEF2F5"/>
          </a:solidFill>
          <a:ln w="12700">
            <a:solidFill>
              <a:srgbClr val="EEF2F5"/>
            </a:solidFill>
            <a:prstDash val="solid"/>
          </a:ln>
        </p:spPr>
      </p:sp>
      <p:sp>
        <p:nvSpPr>
          <p:cNvPr id="13" name="Text 11"/>
          <p:cNvSpPr txBox="1"/>
          <p:nvPr/>
        </p:nvSpPr>
        <p:spPr>
          <a:xfrm>
            <a:off x="777240" y="1600200"/>
            <a:ext cx="3749040"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THE LESSON</a:t>
            </a:r>
            <a:endParaRPr lang="en-US" sz="1200" dirty="0"/>
          </a:p>
        </p:txBody>
      </p:sp>
      <p:sp>
        <p:nvSpPr>
          <p:cNvPr id="14" name="Text 12"/>
          <p:cNvSpPr txBox="1"/>
          <p:nvPr/>
        </p:nvSpPr>
        <p:spPr>
          <a:xfrm>
            <a:off x="777240" y="1911096"/>
            <a:ext cx="3749040" cy="546100"/>
          </a:xfrm>
          <a:prstGeom prst="rect">
            <a:avLst/>
          </a:prstGeom>
          <a:noFill/>
          <a:ln/>
        </p:spPr>
        <p:txBody>
          <a:bodyPr wrap="square" lIns="0" tIns="0" rIns="0" bIns="0" rtlCol="0" anchor="t"/>
          <a:lstStyle/>
          <a:p>
            <a:pPr indent="0" marL="0">
              <a:lnSpc>
                <a:spcPct val="105000"/>
              </a:lnSpc>
              <a:buNone/>
            </a:pPr>
            <a:r>
              <a:rPr lang="en-US" sz="1700" dirty="0">
                <a:solidFill>
                  <a:srgbClr val="1B2430"/>
                </a:solidFill>
                <a:latin typeface="Calibri" pitchFamily="34" charset="0"/>
                <a:ea typeface="Calibri" pitchFamily="34" charset="-122"/>
                <a:cs typeface="Calibri" pitchFamily="34" charset="-120"/>
              </a:rPr>
              <a:t>Never unlock by hand. Let a destructor release the lock.</a:t>
            </a:r>
            <a:endParaRPr lang="en-US" sz="1700" dirty="0"/>
          </a:p>
        </p:txBody>
      </p:sp>
      <p:sp>
        <p:nvSpPr>
          <p:cNvPr id="15" name="Text 13"/>
          <p:cNvSpPr txBox="1"/>
          <p:nvPr/>
        </p:nvSpPr>
        <p:spPr>
          <a:xfrm>
            <a:off x="548640" y="2841244"/>
            <a:ext cx="420624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EXPLAIN WITHOUT LOOKING</a:t>
            </a:r>
            <a:endParaRPr lang="en-US" sz="1200" dirty="0"/>
          </a:p>
        </p:txBody>
      </p:sp>
      <p:sp>
        <p:nvSpPr>
          <p:cNvPr id="16" name="Shape 14"/>
          <p:cNvSpPr/>
          <p:nvPr/>
        </p:nvSpPr>
        <p:spPr>
          <a:xfrm>
            <a:off x="548640" y="3234436"/>
            <a:ext cx="182880" cy="182880"/>
          </a:xfrm>
          <a:prstGeom prst="rect">
            <a:avLst/>
          </a:prstGeom>
          <a:solidFill>
            <a:srgbClr val="FFFFFF"/>
          </a:solidFill>
          <a:ln w="15875">
            <a:solidFill>
              <a:srgbClr val="0F766E"/>
            </a:solidFill>
            <a:prstDash val="solid"/>
          </a:ln>
        </p:spPr>
      </p:sp>
      <p:sp>
        <p:nvSpPr>
          <p:cNvPr id="17" name="Text 15"/>
          <p:cNvSpPr txBox="1"/>
          <p:nvPr/>
        </p:nvSpPr>
        <p:spPr>
          <a:xfrm>
            <a:off x="868680" y="3188716"/>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RAII?</a:t>
            </a:r>
            <a:endParaRPr lang="en-US" sz="1500" dirty="0"/>
          </a:p>
        </p:txBody>
      </p:sp>
      <p:sp>
        <p:nvSpPr>
          <p:cNvPr id="18" name="Shape 16"/>
          <p:cNvSpPr/>
          <p:nvPr/>
        </p:nvSpPr>
        <p:spPr>
          <a:xfrm>
            <a:off x="548640" y="3605530"/>
            <a:ext cx="182880" cy="182880"/>
          </a:xfrm>
          <a:prstGeom prst="rect">
            <a:avLst/>
          </a:prstGeom>
          <a:solidFill>
            <a:srgbClr val="FFFFFF"/>
          </a:solidFill>
          <a:ln w="15875">
            <a:solidFill>
              <a:srgbClr val="0F766E"/>
            </a:solidFill>
            <a:prstDash val="solid"/>
          </a:ln>
        </p:spPr>
      </p:sp>
      <p:sp>
        <p:nvSpPr>
          <p:cNvPr id="19" name="Text 17"/>
          <p:cNvSpPr txBox="1"/>
          <p:nvPr/>
        </p:nvSpPr>
        <p:spPr>
          <a:xfrm>
            <a:off x="868680" y="3559810"/>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lock_guard?</a:t>
            </a:r>
            <a:endParaRPr lang="en-US" sz="1500" dirty="0"/>
          </a:p>
        </p:txBody>
      </p:sp>
      <p:sp>
        <p:nvSpPr>
          <p:cNvPr id="20" name="Shape 18"/>
          <p:cNvSpPr/>
          <p:nvPr/>
        </p:nvSpPr>
        <p:spPr>
          <a:xfrm>
            <a:off x="548640" y="3976624"/>
            <a:ext cx="182880" cy="182880"/>
          </a:xfrm>
          <a:prstGeom prst="rect">
            <a:avLst/>
          </a:prstGeom>
          <a:solidFill>
            <a:srgbClr val="FFFFFF"/>
          </a:solidFill>
          <a:ln w="15875">
            <a:solidFill>
              <a:srgbClr val="0F766E"/>
            </a:solidFill>
            <a:prstDash val="solid"/>
          </a:ln>
        </p:spPr>
      </p:sp>
      <p:sp>
        <p:nvSpPr>
          <p:cNvPr id="21" name="Text 19"/>
          <p:cNvSpPr txBox="1"/>
          <p:nvPr/>
        </p:nvSpPr>
        <p:spPr>
          <a:xfrm>
            <a:off x="868680" y="3930904"/>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When exactly does it unlock?</a:t>
            </a:r>
            <a:endParaRPr lang="en-US" sz="1500" dirty="0"/>
          </a:p>
        </p:txBody>
      </p:sp>
      <p:sp>
        <p:nvSpPr>
          <p:cNvPr id="22" name="Shape 20"/>
          <p:cNvSpPr/>
          <p:nvPr/>
        </p:nvSpPr>
        <p:spPr>
          <a:xfrm>
            <a:off x="548640" y="4347718"/>
            <a:ext cx="182880" cy="182880"/>
          </a:xfrm>
          <a:prstGeom prst="rect">
            <a:avLst/>
          </a:prstGeom>
          <a:solidFill>
            <a:srgbClr val="FFFFFF"/>
          </a:solidFill>
          <a:ln w="15875">
            <a:solidFill>
              <a:srgbClr val="0F766E"/>
            </a:solidFill>
            <a:prstDash val="solid"/>
          </a:ln>
        </p:spPr>
      </p:sp>
      <p:sp>
        <p:nvSpPr>
          <p:cNvPr id="23" name="Text 21"/>
          <p:cNvSpPr txBox="1"/>
          <p:nvPr/>
        </p:nvSpPr>
        <p:spPr>
          <a:xfrm>
            <a:off x="868680" y="4301998"/>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happens during an exception?</a:t>
            </a:r>
            <a:endParaRPr lang="en-US" sz="1500" dirty="0"/>
          </a:p>
        </p:txBody>
      </p:sp>
      <p:sp>
        <p:nvSpPr>
          <p:cNvPr id="24" name="Shape 22"/>
          <p:cNvSpPr/>
          <p:nvPr/>
        </p:nvSpPr>
        <p:spPr>
          <a:xfrm>
            <a:off x="548640" y="4718812"/>
            <a:ext cx="182880" cy="182880"/>
          </a:xfrm>
          <a:prstGeom prst="rect">
            <a:avLst/>
          </a:prstGeom>
          <a:solidFill>
            <a:srgbClr val="FFFFFF"/>
          </a:solidFill>
          <a:ln w="15875">
            <a:solidFill>
              <a:srgbClr val="0F766E"/>
            </a:solidFill>
            <a:prstDash val="solid"/>
          </a:ln>
        </p:spPr>
      </p:sp>
      <p:sp>
        <p:nvSpPr>
          <p:cNvPr id="25" name="Text 23"/>
          <p:cNvSpPr txBox="1"/>
          <p:nvPr/>
        </p:nvSpPr>
        <p:spPr>
          <a:xfrm>
            <a:off x="868680" y="4673092"/>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does scope matter?</a:t>
            </a:r>
            <a:endParaRPr lang="en-US" sz="1500" dirty="0"/>
          </a:p>
        </p:txBody>
      </p:sp>
      <p:sp>
        <p:nvSpPr>
          <p:cNvPr id="26" name="Shape 24"/>
          <p:cNvSpPr/>
          <p:nvPr/>
        </p:nvSpPr>
        <p:spPr>
          <a:xfrm>
            <a:off x="5166360" y="1417320"/>
            <a:ext cx="6476695" cy="1518920"/>
          </a:xfrm>
          <a:prstGeom prst="roundRect">
            <a:avLst>
              <a:gd name="adj" fmla="val 4816"/>
            </a:avLst>
          </a:prstGeom>
          <a:solidFill>
            <a:srgbClr val="FFFFFF"/>
          </a:solidFill>
          <a:ln w="12700">
            <a:solidFill>
              <a:srgbClr val="D5DDE5"/>
            </a:solidFill>
            <a:prstDash val="solid"/>
          </a:ln>
        </p:spPr>
      </p:sp>
      <p:sp>
        <p:nvSpPr>
          <p:cNvPr id="27" name="Text 25"/>
          <p:cNvSpPr txBox="1"/>
          <p:nvPr/>
        </p:nvSpPr>
        <p:spPr>
          <a:xfrm>
            <a:off x="5394960" y="15819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NUMBERS</a:t>
            </a:r>
            <a:endParaRPr lang="en-US" sz="1200" dirty="0"/>
          </a:p>
        </p:txBody>
      </p:sp>
      <p:sp>
        <p:nvSpPr>
          <p:cNvPr id="28" name="Text 26"/>
          <p:cNvSpPr txBox="1"/>
          <p:nvPr/>
        </p:nvSpPr>
        <p:spPr>
          <a:xfrm>
            <a:off x="5394960" y="18928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A function has 4 return statements and 1 throw. How many unlock() calls do you need with lock_guard?</a:t>
            </a:r>
            <a:endParaRPr lang="en-US" sz="1500" dirty="0"/>
          </a:p>
        </p:txBody>
      </p:sp>
      <p:sp>
        <p:nvSpPr>
          <p:cNvPr id="29" name="Text 27"/>
          <p:cNvSpPr txBox="1"/>
          <p:nvPr/>
        </p:nvSpPr>
        <p:spPr>
          <a:xfrm>
            <a:off x="5394960" y="24704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Zero. The destructor handles all 5 exits.</a:t>
            </a:r>
            <a:endParaRPr lang="en-US" sz="1400" dirty="0"/>
          </a:p>
        </p:txBody>
      </p:sp>
      <p:sp>
        <p:nvSpPr>
          <p:cNvPr id="30" name="Shape 28"/>
          <p:cNvSpPr/>
          <p:nvPr/>
        </p:nvSpPr>
        <p:spPr>
          <a:xfrm>
            <a:off x="5166360" y="3119120"/>
            <a:ext cx="6476695" cy="1518920"/>
          </a:xfrm>
          <a:prstGeom prst="roundRect">
            <a:avLst>
              <a:gd name="adj" fmla="val 4816"/>
            </a:avLst>
          </a:prstGeom>
          <a:solidFill>
            <a:srgbClr val="FFFFFF"/>
          </a:solidFill>
          <a:ln w="12700">
            <a:solidFill>
              <a:srgbClr val="D5DDE5"/>
            </a:solidFill>
            <a:prstDash val="solid"/>
          </a:ln>
        </p:spPr>
      </p:sp>
      <p:sp>
        <p:nvSpPr>
          <p:cNvPr id="31" name="Text 29"/>
          <p:cNvSpPr txBox="1"/>
          <p:nvPr/>
        </p:nvSpPr>
        <p:spPr>
          <a:xfrm>
            <a:off x="5394960" y="32837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TRACE IT</a:t>
            </a:r>
            <a:endParaRPr lang="en-US" sz="1200" dirty="0"/>
          </a:p>
        </p:txBody>
      </p:sp>
      <p:sp>
        <p:nvSpPr>
          <p:cNvPr id="32" name="Text 30"/>
          <p:cNvSpPr txBox="1"/>
          <p:nvPr/>
        </p:nvSpPr>
        <p:spPr>
          <a:xfrm>
            <a:off x="5394960" y="35946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std::lock_guard&lt;std::mutex&gt;(m); ++counter; Is counter protected?</a:t>
            </a:r>
            <a:endParaRPr lang="en-US" sz="1500" dirty="0"/>
          </a:p>
        </p:txBody>
      </p:sp>
      <p:sp>
        <p:nvSpPr>
          <p:cNvPr id="33" name="Text 31"/>
          <p:cNvSpPr txBox="1"/>
          <p:nvPr/>
        </p:nvSpPr>
        <p:spPr>
          <a:xfrm>
            <a:off x="5394960" y="41722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No. The unnamed temporary unlocks at the semicolon.</a:t>
            </a:r>
            <a:endParaRPr lang="en-US" sz="1400" dirty="0"/>
          </a:p>
        </p:txBody>
      </p:sp>
      <p:sp>
        <p:nvSpPr>
          <p:cNvPr id="34" name="Shape 32"/>
          <p:cNvSpPr/>
          <p:nvPr/>
        </p:nvSpPr>
        <p:spPr>
          <a:xfrm>
            <a:off x="5166360" y="4820920"/>
            <a:ext cx="6476695" cy="1518920"/>
          </a:xfrm>
          <a:prstGeom prst="roundRect">
            <a:avLst>
              <a:gd name="adj" fmla="val 4816"/>
            </a:avLst>
          </a:prstGeom>
          <a:solidFill>
            <a:srgbClr val="FFFFFF"/>
          </a:solidFill>
          <a:ln w="12700">
            <a:solidFill>
              <a:srgbClr val="D5DDE5"/>
            </a:solidFill>
            <a:prstDash val="solid"/>
          </a:ln>
        </p:spPr>
      </p:sp>
      <p:sp>
        <p:nvSpPr>
          <p:cNvPr id="35" name="Text 33"/>
          <p:cNvSpPr txBox="1"/>
          <p:nvPr/>
        </p:nvSpPr>
        <p:spPr>
          <a:xfrm>
            <a:off x="5394960" y="49855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DESIGN</a:t>
            </a:r>
            <a:endParaRPr lang="en-US" sz="1200" dirty="0"/>
          </a:p>
        </p:txBody>
      </p:sp>
      <p:sp>
        <p:nvSpPr>
          <p:cNvPr id="36" name="Text 34"/>
          <p:cNvSpPr txBox="1"/>
          <p:nvPr/>
        </p:nvSpPr>
        <p:spPr>
          <a:xfrm>
            <a:off x="5394960" y="52964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You must unlock before slow logging at the end. Which lock type?</a:t>
            </a:r>
            <a:endParaRPr lang="en-US" sz="1500" dirty="0"/>
          </a:p>
        </p:txBody>
      </p:sp>
      <p:sp>
        <p:nvSpPr>
          <p:cNvPr id="37" name="Text 35"/>
          <p:cNvSpPr txBox="1"/>
          <p:nvPr/>
        </p:nvSpPr>
        <p:spPr>
          <a:xfrm>
            <a:off x="5394960" y="58740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std::unique_lock: call lock.unlock() early.</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V3  ·  INTERFACE RACES</a:t>
            </a:r>
            <a:endParaRPr lang="en-US" sz="1200" dirty="0"/>
          </a:p>
        </p:txBody>
      </p:sp>
      <p:sp>
        <p:nvSpPr>
          <p:cNvPr id="3" name="Shape 1"/>
          <p:cNvSpPr/>
          <p:nvPr/>
        </p:nvSpPr>
        <p:spPr>
          <a:xfrm>
            <a:off x="6229807" y="292608"/>
            <a:ext cx="1298448" cy="274320"/>
          </a:xfrm>
          <a:prstGeom prst="roundRect">
            <a:avLst>
              <a:gd name="adj" fmla="val 23333"/>
            </a:avLst>
          </a:prstGeom>
          <a:solidFill>
            <a:srgbClr val="1B2430"/>
          </a:solidFill>
          <a:ln w="12700">
            <a:solidFill>
              <a:srgbClr val="1B2430"/>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Every call locks. Is it safe now?</a:t>
            </a:r>
            <a:endParaRPr lang="en-US" sz="2800" dirty="0"/>
          </a:p>
        </p:txBody>
      </p:sp>
      <p:sp>
        <p:nvSpPr>
          <p:cNvPr id="12" name="Shape 10"/>
          <p:cNvSpPr/>
          <p:nvPr/>
        </p:nvSpPr>
        <p:spPr>
          <a:xfrm>
            <a:off x="548640" y="1417320"/>
            <a:ext cx="6766560" cy="1472184"/>
          </a:xfrm>
          <a:prstGeom prst="roundRect">
            <a:avLst>
              <a:gd name="adj" fmla="val 4969"/>
            </a:avLst>
          </a:prstGeom>
          <a:solidFill>
            <a:srgbClr val="EEF2F5"/>
          </a:solidFill>
          <a:ln w="12700">
            <a:solidFill>
              <a:srgbClr val="EEF2F5"/>
            </a:solidFill>
            <a:prstDash val="solid"/>
          </a:ln>
        </p:spPr>
      </p:sp>
      <p:sp>
        <p:nvSpPr>
          <p:cNvPr id="13" name="Text 11"/>
          <p:cNvSpPr txBox="1"/>
          <p:nvPr/>
        </p:nvSpPr>
        <p:spPr>
          <a:xfrm>
            <a:off x="731520" y="1581912"/>
            <a:ext cx="6400800" cy="11430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Queue:  [ 42 ]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Consumer A             Consumer B</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if (!q.empty())        if (!q.empty())</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q.pop();               q.pop();</a:t>
            </a:r>
            <a:endParaRPr lang="en-US" sz="1500" dirty="0"/>
          </a:p>
        </p:txBody>
      </p:sp>
      <p:sp>
        <p:nvSpPr>
          <p:cNvPr id="14" name="Shape 12"/>
          <p:cNvSpPr/>
          <p:nvPr/>
        </p:nvSpPr>
        <p:spPr>
          <a:xfrm>
            <a:off x="548640" y="3118104"/>
            <a:ext cx="6766560" cy="1472184"/>
          </a:xfrm>
          <a:prstGeom prst="roundRect">
            <a:avLst>
              <a:gd name="adj" fmla="val 4969"/>
            </a:avLst>
          </a:prstGeom>
          <a:solidFill>
            <a:srgbClr val="161C24"/>
          </a:solidFill>
          <a:ln w="12700">
            <a:solidFill>
              <a:srgbClr val="161C24"/>
            </a:solidFill>
            <a:prstDash val="solid"/>
          </a:ln>
        </p:spPr>
      </p:sp>
      <p:sp>
        <p:nvSpPr>
          <p:cNvPr id="15" name="Text 13"/>
          <p:cNvSpPr txBox="1"/>
          <p:nvPr/>
        </p:nvSpPr>
        <p:spPr>
          <a:xfrm>
            <a:off x="731520" y="3282696"/>
            <a:ext cx="6400800" cy="1143000"/>
          </a:xfrm>
          <a:prstGeom prst="rect">
            <a:avLst/>
          </a:prstGeom>
          <a:noFill/>
          <a:ln/>
        </p:spPr>
        <p:txBody>
          <a:bodyPr wrap="square" lIns="0" tIns="0" rIns="0" bIns="0" rtlCol="0" anchor="t"/>
          <a:lstStyle/>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Consumer A            Consumer B</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empty() → false       empty() → false</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pop()   → 42</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pop()   → ???</a:t>
            </a:r>
            <a:endParaRPr lang="en-US" sz="1500" dirty="0"/>
          </a:p>
        </p:txBody>
      </p:sp>
      <p:sp>
        <p:nvSpPr>
          <p:cNvPr id="16" name="Text 14"/>
          <p:cNvSpPr txBox="1"/>
          <p:nvPr/>
        </p:nvSpPr>
        <p:spPr>
          <a:xfrm>
            <a:off x="7680960" y="1417320"/>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THE QUESTION</a:t>
            </a:r>
            <a:endParaRPr lang="en-US" sz="1200" dirty="0"/>
          </a:p>
        </p:txBody>
      </p:sp>
      <p:sp>
        <p:nvSpPr>
          <p:cNvPr id="17" name="Text 15"/>
          <p:cNvSpPr txBox="1"/>
          <p:nvPr/>
        </p:nvSpPr>
        <p:spPr>
          <a:xfrm>
            <a:off x="7680960" y="1728216"/>
            <a:ext cx="3962095" cy="845820"/>
          </a:xfrm>
          <a:prstGeom prst="rect">
            <a:avLst/>
          </a:prstGeom>
          <a:noFill/>
          <a:ln/>
        </p:spPr>
        <p:txBody>
          <a:bodyPr wrap="square" lIns="0" tIns="0" rIns="0" bIns="0" rtlCol="0" anchor="t"/>
          <a:lstStyle/>
          <a:p>
            <a:pPr indent="0" marL="0">
              <a:lnSpc>
                <a:spcPct val="105000"/>
              </a:lnSpc>
              <a:buNone/>
            </a:pPr>
            <a:r>
              <a:rPr lang="en-US" sz="1800" b="1" dirty="0">
                <a:solidFill>
                  <a:srgbClr val="1B2430"/>
                </a:solidFill>
                <a:latin typeface="Calibri" pitchFamily="34" charset="0"/>
                <a:ea typeface="Calibri" pitchFamily="34" charset="-122"/>
                <a:cs typeface="Calibri" pitchFamily="34" charset="-120"/>
              </a:rPr>
              <a:t>empty() locks. pop() locks. One item, two consumers. Can anything go wrong?</a:t>
            </a:r>
            <a:endParaRPr lang="en-US" sz="1800" dirty="0"/>
          </a:p>
        </p:txBody>
      </p:sp>
      <p:sp>
        <p:nvSpPr>
          <p:cNvPr id="18" name="Text 16"/>
          <p:cNvSpPr txBox="1"/>
          <p:nvPr/>
        </p:nvSpPr>
        <p:spPr>
          <a:xfrm>
            <a:off x="7680960" y="2802636"/>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PREDICT</a:t>
            </a:r>
            <a:endParaRPr lang="en-US" sz="1200" dirty="0"/>
          </a:p>
        </p:txBody>
      </p:sp>
      <p:sp>
        <p:nvSpPr>
          <p:cNvPr id="19" name="Text 17"/>
          <p:cNvSpPr txBox="1"/>
          <p:nvPr/>
        </p:nvSpPr>
        <p:spPr>
          <a:xfrm>
            <a:off x="7680960" y="3113532"/>
            <a:ext cx="396209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Both consumers received false. How? What does B's pop() do?</a:t>
            </a:r>
            <a:endParaRPr lang="en-US" sz="1600" dirty="0"/>
          </a:p>
        </p:txBody>
      </p:sp>
      <p:sp>
        <p:nvSpPr>
          <p:cNvPr id="20" name="Shape 18"/>
          <p:cNvSpPr/>
          <p:nvPr/>
        </p:nvSpPr>
        <p:spPr>
          <a:xfrm>
            <a:off x="7680960" y="3903980"/>
            <a:ext cx="3962095" cy="1764030"/>
          </a:xfrm>
          <a:prstGeom prst="roundRect">
            <a:avLst>
              <a:gd name="adj" fmla="val 4147"/>
            </a:avLst>
          </a:prstGeom>
          <a:solidFill>
            <a:srgbClr val="EEF2F5"/>
          </a:solidFill>
          <a:ln w="12700">
            <a:solidFill>
              <a:srgbClr val="EEF2F5"/>
            </a:solidFill>
            <a:prstDash val="solid"/>
          </a:ln>
        </p:spPr>
      </p:sp>
      <p:sp>
        <p:nvSpPr>
          <p:cNvPr id="21" name="Text 19"/>
          <p:cNvSpPr txBox="1"/>
          <p:nvPr/>
        </p:nvSpPr>
        <p:spPr>
          <a:xfrm>
            <a:off x="7909560" y="4086860"/>
            <a:ext cx="3504895"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ANSWER</a:t>
            </a:r>
            <a:endParaRPr lang="en-US" sz="1200" dirty="0"/>
          </a:p>
        </p:txBody>
      </p:sp>
      <p:sp>
        <p:nvSpPr>
          <p:cNvPr id="22" name="Text 20"/>
          <p:cNvSpPr txBox="1"/>
          <p:nvPr/>
        </p:nvSpPr>
        <p:spPr>
          <a:xfrm>
            <a:off x="7909560" y="4397756"/>
            <a:ext cx="3504895" cy="116052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Between A's check and A's pop, B checked too.</a:t>
            </a:r>
            <a:endParaRPr lang="en-US" sz="1500" dirty="0"/>
          </a:p>
          <a:p>
            <a:pPr indent="0" marL="0">
              <a:lnSpc>
                <a:spcPct val="105000"/>
              </a:lnSpc>
              <a:buNone/>
            </a:pP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B's pop() finds an empty queue and throws.</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V3  ·  INTERFACE RACES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1B2430"/>
          </a:solidFill>
          <a:ln w="12700">
            <a:solidFill>
              <a:srgbClr val="1B2430"/>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The gap between two calls</a:t>
            </a:r>
            <a:endParaRPr lang="en-US" sz="2800" dirty="0"/>
          </a:p>
        </p:txBody>
      </p:sp>
      <p:sp>
        <p:nvSpPr>
          <p:cNvPr id="12" name="Text 10"/>
          <p:cNvSpPr txBox="1"/>
          <p:nvPr/>
        </p:nvSpPr>
        <p:spPr>
          <a:xfrm>
            <a:off x="548640" y="1417320"/>
            <a:ext cx="429768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RUN IT</a:t>
            </a:r>
            <a:endParaRPr lang="en-US" sz="1200" dirty="0"/>
          </a:p>
        </p:txBody>
      </p:sp>
      <p:sp>
        <p:nvSpPr>
          <p:cNvPr id="13" name="Shape 11"/>
          <p:cNvSpPr/>
          <p:nvPr/>
        </p:nvSpPr>
        <p:spPr>
          <a:xfrm>
            <a:off x="548640" y="1728216"/>
            <a:ext cx="4297680" cy="664464"/>
          </a:xfrm>
          <a:prstGeom prst="roundRect">
            <a:avLst>
              <a:gd name="adj" fmla="val 11009"/>
            </a:avLst>
          </a:prstGeom>
          <a:solidFill>
            <a:srgbClr val="0D1117"/>
          </a:solidFill>
          <a:ln w="12700">
            <a:solidFill>
              <a:srgbClr val="0D1117"/>
            </a:solidFill>
            <a:prstDash val="solid"/>
          </a:ln>
        </p:spPr>
      </p:sp>
      <p:sp>
        <p:nvSpPr>
          <p:cNvPr id="14" name="Text 12"/>
          <p:cNvSpPr txBox="1"/>
          <p:nvPr/>
        </p:nvSpPr>
        <p:spPr>
          <a:xfrm>
            <a:off x="731520" y="1892808"/>
            <a:ext cx="3931920" cy="335280"/>
          </a:xfrm>
          <a:prstGeom prst="rect">
            <a:avLst/>
          </a:prstGeom>
          <a:noFill/>
          <a:ln/>
        </p:spPr>
        <p:txBody>
          <a:bodyPr wrap="square" lIns="0" tIns="0" rIns="0" bIns="0" rtlCol="0" anchor="t"/>
          <a:lstStyle/>
          <a:p>
            <a:pPr indent="0" marL="0">
              <a:lnSpc>
                <a:spcPct val="100000"/>
              </a:lnSpc>
              <a:buNone/>
            </a:pPr>
            <a:r>
              <a:rPr lang="en-US" sz="1100" dirty="0">
                <a:solidFill>
                  <a:srgbClr val="CDE8D9"/>
                </a:solidFill>
                <a:latin typeface="Courier New" pitchFamily="34" charset="0"/>
                <a:ea typeface="Courier New" pitchFamily="34" charset="-122"/>
                <a:cs typeface="Courier New" pitchFamily="34" charset="-120"/>
              </a:rPr>
              <a:t>$ ./tiny_interface</a:t>
            </a:r>
            <a:endParaRPr lang="en-US" sz="1100" dirty="0"/>
          </a:p>
          <a:p>
            <a:pPr indent="0" marL="0">
              <a:lnSpc>
                <a:spcPct val="100000"/>
              </a:lnSpc>
              <a:buNone/>
            </a:pPr>
            <a:r>
              <a:rPr lang="en-US" sz="1100" dirty="0">
                <a:solidFill>
                  <a:srgbClr val="CDE8D9"/>
                </a:solidFill>
                <a:latin typeface="Courier New" pitchFamily="34" charset="0"/>
                <a:ea typeface="Courier New" pitchFamily="34" charset="-122"/>
                <a:cs typeface="Courier New" pitchFamily="34" charset="-120"/>
              </a:rPr>
              <a:t>top() hit an empty stack in 186 of 200 rounds</a:t>
            </a:r>
            <a:endParaRPr lang="en-US" sz="1100" dirty="0"/>
          </a:p>
        </p:txBody>
      </p:sp>
      <p:sp>
        <p:nvSpPr>
          <p:cNvPr id="15" name="Text 13"/>
          <p:cNvSpPr txBox="1"/>
          <p:nvPr/>
        </p:nvSpPr>
        <p:spPr>
          <a:xfrm>
            <a:off x="548640" y="2575560"/>
            <a:ext cx="4297680"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ThreadSanitizer reports nothing: there is no data race.</a:t>
            </a:r>
            <a:endParaRPr lang="en-US" sz="1500" dirty="0"/>
          </a:p>
        </p:txBody>
      </p:sp>
      <p:sp>
        <p:nvSpPr>
          <p:cNvPr id="16" name="Text 14"/>
          <p:cNvSpPr txBox="1"/>
          <p:nvPr/>
        </p:nvSpPr>
        <p:spPr>
          <a:xfrm>
            <a:off x="5166360" y="1417320"/>
            <a:ext cx="6476695"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WHAT HAPPENS, STEP BY STEP</a:t>
            </a:r>
            <a:endParaRPr lang="en-US" sz="1200" dirty="0"/>
          </a:p>
        </p:txBody>
      </p:sp>
      <p:sp>
        <p:nvSpPr>
          <p:cNvPr id="17" name="Shape 15"/>
          <p:cNvSpPr/>
          <p:nvPr/>
        </p:nvSpPr>
        <p:spPr>
          <a:xfrm>
            <a:off x="5166360" y="1728216"/>
            <a:ext cx="6476695" cy="1472184"/>
          </a:xfrm>
          <a:prstGeom prst="roundRect">
            <a:avLst>
              <a:gd name="adj" fmla="val 4969"/>
            </a:avLst>
          </a:prstGeom>
          <a:solidFill>
            <a:srgbClr val="EEF2F5"/>
          </a:solidFill>
          <a:ln w="12700">
            <a:solidFill>
              <a:srgbClr val="EEF2F5"/>
            </a:solidFill>
            <a:prstDash val="solid"/>
          </a:ln>
        </p:spPr>
      </p:sp>
      <p:sp>
        <p:nvSpPr>
          <p:cNvPr id="18" name="Text 16"/>
          <p:cNvSpPr txBox="1"/>
          <p:nvPr/>
        </p:nvSpPr>
        <p:spPr>
          <a:xfrm>
            <a:off x="5349240" y="1892808"/>
            <a:ext cx="6110935" cy="11430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if (!q.empty())   ← lock, check, unlock</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 another thread runs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q.pop();      ← lock, pop, unlock</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two calls = two locks = a gap</a:t>
            </a:r>
            <a:endParaRPr lang="en-US" sz="1500" dirty="0"/>
          </a:p>
        </p:txBody>
      </p:sp>
      <p:sp>
        <p:nvSpPr>
          <p:cNvPr id="19" name="Shape 17"/>
          <p:cNvSpPr/>
          <p:nvPr/>
        </p:nvSpPr>
        <p:spPr>
          <a:xfrm>
            <a:off x="5166360" y="3429000"/>
            <a:ext cx="6476695" cy="1089660"/>
          </a:xfrm>
          <a:prstGeom prst="roundRect">
            <a:avLst>
              <a:gd name="adj" fmla="val 6713"/>
            </a:avLst>
          </a:prstGeom>
          <a:solidFill>
            <a:srgbClr val="FDF1E8"/>
          </a:solidFill>
          <a:ln w="12700">
            <a:solidFill>
              <a:srgbClr val="FDF1E8"/>
            </a:solidFill>
            <a:prstDash val="solid"/>
          </a:ln>
        </p:spPr>
      </p:sp>
      <p:sp>
        <p:nvSpPr>
          <p:cNvPr id="20" name="Text 18"/>
          <p:cNvSpPr txBox="1"/>
          <p:nvPr/>
        </p:nvSpPr>
        <p:spPr>
          <a:xfrm>
            <a:off x="5394960" y="3611880"/>
            <a:ext cx="60194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SO</a:t>
            </a:r>
            <a:endParaRPr lang="en-US" sz="1200" dirty="0"/>
          </a:p>
        </p:txBody>
      </p:sp>
      <p:sp>
        <p:nvSpPr>
          <p:cNvPr id="21" name="Text 19"/>
          <p:cNvSpPr txBox="1"/>
          <p:nvPr/>
        </p:nvSpPr>
        <p:spPr>
          <a:xfrm>
            <a:off x="5394960" y="3922776"/>
            <a:ext cx="6019495"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A function can be thread-safe on its own while a SEQUENCE of calls is not. Check-then-act across a gap is a race condition.</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V3  ·  INTERFACE RACES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1B2430"/>
          </a:solidFill>
          <a:ln w="12700">
            <a:solidFill>
              <a:srgbClr val="1B2430"/>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Check and take in one call</a:t>
            </a:r>
            <a:endParaRPr lang="en-US" sz="2800" dirty="0"/>
          </a:p>
        </p:txBody>
      </p:sp>
      <p:sp>
        <p:nvSpPr>
          <p:cNvPr id="12" name="Text 10"/>
          <p:cNvSpPr txBox="1"/>
          <p:nvPr/>
        </p:nvSpPr>
        <p:spPr>
          <a:xfrm>
            <a:off x="548640" y="1417320"/>
            <a:ext cx="676656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queue.hpp</a:t>
            </a:r>
            <a:endParaRPr lang="en-US" sz="1200" dirty="0"/>
          </a:p>
        </p:txBody>
      </p:sp>
      <p:sp>
        <p:nvSpPr>
          <p:cNvPr id="13" name="Shape 11"/>
          <p:cNvSpPr/>
          <p:nvPr/>
        </p:nvSpPr>
        <p:spPr>
          <a:xfrm>
            <a:off x="548640" y="1728216"/>
            <a:ext cx="7132320" cy="2157984"/>
          </a:xfrm>
          <a:prstGeom prst="roundRect">
            <a:avLst>
              <a:gd name="adj" fmla="val 3390"/>
            </a:avLst>
          </a:prstGeom>
          <a:solidFill>
            <a:srgbClr val="161C24"/>
          </a:solidFill>
          <a:ln w="12700">
            <a:solidFill>
              <a:srgbClr val="161C24"/>
            </a:solidFill>
            <a:prstDash val="solid"/>
          </a:ln>
        </p:spPr>
      </p:sp>
      <p:sp>
        <p:nvSpPr>
          <p:cNvPr id="14" name="Text 12"/>
          <p:cNvSpPr txBox="1"/>
          <p:nvPr/>
        </p:nvSpPr>
        <p:spPr>
          <a:xfrm>
            <a:off x="731520" y="1892808"/>
            <a:ext cx="6766560" cy="1828800"/>
          </a:xfrm>
          <a:prstGeom prst="rect">
            <a:avLst/>
          </a:prstGeom>
          <a:noFill/>
          <a:ln/>
        </p:spPr>
        <p:txBody>
          <a:bodyPr wrap="square" lIns="0" tIns="0" rIns="0" bIns="0" rtlCol="0" anchor="t"/>
          <a:lstStyle/>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bool try_pop(int&amp; out) {</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std::lock_guard&lt;std::mutex&gt; lock(m);</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if (q.empty())</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return false;</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out = q.front();</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q.pop();</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return true;</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a:t>
            </a:r>
            <a:endParaRPr lang="en-US" sz="1500" dirty="0"/>
          </a:p>
        </p:txBody>
      </p:sp>
      <p:sp>
        <p:nvSpPr>
          <p:cNvPr id="15" name="Shape 13"/>
          <p:cNvSpPr/>
          <p:nvPr/>
        </p:nvSpPr>
        <p:spPr>
          <a:xfrm>
            <a:off x="8001000" y="1728216"/>
            <a:ext cx="365760" cy="365760"/>
          </a:xfrm>
          <a:prstGeom prst="ellipse">
            <a:avLst/>
          </a:prstGeom>
          <a:solidFill>
            <a:srgbClr val="0F766E"/>
          </a:solidFill>
          <a:ln w="12700">
            <a:solidFill>
              <a:srgbClr val="0F766E"/>
            </a:solidFill>
            <a:prstDash val="solid"/>
          </a:ln>
        </p:spPr>
      </p:sp>
      <p:sp>
        <p:nvSpPr>
          <p:cNvPr id="16" name="Text 14"/>
          <p:cNvSpPr txBox="1"/>
          <p:nvPr/>
        </p:nvSpPr>
        <p:spPr>
          <a:xfrm>
            <a:off x="8001000" y="17282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8503920" y="1764792"/>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Check, read and remove under ONE lock.</a:t>
            </a:r>
            <a:endParaRPr lang="en-US" sz="1600" dirty="0"/>
          </a:p>
        </p:txBody>
      </p:sp>
      <p:sp>
        <p:nvSpPr>
          <p:cNvPr id="18" name="Shape 16"/>
          <p:cNvSpPr/>
          <p:nvPr/>
        </p:nvSpPr>
        <p:spPr>
          <a:xfrm>
            <a:off x="8001000" y="2518664"/>
            <a:ext cx="365760" cy="365760"/>
          </a:xfrm>
          <a:prstGeom prst="ellipse">
            <a:avLst/>
          </a:prstGeom>
          <a:solidFill>
            <a:srgbClr val="0F766E"/>
          </a:solidFill>
          <a:ln w="12700">
            <a:solidFill>
              <a:srgbClr val="0F766E"/>
            </a:solidFill>
            <a:prstDash val="solid"/>
          </a:ln>
        </p:spPr>
      </p:sp>
      <p:sp>
        <p:nvSpPr>
          <p:cNvPr id="19" name="Text 17"/>
          <p:cNvSpPr txBox="1"/>
          <p:nvPr/>
        </p:nvSpPr>
        <p:spPr>
          <a:xfrm>
            <a:off x="8001000" y="25186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8503920" y="2555240"/>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Never throws: returns false when there's nothing.</a:t>
            </a:r>
            <a:endParaRPr lang="en-US" sz="1600" dirty="0"/>
          </a:p>
        </p:txBody>
      </p:sp>
      <p:sp>
        <p:nvSpPr>
          <p:cNvPr id="21" name="Shape 19"/>
          <p:cNvSpPr/>
          <p:nvPr/>
        </p:nvSpPr>
        <p:spPr>
          <a:xfrm>
            <a:off x="8001000" y="3309112"/>
            <a:ext cx="365760" cy="365760"/>
          </a:xfrm>
          <a:prstGeom prst="ellipse">
            <a:avLst/>
          </a:prstGeom>
          <a:solidFill>
            <a:srgbClr val="0F766E"/>
          </a:solidFill>
          <a:ln w="12700">
            <a:solidFill>
              <a:srgbClr val="0F766E"/>
            </a:solidFill>
            <a:prstDash val="solid"/>
          </a:ln>
        </p:spPr>
      </p:sp>
      <p:sp>
        <p:nvSpPr>
          <p:cNvPr id="22" name="Text 20"/>
          <p:cNvSpPr txBox="1"/>
          <p:nvPr/>
        </p:nvSpPr>
        <p:spPr>
          <a:xfrm>
            <a:off x="8001000" y="330911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503920" y="3345688"/>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empty() now only means "was empty a moment ago". Don't act on it.</a:t>
            </a:r>
            <a:endParaRPr lang="en-US" sz="16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V3  ·  INTERFACE RACES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1B2430"/>
          </a:solidFill>
          <a:ln w="12700">
            <a:solidFill>
              <a:srgbClr val="1B2430"/>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Check yourself</a:t>
            </a:r>
            <a:endParaRPr lang="en-US" sz="2800" dirty="0"/>
          </a:p>
        </p:txBody>
      </p:sp>
      <p:sp>
        <p:nvSpPr>
          <p:cNvPr id="12" name="Shape 10"/>
          <p:cNvSpPr/>
          <p:nvPr/>
        </p:nvSpPr>
        <p:spPr>
          <a:xfrm>
            <a:off x="548640" y="1417320"/>
            <a:ext cx="4206240" cy="1149604"/>
          </a:xfrm>
          <a:prstGeom prst="roundRect">
            <a:avLst>
              <a:gd name="adj" fmla="val 6363"/>
            </a:avLst>
          </a:prstGeom>
          <a:solidFill>
            <a:srgbClr val="EEF2F5"/>
          </a:solidFill>
          <a:ln w="12700">
            <a:solidFill>
              <a:srgbClr val="EEF2F5"/>
            </a:solidFill>
            <a:prstDash val="solid"/>
          </a:ln>
        </p:spPr>
      </p:sp>
      <p:sp>
        <p:nvSpPr>
          <p:cNvPr id="13" name="Text 11"/>
          <p:cNvSpPr txBox="1"/>
          <p:nvPr/>
        </p:nvSpPr>
        <p:spPr>
          <a:xfrm>
            <a:off x="777240" y="1600200"/>
            <a:ext cx="3749040"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THE LESSON</a:t>
            </a:r>
            <a:endParaRPr lang="en-US" sz="1200" dirty="0"/>
          </a:p>
        </p:txBody>
      </p:sp>
      <p:sp>
        <p:nvSpPr>
          <p:cNvPr id="14" name="Text 12"/>
          <p:cNvSpPr txBox="1"/>
          <p:nvPr/>
        </p:nvSpPr>
        <p:spPr>
          <a:xfrm>
            <a:off x="777240" y="1911096"/>
            <a:ext cx="3749040" cy="546100"/>
          </a:xfrm>
          <a:prstGeom prst="rect">
            <a:avLst/>
          </a:prstGeom>
          <a:noFill/>
          <a:ln/>
        </p:spPr>
        <p:txBody>
          <a:bodyPr wrap="square" lIns="0" tIns="0" rIns="0" bIns="0" rtlCol="0" anchor="t"/>
          <a:lstStyle/>
          <a:p>
            <a:pPr indent="0" marL="0">
              <a:lnSpc>
                <a:spcPct val="105000"/>
              </a:lnSpc>
              <a:buNone/>
            </a:pPr>
            <a:r>
              <a:rPr lang="en-US" sz="1700" dirty="0">
                <a:solidFill>
                  <a:srgbClr val="1B2430"/>
                </a:solidFill>
                <a:latin typeface="Calibri" pitchFamily="34" charset="0"/>
                <a:ea typeface="Calibri" pitchFamily="34" charset="-122"/>
                <a:cs typeface="Calibri" pitchFamily="34" charset="-120"/>
              </a:rPr>
              <a:t>A check and the action it guards must happen under one lock.</a:t>
            </a:r>
            <a:endParaRPr lang="en-US" sz="1700" dirty="0"/>
          </a:p>
        </p:txBody>
      </p:sp>
      <p:sp>
        <p:nvSpPr>
          <p:cNvPr id="15" name="Text 13"/>
          <p:cNvSpPr txBox="1"/>
          <p:nvPr/>
        </p:nvSpPr>
        <p:spPr>
          <a:xfrm>
            <a:off x="548640" y="2841244"/>
            <a:ext cx="420624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EXPLAIN WITHOUT LOOKING</a:t>
            </a:r>
            <a:endParaRPr lang="en-US" sz="1200" dirty="0"/>
          </a:p>
        </p:txBody>
      </p:sp>
      <p:sp>
        <p:nvSpPr>
          <p:cNvPr id="16" name="Shape 14"/>
          <p:cNvSpPr/>
          <p:nvPr/>
        </p:nvSpPr>
        <p:spPr>
          <a:xfrm>
            <a:off x="548640" y="3234436"/>
            <a:ext cx="182880" cy="182880"/>
          </a:xfrm>
          <a:prstGeom prst="rect">
            <a:avLst/>
          </a:prstGeom>
          <a:solidFill>
            <a:srgbClr val="FFFFFF"/>
          </a:solidFill>
          <a:ln w="15875">
            <a:solidFill>
              <a:srgbClr val="0F766E"/>
            </a:solidFill>
            <a:prstDash val="solid"/>
          </a:ln>
        </p:spPr>
      </p:sp>
      <p:sp>
        <p:nvSpPr>
          <p:cNvPr id="17" name="Text 15"/>
          <p:cNvSpPr txBox="1"/>
          <p:nvPr/>
        </p:nvSpPr>
        <p:spPr>
          <a:xfrm>
            <a:off x="868680" y="3188716"/>
            <a:ext cx="3886200"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Race condition without a data race: example?</a:t>
            </a:r>
            <a:endParaRPr lang="en-US" sz="1500" dirty="0"/>
          </a:p>
        </p:txBody>
      </p:sp>
      <p:sp>
        <p:nvSpPr>
          <p:cNvPr id="18" name="Shape 16"/>
          <p:cNvSpPr/>
          <p:nvPr/>
        </p:nvSpPr>
        <p:spPr>
          <a:xfrm>
            <a:off x="548640" y="3830320"/>
            <a:ext cx="182880" cy="182880"/>
          </a:xfrm>
          <a:prstGeom prst="rect">
            <a:avLst/>
          </a:prstGeom>
          <a:solidFill>
            <a:srgbClr val="FFFFFF"/>
          </a:solidFill>
          <a:ln w="15875">
            <a:solidFill>
              <a:srgbClr val="0F766E"/>
            </a:solidFill>
            <a:prstDash val="solid"/>
          </a:ln>
        </p:spPr>
      </p:sp>
      <p:sp>
        <p:nvSpPr>
          <p:cNvPr id="19" name="Text 17"/>
          <p:cNvSpPr txBox="1"/>
          <p:nvPr/>
        </p:nvSpPr>
        <p:spPr>
          <a:xfrm>
            <a:off x="868680" y="3784600"/>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does std::queue::pop() return void?</a:t>
            </a:r>
            <a:endParaRPr lang="en-US" sz="1500" dirty="0"/>
          </a:p>
        </p:txBody>
      </p:sp>
      <p:sp>
        <p:nvSpPr>
          <p:cNvPr id="20" name="Shape 18"/>
          <p:cNvSpPr/>
          <p:nvPr/>
        </p:nvSpPr>
        <p:spPr>
          <a:xfrm>
            <a:off x="548640" y="4201414"/>
            <a:ext cx="182880" cy="182880"/>
          </a:xfrm>
          <a:prstGeom prst="rect">
            <a:avLst/>
          </a:prstGeom>
          <a:solidFill>
            <a:srgbClr val="FFFFFF"/>
          </a:solidFill>
          <a:ln w="15875">
            <a:solidFill>
              <a:srgbClr val="0F766E"/>
            </a:solidFill>
            <a:prstDash val="solid"/>
          </a:ln>
        </p:spPr>
      </p:sp>
      <p:sp>
        <p:nvSpPr>
          <p:cNvPr id="21" name="Text 19"/>
          <p:cNvSpPr txBox="1"/>
          <p:nvPr/>
        </p:nvSpPr>
        <p:spPr>
          <a:xfrm>
            <a:off x="868680" y="4155694"/>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does empty() promise?</a:t>
            </a:r>
            <a:endParaRPr lang="en-US" sz="1500" dirty="0"/>
          </a:p>
        </p:txBody>
      </p:sp>
      <p:sp>
        <p:nvSpPr>
          <p:cNvPr id="22" name="Shape 20"/>
          <p:cNvSpPr/>
          <p:nvPr/>
        </p:nvSpPr>
        <p:spPr>
          <a:xfrm>
            <a:off x="548640" y="4572508"/>
            <a:ext cx="182880" cy="182880"/>
          </a:xfrm>
          <a:prstGeom prst="rect">
            <a:avLst/>
          </a:prstGeom>
          <a:solidFill>
            <a:srgbClr val="FFFFFF"/>
          </a:solidFill>
          <a:ln w="15875">
            <a:solidFill>
              <a:srgbClr val="0F766E"/>
            </a:solidFill>
            <a:prstDash val="solid"/>
          </a:ln>
        </p:spPr>
      </p:sp>
      <p:sp>
        <p:nvSpPr>
          <p:cNvPr id="23" name="Text 21"/>
          <p:cNvSpPr txBox="1"/>
          <p:nvPr/>
        </p:nvSpPr>
        <p:spPr>
          <a:xfrm>
            <a:off x="868680" y="4526788"/>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does empty() need a mutable mutex?</a:t>
            </a:r>
            <a:endParaRPr lang="en-US" sz="1500" dirty="0"/>
          </a:p>
        </p:txBody>
      </p:sp>
      <p:sp>
        <p:nvSpPr>
          <p:cNvPr id="24" name="Shape 22"/>
          <p:cNvSpPr/>
          <p:nvPr/>
        </p:nvSpPr>
        <p:spPr>
          <a:xfrm>
            <a:off x="5166360" y="1417320"/>
            <a:ext cx="6476695" cy="1518920"/>
          </a:xfrm>
          <a:prstGeom prst="roundRect">
            <a:avLst>
              <a:gd name="adj" fmla="val 4816"/>
            </a:avLst>
          </a:prstGeom>
          <a:solidFill>
            <a:srgbClr val="FFFFFF"/>
          </a:solidFill>
          <a:ln w="12700">
            <a:solidFill>
              <a:srgbClr val="D5DDE5"/>
            </a:solidFill>
            <a:prstDash val="solid"/>
          </a:ln>
        </p:spPr>
      </p:sp>
      <p:sp>
        <p:nvSpPr>
          <p:cNvPr id="25" name="Text 23"/>
          <p:cNvSpPr txBox="1"/>
          <p:nvPr/>
        </p:nvSpPr>
        <p:spPr>
          <a:xfrm>
            <a:off x="5394960" y="15819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NUMBERS</a:t>
            </a:r>
            <a:endParaRPr lang="en-US" sz="1200" dirty="0"/>
          </a:p>
        </p:txBody>
      </p:sp>
      <p:sp>
        <p:nvSpPr>
          <p:cNvPr id="26" name="Text 24"/>
          <p:cNvSpPr txBox="1"/>
          <p:nvPr/>
        </p:nvSpPr>
        <p:spPr>
          <a:xfrm>
            <a:off x="5394960" y="18928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2 consumers, 1,000 items, check-then-pop. Can exceptions happen?</a:t>
            </a:r>
            <a:endParaRPr lang="en-US" sz="1500" dirty="0"/>
          </a:p>
        </p:txBody>
      </p:sp>
      <p:sp>
        <p:nvSpPr>
          <p:cNvPr id="27" name="Text 25"/>
          <p:cNvSpPr txBox="1"/>
          <p:nvPr/>
        </p:nvSpPr>
        <p:spPr>
          <a:xfrm>
            <a:off x="5394960" y="24704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Yes, on the last items, whenever both pass the check together.</a:t>
            </a:r>
            <a:endParaRPr lang="en-US" sz="1400" dirty="0"/>
          </a:p>
        </p:txBody>
      </p:sp>
      <p:sp>
        <p:nvSpPr>
          <p:cNvPr id="28" name="Shape 26"/>
          <p:cNvSpPr/>
          <p:nvPr/>
        </p:nvSpPr>
        <p:spPr>
          <a:xfrm>
            <a:off x="5166360" y="3119120"/>
            <a:ext cx="6476695" cy="1728724"/>
          </a:xfrm>
          <a:prstGeom prst="roundRect">
            <a:avLst>
              <a:gd name="adj" fmla="val 4232"/>
            </a:avLst>
          </a:prstGeom>
          <a:solidFill>
            <a:srgbClr val="FFFFFF"/>
          </a:solidFill>
          <a:ln w="12700">
            <a:solidFill>
              <a:srgbClr val="D5DDE5"/>
            </a:solidFill>
            <a:prstDash val="solid"/>
          </a:ln>
        </p:spPr>
      </p:sp>
      <p:sp>
        <p:nvSpPr>
          <p:cNvPr id="29" name="Text 27"/>
          <p:cNvSpPr txBox="1"/>
          <p:nvPr/>
        </p:nvSpPr>
        <p:spPr>
          <a:xfrm>
            <a:off x="5394960" y="32837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TRACE IT</a:t>
            </a:r>
            <a:endParaRPr lang="en-US" sz="1200" dirty="0"/>
          </a:p>
        </p:txBody>
      </p:sp>
      <p:sp>
        <p:nvSpPr>
          <p:cNvPr id="30" name="Text 28"/>
          <p:cNvSpPr txBox="1"/>
          <p:nvPr/>
        </p:nvSpPr>
        <p:spPr>
          <a:xfrm>
            <a:off x="5394960" y="35946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A map has locked contains() and insert(). Trace two threads inserting key 7.</a:t>
            </a:r>
            <a:endParaRPr lang="en-US" sz="1500" dirty="0"/>
          </a:p>
        </p:txBody>
      </p:sp>
      <p:sp>
        <p:nvSpPr>
          <p:cNvPr id="31" name="Text 29"/>
          <p:cNvSpPr txBox="1"/>
          <p:nvPr/>
        </p:nvSpPr>
        <p:spPr>
          <a:xfrm>
            <a:off x="5394960" y="4172204"/>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Both see contains(7) == false; both insert. Second insert overwrites or fails.</a:t>
            </a:r>
            <a:endParaRPr lang="en-US" sz="1400" dirty="0"/>
          </a:p>
        </p:txBody>
      </p:sp>
      <p:sp>
        <p:nvSpPr>
          <p:cNvPr id="32" name="Shape 30"/>
          <p:cNvSpPr/>
          <p:nvPr/>
        </p:nvSpPr>
        <p:spPr>
          <a:xfrm>
            <a:off x="5166360" y="5030724"/>
            <a:ext cx="6476695" cy="1294130"/>
          </a:xfrm>
          <a:prstGeom prst="roundRect">
            <a:avLst>
              <a:gd name="adj" fmla="val 5653"/>
            </a:avLst>
          </a:prstGeom>
          <a:solidFill>
            <a:srgbClr val="FFFFFF"/>
          </a:solidFill>
          <a:ln w="12700">
            <a:solidFill>
              <a:srgbClr val="D5DDE5"/>
            </a:solidFill>
            <a:prstDash val="solid"/>
          </a:ln>
        </p:spPr>
      </p:sp>
      <p:sp>
        <p:nvSpPr>
          <p:cNvPr id="33" name="Text 31"/>
          <p:cNvSpPr txBox="1"/>
          <p:nvPr/>
        </p:nvSpPr>
        <p:spPr>
          <a:xfrm>
            <a:off x="5394960" y="5195316"/>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DESIGN</a:t>
            </a:r>
            <a:endParaRPr lang="en-US" sz="1200" dirty="0"/>
          </a:p>
        </p:txBody>
      </p:sp>
      <p:sp>
        <p:nvSpPr>
          <p:cNvPr id="34" name="Text 32"/>
          <p:cNvSpPr txBox="1"/>
          <p:nvPr/>
        </p:nvSpPr>
        <p:spPr>
          <a:xfrm>
            <a:off x="5394960" y="5506212"/>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Design the map's API so that race can't happen.</a:t>
            </a:r>
            <a:endParaRPr lang="en-US" sz="1500" dirty="0"/>
          </a:p>
        </p:txBody>
      </p:sp>
      <p:sp>
        <p:nvSpPr>
          <p:cNvPr id="35" name="Text 33"/>
          <p:cNvSpPr txBox="1"/>
          <p:nvPr/>
        </p:nvSpPr>
        <p:spPr>
          <a:xfrm>
            <a:off x="5394960" y="5859018"/>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insert_if_absent(key, value): check and insert under one lock.</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V4  ·  CONDITION_VARIABLE</a:t>
            </a:r>
            <a:endParaRPr lang="en-US" sz="1200" dirty="0"/>
          </a:p>
        </p:txBody>
      </p:sp>
      <p:sp>
        <p:nvSpPr>
          <p:cNvPr id="3" name="Shape 1"/>
          <p:cNvSpPr/>
          <p:nvPr/>
        </p:nvSpPr>
        <p:spPr>
          <a:xfrm>
            <a:off x="6229807" y="292608"/>
            <a:ext cx="1298448" cy="274320"/>
          </a:xfrm>
          <a:prstGeom prst="roundRect">
            <a:avLst>
              <a:gd name="adj" fmla="val 23333"/>
            </a:avLst>
          </a:prstGeom>
          <a:solidFill>
            <a:srgbClr val="1B2430"/>
          </a:solidFill>
          <a:ln w="12700">
            <a:solidFill>
              <a:srgbClr val="1B2430"/>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Our consumer is wasting a CPU</a:t>
            </a:r>
            <a:endParaRPr lang="en-US" sz="2800" dirty="0"/>
          </a:p>
        </p:txBody>
      </p:sp>
      <p:sp>
        <p:nvSpPr>
          <p:cNvPr id="12" name="Shape 10"/>
          <p:cNvSpPr/>
          <p:nvPr/>
        </p:nvSpPr>
        <p:spPr>
          <a:xfrm>
            <a:off x="548640" y="1417320"/>
            <a:ext cx="6766560" cy="1243584"/>
          </a:xfrm>
          <a:prstGeom prst="roundRect">
            <a:avLst>
              <a:gd name="adj" fmla="val 5882"/>
            </a:avLst>
          </a:prstGeom>
          <a:solidFill>
            <a:srgbClr val="EEF2F5"/>
          </a:solidFill>
          <a:ln w="12700">
            <a:solidFill>
              <a:srgbClr val="EEF2F5"/>
            </a:solidFill>
            <a:prstDash val="solid"/>
          </a:ln>
        </p:spPr>
      </p:sp>
      <p:sp>
        <p:nvSpPr>
          <p:cNvPr id="13" name="Text 11"/>
          <p:cNvSpPr txBox="1"/>
          <p:nvPr/>
        </p:nvSpPr>
        <p:spPr>
          <a:xfrm>
            <a:off x="731520" y="1581912"/>
            <a:ext cx="6400800" cy="9144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int x;</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while (!q.try_pop(x))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 try again</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a:t>
            </a:r>
            <a:endParaRPr lang="en-US" sz="1500" dirty="0"/>
          </a:p>
        </p:txBody>
      </p:sp>
      <p:sp>
        <p:nvSpPr>
          <p:cNvPr id="14" name="Shape 12"/>
          <p:cNvSpPr/>
          <p:nvPr/>
        </p:nvSpPr>
        <p:spPr>
          <a:xfrm>
            <a:off x="548640" y="2889504"/>
            <a:ext cx="6766560" cy="1014984"/>
          </a:xfrm>
          <a:prstGeom prst="roundRect">
            <a:avLst>
              <a:gd name="adj" fmla="val 7207"/>
            </a:avLst>
          </a:prstGeom>
          <a:solidFill>
            <a:srgbClr val="161C24"/>
          </a:solidFill>
          <a:ln w="12700">
            <a:solidFill>
              <a:srgbClr val="161C24"/>
            </a:solidFill>
            <a:prstDash val="solid"/>
          </a:ln>
        </p:spPr>
      </p:sp>
      <p:sp>
        <p:nvSpPr>
          <p:cNvPr id="15" name="Text 13"/>
          <p:cNvSpPr txBox="1"/>
          <p:nvPr/>
        </p:nvSpPr>
        <p:spPr>
          <a:xfrm>
            <a:off x="731520" y="3054096"/>
            <a:ext cx="6400800" cy="685800"/>
          </a:xfrm>
          <a:prstGeom prst="rect">
            <a:avLst/>
          </a:prstGeom>
          <a:noFill/>
          <a:ln/>
        </p:spPr>
        <p:txBody>
          <a:bodyPr wrap="square" lIns="0" tIns="0" rIns="0" bIns="0" rtlCol="0" anchor="t"/>
          <a:lstStyle/>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./next_bug     # v3</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checked an empty queue</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times in 1 s</a:t>
            </a:r>
            <a:endParaRPr lang="en-US" sz="1500" dirty="0"/>
          </a:p>
        </p:txBody>
      </p:sp>
      <p:sp>
        <p:nvSpPr>
          <p:cNvPr id="16" name="Text 14"/>
          <p:cNvSpPr txBox="1"/>
          <p:nvPr/>
        </p:nvSpPr>
        <p:spPr>
          <a:xfrm>
            <a:off x="7680960" y="1417320"/>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THE QUESTION</a:t>
            </a:r>
            <a:endParaRPr lang="en-US" sz="1200" dirty="0"/>
          </a:p>
        </p:txBody>
      </p:sp>
      <p:sp>
        <p:nvSpPr>
          <p:cNvPr id="17" name="Text 15"/>
          <p:cNvSpPr txBox="1"/>
          <p:nvPr/>
        </p:nvSpPr>
        <p:spPr>
          <a:xfrm>
            <a:off x="7680960" y="1728216"/>
            <a:ext cx="3962095" cy="845820"/>
          </a:xfrm>
          <a:prstGeom prst="rect">
            <a:avLst/>
          </a:prstGeom>
          <a:noFill/>
          <a:ln/>
        </p:spPr>
        <p:txBody>
          <a:bodyPr wrap="square" lIns="0" tIns="0" rIns="0" bIns="0" rtlCol="0" anchor="t"/>
          <a:lstStyle/>
          <a:p>
            <a:pPr indent="0" marL="0">
              <a:lnSpc>
                <a:spcPct val="105000"/>
              </a:lnSpc>
              <a:buNone/>
            </a:pPr>
            <a:r>
              <a:rPr lang="en-US" sz="1800" b="1" dirty="0">
                <a:solidFill>
                  <a:srgbClr val="1B2430"/>
                </a:solidFill>
                <a:latin typeface="Calibri" pitchFamily="34" charset="0"/>
                <a:ea typeface="Calibri" pitchFamily="34" charset="-122"/>
                <a:cs typeface="Calibri" pitchFamily="34" charset="-120"/>
              </a:rPr>
              <a:t>The queue is empty for one second. What is this consumer doing during that second?</a:t>
            </a:r>
            <a:endParaRPr lang="en-US" sz="1800" dirty="0"/>
          </a:p>
        </p:txBody>
      </p:sp>
      <p:sp>
        <p:nvSpPr>
          <p:cNvPr id="18" name="Text 16"/>
          <p:cNvSpPr txBox="1"/>
          <p:nvPr/>
        </p:nvSpPr>
        <p:spPr>
          <a:xfrm>
            <a:off x="7680960" y="2802636"/>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PREDICT</a:t>
            </a:r>
            <a:endParaRPr lang="en-US" sz="1200" dirty="0"/>
          </a:p>
        </p:txBody>
      </p:sp>
      <p:sp>
        <p:nvSpPr>
          <p:cNvPr id="19" name="Text 17"/>
          <p:cNvSpPr txBox="1"/>
          <p:nvPr/>
        </p:nvSpPr>
        <p:spPr>
          <a:xfrm>
            <a:off x="7680960" y="3113532"/>
            <a:ext cx="396209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Guess the number. Is any of that work useful?</a:t>
            </a:r>
            <a:endParaRPr lang="en-US" sz="1600" dirty="0"/>
          </a:p>
        </p:txBody>
      </p:sp>
      <p:sp>
        <p:nvSpPr>
          <p:cNvPr id="20" name="Shape 18"/>
          <p:cNvSpPr/>
          <p:nvPr/>
        </p:nvSpPr>
        <p:spPr>
          <a:xfrm>
            <a:off x="7680960" y="3903980"/>
            <a:ext cx="3962095" cy="1764030"/>
          </a:xfrm>
          <a:prstGeom prst="roundRect">
            <a:avLst>
              <a:gd name="adj" fmla="val 4147"/>
            </a:avLst>
          </a:prstGeom>
          <a:solidFill>
            <a:srgbClr val="EEF2F5"/>
          </a:solidFill>
          <a:ln w="12700">
            <a:solidFill>
              <a:srgbClr val="EEF2F5"/>
            </a:solidFill>
            <a:prstDash val="solid"/>
          </a:ln>
        </p:spPr>
      </p:sp>
      <p:sp>
        <p:nvSpPr>
          <p:cNvPr id="21" name="Text 19"/>
          <p:cNvSpPr txBox="1"/>
          <p:nvPr/>
        </p:nvSpPr>
        <p:spPr>
          <a:xfrm>
            <a:off x="7909560" y="4086860"/>
            <a:ext cx="3504895"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ANSWER</a:t>
            </a:r>
            <a:endParaRPr lang="en-US" sz="1200" dirty="0"/>
          </a:p>
        </p:txBody>
      </p:sp>
      <p:sp>
        <p:nvSpPr>
          <p:cNvPr id="22" name="Text 20"/>
          <p:cNvSpPr txBox="1"/>
          <p:nvPr/>
        </p:nvSpPr>
        <p:spPr>
          <a:xfrm>
            <a:off x="7909560" y="4397756"/>
            <a:ext cx="3504895" cy="116052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About 10–12 million checks.</a:t>
            </a:r>
            <a:endParaRPr lang="en-US" sz="1500" dirty="0"/>
          </a:p>
          <a:p>
            <a:pPr indent="0" marL="0">
              <a:lnSpc>
                <a:spcPct val="105000"/>
              </a:lnSpc>
              <a:buNone/>
            </a:pP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All useless: checking an empty queue. A whole core is burned doing nothing.</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V4  ·  CONDITION_VARIABLE</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1B2430"/>
          </a:solidFill>
          <a:ln w="12700">
            <a:solidFill>
              <a:srgbClr val="1B2430"/>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The gap between unlocking and sleeping</a:t>
            </a:r>
            <a:endParaRPr lang="en-US" sz="2800" dirty="0"/>
          </a:p>
        </p:txBody>
      </p:sp>
      <p:sp>
        <p:nvSpPr>
          <p:cNvPr id="12" name="Text 10"/>
          <p:cNvSpPr txBox="1"/>
          <p:nvPr/>
        </p:nvSpPr>
        <p:spPr>
          <a:xfrm>
            <a:off x="548640" y="1417320"/>
            <a:ext cx="429768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RUN IT</a:t>
            </a:r>
            <a:endParaRPr lang="en-US" sz="1200" dirty="0"/>
          </a:p>
        </p:txBody>
      </p:sp>
      <p:sp>
        <p:nvSpPr>
          <p:cNvPr id="13" name="Shape 11"/>
          <p:cNvSpPr/>
          <p:nvPr/>
        </p:nvSpPr>
        <p:spPr>
          <a:xfrm>
            <a:off x="548640" y="1728216"/>
            <a:ext cx="4297680" cy="1609344"/>
          </a:xfrm>
          <a:prstGeom prst="roundRect">
            <a:avLst>
              <a:gd name="adj" fmla="val 4545"/>
            </a:avLst>
          </a:prstGeom>
          <a:solidFill>
            <a:srgbClr val="0D1117"/>
          </a:solidFill>
          <a:ln w="12700">
            <a:solidFill>
              <a:srgbClr val="0D1117"/>
            </a:solidFill>
            <a:prstDash val="solid"/>
          </a:ln>
        </p:spPr>
      </p:sp>
      <p:sp>
        <p:nvSpPr>
          <p:cNvPr id="14" name="Text 12"/>
          <p:cNvSpPr txBox="1"/>
          <p:nvPr/>
        </p:nvSpPr>
        <p:spPr>
          <a:xfrm>
            <a:off x="731520" y="1892808"/>
            <a:ext cx="3931920" cy="1280160"/>
          </a:xfrm>
          <a:prstGeom prst="rect">
            <a:avLst/>
          </a:prstGeom>
          <a:noFill/>
          <a:ln/>
        </p:spPr>
        <p:txBody>
          <a:bodyPr wrap="square" lIns="0" tIns="0" rIns="0" bIns="0" rtlCol="0" anchor="t"/>
          <a:lstStyle/>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 try a nap instead</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if (q.empty()) {</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    m.unlock();</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    sleep(1);</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    m.lock();</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a:t>
            </a:r>
            <a:endParaRPr lang="en-US" sz="1400" dirty="0"/>
          </a:p>
        </p:txBody>
      </p:sp>
      <p:sp>
        <p:nvSpPr>
          <p:cNvPr id="15" name="Text 13"/>
          <p:cNvSpPr txBox="1"/>
          <p:nvPr/>
        </p:nvSpPr>
        <p:spPr>
          <a:xfrm>
            <a:off x="548640" y="3520440"/>
            <a:ext cx="4297680" cy="93573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Item arrives right after the check? The consumer still sleeps a full second. And with a notification instead of sleep, it gets worse (next slide).</a:t>
            </a:r>
            <a:endParaRPr lang="en-US" sz="1500" dirty="0"/>
          </a:p>
        </p:txBody>
      </p:sp>
      <p:sp>
        <p:nvSpPr>
          <p:cNvPr id="16" name="Text 14"/>
          <p:cNvSpPr txBox="1"/>
          <p:nvPr/>
        </p:nvSpPr>
        <p:spPr>
          <a:xfrm>
            <a:off x="5166360" y="1417320"/>
            <a:ext cx="6476695"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WHAT HAPPENS, STEP BY STEP</a:t>
            </a:r>
            <a:endParaRPr lang="en-US" sz="1200" dirty="0"/>
          </a:p>
        </p:txBody>
      </p:sp>
      <p:sp>
        <p:nvSpPr>
          <p:cNvPr id="17" name="Shape 15"/>
          <p:cNvSpPr/>
          <p:nvPr/>
        </p:nvSpPr>
        <p:spPr>
          <a:xfrm>
            <a:off x="5166360" y="1728216"/>
            <a:ext cx="6476695" cy="2249424"/>
          </a:xfrm>
          <a:prstGeom prst="roundRect">
            <a:avLst>
              <a:gd name="adj" fmla="val 3252"/>
            </a:avLst>
          </a:prstGeom>
          <a:solidFill>
            <a:srgbClr val="EEF2F5"/>
          </a:solidFill>
          <a:ln w="12700">
            <a:solidFill>
              <a:srgbClr val="EEF2F5"/>
            </a:solidFill>
            <a:prstDash val="solid"/>
          </a:ln>
        </p:spPr>
      </p:sp>
      <p:sp>
        <p:nvSpPr>
          <p:cNvPr id="18" name="Text 16"/>
          <p:cNvSpPr txBox="1"/>
          <p:nvPr/>
        </p:nvSpPr>
        <p:spPr>
          <a:xfrm>
            <a:off x="5349240" y="1892808"/>
            <a:ext cx="6110935" cy="1920240"/>
          </a:xfrm>
          <a:prstGeom prst="rect">
            <a:avLst/>
          </a:prstGeom>
          <a:noFill/>
          <a:ln/>
        </p:spPr>
        <p:txBody>
          <a:bodyPr wrap="square" lIns="0" tIns="0" rIns="0" bIns="0" rtlCol="0" anchor="t"/>
          <a:lstStyle/>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Consumer                   Producer</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 </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"queue empty"</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unlock</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     ← scheduling gap →</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                           push item</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                           notify  ← nobody waiting yet</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start waiting</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    zzz forever             (the item sits in the queue)</a:t>
            </a:r>
            <a:endParaRPr lang="en-US" sz="1400" dirty="0"/>
          </a:p>
        </p:txBody>
      </p:sp>
      <p:sp>
        <p:nvSpPr>
          <p:cNvPr id="19" name="Shape 17"/>
          <p:cNvSpPr/>
          <p:nvPr/>
        </p:nvSpPr>
        <p:spPr>
          <a:xfrm>
            <a:off x="5166360" y="4206240"/>
            <a:ext cx="6476695" cy="1089660"/>
          </a:xfrm>
          <a:prstGeom prst="roundRect">
            <a:avLst>
              <a:gd name="adj" fmla="val 6713"/>
            </a:avLst>
          </a:prstGeom>
          <a:solidFill>
            <a:srgbClr val="FDF1E8"/>
          </a:solidFill>
          <a:ln w="12700">
            <a:solidFill>
              <a:srgbClr val="FDF1E8"/>
            </a:solidFill>
            <a:prstDash val="solid"/>
          </a:ln>
        </p:spPr>
      </p:sp>
      <p:sp>
        <p:nvSpPr>
          <p:cNvPr id="20" name="Text 18"/>
          <p:cNvSpPr txBox="1"/>
          <p:nvPr/>
        </p:nvSpPr>
        <p:spPr>
          <a:xfrm>
            <a:off x="5394960" y="4389120"/>
            <a:ext cx="60194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SO</a:t>
            </a:r>
            <a:endParaRPr lang="en-US" sz="1200" dirty="0"/>
          </a:p>
        </p:txBody>
      </p:sp>
      <p:sp>
        <p:nvSpPr>
          <p:cNvPr id="21" name="Text 19"/>
          <p:cNvSpPr txBox="1"/>
          <p:nvPr/>
        </p:nvSpPr>
        <p:spPr>
          <a:xfrm>
            <a:off x="5394960" y="4700016"/>
            <a:ext cx="6019495"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This is the LOST WAKE-UP. We need one operation that releases the mutex and starts waiting as a single step.</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V4  ·  CONDITION_VARIABLE</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1B2430"/>
          </a:solidFill>
          <a:ln w="12700">
            <a:solidFill>
              <a:srgbClr val="1B2430"/>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Sleep until something changes</a:t>
            </a:r>
            <a:endParaRPr lang="en-US" sz="2800" dirty="0"/>
          </a:p>
        </p:txBody>
      </p:sp>
      <p:sp>
        <p:nvSpPr>
          <p:cNvPr id="12" name="Text 10"/>
          <p:cNvSpPr txBox="1"/>
          <p:nvPr/>
        </p:nvSpPr>
        <p:spPr>
          <a:xfrm>
            <a:off x="548640" y="1417320"/>
            <a:ext cx="676656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queue.hpp</a:t>
            </a:r>
            <a:endParaRPr lang="en-US" sz="1200" dirty="0"/>
          </a:p>
        </p:txBody>
      </p:sp>
      <p:sp>
        <p:nvSpPr>
          <p:cNvPr id="13" name="Shape 11"/>
          <p:cNvSpPr/>
          <p:nvPr/>
        </p:nvSpPr>
        <p:spPr>
          <a:xfrm>
            <a:off x="548640" y="1728216"/>
            <a:ext cx="7132320" cy="2843784"/>
          </a:xfrm>
          <a:prstGeom prst="roundRect">
            <a:avLst>
              <a:gd name="adj" fmla="val 2572"/>
            </a:avLst>
          </a:prstGeom>
          <a:solidFill>
            <a:srgbClr val="161C24"/>
          </a:solidFill>
          <a:ln w="12700">
            <a:solidFill>
              <a:srgbClr val="161C24"/>
            </a:solidFill>
            <a:prstDash val="solid"/>
          </a:ln>
        </p:spPr>
      </p:sp>
      <p:sp>
        <p:nvSpPr>
          <p:cNvPr id="14" name="Text 12"/>
          <p:cNvSpPr txBox="1"/>
          <p:nvPr/>
        </p:nvSpPr>
        <p:spPr>
          <a:xfrm>
            <a:off x="731520" y="1892808"/>
            <a:ext cx="6766560" cy="2514600"/>
          </a:xfrm>
          <a:prstGeom prst="rect">
            <a:avLst/>
          </a:prstGeom>
          <a:noFill/>
          <a:ln/>
        </p:spPr>
        <p:txBody>
          <a:bodyPr wrap="square" lIns="0" tIns="0" rIns="0" bIns="0" rtlCol="0" anchor="t"/>
          <a:lstStyle/>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std::condition_variable cv;</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void push(int x) {</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 std::lock_guard&lt;std::mutex&gt; lock(m); q.push(x); }</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cv.notify_one();</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int wait_and_pop() {</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std::unique_lock&lt;std::mutex&gt; lock(m);</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cv.wait(lock, [&amp;] { return !q.empty(); });</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int v = q.front(); q.pop();</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return v;</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a:t>
            </a:r>
            <a:endParaRPr lang="en-US" sz="1500" dirty="0"/>
          </a:p>
        </p:txBody>
      </p:sp>
      <p:sp>
        <p:nvSpPr>
          <p:cNvPr id="15" name="Shape 13"/>
          <p:cNvSpPr/>
          <p:nvPr/>
        </p:nvSpPr>
        <p:spPr>
          <a:xfrm>
            <a:off x="8001000" y="1728216"/>
            <a:ext cx="365760" cy="365760"/>
          </a:xfrm>
          <a:prstGeom prst="ellipse">
            <a:avLst/>
          </a:prstGeom>
          <a:solidFill>
            <a:srgbClr val="0F766E"/>
          </a:solidFill>
          <a:ln w="12700">
            <a:solidFill>
              <a:srgbClr val="0F766E"/>
            </a:solidFill>
            <a:prstDash val="solid"/>
          </a:ln>
        </p:spPr>
      </p:sp>
      <p:sp>
        <p:nvSpPr>
          <p:cNvPr id="16" name="Text 14"/>
          <p:cNvSpPr txBox="1"/>
          <p:nvPr/>
        </p:nvSpPr>
        <p:spPr>
          <a:xfrm>
            <a:off x="8001000" y="17282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8503920" y="1764792"/>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wait() releases the lock and sleeps in ONE step: no gap.</a:t>
            </a:r>
            <a:endParaRPr lang="en-US" sz="1600" dirty="0"/>
          </a:p>
        </p:txBody>
      </p:sp>
      <p:sp>
        <p:nvSpPr>
          <p:cNvPr id="18" name="Shape 16"/>
          <p:cNvSpPr/>
          <p:nvPr/>
        </p:nvSpPr>
        <p:spPr>
          <a:xfrm>
            <a:off x="8001000" y="2518664"/>
            <a:ext cx="365760" cy="365760"/>
          </a:xfrm>
          <a:prstGeom prst="ellipse">
            <a:avLst/>
          </a:prstGeom>
          <a:solidFill>
            <a:srgbClr val="0F766E"/>
          </a:solidFill>
          <a:ln w="12700">
            <a:solidFill>
              <a:srgbClr val="0F766E"/>
            </a:solidFill>
            <a:prstDash val="solid"/>
          </a:ln>
        </p:spPr>
      </p:sp>
      <p:sp>
        <p:nvSpPr>
          <p:cNvPr id="19" name="Text 17"/>
          <p:cNvSpPr txBox="1"/>
          <p:nvPr/>
        </p:nvSpPr>
        <p:spPr>
          <a:xfrm>
            <a:off x="8001000" y="25186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8503920" y="2555240"/>
            <a:ext cx="3139135" cy="995680"/>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On wake-up it re-takes the lock and re-checks the predicate: while (!cond) sleep, never if.</a:t>
            </a:r>
            <a:endParaRPr lang="en-US" sz="1600" dirty="0"/>
          </a:p>
        </p:txBody>
      </p:sp>
      <p:sp>
        <p:nvSpPr>
          <p:cNvPr id="21" name="Shape 19"/>
          <p:cNvSpPr/>
          <p:nvPr/>
        </p:nvSpPr>
        <p:spPr>
          <a:xfrm>
            <a:off x="8001000" y="3788664"/>
            <a:ext cx="365760" cy="365760"/>
          </a:xfrm>
          <a:prstGeom prst="ellipse">
            <a:avLst/>
          </a:prstGeom>
          <a:solidFill>
            <a:srgbClr val="0F766E"/>
          </a:solidFill>
          <a:ln w="12700">
            <a:solidFill>
              <a:srgbClr val="0F766E"/>
            </a:solidFill>
            <a:prstDash val="solid"/>
          </a:ln>
        </p:spPr>
      </p:sp>
      <p:sp>
        <p:nvSpPr>
          <p:cNvPr id="22" name="Text 20"/>
          <p:cNvSpPr txBox="1"/>
          <p:nvPr/>
        </p:nvSpPr>
        <p:spPr>
          <a:xfrm>
            <a:off x="8001000" y="37886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503920" y="3825240"/>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unique_lock, because wait() must unlock and re-lock it.</a:t>
            </a:r>
            <a:endParaRPr lang="en-US" sz="16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V4  ·  CONDITION_VARIABLE</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1B2430"/>
          </a:solidFill>
          <a:ln w="12700">
            <a:solidFill>
              <a:srgbClr val="1B2430"/>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Check yourself</a:t>
            </a:r>
            <a:endParaRPr lang="en-US" sz="2800" dirty="0"/>
          </a:p>
        </p:txBody>
      </p:sp>
      <p:sp>
        <p:nvSpPr>
          <p:cNvPr id="12" name="Shape 10"/>
          <p:cNvSpPr/>
          <p:nvPr/>
        </p:nvSpPr>
        <p:spPr>
          <a:xfrm>
            <a:off x="548640" y="1417320"/>
            <a:ext cx="4206240" cy="1404366"/>
          </a:xfrm>
          <a:prstGeom prst="roundRect">
            <a:avLst>
              <a:gd name="adj" fmla="val 5209"/>
            </a:avLst>
          </a:prstGeom>
          <a:solidFill>
            <a:srgbClr val="EEF2F5"/>
          </a:solidFill>
          <a:ln w="12700">
            <a:solidFill>
              <a:srgbClr val="EEF2F5"/>
            </a:solidFill>
            <a:prstDash val="solid"/>
          </a:ln>
        </p:spPr>
      </p:sp>
      <p:sp>
        <p:nvSpPr>
          <p:cNvPr id="13" name="Text 11"/>
          <p:cNvSpPr txBox="1"/>
          <p:nvPr/>
        </p:nvSpPr>
        <p:spPr>
          <a:xfrm>
            <a:off x="777240" y="1600200"/>
            <a:ext cx="3749040"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THE LESSON</a:t>
            </a:r>
            <a:endParaRPr lang="en-US" sz="1200" dirty="0"/>
          </a:p>
        </p:txBody>
      </p:sp>
      <p:sp>
        <p:nvSpPr>
          <p:cNvPr id="14" name="Text 12"/>
          <p:cNvSpPr txBox="1"/>
          <p:nvPr/>
        </p:nvSpPr>
        <p:spPr>
          <a:xfrm>
            <a:off x="777240" y="1911096"/>
            <a:ext cx="3749040" cy="800862"/>
          </a:xfrm>
          <a:prstGeom prst="rect">
            <a:avLst/>
          </a:prstGeom>
          <a:noFill/>
          <a:ln/>
        </p:spPr>
        <p:txBody>
          <a:bodyPr wrap="square" lIns="0" tIns="0" rIns="0" bIns="0" rtlCol="0" anchor="t"/>
          <a:lstStyle/>
          <a:p>
            <a:pPr indent="0" marL="0">
              <a:lnSpc>
                <a:spcPct val="105000"/>
              </a:lnSpc>
              <a:buNone/>
            </a:pPr>
            <a:r>
              <a:rPr lang="en-US" sz="1700" dirty="0">
                <a:solidFill>
                  <a:srgbClr val="1B2430"/>
                </a:solidFill>
                <a:latin typeface="Calibri" pitchFamily="34" charset="0"/>
                <a:ea typeface="Calibri" pitchFamily="34" charset="-122"/>
                <a:cs typeface="Calibri" pitchFamily="34" charset="-120"/>
              </a:rPr>
              <a:t>wait() releases the lock and sleeps in one step, and always re-checks when it wakes.</a:t>
            </a:r>
            <a:endParaRPr lang="en-US" sz="1700" dirty="0"/>
          </a:p>
        </p:txBody>
      </p:sp>
      <p:sp>
        <p:nvSpPr>
          <p:cNvPr id="15" name="Text 13"/>
          <p:cNvSpPr txBox="1"/>
          <p:nvPr/>
        </p:nvSpPr>
        <p:spPr>
          <a:xfrm>
            <a:off x="548640" y="3096006"/>
            <a:ext cx="420624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EXPLAIN WITHOUT LOOKING</a:t>
            </a:r>
            <a:endParaRPr lang="en-US" sz="1200" dirty="0"/>
          </a:p>
        </p:txBody>
      </p:sp>
      <p:sp>
        <p:nvSpPr>
          <p:cNvPr id="16" name="Shape 14"/>
          <p:cNvSpPr/>
          <p:nvPr/>
        </p:nvSpPr>
        <p:spPr>
          <a:xfrm>
            <a:off x="548640" y="3489198"/>
            <a:ext cx="182880" cy="182880"/>
          </a:xfrm>
          <a:prstGeom prst="rect">
            <a:avLst/>
          </a:prstGeom>
          <a:solidFill>
            <a:srgbClr val="FFFFFF"/>
          </a:solidFill>
          <a:ln w="15875">
            <a:solidFill>
              <a:srgbClr val="0F766E"/>
            </a:solidFill>
            <a:prstDash val="solid"/>
          </a:ln>
        </p:spPr>
      </p:sp>
      <p:sp>
        <p:nvSpPr>
          <p:cNvPr id="17" name="Text 15"/>
          <p:cNvSpPr txBox="1"/>
          <p:nvPr/>
        </p:nvSpPr>
        <p:spPr>
          <a:xfrm>
            <a:off x="868680" y="3443478"/>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is busy waiting bad?</a:t>
            </a:r>
            <a:endParaRPr lang="en-US" sz="1500" dirty="0"/>
          </a:p>
        </p:txBody>
      </p:sp>
      <p:sp>
        <p:nvSpPr>
          <p:cNvPr id="18" name="Shape 16"/>
          <p:cNvSpPr/>
          <p:nvPr/>
        </p:nvSpPr>
        <p:spPr>
          <a:xfrm>
            <a:off x="548640" y="3860292"/>
            <a:ext cx="182880" cy="182880"/>
          </a:xfrm>
          <a:prstGeom prst="rect">
            <a:avLst/>
          </a:prstGeom>
          <a:solidFill>
            <a:srgbClr val="FFFFFF"/>
          </a:solidFill>
          <a:ln w="15875">
            <a:solidFill>
              <a:srgbClr val="0F766E"/>
            </a:solidFill>
            <a:prstDash val="solid"/>
          </a:ln>
        </p:spPr>
      </p:sp>
      <p:sp>
        <p:nvSpPr>
          <p:cNvPr id="19" name="Text 17"/>
          <p:cNvSpPr txBox="1"/>
          <p:nvPr/>
        </p:nvSpPr>
        <p:spPr>
          <a:xfrm>
            <a:off x="868680" y="3814572"/>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condition_variable?</a:t>
            </a:r>
            <a:endParaRPr lang="en-US" sz="1500" dirty="0"/>
          </a:p>
        </p:txBody>
      </p:sp>
      <p:sp>
        <p:nvSpPr>
          <p:cNvPr id="20" name="Shape 18"/>
          <p:cNvSpPr/>
          <p:nvPr/>
        </p:nvSpPr>
        <p:spPr>
          <a:xfrm>
            <a:off x="548640" y="4231386"/>
            <a:ext cx="182880" cy="182880"/>
          </a:xfrm>
          <a:prstGeom prst="rect">
            <a:avLst/>
          </a:prstGeom>
          <a:solidFill>
            <a:srgbClr val="FFFFFF"/>
          </a:solidFill>
          <a:ln w="15875">
            <a:solidFill>
              <a:srgbClr val="0F766E"/>
            </a:solidFill>
            <a:prstDash val="solid"/>
          </a:ln>
        </p:spPr>
      </p:sp>
      <p:sp>
        <p:nvSpPr>
          <p:cNvPr id="21" name="Text 19"/>
          <p:cNvSpPr txBox="1"/>
          <p:nvPr/>
        </p:nvSpPr>
        <p:spPr>
          <a:xfrm>
            <a:off x="868680" y="4185666"/>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unique_lock?</a:t>
            </a:r>
            <a:endParaRPr lang="en-US" sz="1500" dirty="0"/>
          </a:p>
        </p:txBody>
      </p:sp>
      <p:sp>
        <p:nvSpPr>
          <p:cNvPr id="22" name="Shape 20"/>
          <p:cNvSpPr/>
          <p:nvPr/>
        </p:nvSpPr>
        <p:spPr>
          <a:xfrm>
            <a:off x="548640" y="4602480"/>
            <a:ext cx="182880" cy="182880"/>
          </a:xfrm>
          <a:prstGeom prst="rect">
            <a:avLst/>
          </a:prstGeom>
          <a:solidFill>
            <a:srgbClr val="FFFFFF"/>
          </a:solidFill>
          <a:ln w="15875">
            <a:solidFill>
              <a:srgbClr val="0F766E"/>
            </a:solidFill>
            <a:prstDash val="solid"/>
          </a:ln>
        </p:spPr>
      </p:sp>
      <p:sp>
        <p:nvSpPr>
          <p:cNvPr id="23" name="Text 21"/>
          <p:cNvSpPr txBox="1"/>
          <p:nvPr/>
        </p:nvSpPr>
        <p:spPr>
          <a:xfrm>
            <a:off x="868680" y="4556760"/>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happens inside wait()?</a:t>
            </a:r>
            <a:endParaRPr lang="en-US" sz="1500" dirty="0"/>
          </a:p>
        </p:txBody>
      </p:sp>
      <p:sp>
        <p:nvSpPr>
          <p:cNvPr id="24" name="Shape 22"/>
          <p:cNvSpPr/>
          <p:nvPr/>
        </p:nvSpPr>
        <p:spPr>
          <a:xfrm>
            <a:off x="548640" y="4973574"/>
            <a:ext cx="182880" cy="182880"/>
          </a:xfrm>
          <a:prstGeom prst="rect">
            <a:avLst/>
          </a:prstGeom>
          <a:solidFill>
            <a:srgbClr val="FFFFFF"/>
          </a:solidFill>
          <a:ln w="15875">
            <a:solidFill>
              <a:srgbClr val="0F766E"/>
            </a:solidFill>
            <a:prstDash val="solid"/>
          </a:ln>
        </p:spPr>
      </p:sp>
      <p:sp>
        <p:nvSpPr>
          <p:cNvPr id="25" name="Text 23"/>
          <p:cNvSpPr txBox="1"/>
          <p:nvPr/>
        </p:nvSpPr>
        <p:spPr>
          <a:xfrm>
            <a:off x="868680" y="4927854"/>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the predicate?</a:t>
            </a:r>
            <a:endParaRPr lang="en-US" sz="1500" dirty="0"/>
          </a:p>
        </p:txBody>
      </p:sp>
      <p:sp>
        <p:nvSpPr>
          <p:cNvPr id="26" name="Shape 24"/>
          <p:cNvSpPr/>
          <p:nvPr/>
        </p:nvSpPr>
        <p:spPr>
          <a:xfrm>
            <a:off x="548640" y="5344668"/>
            <a:ext cx="182880" cy="182880"/>
          </a:xfrm>
          <a:prstGeom prst="rect">
            <a:avLst/>
          </a:prstGeom>
          <a:solidFill>
            <a:srgbClr val="FFFFFF"/>
          </a:solidFill>
          <a:ln w="15875">
            <a:solidFill>
              <a:srgbClr val="0F766E"/>
            </a:solidFill>
            <a:prstDash val="solid"/>
          </a:ln>
        </p:spPr>
      </p:sp>
      <p:sp>
        <p:nvSpPr>
          <p:cNvPr id="27" name="Text 25"/>
          <p:cNvSpPr txBox="1"/>
          <p:nvPr/>
        </p:nvSpPr>
        <p:spPr>
          <a:xfrm>
            <a:off x="868680" y="5298948"/>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notify_one vs notify_all?</a:t>
            </a:r>
            <a:endParaRPr lang="en-US" sz="1500" dirty="0"/>
          </a:p>
        </p:txBody>
      </p:sp>
      <p:sp>
        <p:nvSpPr>
          <p:cNvPr id="28" name="Shape 26"/>
          <p:cNvSpPr/>
          <p:nvPr/>
        </p:nvSpPr>
        <p:spPr>
          <a:xfrm>
            <a:off x="5166360" y="1417320"/>
            <a:ext cx="6476695" cy="1518920"/>
          </a:xfrm>
          <a:prstGeom prst="roundRect">
            <a:avLst>
              <a:gd name="adj" fmla="val 4816"/>
            </a:avLst>
          </a:prstGeom>
          <a:solidFill>
            <a:srgbClr val="FFFFFF"/>
          </a:solidFill>
          <a:ln w="12700">
            <a:solidFill>
              <a:srgbClr val="D5DDE5"/>
            </a:solidFill>
            <a:prstDash val="solid"/>
          </a:ln>
        </p:spPr>
      </p:sp>
      <p:sp>
        <p:nvSpPr>
          <p:cNvPr id="29" name="Text 27"/>
          <p:cNvSpPr txBox="1"/>
          <p:nvPr/>
        </p:nvSpPr>
        <p:spPr>
          <a:xfrm>
            <a:off x="5394960" y="15819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NUMBERS</a:t>
            </a:r>
            <a:endParaRPr lang="en-US" sz="1200" dirty="0"/>
          </a:p>
        </p:txBody>
      </p:sp>
      <p:sp>
        <p:nvSpPr>
          <p:cNvPr id="30" name="Text 28"/>
          <p:cNvSpPr txBox="1"/>
          <p:nvPr/>
        </p:nvSpPr>
        <p:spPr>
          <a:xfrm>
            <a:off x="5394960" y="18928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1 producer, 1 consumer, 1,000,000 items. What CPU does an idle consumer use now?</a:t>
            </a:r>
            <a:endParaRPr lang="en-US" sz="1500" dirty="0"/>
          </a:p>
        </p:txBody>
      </p:sp>
      <p:sp>
        <p:nvSpPr>
          <p:cNvPr id="31" name="Text 29"/>
          <p:cNvSpPr txBox="1"/>
          <p:nvPr/>
        </p:nvSpPr>
        <p:spPr>
          <a:xfrm>
            <a:off x="5394960" y="24704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About 0%. It sleeps inside wait().</a:t>
            </a:r>
            <a:endParaRPr lang="en-US" sz="1400" dirty="0"/>
          </a:p>
        </p:txBody>
      </p:sp>
      <p:sp>
        <p:nvSpPr>
          <p:cNvPr id="32" name="Shape 30"/>
          <p:cNvSpPr/>
          <p:nvPr/>
        </p:nvSpPr>
        <p:spPr>
          <a:xfrm>
            <a:off x="5166360" y="3119120"/>
            <a:ext cx="6476695" cy="1728724"/>
          </a:xfrm>
          <a:prstGeom prst="roundRect">
            <a:avLst>
              <a:gd name="adj" fmla="val 4232"/>
            </a:avLst>
          </a:prstGeom>
          <a:solidFill>
            <a:srgbClr val="FFFFFF"/>
          </a:solidFill>
          <a:ln w="12700">
            <a:solidFill>
              <a:srgbClr val="D5DDE5"/>
            </a:solidFill>
            <a:prstDash val="solid"/>
          </a:ln>
        </p:spPr>
      </p:sp>
      <p:sp>
        <p:nvSpPr>
          <p:cNvPr id="33" name="Text 31"/>
          <p:cNvSpPr txBox="1"/>
          <p:nvPr/>
        </p:nvSpPr>
        <p:spPr>
          <a:xfrm>
            <a:off x="5394960" y="32837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TRACE IT</a:t>
            </a:r>
            <a:endParaRPr lang="en-US" sz="1200" dirty="0"/>
          </a:p>
        </p:txBody>
      </p:sp>
      <p:sp>
        <p:nvSpPr>
          <p:cNvPr id="34" name="Text 32"/>
          <p:cNvSpPr txBox="1"/>
          <p:nvPr/>
        </p:nvSpPr>
        <p:spPr>
          <a:xfrm>
            <a:off x="5394960" y="35946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Trace cv.wait(lock, pred) from "queue empty" to "pop item". Who holds the mutex when?</a:t>
            </a:r>
            <a:endParaRPr lang="en-US" sz="1500" dirty="0"/>
          </a:p>
        </p:txBody>
      </p:sp>
      <p:sp>
        <p:nvSpPr>
          <p:cNvPr id="35" name="Text 33"/>
          <p:cNvSpPr txBox="1"/>
          <p:nvPr/>
        </p:nvSpPr>
        <p:spPr>
          <a:xfrm>
            <a:off x="5394960" y="4172204"/>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Consumer holds it → wait releases it → producer locks, pushes, unlocks, notifies → consumer re-takes it, pred true, pops.</a:t>
            </a:r>
            <a:endParaRPr lang="en-US" sz="1400" dirty="0"/>
          </a:p>
        </p:txBody>
      </p:sp>
      <p:sp>
        <p:nvSpPr>
          <p:cNvPr id="36" name="Shape 34"/>
          <p:cNvSpPr/>
          <p:nvPr/>
        </p:nvSpPr>
        <p:spPr>
          <a:xfrm>
            <a:off x="5166360" y="5030724"/>
            <a:ext cx="6476695" cy="1518920"/>
          </a:xfrm>
          <a:prstGeom prst="roundRect">
            <a:avLst>
              <a:gd name="adj" fmla="val 4816"/>
            </a:avLst>
          </a:prstGeom>
          <a:solidFill>
            <a:srgbClr val="FFFFFF"/>
          </a:solidFill>
          <a:ln w="12700">
            <a:solidFill>
              <a:srgbClr val="D5DDE5"/>
            </a:solidFill>
            <a:prstDash val="solid"/>
          </a:ln>
        </p:spPr>
      </p:sp>
      <p:sp>
        <p:nvSpPr>
          <p:cNvPr id="37" name="Text 35"/>
          <p:cNvSpPr txBox="1"/>
          <p:nvPr/>
        </p:nvSpPr>
        <p:spPr>
          <a:xfrm>
            <a:off x="5394960" y="5195316"/>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DESIGN</a:t>
            </a:r>
            <a:endParaRPr lang="en-US" sz="1200" dirty="0"/>
          </a:p>
        </p:txBody>
      </p:sp>
      <p:sp>
        <p:nvSpPr>
          <p:cNvPr id="38" name="Text 36"/>
          <p:cNvSpPr txBox="1"/>
          <p:nvPr/>
        </p:nvSpPr>
        <p:spPr>
          <a:xfrm>
            <a:off x="5394960" y="5506212"/>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4 producers, 8 consumers. Consumers sleep when empty; producers wake them. Which parts?</a:t>
            </a:r>
            <a:endParaRPr lang="en-US" sz="1500" dirty="0"/>
          </a:p>
        </p:txBody>
      </p:sp>
      <p:sp>
        <p:nvSpPr>
          <p:cNvPr id="39" name="Text 37"/>
          <p:cNvSpPr txBox="1"/>
          <p:nvPr/>
        </p:nvSpPr>
        <p:spPr>
          <a:xfrm>
            <a:off x="5394960" y="6083808"/>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queue + mutex + condition_variable (+ a closed flag to stop: v6).</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V4  ·  CONDITION_VARIABLE</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1B2430"/>
          </a:solidFill>
          <a:ln w="12700">
            <a:solidFill>
              <a:srgbClr val="1B2430"/>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Inside cv.wait(lock, pred), step by step</a:t>
            </a:r>
            <a:endParaRPr lang="en-US" sz="2800" dirty="0"/>
          </a:p>
        </p:txBody>
      </p:sp>
      <p:sp>
        <p:nvSpPr>
          <p:cNvPr id="12" name="Shape 10"/>
          <p:cNvSpPr/>
          <p:nvPr/>
        </p:nvSpPr>
        <p:spPr>
          <a:xfrm>
            <a:off x="548640" y="1417320"/>
            <a:ext cx="6949440" cy="3529584"/>
          </a:xfrm>
          <a:prstGeom prst="roundRect">
            <a:avLst>
              <a:gd name="adj" fmla="val 2073"/>
            </a:avLst>
          </a:prstGeom>
          <a:solidFill>
            <a:srgbClr val="EEF2F5"/>
          </a:solidFill>
          <a:ln w="12700">
            <a:solidFill>
              <a:srgbClr val="EEF2F5"/>
            </a:solidFill>
            <a:prstDash val="solid"/>
          </a:ln>
        </p:spPr>
      </p:sp>
      <p:sp>
        <p:nvSpPr>
          <p:cNvPr id="13" name="Text 11"/>
          <p:cNvSpPr txBox="1"/>
          <p:nvPr/>
        </p:nvSpPr>
        <p:spPr>
          <a:xfrm>
            <a:off x="731520" y="1581912"/>
            <a:ext cx="6583680" cy="32004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CONSUMER                         PRODUCER</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lock mutex</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queue empty?  YES</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 release mutex  ┐ one step</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 SLEEP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lock mutex</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push item</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unlock</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notify_one()</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wakes</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reacquire mutex</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check predicate: !q.empty() = true</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pop item</a:t>
            </a:r>
            <a:endParaRPr lang="en-US" sz="1500" dirty="0"/>
          </a:p>
        </p:txBody>
      </p:sp>
      <p:sp>
        <p:nvSpPr>
          <p:cNvPr id="14" name="Text 12"/>
          <p:cNvSpPr txBox="1"/>
          <p:nvPr/>
        </p:nvSpPr>
        <p:spPr>
          <a:xfrm>
            <a:off x="7909560" y="1417320"/>
            <a:ext cx="3730752"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WHO OWNS THE MUTEX?</a:t>
            </a:r>
            <a:endParaRPr lang="en-US" sz="1200" dirty="0"/>
          </a:p>
        </p:txBody>
      </p:sp>
      <p:sp>
        <p:nvSpPr>
          <p:cNvPr id="15" name="Text 13"/>
          <p:cNvSpPr txBox="1"/>
          <p:nvPr/>
        </p:nvSpPr>
        <p:spPr>
          <a:xfrm>
            <a:off x="7909560" y="1783080"/>
            <a:ext cx="3730752" cy="1475232"/>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Before wait(): the consumer owns the mutex. While asleep: nobody does, so the producer can push. When wait() returns: the consumer owns it again, and the condition is true.</a:t>
            </a:r>
            <a:endParaRPr lang="en-US" sz="16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V5  ·  MANY PRODUCERS AND CONSUMERS</a:t>
            </a:r>
            <a:endParaRPr lang="en-US" sz="1200" dirty="0"/>
          </a:p>
        </p:txBody>
      </p:sp>
      <p:sp>
        <p:nvSpPr>
          <p:cNvPr id="3" name="Shape 1"/>
          <p:cNvSpPr/>
          <p:nvPr/>
        </p:nvSpPr>
        <p:spPr>
          <a:xfrm>
            <a:off x="6229807" y="292608"/>
            <a:ext cx="1298448" cy="274320"/>
          </a:xfrm>
          <a:prstGeom prst="roundRect">
            <a:avLst>
              <a:gd name="adj" fmla="val 23333"/>
            </a:avLst>
          </a:prstGeom>
          <a:solidFill>
            <a:srgbClr val="1B2430"/>
          </a:solidFill>
          <a:ln w="12700">
            <a:solidFill>
              <a:srgbClr val="1B2430"/>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It works once. Does it work under load?</a:t>
            </a:r>
            <a:endParaRPr lang="en-US" sz="2800" dirty="0"/>
          </a:p>
        </p:txBody>
      </p:sp>
      <p:sp>
        <p:nvSpPr>
          <p:cNvPr id="12" name="Shape 10"/>
          <p:cNvSpPr/>
          <p:nvPr/>
        </p:nvSpPr>
        <p:spPr>
          <a:xfrm>
            <a:off x="548640" y="1417320"/>
            <a:ext cx="6766560" cy="1243584"/>
          </a:xfrm>
          <a:prstGeom prst="roundRect">
            <a:avLst>
              <a:gd name="adj" fmla="val 5882"/>
            </a:avLst>
          </a:prstGeom>
          <a:solidFill>
            <a:srgbClr val="EEF2F5"/>
          </a:solidFill>
          <a:ln w="12700">
            <a:solidFill>
              <a:srgbClr val="EEF2F5"/>
            </a:solidFill>
            <a:prstDash val="solid"/>
          </a:ln>
        </p:spPr>
      </p:sp>
      <p:sp>
        <p:nvSpPr>
          <p:cNvPr id="13" name="Text 11"/>
          <p:cNvSpPr txBox="1"/>
          <p:nvPr/>
        </p:nvSpPr>
        <p:spPr>
          <a:xfrm>
            <a:off x="731520" y="1581912"/>
            <a:ext cx="6400800" cy="9144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P1 ─┐                ┌─► C1</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P2 ─┤   ┌────────┐   ├─► C2</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P3 ─┼──►│ queue  │───┼─► C3</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P4 ─┘   └────────┘   └─► C4</a:t>
            </a:r>
            <a:endParaRPr lang="en-US" sz="1500" dirty="0"/>
          </a:p>
        </p:txBody>
      </p:sp>
      <p:sp>
        <p:nvSpPr>
          <p:cNvPr id="14" name="Shape 12"/>
          <p:cNvSpPr/>
          <p:nvPr/>
        </p:nvSpPr>
        <p:spPr>
          <a:xfrm>
            <a:off x="548640" y="2889504"/>
            <a:ext cx="6766560" cy="1929384"/>
          </a:xfrm>
          <a:prstGeom prst="roundRect">
            <a:avLst>
              <a:gd name="adj" fmla="val 3791"/>
            </a:avLst>
          </a:prstGeom>
          <a:solidFill>
            <a:srgbClr val="161C24"/>
          </a:solidFill>
          <a:ln w="12700">
            <a:solidFill>
              <a:srgbClr val="161C24"/>
            </a:solidFill>
            <a:prstDash val="solid"/>
          </a:ln>
        </p:spPr>
      </p:sp>
      <p:sp>
        <p:nvSpPr>
          <p:cNvPr id="15" name="Text 13"/>
          <p:cNvSpPr txBox="1"/>
          <p:nvPr/>
        </p:nvSpPr>
        <p:spPr>
          <a:xfrm>
            <a:off x="731520" y="3054096"/>
            <a:ext cx="6400800" cy="1600200"/>
          </a:xfrm>
          <a:prstGeom prst="rect">
            <a:avLst/>
          </a:prstGeom>
          <a:noFill/>
          <a:ln/>
        </p:spPr>
        <p:txBody>
          <a:bodyPr wrap="square" lIns="0" tIns="0" rIns="0" bIns="0" rtlCol="0" anchor="t"/>
          <a:lstStyle/>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4 threads add 1,000,000 numbers each</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A: lock per item</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for (...) { lock_guard l(m); total += i; }</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B: lock once</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long local = 0;</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for (...) local += i;</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lock_guard l(m); total += local; }</a:t>
            </a:r>
            <a:endParaRPr lang="en-US" sz="1500" dirty="0"/>
          </a:p>
        </p:txBody>
      </p:sp>
      <p:sp>
        <p:nvSpPr>
          <p:cNvPr id="16" name="Text 14"/>
          <p:cNvSpPr txBox="1"/>
          <p:nvPr/>
        </p:nvSpPr>
        <p:spPr>
          <a:xfrm>
            <a:off x="7680960" y="1417320"/>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THE QUESTION</a:t>
            </a:r>
            <a:endParaRPr lang="en-US" sz="1200" dirty="0"/>
          </a:p>
        </p:txBody>
      </p:sp>
      <p:sp>
        <p:nvSpPr>
          <p:cNvPr id="17" name="Text 15"/>
          <p:cNvSpPr txBox="1"/>
          <p:nvPr/>
        </p:nvSpPr>
        <p:spPr>
          <a:xfrm>
            <a:off x="7680960" y="1728216"/>
            <a:ext cx="3962095" cy="1115568"/>
          </a:xfrm>
          <a:prstGeom prst="rect">
            <a:avLst/>
          </a:prstGeom>
          <a:noFill/>
          <a:ln/>
        </p:spPr>
        <p:txBody>
          <a:bodyPr wrap="square" lIns="0" tIns="0" rIns="0" bIns="0" rtlCol="0" anchor="t"/>
          <a:lstStyle/>
          <a:p>
            <a:pPr indent="0" marL="0">
              <a:lnSpc>
                <a:spcPct val="105000"/>
              </a:lnSpc>
              <a:buNone/>
            </a:pPr>
            <a:r>
              <a:rPr lang="en-US" sz="1800" b="1" dirty="0">
                <a:solidFill>
                  <a:srgbClr val="1B2430"/>
                </a:solidFill>
                <a:latin typeface="Calibri" pitchFamily="34" charset="0"/>
                <a:ea typeface="Calibri" pitchFamily="34" charset="-122"/>
                <a:cs typeface="Calibri" pitchFamily="34" charset="-120"/>
              </a:rPr>
              <a:t>One run printed the right total. How sure are you that 4 producers and 4 consumers never lose or duplicate an item?</a:t>
            </a:r>
            <a:endParaRPr lang="en-US" sz="1800" dirty="0"/>
          </a:p>
        </p:txBody>
      </p:sp>
      <p:sp>
        <p:nvSpPr>
          <p:cNvPr id="18" name="Text 16"/>
          <p:cNvSpPr txBox="1"/>
          <p:nvPr/>
        </p:nvSpPr>
        <p:spPr>
          <a:xfrm>
            <a:off x="7680960" y="3072384"/>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PREDICT</a:t>
            </a:r>
            <a:endParaRPr lang="en-US" sz="1200" dirty="0"/>
          </a:p>
        </p:txBody>
      </p:sp>
      <p:sp>
        <p:nvSpPr>
          <p:cNvPr id="19" name="Text 17"/>
          <p:cNvSpPr txBox="1"/>
          <p:nvPr/>
        </p:nvSpPr>
        <p:spPr>
          <a:xfrm>
            <a:off x="7680960" y="3383280"/>
            <a:ext cx="396209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Are both correct? How much faster is B?</a:t>
            </a:r>
            <a:endParaRPr lang="en-US" sz="1600" dirty="0"/>
          </a:p>
        </p:txBody>
      </p:sp>
      <p:sp>
        <p:nvSpPr>
          <p:cNvPr id="20" name="Shape 18"/>
          <p:cNvSpPr/>
          <p:nvPr/>
        </p:nvSpPr>
        <p:spPr>
          <a:xfrm>
            <a:off x="7680960" y="4173728"/>
            <a:ext cx="3962095" cy="1764030"/>
          </a:xfrm>
          <a:prstGeom prst="roundRect">
            <a:avLst>
              <a:gd name="adj" fmla="val 4147"/>
            </a:avLst>
          </a:prstGeom>
          <a:solidFill>
            <a:srgbClr val="EEF2F5"/>
          </a:solidFill>
          <a:ln w="12700">
            <a:solidFill>
              <a:srgbClr val="EEF2F5"/>
            </a:solidFill>
            <a:prstDash val="solid"/>
          </a:ln>
        </p:spPr>
      </p:sp>
      <p:sp>
        <p:nvSpPr>
          <p:cNvPr id="21" name="Text 19"/>
          <p:cNvSpPr txBox="1"/>
          <p:nvPr/>
        </p:nvSpPr>
        <p:spPr>
          <a:xfrm>
            <a:off x="7909560" y="4356608"/>
            <a:ext cx="3504895"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ANSWER</a:t>
            </a:r>
            <a:endParaRPr lang="en-US" sz="1200" dirty="0"/>
          </a:p>
        </p:txBody>
      </p:sp>
      <p:sp>
        <p:nvSpPr>
          <p:cNvPr id="22" name="Text 20"/>
          <p:cNvSpPr txBox="1"/>
          <p:nvPr/>
        </p:nvSpPr>
        <p:spPr>
          <a:xfrm>
            <a:off x="7909560" y="4667504"/>
            <a:ext cx="3504895" cy="116052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Both correct.</a:t>
            </a:r>
            <a:endParaRPr lang="en-US" sz="1500" dirty="0"/>
          </a:p>
          <a:p>
            <a:pPr indent="0" marL="0">
              <a:lnSpc>
                <a:spcPct val="105000"/>
              </a:lnSpc>
              <a:buNone/>
            </a:pP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B is about 100× faster: it touches the shared total once instead of a million times.</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V5  ·  MANY PRODUCERS AND CONSUMERS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1B2430"/>
          </a:solidFill>
          <a:ln w="12700">
            <a:solidFill>
              <a:srgbClr val="1B2430"/>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Contention: threads queuing for one lock</a:t>
            </a:r>
            <a:endParaRPr lang="en-US" sz="2800" dirty="0"/>
          </a:p>
        </p:txBody>
      </p:sp>
      <p:sp>
        <p:nvSpPr>
          <p:cNvPr id="12" name="Text 10"/>
          <p:cNvSpPr txBox="1"/>
          <p:nvPr/>
        </p:nvSpPr>
        <p:spPr>
          <a:xfrm>
            <a:off x="548640" y="1417320"/>
            <a:ext cx="429768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RUN IT</a:t>
            </a:r>
            <a:endParaRPr lang="en-US" sz="1200" dirty="0"/>
          </a:p>
        </p:txBody>
      </p:sp>
      <p:sp>
        <p:nvSpPr>
          <p:cNvPr id="13" name="Shape 11"/>
          <p:cNvSpPr/>
          <p:nvPr/>
        </p:nvSpPr>
        <p:spPr>
          <a:xfrm>
            <a:off x="548640" y="1728216"/>
            <a:ext cx="4297680" cy="969264"/>
          </a:xfrm>
          <a:prstGeom prst="roundRect">
            <a:avLst>
              <a:gd name="adj" fmla="val 7547"/>
            </a:avLst>
          </a:prstGeom>
          <a:solidFill>
            <a:srgbClr val="0D1117"/>
          </a:solidFill>
          <a:ln w="12700">
            <a:solidFill>
              <a:srgbClr val="0D1117"/>
            </a:solidFill>
            <a:prstDash val="solid"/>
          </a:ln>
        </p:spPr>
      </p:sp>
      <p:sp>
        <p:nvSpPr>
          <p:cNvPr id="14" name="Text 12"/>
          <p:cNvSpPr txBox="1"/>
          <p:nvPr/>
        </p:nvSpPr>
        <p:spPr>
          <a:xfrm>
            <a:off x="731520" y="1892808"/>
            <a:ext cx="3931920" cy="640080"/>
          </a:xfrm>
          <a:prstGeom prst="rect">
            <a:avLst/>
          </a:prstGeom>
          <a:noFill/>
          <a:ln/>
        </p:spPr>
        <p:txBody>
          <a:bodyPr wrap="square" lIns="0" tIns="0" rIns="0" bIns="0" rtlCol="0" anchor="t"/>
          <a:lstStyle/>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 ./tiny_contention</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A lock per item: 413 ms</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B lock once:     3 ms</a:t>
            </a:r>
            <a:endParaRPr lang="en-US" sz="1400" dirty="0"/>
          </a:p>
        </p:txBody>
      </p:sp>
      <p:sp>
        <p:nvSpPr>
          <p:cNvPr id="15" name="Text 13"/>
          <p:cNvSpPr txBox="1"/>
          <p:nvPr/>
        </p:nvSpPr>
        <p:spPr>
          <a:xfrm>
            <a:off x="548640" y="2880360"/>
            <a:ext cx="4297680" cy="71094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Same answer, 100× the time. And 1,000 items per producer hid v1's crash: each thread finished before the next started.</a:t>
            </a:r>
            <a:endParaRPr lang="en-US" sz="1500" dirty="0"/>
          </a:p>
        </p:txBody>
      </p:sp>
      <p:sp>
        <p:nvSpPr>
          <p:cNvPr id="16" name="Text 14"/>
          <p:cNvSpPr txBox="1"/>
          <p:nvPr/>
        </p:nvSpPr>
        <p:spPr>
          <a:xfrm>
            <a:off x="5166360" y="1417320"/>
            <a:ext cx="6476695"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WHAT HAPPENS, STEP BY STEP</a:t>
            </a:r>
            <a:endParaRPr lang="en-US" sz="1200" dirty="0"/>
          </a:p>
        </p:txBody>
      </p:sp>
      <p:sp>
        <p:nvSpPr>
          <p:cNvPr id="17" name="Shape 15"/>
          <p:cNvSpPr/>
          <p:nvPr/>
        </p:nvSpPr>
        <p:spPr>
          <a:xfrm>
            <a:off x="5166360" y="1728216"/>
            <a:ext cx="6476695" cy="1243584"/>
          </a:xfrm>
          <a:prstGeom prst="roundRect">
            <a:avLst>
              <a:gd name="adj" fmla="val 5882"/>
            </a:avLst>
          </a:prstGeom>
          <a:solidFill>
            <a:srgbClr val="EEF2F5"/>
          </a:solidFill>
          <a:ln w="12700">
            <a:solidFill>
              <a:srgbClr val="EEF2F5"/>
            </a:solidFill>
            <a:prstDash val="solid"/>
          </a:ln>
        </p:spPr>
      </p:sp>
      <p:sp>
        <p:nvSpPr>
          <p:cNvPr id="18" name="Text 16"/>
          <p:cNvSpPr txBox="1"/>
          <p:nvPr/>
        </p:nvSpPr>
        <p:spPr>
          <a:xfrm>
            <a:off x="5349240" y="1892808"/>
            <a:ext cx="6110935" cy="9144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T1 ██ lock ██ ......... ██ lock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T2 ... waiting ... ██ lock ██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T3 ....... waiting ....... ██ lock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T4 .......... waiting ..........</a:t>
            </a:r>
            <a:endParaRPr lang="en-US" sz="1500" dirty="0"/>
          </a:p>
        </p:txBody>
      </p:sp>
      <p:sp>
        <p:nvSpPr>
          <p:cNvPr id="19" name="Shape 17"/>
          <p:cNvSpPr/>
          <p:nvPr/>
        </p:nvSpPr>
        <p:spPr>
          <a:xfrm>
            <a:off x="5166360" y="3200400"/>
            <a:ext cx="6476695" cy="1089660"/>
          </a:xfrm>
          <a:prstGeom prst="roundRect">
            <a:avLst>
              <a:gd name="adj" fmla="val 6713"/>
            </a:avLst>
          </a:prstGeom>
          <a:solidFill>
            <a:srgbClr val="FDF1E8"/>
          </a:solidFill>
          <a:ln w="12700">
            <a:solidFill>
              <a:srgbClr val="FDF1E8"/>
            </a:solidFill>
            <a:prstDash val="solid"/>
          </a:ln>
        </p:spPr>
      </p:sp>
      <p:sp>
        <p:nvSpPr>
          <p:cNvPr id="20" name="Text 18"/>
          <p:cNvSpPr txBox="1"/>
          <p:nvPr/>
        </p:nvSpPr>
        <p:spPr>
          <a:xfrm>
            <a:off x="5394960" y="3383280"/>
            <a:ext cx="60194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SO</a:t>
            </a:r>
            <a:endParaRPr lang="en-US" sz="1200" dirty="0"/>
          </a:p>
        </p:txBody>
      </p:sp>
      <p:sp>
        <p:nvSpPr>
          <p:cNvPr id="21" name="Text 19"/>
          <p:cNvSpPr txBox="1"/>
          <p:nvPr/>
        </p:nvSpPr>
        <p:spPr>
          <a:xfrm>
            <a:off x="5394960" y="3694176"/>
            <a:ext cx="6019495"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Passing a lock between cores costs more than a tiny push. Share less: work locally, touch shared state rarely.</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V5  ·  MANY PRODUCERS AND CONSUMERS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1B2430"/>
          </a:solidFill>
          <a:ln w="12700">
            <a:solidFill>
              <a:srgbClr val="1B2430"/>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Test every workload, and batch</a:t>
            </a:r>
            <a:endParaRPr lang="en-US" sz="2800" dirty="0"/>
          </a:p>
        </p:txBody>
      </p:sp>
      <p:sp>
        <p:nvSpPr>
          <p:cNvPr id="12" name="Text 10"/>
          <p:cNvSpPr txBox="1"/>
          <p:nvPr/>
        </p:nvSpPr>
        <p:spPr>
          <a:xfrm>
            <a:off x="548640" y="1417320"/>
            <a:ext cx="676656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queue.hpp + tests.cpp</a:t>
            </a:r>
            <a:endParaRPr lang="en-US" sz="1200" dirty="0"/>
          </a:p>
        </p:txBody>
      </p:sp>
      <p:sp>
        <p:nvSpPr>
          <p:cNvPr id="13" name="Shape 11"/>
          <p:cNvSpPr/>
          <p:nvPr/>
        </p:nvSpPr>
        <p:spPr>
          <a:xfrm>
            <a:off x="548640" y="1728216"/>
            <a:ext cx="7132320" cy="2615184"/>
          </a:xfrm>
          <a:prstGeom prst="roundRect">
            <a:avLst>
              <a:gd name="adj" fmla="val 2797"/>
            </a:avLst>
          </a:prstGeom>
          <a:solidFill>
            <a:srgbClr val="161C24"/>
          </a:solidFill>
          <a:ln w="12700">
            <a:solidFill>
              <a:srgbClr val="161C24"/>
            </a:solidFill>
            <a:prstDash val="solid"/>
          </a:ln>
        </p:spPr>
      </p:sp>
      <p:sp>
        <p:nvSpPr>
          <p:cNvPr id="14" name="Text 12"/>
          <p:cNvSpPr txBox="1"/>
          <p:nvPr/>
        </p:nvSpPr>
        <p:spPr>
          <a:xfrm>
            <a:off x="731520" y="1892808"/>
            <a:ext cx="6766560" cy="2286000"/>
          </a:xfrm>
          <a:prstGeom prst="rect">
            <a:avLst/>
          </a:prstGeom>
          <a:noFill/>
          <a:ln/>
        </p:spPr>
        <p:txBody>
          <a:bodyPr wrap="square" lIns="0" tIns="0" rIns="0" bIns="0" rtlCol="0" anchor="t"/>
          <a:lstStyle/>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void push_all(const std::vector&lt;int&gt;&amp; xs) {</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std::lock_guard&lt;std::mutex&gt; lock(m);</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for (int x : xs) push_locked(x);</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cv.notify_all();</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 test matrix: 1x1, 4x1, 1x4, 4x4,</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 N = 10 and 200,000, slow producers, slow consumers</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 check: count, SUM, no hang, idle CPU ~0%</a:t>
            </a:r>
            <a:endParaRPr lang="en-US" sz="1500" dirty="0"/>
          </a:p>
        </p:txBody>
      </p:sp>
      <p:sp>
        <p:nvSpPr>
          <p:cNvPr id="15" name="Shape 13"/>
          <p:cNvSpPr/>
          <p:nvPr/>
        </p:nvSpPr>
        <p:spPr>
          <a:xfrm>
            <a:off x="8001000" y="1728216"/>
            <a:ext cx="365760" cy="365760"/>
          </a:xfrm>
          <a:prstGeom prst="ellipse">
            <a:avLst/>
          </a:prstGeom>
          <a:solidFill>
            <a:srgbClr val="0F766E"/>
          </a:solidFill>
          <a:ln w="12700">
            <a:solidFill>
              <a:srgbClr val="0F766E"/>
            </a:solidFill>
            <a:prstDash val="solid"/>
          </a:ln>
        </p:spPr>
      </p:sp>
      <p:sp>
        <p:nvSpPr>
          <p:cNvPr id="16" name="Text 14"/>
          <p:cNvSpPr txBox="1"/>
          <p:nvPr/>
        </p:nvSpPr>
        <p:spPr>
          <a:xfrm>
            <a:off x="8001000" y="17282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8503920" y="1764792"/>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The sum catches a loss and a duplicate that cancel out in the count.</a:t>
            </a:r>
            <a:endParaRPr lang="en-US" sz="1600" dirty="0"/>
          </a:p>
        </p:txBody>
      </p:sp>
      <p:sp>
        <p:nvSpPr>
          <p:cNvPr id="18" name="Shape 16"/>
          <p:cNvSpPr/>
          <p:nvPr/>
        </p:nvSpPr>
        <p:spPr>
          <a:xfrm>
            <a:off x="8001000" y="2758440"/>
            <a:ext cx="365760" cy="365760"/>
          </a:xfrm>
          <a:prstGeom prst="ellipse">
            <a:avLst/>
          </a:prstGeom>
          <a:solidFill>
            <a:srgbClr val="0F766E"/>
          </a:solidFill>
          <a:ln w="12700">
            <a:solidFill>
              <a:srgbClr val="0F766E"/>
            </a:solidFill>
            <a:prstDash val="solid"/>
          </a:ln>
        </p:spPr>
      </p:sp>
      <p:sp>
        <p:nvSpPr>
          <p:cNvPr id="19" name="Text 17"/>
          <p:cNvSpPr txBox="1"/>
          <p:nvPr/>
        </p:nvSpPr>
        <p:spPr>
          <a:xfrm>
            <a:off x="8001000" y="27584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8503920" y="2795016"/>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Use 100,000 items per thread, not 1,000.</a:t>
            </a:r>
            <a:endParaRPr lang="en-US" sz="1600" dirty="0"/>
          </a:p>
        </p:txBody>
      </p:sp>
      <p:sp>
        <p:nvSpPr>
          <p:cNvPr id="21" name="Shape 19"/>
          <p:cNvSpPr/>
          <p:nvPr/>
        </p:nvSpPr>
        <p:spPr>
          <a:xfrm>
            <a:off x="8001000" y="3548888"/>
            <a:ext cx="365760" cy="365760"/>
          </a:xfrm>
          <a:prstGeom prst="ellipse">
            <a:avLst/>
          </a:prstGeom>
          <a:solidFill>
            <a:srgbClr val="0F766E"/>
          </a:solidFill>
          <a:ln w="12700">
            <a:solidFill>
              <a:srgbClr val="0F766E"/>
            </a:solidFill>
            <a:prstDash val="solid"/>
          </a:ln>
        </p:spPr>
      </p:sp>
      <p:sp>
        <p:nvSpPr>
          <p:cNvPr id="22" name="Text 20"/>
          <p:cNvSpPr txBox="1"/>
          <p:nvPr/>
        </p:nvSpPr>
        <p:spPr>
          <a:xfrm>
            <a:off x="8001000" y="354888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503920" y="3585464"/>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push_all takes the lock once per batch: about 4× faster.</a:t>
            </a:r>
            <a:endParaRPr lang="en-US" sz="16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V5  ·  MANY PRODUCERS AND CONSUMERS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1B2430"/>
          </a:solidFill>
          <a:ln w="12700">
            <a:solidFill>
              <a:srgbClr val="1B2430"/>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Check yourself</a:t>
            </a:r>
            <a:endParaRPr lang="en-US" sz="2800" dirty="0"/>
          </a:p>
        </p:txBody>
      </p:sp>
      <p:sp>
        <p:nvSpPr>
          <p:cNvPr id="12" name="Shape 10"/>
          <p:cNvSpPr/>
          <p:nvPr/>
        </p:nvSpPr>
        <p:spPr>
          <a:xfrm>
            <a:off x="548640" y="1417320"/>
            <a:ext cx="4206240" cy="1404366"/>
          </a:xfrm>
          <a:prstGeom prst="roundRect">
            <a:avLst>
              <a:gd name="adj" fmla="val 5209"/>
            </a:avLst>
          </a:prstGeom>
          <a:solidFill>
            <a:srgbClr val="EEF2F5"/>
          </a:solidFill>
          <a:ln w="12700">
            <a:solidFill>
              <a:srgbClr val="EEF2F5"/>
            </a:solidFill>
            <a:prstDash val="solid"/>
          </a:ln>
        </p:spPr>
      </p:sp>
      <p:sp>
        <p:nvSpPr>
          <p:cNvPr id="13" name="Text 11"/>
          <p:cNvSpPr txBox="1"/>
          <p:nvPr/>
        </p:nvSpPr>
        <p:spPr>
          <a:xfrm>
            <a:off x="777240" y="1600200"/>
            <a:ext cx="3749040"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THE LESSON</a:t>
            </a:r>
            <a:endParaRPr lang="en-US" sz="1200" dirty="0"/>
          </a:p>
        </p:txBody>
      </p:sp>
      <p:sp>
        <p:nvSpPr>
          <p:cNvPr id="14" name="Text 12"/>
          <p:cNvSpPr txBox="1"/>
          <p:nvPr/>
        </p:nvSpPr>
        <p:spPr>
          <a:xfrm>
            <a:off x="777240" y="1911096"/>
            <a:ext cx="3749040" cy="800862"/>
          </a:xfrm>
          <a:prstGeom prst="rect">
            <a:avLst/>
          </a:prstGeom>
          <a:noFill/>
          <a:ln/>
        </p:spPr>
        <p:txBody>
          <a:bodyPr wrap="square" lIns="0" tIns="0" rIns="0" bIns="0" rtlCol="0" anchor="t"/>
          <a:lstStyle/>
          <a:p>
            <a:pPr indent="0" marL="0">
              <a:lnSpc>
                <a:spcPct val="105000"/>
              </a:lnSpc>
              <a:buNone/>
            </a:pPr>
            <a:r>
              <a:rPr lang="en-US" sz="1700" dirty="0">
                <a:solidFill>
                  <a:srgbClr val="1B2430"/>
                </a:solidFill>
                <a:latin typeface="Calibri" pitchFamily="34" charset="0"/>
                <a:ea typeface="Calibri" pitchFamily="34" charset="-122"/>
                <a:cs typeface="Calibri" pitchFamily="34" charset="-120"/>
              </a:rPr>
              <a:t>Concurrent code is proven by stress tests across workloads, never by one run.</a:t>
            </a:r>
            <a:endParaRPr lang="en-US" sz="1700" dirty="0"/>
          </a:p>
        </p:txBody>
      </p:sp>
      <p:sp>
        <p:nvSpPr>
          <p:cNvPr id="15" name="Text 13"/>
          <p:cNvSpPr txBox="1"/>
          <p:nvPr/>
        </p:nvSpPr>
        <p:spPr>
          <a:xfrm>
            <a:off x="548640" y="3096006"/>
            <a:ext cx="420624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EXPLAIN WITHOUT LOOKING</a:t>
            </a:r>
            <a:endParaRPr lang="en-US" sz="1200" dirty="0"/>
          </a:p>
        </p:txBody>
      </p:sp>
      <p:sp>
        <p:nvSpPr>
          <p:cNvPr id="16" name="Shape 14"/>
          <p:cNvSpPr/>
          <p:nvPr/>
        </p:nvSpPr>
        <p:spPr>
          <a:xfrm>
            <a:off x="548640" y="3489198"/>
            <a:ext cx="182880" cy="182880"/>
          </a:xfrm>
          <a:prstGeom prst="rect">
            <a:avLst/>
          </a:prstGeom>
          <a:solidFill>
            <a:srgbClr val="FFFFFF"/>
          </a:solidFill>
          <a:ln w="15875">
            <a:solidFill>
              <a:srgbClr val="0F766E"/>
            </a:solidFill>
            <a:prstDash val="solid"/>
          </a:ln>
        </p:spPr>
      </p:sp>
      <p:sp>
        <p:nvSpPr>
          <p:cNvPr id="17" name="Text 15"/>
          <p:cNvSpPr txBox="1"/>
          <p:nvPr/>
        </p:nvSpPr>
        <p:spPr>
          <a:xfrm>
            <a:off x="868680" y="3443478"/>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check the sum as well as the count?</a:t>
            </a:r>
            <a:endParaRPr lang="en-US" sz="1500" dirty="0"/>
          </a:p>
        </p:txBody>
      </p:sp>
      <p:sp>
        <p:nvSpPr>
          <p:cNvPr id="18" name="Shape 16"/>
          <p:cNvSpPr/>
          <p:nvPr/>
        </p:nvSpPr>
        <p:spPr>
          <a:xfrm>
            <a:off x="548640" y="3860292"/>
            <a:ext cx="182880" cy="182880"/>
          </a:xfrm>
          <a:prstGeom prst="rect">
            <a:avLst/>
          </a:prstGeom>
          <a:solidFill>
            <a:srgbClr val="FFFFFF"/>
          </a:solidFill>
          <a:ln w="15875">
            <a:solidFill>
              <a:srgbClr val="0F766E"/>
            </a:solidFill>
            <a:prstDash val="solid"/>
          </a:ln>
        </p:spPr>
      </p:sp>
      <p:sp>
        <p:nvSpPr>
          <p:cNvPr id="19" name="Text 17"/>
          <p:cNvSpPr txBox="1"/>
          <p:nvPr/>
        </p:nvSpPr>
        <p:spPr>
          <a:xfrm>
            <a:off x="868680" y="3814572"/>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did 1,000 items hide the crash?</a:t>
            </a:r>
            <a:endParaRPr lang="en-US" sz="1500" dirty="0"/>
          </a:p>
        </p:txBody>
      </p:sp>
      <p:sp>
        <p:nvSpPr>
          <p:cNvPr id="20" name="Shape 18"/>
          <p:cNvSpPr/>
          <p:nvPr/>
        </p:nvSpPr>
        <p:spPr>
          <a:xfrm>
            <a:off x="548640" y="4231386"/>
            <a:ext cx="182880" cy="182880"/>
          </a:xfrm>
          <a:prstGeom prst="rect">
            <a:avLst/>
          </a:prstGeom>
          <a:solidFill>
            <a:srgbClr val="FFFFFF"/>
          </a:solidFill>
          <a:ln w="15875">
            <a:solidFill>
              <a:srgbClr val="0F766E"/>
            </a:solidFill>
            <a:prstDash val="solid"/>
          </a:ln>
        </p:spPr>
      </p:sp>
      <p:sp>
        <p:nvSpPr>
          <p:cNvPr id="21" name="Text 19"/>
          <p:cNvSpPr txBox="1"/>
          <p:nvPr/>
        </p:nvSpPr>
        <p:spPr>
          <a:xfrm>
            <a:off x="868680" y="4185666"/>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is contention?</a:t>
            </a:r>
            <a:endParaRPr lang="en-US" sz="1500" dirty="0"/>
          </a:p>
        </p:txBody>
      </p:sp>
      <p:sp>
        <p:nvSpPr>
          <p:cNvPr id="22" name="Shape 20"/>
          <p:cNvSpPr/>
          <p:nvPr/>
        </p:nvSpPr>
        <p:spPr>
          <a:xfrm>
            <a:off x="548640" y="4602480"/>
            <a:ext cx="182880" cy="182880"/>
          </a:xfrm>
          <a:prstGeom prst="rect">
            <a:avLst/>
          </a:prstGeom>
          <a:solidFill>
            <a:srgbClr val="FFFFFF"/>
          </a:solidFill>
          <a:ln w="15875">
            <a:solidFill>
              <a:srgbClr val="0F766E"/>
            </a:solidFill>
            <a:prstDash val="solid"/>
          </a:ln>
        </p:spPr>
      </p:sp>
      <p:sp>
        <p:nvSpPr>
          <p:cNvPr id="23" name="Text 21"/>
          <p:cNvSpPr txBox="1"/>
          <p:nvPr/>
        </p:nvSpPr>
        <p:spPr>
          <a:xfrm>
            <a:off x="868680" y="4556760"/>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does batching help?</a:t>
            </a:r>
            <a:endParaRPr lang="en-US" sz="1500" dirty="0"/>
          </a:p>
        </p:txBody>
      </p:sp>
      <p:sp>
        <p:nvSpPr>
          <p:cNvPr id="24" name="Shape 22"/>
          <p:cNvSpPr/>
          <p:nvPr/>
        </p:nvSpPr>
        <p:spPr>
          <a:xfrm>
            <a:off x="5166360" y="1417320"/>
            <a:ext cx="6476695" cy="1518920"/>
          </a:xfrm>
          <a:prstGeom prst="roundRect">
            <a:avLst>
              <a:gd name="adj" fmla="val 4816"/>
            </a:avLst>
          </a:prstGeom>
          <a:solidFill>
            <a:srgbClr val="FFFFFF"/>
          </a:solidFill>
          <a:ln w="12700">
            <a:solidFill>
              <a:srgbClr val="D5DDE5"/>
            </a:solidFill>
            <a:prstDash val="solid"/>
          </a:ln>
        </p:spPr>
      </p:sp>
      <p:sp>
        <p:nvSpPr>
          <p:cNvPr id="25" name="Text 23"/>
          <p:cNvSpPr txBox="1"/>
          <p:nvPr/>
        </p:nvSpPr>
        <p:spPr>
          <a:xfrm>
            <a:off x="5394960" y="15819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NUMBERS</a:t>
            </a:r>
            <a:endParaRPr lang="en-US" sz="1200" dirty="0"/>
          </a:p>
        </p:txBody>
      </p:sp>
      <p:sp>
        <p:nvSpPr>
          <p:cNvPr id="26" name="Text 24"/>
          <p:cNvSpPr txBox="1"/>
          <p:nvPr/>
        </p:nvSpPr>
        <p:spPr>
          <a:xfrm>
            <a:off x="5394960" y="18928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4 producers push 0..99,999 each. What sum must the consumers see?</a:t>
            </a:r>
            <a:endParaRPr lang="en-US" sz="1500" dirty="0"/>
          </a:p>
        </p:txBody>
      </p:sp>
      <p:sp>
        <p:nvSpPr>
          <p:cNvPr id="27" name="Text 25"/>
          <p:cNvSpPr txBox="1"/>
          <p:nvPr/>
        </p:nvSpPr>
        <p:spPr>
          <a:xfrm>
            <a:off x="5394960" y="24704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4 × (99,999 × 100,000 / 2) = 19,999,800,000.</a:t>
            </a:r>
            <a:endParaRPr lang="en-US" sz="1400" dirty="0"/>
          </a:p>
        </p:txBody>
      </p:sp>
      <p:sp>
        <p:nvSpPr>
          <p:cNvPr id="28" name="Shape 26"/>
          <p:cNvSpPr/>
          <p:nvPr/>
        </p:nvSpPr>
        <p:spPr>
          <a:xfrm>
            <a:off x="5166360" y="3119120"/>
            <a:ext cx="6476695" cy="1518920"/>
          </a:xfrm>
          <a:prstGeom prst="roundRect">
            <a:avLst>
              <a:gd name="adj" fmla="val 4816"/>
            </a:avLst>
          </a:prstGeom>
          <a:solidFill>
            <a:srgbClr val="FFFFFF"/>
          </a:solidFill>
          <a:ln w="12700">
            <a:solidFill>
              <a:srgbClr val="D5DDE5"/>
            </a:solidFill>
            <a:prstDash val="solid"/>
          </a:ln>
        </p:spPr>
      </p:sp>
      <p:sp>
        <p:nvSpPr>
          <p:cNvPr id="29" name="Text 27"/>
          <p:cNvSpPr txBox="1"/>
          <p:nvPr/>
        </p:nvSpPr>
        <p:spPr>
          <a:xfrm>
            <a:off x="5394960" y="32837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TRACE IT</a:t>
            </a:r>
            <a:endParaRPr lang="en-US" sz="1200" dirty="0"/>
          </a:p>
        </p:txBody>
      </p:sp>
      <p:sp>
        <p:nvSpPr>
          <p:cNvPr id="30" name="Text 28"/>
          <p:cNvSpPr txBox="1"/>
          <p:nvPr/>
        </p:nvSpPr>
        <p:spPr>
          <a:xfrm>
            <a:off x="5394960" y="35946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Consumer loses item 5 and receives item 7 twice. Does the count catch it? The sum?</a:t>
            </a:r>
            <a:endParaRPr lang="en-US" sz="1500" dirty="0"/>
          </a:p>
        </p:txBody>
      </p:sp>
      <p:sp>
        <p:nvSpPr>
          <p:cNvPr id="31" name="Text 29"/>
          <p:cNvSpPr txBox="1"/>
          <p:nvPr/>
        </p:nvSpPr>
        <p:spPr>
          <a:xfrm>
            <a:off x="5394960" y="41722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Count: no (same total). Sum: yes, off by 2.</a:t>
            </a:r>
            <a:endParaRPr lang="en-US" sz="1400" dirty="0"/>
          </a:p>
        </p:txBody>
      </p:sp>
      <p:sp>
        <p:nvSpPr>
          <p:cNvPr id="32" name="Shape 30"/>
          <p:cNvSpPr/>
          <p:nvPr/>
        </p:nvSpPr>
        <p:spPr>
          <a:xfrm>
            <a:off x="5166360" y="4820920"/>
            <a:ext cx="6476695" cy="1518920"/>
          </a:xfrm>
          <a:prstGeom prst="roundRect">
            <a:avLst>
              <a:gd name="adj" fmla="val 4816"/>
            </a:avLst>
          </a:prstGeom>
          <a:solidFill>
            <a:srgbClr val="FFFFFF"/>
          </a:solidFill>
          <a:ln w="12700">
            <a:solidFill>
              <a:srgbClr val="D5DDE5"/>
            </a:solidFill>
            <a:prstDash val="solid"/>
          </a:ln>
        </p:spPr>
      </p:sp>
      <p:sp>
        <p:nvSpPr>
          <p:cNvPr id="33" name="Text 31"/>
          <p:cNvSpPr txBox="1"/>
          <p:nvPr/>
        </p:nvSpPr>
        <p:spPr>
          <a:xfrm>
            <a:off x="5394960" y="49855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DESIGN</a:t>
            </a:r>
            <a:endParaRPr lang="en-US" sz="1200" dirty="0"/>
          </a:p>
        </p:txBody>
      </p:sp>
      <p:sp>
        <p:nvSpPr>
          <p:cNvPr id="34" name="Text 32"/>
          <p:cNvSpPr txBox="1"/>
          <p:nvPr/>
        </p:nvSpPr>
        <p:spPr>
          <a:xfrm>
            <a:off x="5394960" y="52964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Producers send in bursts of 1,000. How do you cut locking cost?</a:t>
            </a:r>
            <a:endParaRPr lang="en-US" sz="1500" dirty="0"/>
          </a:p>
        </p:txBody>
      </p:sp>
      <p:sp>
        <p:nvSpPr>
          <p:cNvPr id="35" name="Text 33"/>
          <p:cNvSpPr txBox="1"/>
          <p:nvPr/>
        </p:nvSpPr>
        <p:spPr>
          <a:xfrm>
            <a:off x="5394960" y="58740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Batch: push_all takes the lock once per burst and notifies once.</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V5  ·  DEADLOCK</a:t>
            </a:r>
            <a:endParaRPr lang="en-US" sz="1200" dirty="0"/>
          </a:p>
        </p:txBody>
      </p:sp>
      <p:sp>
        <p:nvSpPr>
          <p:cNvPr id="3" name="Shape 1"/>
          <p:cNvSpPr/>
          <p:nvPr/>
        </p:nvSpPr>
        <p:spPr>
          <a:xfrm>
            <a:off x="6229807" y="292608"/>
            <a:ext cx="1298448" cy="274320"/>
          </a:xfrm>
          <a:prstGeom prst="roundRect">
            <a:avLst>
              <a:gd name="adj" fmla="val 23333"/>
            </a:avLst>
          </a:prstGeom>
          <a:solidFill>
            <a:srgbClr val="1B2430"/>
          </a:solidFill>
          <a:ln w="12700">
            <a:solidFill>
              <a:srgbClr val="1B2430"/>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Rebalance two queues</a:t>
            </a:r>
            <a:endParaRPr lang="en-US" sz="2800" dirty="0"/>
          </a:p>
        </p:txBody>
      </p:sp>
      <p:sp>
        <p:nvSpPr>
          <p:cNvPr id="12" name="Shape 10"/>
          <p:cNvSpPr/>
          <p:nvPr/>
        </p:nvSpPr>
        <p:spPr>
          <a:xfrm>
            <a:off x="548640" y="1417320"/>
            <a:ext cx="6766560" cy="1243584"/>
          </a:xfrm>
          <a:prstGeom prst="roundRect">
            <a:avLst>
              <a:gd name="adj" fmla="val 5882"/>
            </a:avLst>
          </a:prstGeom>
          <a:solidFill>
            <a:srgbClr val="EEF2F5"/>
          </a:solidFill>
          <a:ln w="12700">
            <a:solidFill>
              <a:srgbClr val="EEF2F5"/>
            </a:solidFill>
            <a:prstDash val="solid"/>
          </a:ln>
        </p:spPr>
      </p:sp>
      <p:sp>
        <p:nvSpPr>
          <p:cNvPr id="13" name="Text 11"/>
          <p:cNvSpPr txBox="1"/>
          <p:nvPr/>
        </p:nvSpPr>
        <p:spPr>
          <a:xfrm>
            <a:off x="731520" y="1581912"/>
            <a:ext cx="6400800" cy="9144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q1 [■■■■■■■■■■]   ← piling up</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q2 [ ]             ← running dry</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q1.move_all_to(q2) needs BOTH locks</a:t>
            </a:r>
            <a:endParaRPr lang="en-US" sz="1500" dirty="0"/>
          </a:p>
        </p:txBody>
      </p:sp>
      <p:sp>
        <p:nvSpPr>
          <p:cNvPr id="14" name="Shape 12"/>
          <p:cNvSpPr/>
          <p:nvPr/>
        </p:nvSpPr>
        <p:spPr>
          <a:xfrm>
            <a:off x="548640" y="2889504"/>
            <a:ext cx="6766560" cy="1929384"/>
          </a:xfrm>
          <a:prstGeom prst="roundRect">
            <a:avLst>
              <a:gd name="adj" fmla="val 3791"/>
            </a:avLst>
          </a:prstGeom>
          <a:solidFill>
            <a:srgbClr val="161C24"/>
          </a:solidFill>
          <a:ln w="12700">
            <a:solidFill>
              <a:srgbClr val="161C24"/>
            </a:solidFill>
            <a:prstDash val="solid"/>
          </a:ln>
        </p:spPr>
      </p:sp>
      <p:sp>
        <p:nvSpPr>
          <p:cNvPr id="15" name="Text 13"/>
          <p:cNvSpPr txBox="1"/>
          <p:nvPr/>
        </p:nvSpPr>
        <p:spPr>
          <a:xfrm>
            <a:off x="731520" y="3054096"/>
            <a:ext cx="6400800" cy="1600200"/>
          </a:xfrm>
          <a:prstGeom prst="rect">
            <a:avLst/>
          </a:prstGeom>
          <a:noFill/>
          <a:ln/>
        </p:spPr>
        <p:txBody>
          <a:bodyPr wrap="square" lIns="0" tIns="0" rIns="0" bIns="0" rtlCol="0" anchor="t"/>
          <a:lstStyle/>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void move_all_to(Queue&amp; other) {</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std::lock_guard a(m);</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std::lock_guard b(other.m);</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T1: q1.move_all_to(q2)</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T2: q2.move_all_to(q1)</a:t>
            </a:r>
            <a:endParaRPr lang="en-US" sz="1500" dirty="0"/>
          </a:p>
        </p:txBody>
      </p:sp>
      <p:sp>
        <p:nvSpPr>
          <p:cNvPr id="16" name="Text 14"/>
          <p:cNvSpPr txBox="1"/>
          <p:nvPr/>
        </p:nvSpPr>
        <p:spPr>
          <a:xfrm>
            <a:off x="7680960" y="1417320"/>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THE QUESTION</a:t>
            </a:r>
            <a:endParaRPr lang="en-US" sz="1200" dirty="0"/>
          </a:p>
        </p:txBody>
      </p:sp>
      <p:sp>
        <p:nvSpPr>
          <p:cNvPr id="17" name="Text 15"/>
          <p:cNvSpPr txBox="1"/>
          <p:nvPr/>
        </p:nvSpPr>
        <p:spPr>
          <a:xfrm>
            <a:off x="7680960" y="1728216"/>
            <a:ext cx="3962095" cy="1115568"/>
          </a:xfrm>
          <a:prstGeom prst="rect">
            <a:avLst/>
          </a:prstGeom>
          <a:noFill/>
          <a:ln/>
        </p:spPr>
        <p:txBody>
          <a:bodyPr wrap="square" lIns="0" tIns="0" rIns="0" bIns="0" rtlCol="0" anchor="t"/>
          <a:lstStyle/>
          <a:p>
            <a:pPr indent="0" marL="0">
              <a:lnSpc>
                <a:spcPct val="105000"/>
              </a:lnSpc>
              <a:buNone/>
            </a:pPr>
            <a:r>
              <a:rPr lang="en-US" sz="1800" b="1" dirty="0">
                <a:solidFill>
                  <a:srgbClr val="1B2430"/>
                </a:solidFill>
                <a:latin typeface="Calibri" pitchFamily="34" charset="0"/>
                <a:ea typeface="Calibri" pitchFamily="34" charset="-122"/>
                <a:cs typeface="Calibri" pitchFamily="34" charset="-120"/>
              </a:rPr>
              <a:t>Thread 1 moves q1 → q2 while thread 2 moves q2 → q1. Each locks its own queue first, then the other. What can happen?</a:t>
            </a:r>
            <a:endParaRPr lang="en-US" sz="1800" dirty="0"/>
          </a:p>
        </p:txBody>
      </p:sp>
      <p:sp>
        <p:nvSpPr>
          <p:cNvPr id="18" name="Text 16"/>
          <p:cNvSpPr txBox="1"/>
          <p:nvPr/>
        </p:nvSpPr>
        <p:spPr>
          <a:xfrm>
            <a:off x="7680960" y="3072384"/>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PREDICT</a:t>
            </a:r>
            <a:endParaRPr lang="en-US" sz="1200" dirty="0"/>
          </a:p>
        </p:txBody>
      </p:sp>
      <p:sp>
        <p:nvSpPr>
          <p:cNvPr id="19" name="Text 17"/>
          <p:cNvSpPr txBox="1"/>
          <p:nvPr/>
        </p:nvSpPr>
        <p:spPr>
          <a:xfrm>
            <a:off x="7680960" y="3383280"/>
            <a:ext cx="396209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Draw who holds what and who waits for what.</a:t>
            </a:r>
            <a:endParaRPr lang="en-US" sz="1600" dirty="0"/>
          </a:p>
        </p:txBody>
      </p:sp>
      <p:sp>
        <p:nvSpPr>
          <p:cNvPr id="20" name="Shape 18"/>
          <p:cNvSpPr/>
          <p:nvPr/>
        </p:nvSpPr>
        <p:spPr>
          <a:xfrm>
            <a:off x="7680960" y="4173728"/>
            <a:ext cx="3962095" cy="1539240"/>
          </a:xfrm>
          <a:prstGeom prst="roundRect">
            <a:avLst>
              <a:gd name="adj" fmla="val 4752"/>
            </a:avLst>
          </a:prstGeom>
          <a:solidFill>
            <a:srgbClr val="EEF2F5"/>
          </a:solidFill>
          <a:ln w="12700">
            <a:solidFill>
              <a:srgbClr val="EEF2F5"/>
            </a:solidFill>
            <a:prstDash val="solid"/>
          </a:ln>
        </p:spPr>
      </p:sp>
      <p:sp>
        <p:nvSpPr>
          <p:cNvPr id="21" name="Text 19"/>
          <p:cNvSpPr txBox="1"/>
          <p:nvPr/>
        </p:nvSpPr>
        <p:spPr>
          <a:xfrm>
            <a:off x="7909560" y="4356608"/>
            <a:ext cx="3504895"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ANSWER</a:t>
            </a:r>
            <a:endParaRPr lang="en-US" sz="1200" dirty="0"/>
          </a:p>
        </p:txBody>
      </p:sp>
      <p:sp>
        <p:nvSpPr>
          <p:cNvPr id="22" name="Text 20"/>
          <p:cNvSpPr txBox="1"/>
          <p:nvPr/>
        </p:nvSpPr>
        <p:spPr>
          <a:xfrm>
            <a:off x="7909560" y="4667504"/>
            <a:ext cx="3504895" cy="93573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T1 holds q1.m, waits for q2.m.</a:t>
            </a: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T2 holds q2.m, waits for q1.m.</a:t>
            </a:r>
            <a:endParaRPr lang="en-US" sz="1500" dirty="0"/>
          </a:p>
          <a:p>
            <a:pPr indent="0" marL="0">
              <a:lnSpc>
                <a:spcPct val="105000"/>
              </a:lnSpc>
              <a:buNone/>
            </a:pP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Both wait forever.</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V5  ·  DEADLOCK</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1B2430"/>
          </a:solidFill>
          <a:ln w="12700">
            <a:solidFill>
              <a:srgbClr val="1B2430"/>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A cycle in the wait-for graph</a:t>
            </a:r>
            <a:endParaRPr lang="en-US" sz="2800" dirty="0"/>
          </a:p>
        </p:txBody>
      </p:sp>
      <p:sp>
        <p:nvSpPr>
          <p:cNvPr id="12" name="Text 10"/>
          <p:cNvSpPr txBox="1"/>
          <p:nvPr/>
        </p:nvSpPr>
        <p:spPr>
          <a:xfrm>
            <a:off x="548640" y="1417320"/>
            <a:ext cx="429768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RUN IT</a:t>
            </a:r>
            <a:endParaRPr lang="en-US" sz="1200" dirty="0"/>
          </a:p>
        </p:txBody>
      </p:sp>
      <p:sp>
        <p:nvSpPr>
          <p:cNvPr id="13" name="Shape 11"/>
          <p:cNvSpPr/>
          <p:nvPr/>
        </p:nvSpPr>
        <p:spPr>
          <a:xfrm>
            <a:off x="548640" y="1728216"/>
            <a:ext cx="4297680" cy="755904"/>
          </a:xfrm>
          <a:prstGeom prst="roundRect">
            <a:avLst>
              <a:gd name="adj" fmla="val 9677"/>
            </a:avLst>
          </a:prstGeom>
          <a:solidFill>
            <a:srgbClr val="0D1117"/>
          </a:solidFill>
          <a:ln w="12700">
            <a:solidFill>
              <a:srgbClr val="0D1117"/>
            </a:solidFill>
            <a:prstDash val="solid"/>
          </a:ln>
        </p:spPr>
      </p:sp>
      <p:sp>
        <p:nvSpPr>
          <p:cNvPr id="14" name="Text 12"/>
          <p:cNvSpPr txBox="1"/>
          <p:nvPr/>
        </p:nvSpPr>
        <p:spPr>
          <a:xfrm>
            <a:off x="731520" y="1892808"/>
            <a:ext cx="3931920" cy="426720"/>
          </a:xfrm>
          <a:prstGeom prst="rect">
            <a:avLst/>
          </a:prstGeom>
          <a:noFill/>
          <a:ln/>
        </p:spPr>
        <p:txBody>
          <a:bodyPr wrap="square" lIns="0" tIns="0" rIns="0" bIns="0" rtlCol="0" anchor="t"/>
          <a:lstStyle/>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 ./tiny_deadlock</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[frozen: stopped after 10 s]</a:t>
            </a:r>
            <a:endParaRPr lang="en-US" sz="1400" dirty="0"/>
          </a:p>
        </p:txBody>
      </p:sp>
      <p:sp>
        <p:nvSpPr>
          <p:cNvPr id="15" name="Text 13"/>
          <p:cNvSpPr txBox="1"/>
          <p:nvPr/>
        </p:nvSpPr>
        <p:spPr>
          <a:xfrm>
            <a:off x="548640" y="2667000"/>
            <a:ext cx="4297680" cy="71094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Opposite-direction moves froze 3 runs out of 3. With less timing luck it freezes once a week in production.</a:t>
            </a:r>
            <a:endParaRPr lang="en-US" sz="1500" dirty="0"/>
          </a:p>
        </p:txBody>
      </p:sp>
      <p:sp>
        <p:nvSpPr>
          <p:cNvPr id="16" name="Text 14"/>
          <p:cNvSpPr txBox="1"/>
          <p:nvPr/>
        </p:nvSpPr>
        <p:spPr>
          <a:xfrm>
            <a:off x="5166360" y="1417320"/>
            <a:ext cx="6476695"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WHAT HAPPENS, STEP BY STEP</a:t>
            </a:r>
            <a:endParaRPr lang="en-US" sz="1200" dirty="0"/>
          </a:p>
        </p:txBody>
      </p:sp>
      <p:sp>
        <p:nvSpPr>
          <p:cNvPr id="17" name="Shape 15"/>
          <p:cNvSpPr/>
          <p:nvPr/>
        </p:nvSpPr>
        <p:spPr>
          <a:xfrm>
            <a:off x="5166360" y="1728216"/>
            <a:ext cx="6476695" cy="1700784"/>
          </a:xfrm>
          <a:prstGeom prst="roundRect">
            <a:avLst>
              <a:gd name="adj" fmla="val 4301"/>
            </a:avLst>
          </a:prstGeom>
          <a:solidFill>
            <a:srgbClr val="EEF2F5"/>
          </a:solidFill>
          <a:ln w="12700">
            <a:solidFill>
              <a:srgbClr val="EEF2F5"/>
            </a:solidFill>
            <a:prstDash val="solid"/>
          </a:ln>
        </p:spPr>
      </p:sp>
      <p:sp>
        <p:nvSpPr>
          <p:cNvPr id="18" name="Text 16"/>
          <p:cNvSpPr txBox="1"/>
          <p:nvPr/>
        </p:nvSpPr>
        <p:spPr>
          <a:xfrm>
            <a:off x="5349240" y="1892808"/>
            <a:ext cx="6110935" cy="13716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T1 holds q1.m ──waits for──► q2.m</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q1.m ◄──waits for── T2 holds q2.m</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cycle = deadlock</a:t>
            </a:r>
            <a:endParaRPr lang="en-US" sz="1500" dirty="0"/>
          </a:p>
        </p:txBody>
      </p:sp>
      <p:sp>
        <p:nvSpPr>
          <p:cNvPr id="19" name="Shape 17"/>
          <p:cNvSpPr/>
          <p:nvPr/>
        </p:nvSpPr>
        <p:spPr>
          <a:xfrm>
            <a:off x="5166360" y="3657600"/>
            <a:ext cx="6476695" cy="1089660"/>
          </a:xfrm>
          <a:prstGeom prst="roundRect">
            <a:avLst>
              <a:gd name="adj" fmla="val 6713"/>
            </a:avLst>
          </a:prstGeom>
          <a:solidFill>
            <a:srgbClr val="FDF1E8"/>
          </a:solidFill>
          <a:ln w="12700">
            <a:solidFill>
              <a:srgbClr val="FDF1E8"/>
            </a:solidFill>
            <a:prstDash val="solid"/>
          </a:ln>
        </p:spPr>
      </p:sp>
      <p:sp>
        <p:nvSpPr>
          <p:cNvPr id="20" name="Text 18"/>
          <p:cNvSpPr txBox="1"/>
          <p:nvPr/>
        </p:nvSpPr>
        <p:spPr>
          <a:xfrm>
            <a:off x="5394960" y="3840480"/>
            <a:ext cx="60194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SO</a:t>
            </a:r>
            <a:endParaRPr lang="en-US" sz="1200" dirty="0"/>
          </a:p>
        </p:txBody>
      </p:sp>
      <p:sp>
        <p:nvSpPr>
          <p:cNvPr id="21" name="Text 19"/>
          <p:cNvSpPr txBox="1"/>
          <p:nvPr/>
        </p:nvSpPr>
        <p:spPr>
          <a:xfrm>
            <a:off x="5394960" y="4151376"/>
            <a:ext cx="6019495"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Break the cycle: take both locks together, or always in one global order. Never lock the same mutex twice.</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V5  ·  DEADLOCK</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1B2430"/>
          </a:solidFill>
          <a:ln w="12700">
            <a:solidFill>
              <a:srgbClr val="1B2430"/>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Two locks, taken together</a:t>
            </a:r>
            <a:endParaRPr lang="en-US" sz="2800" dirty="0"/>
          </a:p>
        </p:txBody>
      </p:sp>
      <p:sp>
        <p:nvSpPr>
          <p:cNvPr id="12" name="Text 10"/>
          <p:cNvSpPr txBox="1"/>
          <p:nvPr/>
        </p:nvSpPr>
        <p:spPr>
          <a:xfrm>
            <a:off x="548640" y="1417320"/>
            <a:ext cx="676656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queue.hpp</a:t>
            </a:r>
            <a:endParaRPr lang="en-US" sz="1200" dirty="0"/>
          </a:p>
        </p:txBody>
      </p:sp>
      <p:sp>
        <p:nvSpPr>
          <p:cNvPr id="13" name="Shape 11"/>
          <p:cNvSpPr/>
          <p:nvPr/>
        </p:nvSpPr>
        <p:spPr>
          <a:xfrm>
            <a:off x="548640" y="1728216"/>
            <a:ext cx="7132320" cy="2249424"/>
          </a:xfrm>
          <a:prstGeom prst="roundRect">
            <a:avLst>
              <a:gd name="adj" fmla="val 3252"/>
            </a:avLst>
          </a:prstGeom>
          <a:solidFill>
            <a:srgbClr val="161C24"/>
          </a:solidFill>
          <a:ln w="12700">
            <a:solidFill>
              <a:srgbClr val="161C24"/>
            </a:solidFill>
            <a:prstDash val="solid"/>
          </a:ln>
        </p:spPr>
      </p:sp>
      <p:sp>
        <p:nvSpPr>
          <p:cNvPr id="14" name="Text 12"/>
          <p:cNvSpPr txBox="1"/>
          <p:nvPr/>
        </p:nvSpPr>
        <p:spPr>
          <a:xfrm>
            <a:off x="731520" y="1892808"/>
            <a:ext cx="6766560" cy="1920240"/>
          </a:xfrm>
          <a:prstGeom prst="rect">
            <a:avLst/>
          </a:prstGeom>
          <a:noFill/>
          <a:ln/>
        </p:spPr>
        <p:txBody>
          <a:bodyPr wrap="square" lIns="0" tIns="0" rIns="0" bIns="0" rtlCol="0" anchor="t"/>
          <a:lstStyle/>
          <a:p>
            <a:pPr indent="0" marL="0">
              <a:lnSpc>
                <a:spcPct val="100000"/>
              </a:lnSpc>
              <a:buNone/>
            </a:pPr>
            <a:r>
              <a:rPr lang="en-US" sz="1400" dirty="0">
                <a:solidFill>
                  <a:srgbClr val="A9B4BF"/>
                </a:solidFill>
                <a:latin typeface="Courier New" pitchFamily="34" charset="0"/>
                <a:ea typeface="Courier New" pitchFamily="34" charset="-122"/>
                <a:cs typeface="Courier New" pitchFamily="34" charset="-120"/>
              </a:rPr>
              <a:t>  void move_all_to(Queue&amp; other)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if (this == &amp;other) return;   // locking m twice is UB</a:t>
            </a:r>
            <a:endParaRPr lang="en-US" sz="1400" dirty="0"/>
          </a:p>
          <a:p>
            <a:pPr indent="0" marL="0">
              <a:lnSpc>
                <a:spcPct val="100000"/>
              </a:lnSpc>
              <a:buNone/>
            </a:pPr>
            <a:r>
              <a:rPr lang="en-US" sz="1400" strike="sngStrike" dirty="0">
                <a:solidFill>
                  <a:srgbClr val="FCA5A5"/>
                </a:solidFill>
                <a:latin typeface="Courier New" pitchFamily="34" charset="0"/>
                <a:ea typeface="Courier New" pitchFamily="34" charset="-122"/>
                <a:cs typeface="Courier New" pitchFamily="34" charset="-120"/>
              </a:rPr>
              <a:t>-     std::lock_guard a(m);</a:t>
            </a:r>
            <a:endParaRPr lang="en-US" sz="1400" dirty="0"/>
          </a:p>
          <a:p>
            <a:pPr indent="0" marL="0">
              <a:lnSpc>
                <a:spcPct val="100000"/>
              </a:lnSpc>
              <a:buNone/>
            </a:pPr>
            <a:r>
              <a:rPr lang="en-US" sz="1400" strike="sngStrike" dirty="0">
                <a:solidFill>
                  <a:srgbClr val="FCA5A5"/>
                </a:solidFill>
                <a:latin typeface="Courier New" pitchFamily="34" charset="0"/>
                <a:ea typeface="Courier New" pitchFamily="34" charset="-122"/>
                <a:cs typeface="Courier New" pitchFamily="34" charset="-120"/>
              </a:rPr>
              <a:t>-     std::lock_guard b(other.m);</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std::scoped_lock lock(m, other.m);</a:t>
            </a:r>
            <a:endParaRPr lang="en-US" sz="1400" dirty="0"/>
          </a:p>
          <a:p>
            <a:pPr indent="0" marL="0">
              <a:lnSpc>
                <a:spcPct val="100000"/>
              </a:lnSpc>
              <a:buNone/>
            </a:pPr>
            <a:r>
              <a:rPr lang="en-US" sz="1400" dirty="0">
                <a:solidFill>
                  <a:srgbClr val="A9B4BF"/>
                </a:solidFill>
                <a:latin typeface="Courier New" pitchFamily="34" charset="0"/>
                <a:ea typeface="Courier New" pitchFamily="34" charset="-122"/>
                <a:cs typeface="Courier New" pitchFamily="34" charset="-120"/>
              </a:rPr>
              <a:t>      while (!q.empty()) {</a:t>
            </a:r>
            <a:endParaRPr lang="en-US" sz="1400" dirty="0"/>
          </a:p>
          <a:p>
            <a:pPr indent="0" marL="0">
              <a:lnSpc>
                <a:spcPct val="100000"/>
              </a:lnSpc>
              <a:buNone/>
            </a:pPr>
            <a:r>
              <a:rPr lang="en-US" sz="1400" dirty="0">
                <a:solidFill>
                  <a:srgbClr val="A9B4BF"/>
                </a:solidFill>
                <a:latin typeface="Courier New" pitchFamily="34" charset="0"/>
                <a:ea typeface="Courier New" pitchFamily="34" charset="-122"/>
                <a:cs typeface="Courier New" pitchFamily="34" charset="-120"/>
              </a:rPr>
              <a:t>          other.q.push(q.front()); q.pop();</a:t>
            </a:r>
            <a:endParaRPr lang="en-US" sz="1400" dirty="0"/>
          </a:p>
          <a:p>
            <a:pPr indent="0" marL="0">
              <a:lnSpc>
                <a:spcPct val="100000"/>
              </a:lnSpc>
              <a:buNone/>
            </a:pPr>
            <a:r>
              <a:rPr lang="en-US" sz="1400" dirty="0">
                <a:solidFill>
                  <a:srgbClr val="A9B4BF"/>
                </a:solidFill>
                <a:latin typeface="Courier New" pitchFamily="34" charset="0"/>
                <a:ea typeface="Courier New" pitchFamily="34" charset="-122"/>
                <a:cs typeface="Courier New" pitchFamily="34" charset="-120"/>
              </a:rPr>
              <a:t>      }</a:t>
            </a:r>
            <a:endParaRPr lang="en-US" sz="1400" dirty="0"/>
          </a:p>
          <a:p>
            <a:pPr indent="0" marL="0">
              <a:lnSpc>
                <a:spcPct val="100000"/>
              </a:lnSpc>
              <a:buNone/>
            </a:pPr>
            <a:r>
              <a:rPr lang="en-US" sz="1400" dirty="0">
                <a:solidFill>
                  <a:srgbClr val="A9B4BF"/>
                </a:solidFill>
                <a:latin typeface="Courier New" pitchFamily="34" charset="0"/>
                <a:ea typeface="Courier New" pitchFamily="34" charset="-122"/>
                <a:cs typeface="Courier New" pitchFamily="34" charset="-120"/>
              </a:rPr>
              <a:t>  }</a:t>
            </a:r>
            <a:endParaRPr lang="en-US" sz="1400" dirty="0"/>
          </a:p>
        </p:txBody>
      </p:sp>
      <p:sp>
        <p:nvSpPr>
          <p:cNvPr id="15" name="Shape 13"/>
          <p:cNvSpPr/>
          <p:nvPr/>
        </p:nvSpPr>
        <p:spPr>
          <a:xfrm>
            <a:off x="8001000" y="1728216"/>
            <a:ext cx="365760" cy="365760"/>
          </a:xfrm>
          <a:prstGeom prst="ellipse">
            <a:avLst/>
          </a:prstGeom>
          <a:solidFill>
            <a:srgbClr val="0F766E"/>
          </a:solidFill>
          <a:ln w="12700">
            <a:solidFill>
              <a:srgbClr val="0F766E"/>
            </a:solidFill>
            <a:prstDash val="solid"/>
          </a:ln>
        </p:spPr>
      </p:sp>
      <p:sp>
        <p:nvSpPr>
          <p:cNvPr id="16" name="Text 14"/>
          <p:cNvSpPr txBox="1"/>
          <p:nvPr/>
        </p:nvSpPr>
        <p:spPr>
          <a:xfrm>
            <a:off x="8001000" y="17282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8503920" y="1764792"/>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scoped_lock locks several mutexes with a deadlock-free algorithm.</a:t>
            </a:r>
            <a:endParaRPr lang="en-US" sz="1600" dirty="0"/>
          </a:p>
        </p:txBody>
      </p:sp>
      <p:sp>
        <p:nvSpPr>
          <p:cNvPr id="18" name="Shape 16"/>
          <p:cNvSpPr/>
          <p:nvPr/>
        </p:nvSpPr>
        <p:spPr>
          <a:xfrm>
            <a:off x="8001000" y="2758440"/>
            <a:ext cx="365760" cy="365760"/>
          </a:xfrm>
          <a:prstGeom prst="ellipse">
            <a:avLst/>
          </a:prstGeom>
          <a:solidFill>
            <a:srgbClr val="0F766E"/>
          </a:solidFill>
          <a:ln w="12700">
            <a:solidFill>
              <a:srgbClr val="0F766E"/>
            </a:solidFill>
            <a:prstDash val="solid"/>
          </a:ln>
        </p:spPr>
      </p:sp>
      <p:sp>
        <p:nvSpPr>
          <p:cNvPr id="19" name="Text 17"/>
          <p:cNvSpPr txBox="1"/>
          <p:nvPr/>
        </p:nvSpPr>
        <p:spPr>
          <a:xfrm>
            <a:off x="8001000" y="27584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8503920" y="2795016"/>
            <a:ext cx="3139135" cy="995680"/>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push_all calls private push_locked(), never public push(): public functions lock, helpers assume.</a:t>
            </a:r>
            <a:endParaRPr lang="en-US" sz="1600" dirty="0"/>
          </a:p>
        </p:txBody>
      </p:sp>
      <p:sp>
        <p:nvSpPr>
          <p:cNvPr id="21" name="Shape 19"/>
          <p:cNvSpPr/>
          <p:nvPr/>
        </p:nvSpPr>
        <p:spPr>
          <a:xfrm>
            <a:off x="8001000" y="4028440"/>
            <a:ext cx="365760" cy="365760"/>
          </a:xfrm>
          <a:prstGeom prst="ellipse">
            <a:avLst/>
          </a:prstGeom>
          <a:solidFill>
            <a:srgbClr val="0F766E"/>
          </a:solidFill>
          <a:ln w="12700">
            <a:solidFill>
              <a:srgbClr val="0F766E"/>
            </a:solidFill>
            <a:prstDash val="solid"/>
          </a:ln>
        </p:spPr>
      </p:sp>
      <p:sp>
        <p:nvSpPr>
          <p:cNvPr id="22" name="Text 20"/>
          <p:cNvSpPr txBox="1"/>
          <p:nvPr/>
        </p:nvSpPr>
        <p:spPr>
          <a:xfrm>
            <a:off x="8001000" y="40284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503920" y="4065016"/>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Needing recursive_mutex usually means the lock boundaries are wrong.</a:t>
            </a:r>
            <a:endParaRPr lang="en-US" sz="16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V5  ·  DEADLOCK</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1B2430"/>
          </a:solidFill>
          <a:ln w="12700">
            <a:solidFill>
              <a:srgbClr val="1B2430"/>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Check yourself</a:t>
            </a:r>
            <a:endParaRPr lang="en-US" sz="2800" dirty="0"/>
          </a:p>
        </p:txBody>
      </p:sp>
      <p:sp>
        <p:nvSpPr>
          <p:cNvPr id="12" name="Shape 10"/>
          <p:cNvSpPr/>
          <p:nvPr/>
        </p:nvSpPr>
        <p:spPr>
          <a:xfrm>
            <a:off x="548640" y="1417320"/>
            <a:ext cx="4206240" cy="1404366"/>
          </a:xfrm>
          <a:prstGeom prst="roundRect">
            <a:avLst>
              <a:gd name="adj" fmla="val 5209"/>
            </a:avLst>
          </a:prstGeom>
          <a:solidFill>
            <a:srgbClr val="EEF2F5"/>
          </a:solidFill>
          <a:ln w="12700">
            <a:solidFill>
              <a:srgbClr val="EEF2F5"/>
            </a:solidFill>
            <a:prstDash val="solid"/>
          </a:ln>
        </p:spPr>
      </p:sp>
      <p:sp>
        <p:nvSpPr>
          <p:cNvPr id="13" name="Text 11"/>
          <p:cNvSpPr txBox="1"/>
          <p:nvPr/>
        </p:nvSpPr>
        <p:spPr>
          <a:xfrm>
            <a:off x="777240" y="1600200"/>
            <a:ext cx="3749040"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THE LESSON</a:t>
            </a:r>
            <a:endParaRPr lang="en-US" sz="1200" dirty="0"/>
          </a:p>
        </p:txBody>
      </p:sp>
      <p:sp>
        <p:nvSpPr>
          <p:cNvPr id="14" name="Text 12"/>
          <p:cNvSpPr txBox="1"/>
          <p:nvPr/>
        </p:nvSpPr>
        <p:spPr>
          <a:xfrm>
            <a:off x="777240" y="1911096"/>
            <a:ext cx="3749040" cy="800862"/>
          </a:xfrm>
          <a:prstGeom prst="rect">
            <a:avLst/>
          </a:prstGeom>
          <a:noFill/>
          <a:ln/>
        </p:spPr>
        <p:txBody>
          <a:bodyPr wrap="square" lIns="0" tIns="0" rIns="0" bIns="0" rtlCol="0" anchor="t"/>
          <a:lstStyle/>
          <a:p>
            <a:pPr indent="0" marL="0">
              <a:lnSpc>
                <a:spcPct val="105000"/>
              </a:lnSpc>
              <a:buNone/>
            </a:pPr>
            <a:r>
              <a:rPr lang="en-US" sz="1700" dirty="0">
                <a:solidFill>
                  <a:srgbClr val="1B2430"/>
                </a:solidFill>
                <a:latin typeface="Calibri" pitchFamily="34" charset="0"/>
                <a:ea typeface="Calibri" pitchFamily="34" charset="-122"/>
                <a:cs typeface="Calibri" pitchFamily="34" charset="-120"/>
              </a:rPr>
              <a:t>Take several locks together or in one fixed order. Never lock the same mutex twice.</a:t>
            </a:r>
            <a:endParaRPr lang="en-US" sz="1700" dirty="0"/>
          </a:p>
        </p:txBody>
      </p:sp>
      <p:sp>
        <p:nvSpPr>
          <p:cNvPr id="15" name="Text 13"/>
          <p:cNvSpPr txBox="1"/>
          <p:nvPr/>
        </p:nvSpPr>
        <p:spPr>
          <a:xfrm>
            <a:off x="548640" y="3096006"/>
            <a:ext cx="420624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EXPLAIN WITHOUT LOOKING</a:t>
            </a:r>
            <a:endParaRPr lang="en-US" sz="1200" dirty="0"/>
          </a:p>
        </p:txBody>
      </p:sp>
      <p:sp>
        <p:nvSpPr>
          <p:cNvPr id="16" name="Shape 14"/>
          <p:cNvSpPr/>
          <p:nvPr/>
        </p:nvSpPr>
        <p:spPr>
          <a:xfrm>
            <a:off x="548640" y="3489198"/>
            <a:ext cx="182880" cy="182880"/>
          </a:xfrm>
          <a:prstGeom prst="rect">
            <a:avLst/>
          </a:prstGeom>
          <a:solidFill>
            <a:srgbClr val="FFFFFF"/>
          </a:solidFill>
          <a:ln w="15875">
            <a:solidFill>
              <a:srgbClr val="0F766E"/>
            </a:solidFill>
            <a:prstDash val="solid"/>
          </a:ln>
        </p:spPr>
      </p:sp>
      <p:sp>
        <p:nvSpPr>
          <p:cNvPr id="17" name="Text 15"/>
          <p:cNvSpPr txBox="1"/>
          <p:nvPr/>
        </p:nvSpPr>
        <p:spPr>
          <a:xfrm>
            <a:off x="868680" y="3443478"/>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must be true for a deadlock?</a:t>
            </a:r>
            <a:endParaRPr lang="en-US" sz="1500" dirty="0"/>
          </a:p>
        </p:txBody>
      </p:sp>
      <p:sp>
        <p:nvSpPr>
          <p:cNvPr id="18" name="Shape 16"/>
          <p:cNvSpPr/>
          <p:nvPr/>
        </p:nvSpPr>
        <p:spPr>
          <a:xfrm>
            <a:off x="548640" y="3860292"/>
            <a:ext cx="182880" cy="182880"/>
          </a:xfrm>
          <a:prstGeom prst="rect">
            <a:avLst/>
          </a:prstGeom>
          <a:solidFill>
            <a:srgbClr val="FFFFFF"/>
          </a:solidFill>
          <a:ln w="15875">
            <a:solidFill>
              <a:srgbClr val="0F766E"/>
            </a:solidFill>
            <a:prstDash val="solid"/>
          </a:ln>
        </p:spPr>
      </p:sp>
      <p:sp>
        <p:nvSpPr>
          <p:cNvPr id="19" name="Text 17"/>
          <p:cNvSpPr txBox="1"/>
          <p:nvPr/>
        </p:nvSpPr>
        <p:spPr>
          <a:xfrm>
            <a:off x="868680" y="3814572"/>
            <a:ext cx="3886200"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Two ways to make a two-lock operation safe?</a:t>
            </a:r>
            <a:endParaRPr lang="en-US" sz="1500" dirty="0"/>
          </a:p>
        </p:txBody>
      </p:sp>
      <p:sp>
        <p:nvSpPr>
          <p:cNvPr id="20" name="Shape 18"/>
          <p:cNvSpPr/>
          <p:nvPr/>
        </p:nvSpPr>
        <p:spPr>
          <a:xfrm>
            <a:off x="548640" y="4456176"/>
            <a:ext cx="182880" cy="182880"/>
          </a:xfrm>
          <a:prstGeom prst="rect">
            <a:avLst/>
          </a:prstGeom>
          <a:solidFill>
            <a:srgbClr val="FFFFFF"/>
          </a:solidFill>
          <a:ln w="15875">
            <a:solidFill>
              <a:srgbClr val="0F766E"/>
            </a:solidFill>
            <a:prstDash val="solid"/>
          </a:ln>
        </p:spPr>
      </p:sp>
      <p:sp>
        <p:nvSpPr>
          <p:cNvPr id="21" name="Text 19"/>
          <p:cNvSpPr txBox="1"/>
          <p:nvPr/>
        </p:nvSpPr>
        <p:spPr>
          <a:xfrm>
            <a:off x="868680" y="4410456"/>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check this == &amp;other?</a:t>
            </a:r>
            <a:endParaRPr lang="en-US" sz="1500" dirty="0"/>
          </a:p>
        </p:txBody>
      </p:sp>
      <p:sp>
        <p:nvSpPr>
          <p:cNvPr id="22" name="Shape 20"/>
          <p:cNvSpPr/>
          <p:nvPr/>
        </p:nvSpPr>
        <p:spPr>
          <a:xfrm>
            <a:off x="548640" y="4827270"/>
            <a:ext cx="182880" cy="182880"/>
          </a:xfrm>
          <a:prstGeom prst="rect">
            <a:avLst/>
          </a:prstGeom>
          <a:solidFill>
            <a:srgbClr val="FFFFFF"/>
          </a:solidFill>
          <a:ln w="15875">
            <a:solidFill>
              <a:srgbClr val="0F766E"/>
            </a:solidFill>
            <a:prstDash val="solid"/>
          </a:ln>
        </p:spPr>
      </p:sp>
      <p:sp>
        <p:nvSpPr>
          <p:cNvPr id="23" name="Text 21"/>
          <p:cNvSpPr txBox="1"/>
          <p:nvPr/>
        </p:nvSpPr>
        <p:spPr>
          <a:xfrm>
            <a:off x="868680" y="4781550"/>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is recursive_mutex a smell?</a:t>
            </a:r>
            <a:endParaRPr lang="en-US" sz="1500" dirty="0"/>
          </a:p>
        </p:txBody>
      </p:sp>
      <p:sp>
        <p:nvSpPr>
          <p:cNvPr id="24" name="Shape 22"/>
          <p:cNvSpPr/>
          <p:nvPr/>
        </p:nvSpPr>
        <p:spPr>
          <a:xfrm>
            <a:off x="5166360" y="1417320"/>
            <a:ext cx="6476695" cy="1518920"/>
          </a:xfrm>
          <a:prstGeom prst="roundRect">
            <a:avLst>
              <a:gd name="adj" fmla="val 4816"/>
            </a:avLst>
          </a:prstGeom>
          <a:solidFill>
            <a:srgbClr val="FFFFFF"/>
          </a:solidFill>
          <a:ln w="12700">
            <a:solidFill>
              <a:srgbClr val="D5DDE5"/>
            </a:solidFill>
            <a:prstDash val="solid"/>
          </a:ln>
        </p:spPr>
      </p:sp>
      <p:sp>
        <p:nvSpPr>
          <p:cNvPr id="25" name="Text 23"/>
          <p:cNvSpPr txBox="1"/>
          <p:nvPr/>
        </p:nvSpPr>
        <p:spPr>
          <a:xfrm>
            <a:off x="5394960" y="15819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NUMBERS</a:t>
            </a:r>
            <a:endParaRPr lang="en-US" sz="1200" dirty="0"/>
          </a:p>
        </p:txBody>
      </p:sp>
      <p:sp>
        <p:nvSpPr>
          <p:cNvPr id="26" name="Text 24"/>
          <p:cNvSpPr txBox="1"/>
          <p:nvPr/>
        </p:nvSpPr>
        <p:spPr>
          <a:xfrm>
            <a:off x="5394960" y="18928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3 threads each lock 2 of 3 mutexes, always lowest address first. Can they deadlock?</a:t>
            </a:r>
            <a:endParaRPr lang="en-US" sz="1500" dirty="0"/>
          </a:p>
        </p:txBody>
      </p:sp>
      <p:sp>
        <p:nvSpPr>
          <p:cNvPr id="27" name="Text 25"/>
          <p:cNvSpPr txBox="1"/>
          <p:nvPr/>
        </p:nvSpPr>
        <p:spPr>
          <a:xfrm>
            <a:off x="5394960" y="24704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No. One global order means no cycle.</a:t>
            </a:r>
            <a:endParaRPr lang="en-US" sz="1400" dirty="0"/>
          </a:p>
        </p:txBody>
      </p:sp>
      <p:sp>
        <p:nvSpPr>
          <p:cNvPr id="28" name="Shape 26"/>
          <p:cNvSpPr/>
          <p:nvPr/>
        </p:nvSpPr>
        <p:spPr>
          <a:xfrm>
            <a:off x="5166360" y="3119120"/>
            <a:ext cx="6476695" cy="1503934"/>
          </a:xfrm>
          <a:prstGeom prst="roundRect">
            <a:avLst>
              <a:gd name="adj" fmla="val 4864"/>
            </a:avLst>
          </a:prstGeom>
          <a:solidFill>
            <a:srgbClr val="FFFFFF"/>
          </a:solidFill>
          <a:ln w="12700">
            <a:solidFill>
              <a:srgbClr val="D5DDE5"/>
            </a:solidFill>
            <a:prstDash val="solid"/>
          </a:ln>
        </p:spPr>
      </p:sp>
      <p:sp>
        <p:nvSpPr>
          <p:cNvPr id="29" name="Text 27"/>
          <p:cNvSpPr txBox="1"/>
          <p:nvPr/>
        </p:nvSpPr>
        <p:spPr>
          <a:xfrm>
            <a:off x="5394960" y="32837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TRACE IT</a:t>
            </a:r>
            <a:endParaRPr lang="en-US" sz="1200" dirty="0"/>
          </a:p>
        </p:txBody>
      </p:sp>
      <p:sp>
        <p:nvSpPr>
          <p:cNvPr id="30" name="Text 28"/>
          <p:cNvSpPr txBox="1"/>
          <p:nvPr/>
        </p:nvSpPr>
        <p:spPr>
          <a:xfrm>
            <a:off x="5394960" y="3594608"/>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push_all locks m, then calls push(), which locks m. Trace it.</a:t>
            </a:r>
            <a:endParaRPr lang="en-US" sz="1500" dirty="0"/>
          </a:p>
        </p:txBody>
      </p:sp>
      <p:sp>
        <p:nvSpPr>
          <p:cNvPr id="31" name="Text 29"/>
          <p:cNvSpPr txBox="1"/>
          <p:nvPr/>
        </p:nvSpPr>
        <p:spPr>
          <a:xfrm>
            <a:off x="5394960" y="3947414"/>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The same thread waits for a lock it holds: frozen (std::mutex) or UB.</a:t>
            </a:r>
            <a:endParaRPr lang="en-US" sz="1400" dirty="0"/>
          </a:p>
        </p:txBody>
      </p:sp>
      <p:sp>
        <p:nvSpPr>
          <p:cNvPr id="32" name="Shape 30"/>
          <p:cNvSpPr/>
          <p:nvPr/>
        </p:nvSpPr>
        <p:spPr>
          <a:xfrm>
            <a:off x="5166360" y="4805934"/>
            <a:ext cx="6476695" cy="1294130"/>
          </a:xfrm>
          <a:prstGeom prst="roundRect">
            <a:avLst>
              <a:gd name="adj" fmla="val 5653"/>
            </a:avLst>
          </a:prstGeom>
          <a:solidFill>
            <a:srgbClr val="FFFFFF"/>
          </a:solidFill>
          <a:ln w="12700">
            <a:solidFill>
              <a:srgbClr val="D5DDE5"/>
            </a:solidFill>
            <a:prstDash val="solid"/>
          </a:ln>
        </p:spPr>
      </p:sp>
      <p:sp>
        <p:nvSpPr>
          <p:cNvPr id="33" name="Text 31"/>
          <p:cNvSpPr txBox="1"/>
          <p:nvPr/>
        </p:nvSpPr>
        <p:spPr>
          <a:xfrm>
            <a:off x="5394960" y="4970526"/>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DESIGN</a:t>
            </a:r>
            <a:endParaRPr lang="en-US" sz="1200" dirty="0"/>
          </a:p>
        </p:txBody>
      </p:sp>
      <p:sp>
        <p:nvSpPr>
          <p:cNvPr id="34" name="Text 32"/>
          <p:cNvSpPr txBox="1"/>
          <p:nvPr/>
        </p:nvSpPr>
        <p:spPr>
          <a:xfrm>
            <a:off x="5394960" y="5281422"/>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Design transfer(a, b, amount) between two bank accounts.</a:t>
            </a:r>
            <a:endParaRPr lang="en-US" sz="1500" dirty="0"/>
          </a:p>
        </p:txBody>
      </p:sp>
      <p:sp>
        <p:nvSpPr>
          <p:cNvPr id="35" name="Text 33"/>
          <p:cNvSpPr txBox="1"/>
          <p:nvPr/>
        </p:nvSpPr>
        <p:spPr>
          <a:xfrm>
            <a:off x="5394960" y="5634228"/>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scoped_lock(a.m, b.m), check a == b first, then move the amount.</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V6  ·  GRACEFUL SHUTDOWN</a:t>
            </a:r>
            <a:endParaRPr lang="en-US" sz="1200" dirty="0"/>
          </a:p>
        </p:txBody>
      </p:sp>
      <p:sp>
        <p:nvSpPr>
          <p:cNvPr id="3" name="Shape 1"/>
          <p:cNvSpPr/>
          <p:nvPr/>
        </p:nvSpPr>
        <p:spPr>
          <a:xfrm>
            <a:off x="6229807" y="292608"/>
            <a:ext cx="1298448" cy="274320"/>
          </a:xfrm>
          <a:prstGeom prst="roundRect">
            <a:avLst>
              <a:gd name="adj" fmla="val 23333"/>
            </a:avLst>
          </a:prstGeom>
          <a:solidFill>
            <a:srgbClr val="1B2430"/>
          </a:solidFill>
          <a:ln w="12700">
            <a:solidFill>
              <a:srgbClr val="1B2430"/>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The producers are done. The program never exits.</a:t>
            </a:r>
            <a:endParaRPr lang="en-US" sz="2800" dirty="0"/>
          </a:p>
        </p:txBody>
      </p:sp>
      <p:sp>
        <p:nvSpPr>
          <p:cNvPr id="12" name="Shape 10"/>
          <p:cNvSpPr/>
          <p:nvPr/>
        </p:nvSpPr>
        <p:spPr>
          <a:xfrm>
            <a:off x="548640" y="1417320"/>
            <a:ext cx="6766560" cy="1014984"/>
          </a:xfrm>
          <a:prstGeom prst="roundRect">
            <a:avLst>
              <a:gd name="adj" fmla="val 7207"/>
            </a:avLst>
          </a:prstGeom>
          <a:solidFill>
            <a:srgbClr val="EEF2F5"/>
          </a:solidFill>
          <a:ln w="12700">
            <a:solidFill>
              <a:srgbClr val="EEF2F5"/>
            </a:solidFill>
            <a:prstDash val="solid"/>
          </a:ln>
        </p:spPr>
      </p:sp>
      <p:sp>
        <p:nvSpPr>
          <p:cNvPr id="13" name="Text 11"/>
          <p:cNvSpPr txBox="1"/>
          <p:nvPr/>
        </p:nvSpPr>
        <p:spPr>
          <a:xfrm>
            <a:off x="731520" y="1581912"/>
            <a:ext cx="6400800" cy="6858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Producers: push ... push ... return ok</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Consumers: pop ... pop ... wait_and_pop() zzz</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main:      join consumers ... waiting ...</a:t>
            </a:r>
            <a:endParaRPr lang="en-US" sz="1500" dirty="0"/>
          </a:p>
        </p:txBody>
      </p:sp>
      <p:sp>
        <p:nvSpPr>
          <p:cNvPr id="14" name="Shape 12"/>
          <p:cNvSpPr/>
          <p:nvPr/>
        </p:nvSpPr>
        <p:spPr>
          <a:xfrm>
            <a:off x="548640" y="2660904"/>
            <a:ext cx="6766560" cy="1700784"/>
          </a:xfrm>
          <a:prstGeom prst="roundRect">
            <a:avLst>
              <a:gd name="adj" fmla="val 4301"/>
            </a:avLst>
          </a:prstGeom>
          <a:solidFill>
            <a:srgbClr val="161C24"/>
          </a:solidFill>
          <a:ln w="12700">
            <a:solidFill>
              <a:srgbClr val="161C24"/>
            </a:solidFill>
            <a:prstDash val="solid"/>
          </a:ln>
        </p:spPr>
      </p:sp>
      <p:sp>
        <p:nvSpPr>
          <p:cNvPr id="15" name="Text 13"/>
          <p:cNvSpPr txBox="1"/>
          <p:nvPr/>
        </p:nvSpPr>
        <p:spPr>
          <a:xfrm>
            <a:off x="731520" y="2825496"/>
            <a:ext cx="6400800" cy="1371600"/>
          </a:xfrm>
          <a:prstGeom prst="rect">
            <a:avLst/>
          </a:prstGeom>
          <a:noFill/>
          <a:ln/>
        </p:spPr>
        <p:txBody>
          <a:bodyPr wrap="square" lIns="0" tIns="0" rIns="0" bIns="0" rtlCol="0" anchor="t"/>
          <a:lstStyle/>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void shutdown() {</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std::lock_guard lock(m);</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closed = true;</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cv.notify_one();</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2 consumers are asleep in wait()</a:t>
            </a:r>
            <a:endParaRPr lang="en-US" sz="1500" dirty="0"/>
          </a:p>
        </p:txBody>
      </p:sp>
      <p:sp>
        <p:nvSpPr>
          <p:cNvPr id="16" name="Text 14"/>
          <p:cNvSpPr txBox="1"/>
          <p:nvPr/>
        </p:nvSpPr>
        <p:spPr>
          <a:xfrm>
            <a:off x="7680960" y="1417320"/>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THE QUESTION</a:t>
            </a:r>
            <a:endParaRPr lang="en-US" sz="1200" dirty="0"/>
          </a:p>
        </p:txBody>
      </p:sp>
      <p:sp>
        <p:nvSpPr>
          <p:cNvPr id="17" name="Text 15"/>
          <p:cNvSpPr txBox="1"/>
          <p:nvPr/>
        </p:nvSpPr>
        <p:spPr>
          <a:xfrm>
            <a:off x="7680960" y="1728216"/>
            <a:ext cx="3962095" cy="1115568"/>
          </a:xfrm>
          <a:prstGeom prst="rect">
            <a:avLst/>
          </a:prstGeom>
          <a:noFill/>
          <a:ln/>
        </p:spPr>
        <p:txBody>
          <a:bodyPr wrap="square" lIns="0" tIns="0" rIns="0" bIns="0" rtlCol="0" anchor="t"/>
          <a:lstStyle/>
          <a:p>
            <a:pPr indent="0" marL="0">
              <a:lnSpc>
                <a:spcPct val="105000"/>
              </a:lnSpc>
              <a:buNone/>
            </a:pPr>
            <a:r>
              <a:rPr lang="en-US" sz="1800" b="1" dirty="0">
                <a:solidFill>
                  <a:srgbClr val="1B2430"/>
                </a:solidFill>
                <a:latin typeface="Calibri" pitchFamily="34" charset="0"/>
                <a:ea typeface="Calibri" pitchFamily="34" charset="-122"/>
                <a:cs typeface="Calibri" pitchFamily="34" charset="-120"/>
              </a:rPr>
              <a:t>Consumers no longer know how many items will come. How can they find out that no more items are coming?</a:t>
            </a:r>
            <a:endParaRPr lang="en-US" sz="1800" dirty="0"/>
          </a:p>
        </p:txBody>
      </p:sp>
      <p:sp>
        <p:nvSpPr>
          <p:cNvPr id="18" name="Text 16"/>
          <p:cNvSpPr txBox="1"/>
          <p:nvPr/>
        </p:nvSpPr>
        <p:spPr>
          <a:xfrm>
            <a:off x="7680960" y="3072384"/>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PREDICT</a:t>
            </a:r>
            <a:endParaRPr lang="en-US" sz="1200" dirty="0"/>
          </a:p>
        </p:txBody>
      </p:sp>
      <p:sp>
        <p:nvSpPr>
          <p:cNvPr id="19" name="Text 17"/>
          <p:cNvSpPr txBox="1"/>
          <p:nvPr/>
        </p:nvSpPr>
        <p:spPr>
          <a:xfrm>
            <a:off x="7680960" y="3383280"/>
            <a:ext cx="3962095" cy="276352"/>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How many consumers wake up and leave?</a:t>
            </a:r>
            <a:endParaRPr lang="en-US" sz="1600" dirty="0"/>
          </a:p>
        </p:txBody>
      </p:sp>
      <p:sp>
        <p:nvSpPr>
          <p:cNvPr id="20" name="Shape 18"/>
          <p:cNvSpPr/>
          <p:nvPr/>
        </p:nvSpPr>
        <p:spPr>
          <a:xfrm>
            <a:off x="7680960" y="3933952"/>
            <a:ext cx="3962095" cy="1764030"/>
          </a:xfrm>
          <a:prstGeom prst="roundRect">
            <a:avLst>
              <a:gd name="adj" fmla="val 4147"/>
            </a:avLst>
          </a:prstGeom>
          <a:solidFill>
            <a:srgbClr val="EEF2F5"/>
          </a:solidFill>
          <a:ln w="12700">
            <a:solidFill>
              <a:srgbClr val="EEF2F5"/>
            </a:solidFill>
            <a:prstDash val="solid"/>
          </a:ln>
        </p:spPr>
      </p:sp>
      <p:sp>
        <p:nvSpPr>
          <p:cNvPr id="21" name="Text 19"/>
          <p:cNvSpPr txBox="1"/>
          <p:nvPr/>
        </p:nvSpPr>
        <p:spPr>
          <a:xfrm>
            <a:off x="7909560" y="4116832"/>
            <a:ext cx="3504895"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ANSWER</a:t>
            </a:r>
            <a:endParaRPr lang="en-US" sz="1200" dirty="0"/>
          </a:p>
        </p:txBody>
      </p:sp>
      <p:sp>
        <p:nvSpPr>
          <p:cNvPr id="22" name="Text 20"/>
          <p:cNvSpPr txBox="1"/>
          <p:nvPr/>
        </p:nvSpPr>
        <p:spPr>
          <a:xfrm>
            <a:off x="7909560" y="4427728"/>
            <a:ext cx="3504895" cy="116052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One. notify_one wakes a single waiter.</a:t>
            </a:r>
            <a:endParaRPr lang="en-US" sz="1500" dirty="0"/>
          </a:p>
          <a:p>
            <a:pPr indent="0" marL="0">
              <a:lnSpc>
                <a:spcPct val="105000"/>
              </a:lnSpc>
              <a:buNone/>
            </a:pP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The other sleeps forever and main hangs on join().</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V6  ·  GRACEFUL SHUTDOWN</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1B2430"/>
          </a:solidFill>
          <a:ln w="12700">
            <a:solidFill>
              <a:srgbClr val="1B2430"/>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Shutdown is a protocol</a:t>
            </a:r>
            <a:endParaRPr lang="en-US" sz="2800" dirty="0"/>
          </a:p>
        </p:txBody>
      </p:sp>
      <p:sp>
        <p:nvSpPr>
          <p:cNvPr id="12" name="Text 10"/>
          <p:cNvSpPr txBox="1"/>
          <p:nvPr/>
        </p:nvSpPr>
        <p:spPr>
          <a:xfrm>
            <a:off x="548640" y="1417320"/>
            <a:ext cx="429768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RUN IT</a:t>
            </a:r>
            <a:endParaRPr lang="en-US" sz="1200" dirty="0"/>
          </a:p>
        </p:txBody>
      </p:sp>
      <p:sp>
        <p:nvSpPr>
          <p:cNvPr id="13" name="Shape 11"/>
          <p:cNvSpPr/>
          <p:nvPr/>
        </p:nvSpPr>
        <p:spPr>
          <a:xfrm>
            <a:off x="548640" y="1728216"/>
            <a:ext cx="4297680" cy="969264"/>
          </a:xfrm>
          <a:prstGeom prst="roundRect">
            <a:avLst>
              <a:gd name="adj" fmla="val 7547"/>
            </a:avLst>
          </a:prstGeom>
          <a:solidFill>
            <a:srgbClr val="0D1117"/>
          </a:solidFill>
          <a:ln w="12700">
            <a:solidFill>
              <a:srgbClr val="0D1117"/>
            </a:solidFill>
            <a:prstDash val="solid"/>
          </a:ln>
        </p:spPr>
      </p:sp>
      <p:sp>
        <p:nvSpPr>
          <p:cNvPr id="14" name="Text 12"/>
          <p:cNvSpPr txBox="1"/>
          <p:nvPr/>
        </p:nvSpPr>
        <p:spPr>
          <a:xfrm>
            <a:off x="731520" y="1892808"/>
            <a:ext cx="3931920" cy="640080"/>
          </a:xfrm>
          <a:prstGeom prst="rect">
            <a:avLst/>
          </a:prstGeom>
          <a:noFill/>
          <a:ln/>
        </p:spPr>
        <p:txBody>
          <a:bodyPr wrap="square" lIns="0" tIns="0" rIns="0" bIns="0" rtlCol="0" anchor="t"/>
          <a:lstStyle/>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 ./tiny</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woke up</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[frozen: stopped after 10 s]</a:t>
            </a:r>
            <a:endParaRPr lang="en-US" sz="1400" dirty="0"/>
          </a:p>
        </p:txBody>
      </p:sp>
      <p:sp>
        <p:nvSpPr>
          <p:cNvPr id="15" name="Text 13"/>
          <p:cNvSpPr txBox="1"/>
          <p:nvPr/>
        </p:nvSpPr>
        <p:spPr>
          <a:xfrm>
            <a:off x="548640" y="2880360"/>
            <a:ext cx="4297680"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Change one word, notify_one → notify_all, and it exits.</a:t>
            </a:r>
            <a:endParaRPr lang="en-US" sz="1500" dirty="0"/>
          </a:p>
        </p:txBody>
      </p:sp>
      <p:sp>
        <p:nvSpPr>
          <p:cNvPr id="16" name="Text 14"/>
          <p:cNvSpPr txBox="1"/>
          <p:nvPr/>
        </p:nvSpPr>
        <p:spPr>
          <a:xfrm>
            <a:off x="5166360" y="1417320"/>
            <a:ext cx="6476695"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WHAT HAPPENS, STEP BY STEP</a:t>
            </a:r>
            <a:endParaRPr lang="en-US" sz="1200" dirty="0"/>
          </a:p>
        </p:txBody>
      </p:sp>
      <p:sp>
        <p:nvSpPr>
          <p:cNvPr id="17" name="Shape 15"/>
          <p:cNvSpPr/>
          <p:nvPr/>
        </p:nvSpPr>
        <p:spPr>
          <a:xfrm>
            <a:off x="5166360" y="1728216"/>
            <a:ext cx="6476695" cy="1929384"/>
          </a:xfrm>
          <a:prstGeom prst="roundRect">
            <a:avLst>
              <a:gd name="adj" fmla="val 3791"/>
            </a:avLst>
          </a:prstGeom>
          <a:solidFill>
            <a:srgbClr val="EEF2F5"/>
          </a:solidFill>
          <a:ln w="12700">
            <a:solidFill>
              <a:srgbClr val="EEF2F5"/>
            </a:solidFill>
            <a:prstDash val="solid"/>
          </a:ln>
        </p:spPr>
      </p:sp>
      <p:sp>
        <p:nvSpPr>
          <p:cNvPr id="18" name="Text 16"/>
          <p:cNvSpPr txBox="1"/>
          <p:nvPr/>
        </p:nvSpPr>
        <p:spPr>
          <a:xfrm>
            <a:off x="5349240" y="1892808"/>
            <a:ext cx="6110935" cy="16002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RUNNING    push ok · pop waits</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 shutdown()</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CLOSED     push rejected · EVERY waiter woken</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 queue drains</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DRAINED    wait_and_pop() returns "nothing"</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consumers return · threads joined</a:t>
            </a:r>
            <a:endParaRPr lang="en-US" sz="1500" dirty="0"/>
          </a:p>
        </p:txBody>
      </p:sp>
      <p:sp>
        <p:nvSpPr>
          <p:cNvPr id="19" name="Shape 17"/>
          <p:cNvSpPr/>
          <p:nvPr/>
        </p:nvSpPr>
        <p:spPr>
          <a:xfrm>
            <a:off x="5166360" y="3886200"/>
            <a:ext cx="6476695" cy="1314450"/>
          </a:xfrm>
          <a:prstGeom prst="roundRect">
            <a:avLst>
              <a:gd name="adj" fmla="val 5565"/>
            </a:avLst>
          </a:prstGeom>
          <a:solidFill>
            <a:srgbClr val="FDF1E8"/>
          </a:solidFill>
          <a:ln w="12700">
            <a:solidFill>
              <a:srgbClr val="FDF1E8"/>
            </a:solidFill>
            <a:prstDash val="solid"/>
          </a:ln>
        </p:spPr>
      </p:sp>
      <p:sp>
        <p:nvSpPr>
          <p:cNvPr id="20" name="Text 18"/>
          <p:cNvSpPr txBox="1"/>
          <p:nvPr/>
        </p:nvSpPr>
        <p:spPr>
          <a:xfrm>
            <a:off x="5394960" y="4069080"/>
            <a:ext cx="60194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SO</a:t>
            </a:r>
            <a:endParaRPr lang="en-US" sz="1200" dirty="0"/>
          </a:p>
        </p:txBody>
      </p:sp>
      <p:sp>
        <p:nvSpPr>
          <p:cNvPr id="21" name="Text 19"/>
          <p:cNvSpPr txBox="1"/>
          <p:nvPr/>
        </p:nvSpPr>
        <p:spPr>
          <a:xfrm>
            <a:off x="5394960" y="4379976"/>
            <a:ext cx="6019495" cy="71094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Set closed under the lock (else it can fall into v4's gap), wake everyone, let each waiter see it. No int can mean "nothing": return std::optional.</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V6  ·  GRACEFUL SHUTDOWN</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1B2430"/>
          </a:solidFill>
          <a:ln w="12700">
            <a:solidFill>
              <a:srgbClr val="1B2430"/>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A closed flag, and pushes that can say no</a:t>
            </a:r>
            <a:endParaRPr lang="en-US" sz="2800" dirty="0"/>
          </a:p>
        </p:txBody>
      </p:sp>
      <p:sp>
        <p:nvSpPr>
          <p:cNvPr id="12" name="Text 10"/>
          <p:cNvSpPr txBox="1"/>
          <p:nvPr/>
        </p:nvSpPr>
        <p:spPr>
          <a:xfrm>
            <a:off x="548640" y="1417320"/>
            <a:ext cx="676656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queue.hpp</a:t>
            </a:r>
            <a:endParaRPr lang="en-US" sz="1200" dirty="0"/>
          </a:p>
        </p:txBody>
      </p:sp>
      <p:sp>
        <p:nvSpPr>
          <p:cNvPr id="13" name="Shape 11"/>
          <p:cNvSpPr/>
          <p:nvPr/>
        </p:nvSpPr>
        <p:spPr>
          <a:xfrm>
            <a:off x="548640" y="1728216"/>
            <a:ext cx="7132320" cy="2889504"/>
          </a:xfrm>
          <a:prstGeom prst="roundRect">
            <a:avLst>
              <a:gd name="adj" fmla="val 2532"/>
            </a:avLst>
          </a:prstGeom>
          <a:solidFill>
            <a:srgbClr val="161C24"/>
          </a:solidFill>
          <a:ln w="12700">
            <a:solidFill>
              <a:srgbClr val="161C24"/>
            </a:solidFill>
            <a:prstDash val="solid"/>
          </a:ln>
        </p:spPr>
      </p:sp>
      <p:sp>
        <p:nvSpPr>
          <p:cNvPr id="14" name="Text 12"/>
          <p:cNvSpPr txBox="1"/>
          <p:nvPr/>
        </p:nvSpPr>
        <p:spPr>
          <a:xfrm>
            <a:off x="731520" y="1892808"/>
            <a:ext cx="6766560" cy="2560320"/>
          </a:xfrm>
          <a:prstGeom prst="rect">
            <a:avLst/>
          </a:prstGeom>
          <a:noFill/>
          <a:ln/>
        </p:spPr>
        <p:txBody>
          <a:bodyPr wrap="square" lIns="0" tIns="0" rIns="0" bIns="0" rtlCol="0" anchor="t"/>
          <a:lstStyle/>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bool closed = false;            // guarded by m</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std::optional&lt;int&gt; wait_and_pop() {</a:t>
            </a:r>
            <a:endParaRPr lang="en-US" sz="1400" dirty="0"/>
          </a:p>
          <a:p>
            <a:pPr indent="0" marL="0">
              <a:lnSpc>
                <a:spcPct val="100000"/>
              </a:lnSpc>
              <a:buNone/>
            </a:pPr>
            <a:r>
              <a:rPr lang="en-US" sz="1400" dirty="0">
                <a:solidFill>
                  <a:srgbClr val="A9B4BF"/>
                </a:solidFill>
                <a:latin typeface="Courier New" pitchFamily="34" charset="0"/>
                <a:ea typeface="Courier New" pitchFamily="34" charset="-122"/>
                <a:cs typeface="Courier New" pitchFamily="34" charset="-120"/>
              </a:rPr>
              <a:t>      std::unique_lock lock(m);</a:t>
            </a:r>
            <a:endParaRPr lang="en-US" sz="1400" dirty="0"/>
          </a:p>
          <a:p>
            <a:pPr indent="0" marL="0">
              <a:lnSpc>
                <a:spcPct val="100000"/>
              </a:lnSpc>
              <a:buNone/>
            </a:pPr>
            <a:r>
              <a:rPr lang="en-US" sz="1400" strike="sngStrike" dirty="0">
                <a:solidFill>
                  <a:srgbClr val="FCA5A5"/>
                </a:solidFill>
                <a:latin typeface="Courier New" pitchFamily="34" charset="0"/>
                <a:ea typeface="Courier New" pitchFamily="34" charset="-122"/>
                <a:cs typeface="Courier New" pitchFamily="34" charset="-120"/>
              </a:rPr>
              <a:t>-     cv.wait(lock, [&amp;] { return !q.empty();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cv.wait(lock, [&amp;] { return !q.empty() || closed;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if (q.empty()) return std::nullopt;   // closed + drained</a:t>
            </a:r>
            <a:endParaRPr lang="en-US" sz="1400" dirty="0"/>
          </a:p>
          <a:p>
            <a:pPr indent="0" marL="0">
              <a:lnSpc>
                <a:spcPct val="100000"/>
              </a:lnSpc>
              <a:buNone/>
            </a:pPr>
            <a:r>
              <a:rPr lang="en-US" sz="1400" dirty="0">
                <a:solidFill>
                  <a:srgbClr val="A9B4BF"/>
                </a:solidFill>
                <a:latin typeface="Courier New" pitchFamily="34" charset="0"/>
                <a:ea typeface="Courier New" pitchFamily="34" charset="-122"/>
                <a:cs typeface="Courier New" pitchFamily="34" charset="-120"/>
              </a:rPr>
              <a:t>      int v = q.front(); q.pop(); return v;</a:t>
            </a:r>
            <a:endParaRPr lang="en-US" sz="1400" dirty="0"/>
          </a:p>
          <a:p>
            <a:pPr indent="0" marL="0">
              <a:lnSpc>
                <a:spcPct val="100000"/>
              </a:lnSpc>
              <a:buNone/>
            </a:pPr>
            <a:r>
              <a:rPr lang="en-US" sz="1400" dirty="0">
                <a:solidFill>
                  <a:srgbClr val="A9B4BF"/>
                </a:solidFill>
                <a:latin typeface="Courier New" pitchFamily="34" charset="0"/>
                <a:ea typeface="Courier New" pitchFamily="34" charset="-122"/>
                <a:cs typeface="Courier New" pitchFamily="34" charset="-120"/>
              </a:rPr>
              <a:t>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void shutdown()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 std::lock_guard l(m); closed = true;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cv.notify_all();</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a:t>
            </a:r>
            <a:endParaRPr lang="en-US" sz="1400" dirty="0"/>
          </a:p>
        </p:txBody>
      </p:sp>
      <p:sp>
        <p:nvSpPr>
          <p:cNvPr id="15" name="Shape 13"/>
          <p:cNvSpPr/>
          <p:nvPr/>
        </p:nvSpPr>
        <p:spPr>
          <a:xfrm>
            <a:off x="8001000" y="1728216"/>
            <a:ext cx="365760" cy="365760"/>
          </a:xfrm>
          <a:prstGeom prst="ellipse">
            <a:avLst/>
          </a:prstGeom>
          <a:solidFill>
            <a:srgbClr val="0F766E"/>
          </a:solidFill>
          <a:ln w="12700">
            <a:solidFill>
              <a:srgbClr val="0F766E"/>
            </a:solidFill>
            <a:prstDash val="solid"/>
          </a:ln>
        </p:spPr>
      </p:sp>
      <p:sp>
        <p:nvSpPr>
          <p:cNvPr id="16" name="Text 14"/>
          <p:cNvSpPr txBox="1"/>
          <p:nvPr/>
        </p:nvSpPr>
        <p:spPr>
          <a:xfrm>
            <a:off x="8001000" y="17282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8503920" y="1764792"/>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The predicate checks both conditions.</a:t>
            </a:r>
            <a:endParaRPr lang="en-US" sz="1600" dirty="0"/>
          </a:p>
        </p:txBody>
      </p:sp>
      <p:sp>
        <p:nvSpPr>
          <p:cNvPr id="18" name="Shape 16"/>
          <p:cNvSpPr/>
          <p:nvPr/>
        </p:nvSpPr>
        <p:spPr>
          <a:xfrm>
            <a:off x="8001000" y="2518664"/>
            <a:ext cx="365760" cy="365760"/>
          </a:xfrm>
          <a:prstGeom prst="ellipse">
            <a:avLst/>
          </a:prstGeom>
          <a:solidFill>
            <a:srgbClr val="0F766E"/>
          </a:solidFill>
          <a:ln w="12700">
            <a:solidFill>
              <a:srgbClr val="0F766E"/>
            </a:solidFill>
            <a:prstDash val="solid"/>
          </a:ln>
        </p:spPr>
      </p:sp>
      <p:sp>
        <p:nvSpPr>
          <p:cNvPr id="19" name="Text 17"/>
          <p:cNvSpPr txBox="1"/>
          <p:nvPr/>
        </p:nvSpPr>
        <p:spPr>
          <a:xfrm>
            <a:off x="8001000" y="25186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8503920" y="2555240"/>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Queued items are still consumed (drain policy).</a:t>
            </a:r>
            <a:endParaRPr lang="en-US" sz="1600" dirty="0"/>
          </a:p>
        </p:txBody>
      </p:sp>
      <p:sp>
        <p:nvSpPr>
          <p:cNvPr id="21" name="Shape 19"/>
          <p:cNvSpPr/>
          <p:nvPr/>
        </p:nvSpPr>
        <p:spPr>
          <a:xfrm>
            <a:off x="8001000" y="3309112"/>
            <a:ext cx="365760" cy="365760"/>
          </a:xfrm>
          <a:prstGeom prst="ellipse">
            <a:avLst/>
          </a:prstGeom>
          <a:solidFill>
            <a:srgbClr val="0F766E"/>
          </a:solidFill>
          <a:ln w="12700">
            <a:solidFill>
              <a:srgbClr val="0F766E"/>
            </a:solidFill>
            <a:prstDash val="solid"/>
          </a:ln>
        </p:spPr>
      </p:sp>
      <p:sp>
        <p:nvSpPr>
          <p:cNvPr id="22" name="Text 20"/>
          <p:cNvSpPr txBox="1"/>
          <p:nvPr/>
        </p:nvSpPr>
        <p:spPr>
          <a:xfrm>
            <a:off x="8001000" y="330911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503920" y="3345688"/>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push() after shutdown() returns false.</a:t>
            </a:r>
            <a:endParaRPr lang="en-US" sz="16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V6  ·  GRACEFUL SHUTDOWN</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1B2430"/>
          </a:solidFill>
          <a:ln w="12700">
            <a:solidFill>
              <a:srgbClr val="1B2430"/>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Check yourself</a:t>
            </a:r>
            <a:endParaRPr lang="en-US" sz="2800" dirty="0"/>
          </a:p>
        </p:txBody>
      </p:sp>
      <p:sp>
        <p:nvSpPr>
          <p:cNvPr id="12" name="Shape 10"/>
          <p:cNvSpPr/>
          <p:nvPr/>
        </p:nvSpPr>
        <p:spPr>
          <a:xfrm>
            <a:off x="548640" y="1417320"/>
            <a:ext cx="4206240" cy="1404366"/>
          </a:xfrm>
          <a:prstGeom prst="roundRect">
            <a:avLst>
              <a:gd name="adj" fmla="val 5209"/>
            </a:avLst>
          </a:prstGeom>
          <a:solidFill>
            <a:srgbClr val="EEF2F5"/>
          </a:solidFill>
          <a:ln w="12700">
            <a:solidFill>
              <a:srgbClr val="EEF2F5"/>
            </a:solidFill>
            <a:prstDash val="solid"/>
          </a:ln>
        </p:spPr>
      </p:sp>
      <p:sp>
        <p:nvSpPr>
          <p:cNvPr id="13" name="Text 11"/>
          <p:cNvSpPr txBox="1"/>
          <p:nvPr/>
        </p:nvSpPr>
        <p:spPr>
          <a:xfrm>
            <a:off x="777240" y="1600200"/>
            <a:ext cx="3749040"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THE LESSON</a:t>
            </a:r>
            <a:endParaRPr lang="en-US" sz="1200" dirty="0"/>
          </a:p>
        </p:txBody>
      </p:sp>
      <p:sp>
        <p:nvSpPr>
          <p:cNvPr id="14" name="Text 12"/>
          <p:cNvSpPr txBox="1"/>
          <p:nvPr/>
        </p:nvSpPr>
        <p:spPr>
          <a:xfrm>
            <a:off x="777240" y="1911096"/>
            <a:ext cx="3749040" cy="800862"/>
          </a:xfrm>
          <a:prstGeom prst="rect">
            <a:avLst/>
          </a:prstGeom>
          <a:noFill/>
          <a:ln/>
        </p:spPr>
        <p:txBody>
          <a:bodyPr wrap="square" lIns="0" tIns="0" rIns="0" bIns="0" rtlCol="0" anchor="t"/>
          <a:lstStyle/>
          <a:p>
            <a:pPr indent="0" marL="0">
              <a:lnSpc>
                <a:spcPct val="105000"/>
              </a:lnSpc>
              <a:buNone/>
            </a:pPr>
            <a:r>
              <a:rPr lang="en-US" sz="1700" dirty="0">
                <a:solidFill>
                  <a:srgbClr val="1B2430"/>
                </a:solidFill>
                <a:latin typeface="Calibri" pitchFamily="34" charset="0"/>
                <a:ea typeface="Calibri" pitchFamily="34" charset="-122"/>
                <a:cs typeface="Calibri" pitchFamily="34" charset="-120"/>
              </a:rPr>
              <a:t>Shutdown: change the state under the lock, wake everyone, let each waiter see it.</a:t>
            </a:r>
            <a:endParaRPr lang="en-US" sz="1700" dirty="0"/>
          </a:p>
        </p:txBody>
      </p:sp>
      <p:sp>
        <p:nvSpPr>
          <p:cNvPr id="15" name="Text 13"/>
          <p:cNvSpPr txBox="1"/>
          <p:nvPr/>
        </p:nvSpPr>
        <p:spPr>
          <a:xfrm>
            <a:off x="548640" y="3096006"/>
            <a:ext cx="420624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EXPLAIN WITHOUT LOOKING</a:t>
            </a:r>
            <a:endParaRPr lang="en-US" sz="1200" dirty="0"/>
          </a:p>
        </p:txBody>
      </p:sp>
      <p:sp>
        <p:nvSpPr>
          <p:cNvPr id="16" name="Shape 14"/>
          <p:cNvSpPr/>
          <p:nvPr/>
        </p:nvSpPr>
        <p:spPr>
          <a:xfrm>
            <a:off x="548640" y="3489198"/>
            <a:ext cx="182880" cy="182880"/>
          </a:xfrm>
          <a:prstGeom prst="rect">
            <a:avLst/>
          </a:prstGeom>
          <a:solidFill>
            <a:srgbClr val="FFFFFF"/>
          </a:solidFill>
          <a:ln w="15875">
            <a:solidFill>
              <a:srgbClr val="0F766E"/>
            </a:solidFill>
            <a:prstDash val="solid"/>
          </a:ln>
        </p:spPr>
      </p:sp>
      <p:sp>
        <p:nvSpPr>
          <p:cNvPr id="17" name="Text 15"/>
          <p:cNvSpPr txBox="1"/>
          <p:nvPr/>
        </p:nvSpPr>
        <p:spPr>
          <a:xfrm>
            <a:off x="868680" y="3443478"/>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notify_all in shutdown()?</a:t>
            </a:r>
            <a:endParaRPr lang="en-US" sz="1500" dirty="0"/>
          </a:p>
        </p:txBody>
      </p:sp>
      <p:sp>
        <p:nvSpPr>
          <p:cNvPr id="18" name="Shape 16"/>
          <p:cNvSpPr/>
          <p:nvPr/>
        </p:nvSpPr>
        <p:spPr>
          <a:xfrm>
            <a:off x="548640" y="3860292"/>
            <a:ext cx="182880" cy="182880"/>
          </a:xfrm>
          <a:prstGeom prst="rect">
            <a:avLst/>
          </a:prstGeom>
          <a:solidFill>
            <a:srgbClr val="FFFFFF"/>
          </a:solidFill>
          <a:ln w="15875">
            <a:solidFill>
              <a:srgbClr val="0F766E"/>
            </a:solidFill>
            <a:prstDash val="solid"/>
          </a:ln>
        </p:spPr>
      </p:sp>
      <p:sp>
        <p:nvSpPr>
          <p:cNvPr id="19" name="Text 17"/>
          <p:cNvSpPr txBox="1"/>
          <p:nvPr/>
        </p:nvSpPr>
        <p:spPr>
          <a:xfrm>
            <a:off x="868680" y="3814572"/>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std::optional?</a:t>
            </a:r>
            <a:endParaRPr lang="en-US" sz="1500" dirty="0"/>
          </a:p>
        </p:txBody>
      </p:sp>
      <p:sp>
        <p:nvSpPr>
          <p:cNvPr id="20" name="Shape 18"/>
          <p:cNvSpPr/>
          <p:nvPr/>
        </p:nvSpPr>
        <p:spPr>
          <a:xfrm>
            <a:off x="548640" y="4231386"/>
            <a:ext cx="182880" cy="182880"/>
          </a:xfrm>
          <a:prstGeom prst="rect">
            <a:avLst/>
          </a:prstGeom>
          <a:solidFill>
            <a:srgbClr val="FFFFFF"/>
          </a:solidFill>
          <a:ln w="15875">
            <a:solidFill>
              <a:srgbClr val="0F766E"/>
            </a:solidFill>
            <a:prstDash val="solid"/>
          </a:ln>
        </p:spPr>
      </p:sp>
      <p:sp>
        <p:nvSpPr>
          <p:cNvPr id="21" name="Text 19"/>
          <p:cNvSpPr txBox="1"/>
          <p:nvPr/>
        </p:nvSpPr>
        <p:spPr>
          <a:xfrm>
            <a:off x="868680" y="4185666"/>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happens to queued items?</a:t>
            </a:r>
            <a:endParaRPr lang="en-US" sz="1500" dirty="0"/>
          </a:p>
        </p:txBody>
      </p:sp>
      <p:sp>
        <p:nvSpPr>
          <p:cNvPr id="22" name="Shape 20"/>
          <p:cNvSpPr/>
          <p:nvPr/>
        </p:nvSpPr>
        <p:spPr>
          <a:xfrm>
            <a:off x="548640" y="4602480"/>
            <a:ext cx="182880" cy="182880"/>
          </a:xfrm>
          <a:prstGeom prst="rect">
            <a:avLst/>
          </a:prstGeom>
          <a:solidFill>
            <a:srgbClr val="FFFFFF"/>
          </a:solidFill>
          <a:ln w="15875">
            <a:solidFill>
              <a:srgbClr val="0F766E"/>
            </a:solidFill>
            <a:prstDash val="solid"/>
          </a:ln>
        </p:spPr>
      </p:sp>
      <p:sp>
        <p:nvSpPr>
          <p:cNvPr id="23" name="Text 21"/>
          <p:cNvSpPr txBox="1"/>
          <p:nvPr/>
        </p:nvSpPr>
        <p:spPr>
          <a:xfrm>
            <a:off x="868680" y="4556760"/>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set closed under the lock?</a:t>
            </a:r>
            <a:endParaRPr lang="en-US" sz="1500" dirty="0"/>
          </a:p>
        </p:txBody>
      </p:sp>
      <p:sp>
        <p:nvSpPr>
          <p:cNvPr id="24" name="Shape 22"/>
          <p:cNvSpPr/>
          <p:nvPr/>
        </p:nvSpPr>
        <p:spPr>
          <a:xfrm>
            <a:off x="5166360" y="1417320"/>
            <a:ext cx="6476695" cy="1518920"/>
          </a:xfrm>
          <a:prstGeom prst="roundRect">
            <a:avLst>
              <a:gd name="adj" fmla="val 4816"/>
            </a:avLst>
          </a:prstGeom>
          <a:solidFill>
            <a:srgbClr val="FFFFFF"/>
          </a:solidFill>
          <a:ln w="12700">
            <a:solidFill>
              <a:srgbClr val="D5DDE5"/>
            </a:solidFill>
            <a:prstDash val="solid"/>
          </a:ln>
        </p:spPr>
      </p:sp>
      <p:sp>
        <p:nvSpPr>
          <p:cNvPr id="25" name="Text 23"/>
          <p:cNvSpPr txBox="1"/>
          <p:nvPr/>
        </p:nvSpPr>
        <p:spPr>
          <a:xfrm>
            <a:off x="5394960" y="15819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NUMBERS</a:t>
            </a:r>
            <a:endParaRPr lang="en-US" sz="1200" dirty="0"/>
          </a:p>
        </p:txBody>
      </p:sp>
      <p:sp>
        <p:nvSpPr>
          <p:cNvPr id="26" name="Text 24"/>
          <p:cNvSpPr txBox="1"/>
          <p:nvPr/>
        </p:nvSpPr>
        <p:spPr>
          <a:xfrm>
            <a:off x="5394960" y="18928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1,000 items queued, then shutdown(). How many do consumers still receive?</a:t>
            </a:r>
            <a:endParaRPr lang="en-US" sz="1500" dirty="0"/>
          </a:p>
        </p:txBody>
      </p:sp>
      <p:sp>
        <p:nvSpPr>
          <p:cNvPr id="27" name="Text 25"/>
          <p:cNvSpPr txBox="1"/>
          <p:nvPr/>
        </p:nvSpPr>
        <p:spPr>
          <a:xfrm>
            <a:off x="5394960" y="24704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All 1,000. nullopt only when closed AND empty.</a:t>
            </a:r>
            <a:endParaRPr lang="en-US" sz="1400" dirty="0"/>
          </a:p>
        </p:txBody>
      </p:sp>
      <p:sp>
        <p:nvSpPr>
          <p:cNvPr id="28" name="Shape 26"/>
          <p:cNvSpPr/>
          <p:nvPr/>
        </p:nvSpPr>
        <p:spPr>
          <a:xfrm>
            <a:off x="5166360" y="3119120"/>
            <a:ext cx="6476695" cy="1503934"/>
          </a:xfrm>
          <a:prstGeom prst="roundRect">
            <a:avLst>
              <a:gd name="adj" fmla="val 4864"/>
            </a:avLst>
          </a:prstGeom>
          <a:solidFill>
            <a:srgbClr val="FFFFFF"/>
          </a:solidFill>
          <a:ln w="12700">
            <a:solidFill>
              <a:srgbClr val="D5DDE5"/>
            </a:solidFill>
            <a:prstDash val="solid"/>
          </a:ln>
        </p:spPr>
      </p:sp>
      <p:sp>
        <p:nvSpPr>
          <p:cNvPr id="29" name="Text 27"/>
          <p:cNvSpPr txBox="1"/>
          <p:nvPr/>
        </p:nvSpPr>
        <p:spPr>
          <a:xfrm>
            <a:off x="5394960" y="32837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TRACE IT</a:t>
            </a:r>
            <a:endParaRPr lang="en-US" sz="1200" dirty="0"/>
          </a:p>
        </p:txBody>
      </p:sp>
      <p:sp>
        <p:nvSpPr>
          <p:cNvPr id="30" name="Text 28"/>
          <p:cNvSpPr txBox="1"/>
          <p:nvPr/>
        </p:nvSpPr>
        <p:spPr>
          <a:xfrm>
            <a:off x="5394960" y="3594608"/>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closed = true is set WITHOUT the lock. Trace a lost wake-up.</a:t>
            </a:r>
            <a:endParaRPr lang="en-US" sz="1500" dirty="0"/>
          </a:p>
        </p:txBody>
      </p:sp>
      <p:sp>
        <p:nvSpPr>
          <p:cNvPr id="31" name="Text 29"/>
          <p:cNvSpPr txBox="1"/>
          <p:nvPr/>
        </p:nvSpPr>
        <p:spPr>
          <a:xfrm>
            <a:off x="5394960" y="3947414"/>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Consumer checks (not closed) → main sets closed + notifies → consumer starts waiting: sleeps forever.</a:t>
            </a:r>
            <a:endParaRPr lang="en-US" sz="1400" dirty="0"/>
          </a:p>
        </p:txBody>
      </p:sp>
      <p:sp>
        <p:nvSpPr>
          <p:cNvPr id="32" name="Shape 30"/>
          <p:cNvSpPr/>
          <p:nvPr/>
        </p:nvSpPr>
        <p:spPr>
          <a:xfrm>
            <a:off x="5166360" y="4805934"/>
            <a:ext cx="6476695" cy="1728724"/>
          </a:xfrm>
          <a:prstGeom prst="roundRect">
            <a:avLst>
              <a:gd name="adj" fmla="val 4232"/>
            </a:avLst>
          </a:prstGeom>
          <a:solidFill>
            <a:srgbClr val="FFFFFF"/>
          </a:solidFill>
          <a:ln w="12700">
            <a:solidFill>
              <a:srgbClr val="D5DDE5"/>
            </a:solidFill>
            <a:prstDash val="solid"/>
          </a:ln>
        </p:spPr>
      </p:sp>
      <p:sp>
        <p:nvSpPr>
          <p:cNvPr id="33" name="Text 31"/>
          <p:cNvSpPr txBox="1"/>
          <p:nvPr/>
        </p:nvSpPr>
        <p:spPr>
          <a:xfrm>
            <a:off x="5394960" y="4970526"/>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DESIGN</a:t>
            </a:r>
            <a:endParaRPr lang="en-US" sz="1200" dirty="0"/>
          </a:p>
        </p:txBody>
      </p:sp>
      <p:sp>
        <p:nvSpPr>
          <p:cNvPr id="34" name="Text 32"/>
          <p:cNvSpPr txBox="1"/>
          <p:nvPr/>
        </p:nvSpPr>
        <p:spPr>
          <a:xfrm>
            <a:off x="5394960" y="5281422"/>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A bounded queue: producers wait while full. What must shutdown() also do?</a:t>
            </a:r>
            <a:endParaRPr lang="en-US" sz="1500" dirty="0"/>
          </a:p>
        </p:txBody>
      </p:sp>
      <p:sp>
        <p:nvSpPr>
          <p:cNvPr id="35" name="Text 33"/>
          <p:cNvSpPr txBox="1"/>
          <p:nvPr/>
        </p:nvSpPr>
        <p:spPr>
          <a:xfrm>
            <a:off x="5394960" y="5859018"/>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Wake waiting producers too (notify_all on their cv) and make push return false.</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V7  ·  GENERIC QUEUE&lt;T&gt;</a:t>
            </a:r>
            <a:endParaRPr lang="en-US" sz="1200" dirty="0"/>
          </a:p>
        </p:txBody>
      </p:sp>
      <p:sp>
        <p:nvSpPr>
          <p:cNvPr id="3" name="Shape 1"/>
          <p:cNvSpPr/>
          <p:nvPr/>
        </p:nvSpPr>
        <p:spPr>
          <a:xfrm>
            <a:off x="6229807" y="292608"/>
            <a:ext cx="1298448" cy="274320"/>
          </a:xfrm>
          <a:prstGeom prst="roundRect">
            <a:avLst>
              <a:gd name="adj" fmla="val 23333"/>
            </a:avLst>
          </a:prstGeom>
          <a:solidFill>
            <a:srgbClr val="1B2430"/>
          </a:solidFill>
          <a:ln w="12700">
            <a:solidFill>
              <a:srgbClr val="1B2430"/>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Next we'll queue work, not ints</a:t>
            </a:r>
            <a:endParaRPr lang="en-US" sz="2800" dirty="0"/>
          </a:p>
        </p:txBody>
      </p:sp>
      <p:sp>
        <p:nvSpPr>
          <p:cNvPr id="12" name="Shape 10"/>
          <p:cNvSpPr/>
          <p:nvPr/>
        </p:nvSpPr>
        <p:spPr>
          <a:xfrm>
            <a:off x="548640" y="1417320"/>
            <a:ext cx="6766560" cy="1014984"/>
          </a:xfrm>
          <a:prstGeom prst="roundRect">
            <a:avLst>
              <a:gd name="adj" fmla="val 7207"/>
            </a:avLst>
          </a:prstGeom>
          <a:solidFill>
            <a:srgbClr val="EEF2F5"/>
          </a:solidFill>
          <a:ln w="12700">
            <a:solidFill>
              <a:srgbClr val="EEF2F5"/>
            </a:solidFill>
            <a:prstDash val="solid"/>
          </a:ln>
        </p:spPr>
      </p:sp>
      <p:sp>
        <p:nvSpPr>
          <p:cNvPr id="13" name="Text 11"/>
          <p:cNvSpPr txBox="1"/>
          <p:nvPr/>
        </p:nvSpPr>
        <p:spPr>
          <a:xfrm>
            <a:off x="731520" y="1581912"/>
            <a:ext cx="6400800" cy="6858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Queue&lt;int&gt;        ok</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Queue&lt;std::string&gt;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Queue&lt;std::unique_ptr&lt;Job&gt;&gt;    ?  can't be copied at all</a:t>
            </a:r>
            <a:endParaRPr lang="en-US" sz="1500" dirty="0"/>
          </a:p>
        </p:txBody>
      </p:sp>
      <p:sp>
        <p:nvSpPr>
          <p:cNvPr id="14" name="Shape 12"/>
          <p:cNvSpPr/>
          <p:nvPr/>
        </p:nvSpPr>
        <p:spPr>
          <a:xfrm>
            <a:off x="548640" y="2660904"/>
            <a:ext cx="6766560" cy="1700784"/>
          </a:xfrm>
          <a:prstGeom prst="roundRect">
            <a:avLst>
              <a:gd name="adj" fmla="val 4301"/>
            </a:avLst>
          </a:prstGeom>
          <a:solidFill>
            <a:srgbClr val="161C24"/>
          </a:solidFill>
          <a:ln w="12700">
            <a:solidFill>
              <a:srgbClr val="161C24"/>
            </a:solidFill>
            <a:prstDash val="solid"/>
          </a:ln>
        </p:spPr>
      </p:sp>
      <p:sp>
        <p:nvSpPr>
          <p:cNvPr id="15" name="Text 13"/>
          <p:cNvSpPr txBox="1"/>
          <p:nvPr/>
        </p:nvSpPr>
        <p:spPr>
          <a:xfrm>
            <a:off x="731520" y="2825496"/>
            <a:ext cx="6400800" cy="1371600"/>
          </a:xfrm>
          <a:prstGeom prst="rect">
            <a:avLst/>
          </a:prstGeom>
          <a:noFill/>
          <a:ln/>
        </p:spPr>
        <p:txBody>
          <a:bodyPr wrap="square" lIns="0" tIns="0" rIns="0" bIns="0" rtlCol="0" anchor="t"/>
          <a:lstStyle/>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T pop() {</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T v = std::move(q.front());</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q.pop();              // item removed</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return v;</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x = queue.pop();          // this assignment throws</a:t>
            </a:r>
            <a:endParaRPr lang="en-US" sz="1500" dirty="0"/>
          </a:p>
        </p:txBody>
      </p:sp>
      <p:sp>
        <p:nvSpPr>
          <p:cNvPr id="16" name="Text 14"/>
          <p:cNvSpPr txBox="1"/>
          <p:nvPr/>
        </p:nvSpPr>
        <p:spPr>
          <a:xfrm>
            <a:off x="7680960" y="1417320"/>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THE QUESTION</a:t>
            </a:r>
            <a:endParaRPr lang="en-US" sz="1200" dirty="0"/>
          </a:p>
        </p:txBody>
      </p:sp>
      <p:sp>
        <p:nvSpPr>
          <p:cNvPr id="17" name="Text 15"/>
          <p:cNvSpPr txBox="1"/>
          <p:nvPr/>
        </p:nvSpPr>
        <p:spPr>
          <a:xfrm>
            <a:off x="7680960" y="1728216"/>
            <a:ext cx="3962095" cy="1115568"/>
          </a:xfrm>
          <a:prstGeom prst="rect">
            <a:avLst/>
          </a:prstGeom>
          <a:noFill/>
          <a:ln/>
        </p:spPr>
        <p:txBody>
          <a:bodyPr wrap="square" lIns="0" tIns="0" rIns="0" bIns="0" rtlCol="0" anchor="t"/>
          <a:lstStyle/>
          <a:p>
            <a:pPr indent="0" marL="0">
              <a:lnSpc>
                <a:spcPct val="105000"/>
              </a:lnSpc>
              <a:buNone/>
            </a:pPr>
            <a:r>
              <a:rPr lang="en-US" sz="1800" b="1" dirty="0">
                <a:solidFill>
                  <a:srgbClr val="1B2430"/>
                </a:solidFill>
                <a:latin typeface="Calibri" pitchFamily="34" charset="0"/>
                <a:ea typeface="Calibri" pitchFamily="34" charset="-122"/>
                <a:cs typeface="Calibri" pitchFamily="34" charset="-120"/>
              </a:rPr>
              <a:t>Our queue only holds int and copies values everywhere. What breaks when values are big, or can't be copied?</a:t>
            </a:r>
            <a:endParaRPr lang="en-US" sz="1800" dirty="0"/>
          </a:p>
        </p:txBody>
      </p:sp>
      <p:sp>
        <p:nvSpPr>
          <p:cNvPr id="18" name="Text 16"/>
          <p:cNvSpPr txBox="1"/>
          <p:nvPr/>
        </p:nvSpPr>
        <p:spPr>
          <a:xfrm>
            <a:off x="7680960" y="3072384"/>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PREDICT</a:t>
            </a:r>
            <a:endParaRPr lang="en-US" sz="1200" dirty="0"/>
          </a:p>
        </p:txBody>
      </p:sp>
      <p:sp>
        <p:nvSpPr>
          <p:cNvPr id="19" name="Text 17"/>
          <p:cNvSpPr txBox="1"/>
          <p:nvPr/>
        </p:nvSpPr>
        <p:spPr>
          <a:xfrm>
            <a:off x="7680960" y="3383280"/>
            <a:ext cx="396209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If the caller's assignment throws, where is the item?</a:t>
            </a:r>
            <a:endParaRPr lang="en-US" sz="1600" dirty="0"/>
          </a:p>
        </p:txBody>
      </p:sp>
      <p:sp>
        <p:nvSpPr>
          <p:cNvPr id="20" name="Shape 18"/>
          <p:cNvSpPr/>
          <p:nvPr/>
        </p:nvSpPr>
        <p:spPr>
          <a:xfrm>
            <a:off x="7680960" y="4173728"/>
            <a:ext cx="3962095" cy="1764030"/>
          </a:xfrm>
          <a:prstGeom prst="roundRect">
            <a:avLst>
              <a:gd name="adj" fmla="val 4147"/>
            </a:avLst>
          </a:prstGeom>
          <a:solidFill>
            <a:srgbClr val="EEF2F5"/>
          </a:solidFill>
          <a:ln w="12700">
            <a:solidFill>
              <a:srgbClr val="EEF2F5"/>
            </a:solidFill>
            <a:prstDash val="solid"/>
          </a:ln>
        </p:spPr>
      </p:sp>
      <p:sp>
        <p:nvSpPr>
          <p:cNvPr id="21" name="Text 19"/>
          <p:cNvSpPr txBox="1"/>
          <p:nvPr/>
        </p:nvSpPr>
        <p:spPr>
          <a:xfrm>
            <a:off x="7909560" y="4356608"/>
            <a:ext cx="3504895"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ANSWER</a:t>
            </a:r>
            <a:endParaRPr lang="en-US" sz="1200" dirty="0"/>
          </a:p>
        </p:txBody>
      </p:sp>
      <p:sp>
        <p:nvSpPr>
          <p:cNvPr id="22" name="Text 20"/>
          <p:cNvSpPr txBox="1"/>
          <p:nvPr/>
        </p:nvSpPr>
        <p:spPr>
          <a:xfrm>
            <a:off x="7909560" y="4667504"/>
            <a:ext cx="3504895" cy="116052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Gone. It was removed from the queue and never stored.</a:t>
            </a:r>
            <a:endParaRPr lang="en-US" sz="1500" dirty="0"/>
          </a:p>
          <a:p>
            <a:pPr indent="0" marL="0">
              <a:lnSpc>
                <a:spcPct val="105000"/>
              </a:lnSpc>
              <a:buNone/>
            </a:pP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That's why std::queue::pop() returns void.</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V7  ·  GENERIC QUEUE&lt;T&gt;</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1B2430"/>
          </a:solidFill>
          <a:ln w="12700">
            <a:solidFill>
              <a:srgbClr val="1B2430"/>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Copy, move, or lose it</a:t>
            </a:r>
            <a:endParaRPr lang="en-US" sz="2800" dirty="0"/>
          </a:p>
        </p:txBody>
      </p:sp>
      <p:sp>
        <p:nvSpPr>
          <p:cNvPr id="12" name="Text 10"/>
          <p:cNvSpPr txBox="1"/>
          <p:nvPr/>
        </p:nvSpPr>
        <p:spPr>
          <a:xfrm>
            <a:off x="548640" y="1417320"/>
            <a:ext cx="429768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RUN IT</a:t>
            </a:r>
            <a:endParaRPr lang="en-US" sz="1200" dirty="0"/>
          </a:p>
        </p:txBody>
      </p:sp>
      <p:sp>
        <p:nvSpPr>
          <p:cNvPr id="13" name="Shape 11"/>
          <p:cNvSpPr/>
          <p:nvPr/>
        </p:nvSpPr>
        <p:spPr>
          <a:xfrm>
            <a:off x="548640" y="1728216"/>
            <a:ext cx="4297680" cy="969264"/>
          </a:xfrm>
          <a:prstGeom prst="roundRect">
            <a:avLst>
              <a:gd name="adj" fmla="val 7547"/>
            </a:avLst>
          </a:prstGeom>
          <a:solidFill>
            <a:srgbClr val="0D1117"/>
          </a:solidFill>
          <a:ln w="12700">
            <a:solidFill>
              <a:srgbClr val="0D1117"/>
            </a:solidFill>
            <a:prstDash val="solid"/>
          </a:ln>
        </p:spPr>
      </p:sp>
      <p:sp>
        <p:nvSpPr>
          <p:cNvPr id="14" name="Text 12"/>
          <p:cNvSpPr txBox="1"/>
          <p:nvPr/>
        </p:nvSpPr>
        <p:spPr>
          <a:xfrm>
            <a:off x="731520" y="1892808"/>
            <a:ext cx="3931920" cy="640080"/>
          </a:xfrm>
          <a:prstGeom prst="rect">
            <a:avLst/>
          </a:prstGeom>
          <a:noFill/>
          <a:ln/>
        </p:spPr>
        <p:txBody>
          <a:bodyPr wrap="square" lIns="0" tIns="0" rIns="0" bIns="0" rtlCol="0" anchor="t"/>
          <a:lstStyle/>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 g++ -DSHOW_BUG next_bug.cpp   # v6</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error: cannot convert</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'unique_ptr&lt;int&gt;' to 'int'</a:t>
            </a:r>
            <a:endParaRPr lang="en-US" sz="1400" dirty="0"/>
          </a:p>
        </p:txBody>
      </p:sp>
      <p:sp>
        <p:nvSpPr>
          <p:cNvPr id="15" name="Text 13"/>
          <p:cNvSpPr txBox="1"/>
          <p:nvPr/>
        </p:nvSpPr>
        <p:spPr>
          <a:xfrm>
            <a:off x="548640" y="2880360"/>
            <a:ext cx="429768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An int-only queue can't carry ownership.</a:t>
            </a:r>
            <a:endParaRPr lang="en-US" sz="1500" dirty="0"/>
          </a:p>
        </p:txBody>
      </p:sp>
      <p:sp>
        <p:nvSpPr>
          <p:cNvPr id="16" name="Text 14"/>
          <p:cNvSpPr txBox="1"/>
          <p:nvPr/>
        </p:nvSpPr>
        <p:spPr>
          <a:xfrm>
            <a:off x="5166360" y="1417320"/>
            <a:ext cx="6476695"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WHAT HAPPENS, STEP BY STEP</a:t>
            </a:r>
            <a:endParaRPr lang="en-US" sz="1200" dirty="0"/>
          </a:p>
        </p:txBody>
      </p:sp>
      <p:sp>
        <p:nvSpPr>
          <p:cNvPr id="17" name="Shape 15"/>
          <p:cNvSpPr/>
          <p:nvPr/>
        </p:nvSpPr>
        <p:spPr>
          <a:xfrm>
            <a:off x="5166360" y="1728216"/>
            <a:ext cx="6476695" cy="1472184"/>
          </a:xfrm>
          <a:prstGeom prst="roundRect">
            <a:avLst>
              <a:gd name="adj" fmla="val 4969"/>
            </a:avLst>
          </a:prstGeom>
          <a:solidFill>
            <a:srgbClr val="EEF2F5"/>
          </a:solidFill>
          <a:ln w="12700">
            <a:solidFill>
              <a:srgbClr val="EEF2F5"/>
            </a:solidFill>
            <a:prstDash val="solid"/>
          </a:ln>
        </p:spPr>
      </p:sp>
      <p:sp>
        <p:nvSpPr>
          <p:cNvPr id="18" name="Text 16"/>
          <p:cNvSpPr txBox="1"/>
          <p:nvPr/>
        </p:nvSpPr>
        <p:spPr>
          <a:xfrm>
            <a:off x="5349240" y="1892808"/>
            <a:ext cx="6110935" cy="11430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push(const T&amp;)   copies    → unique_ptr won't compile</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push(T v)        moves in  → works for every type</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pop() returns T  → a throw after removal loses it</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optional&lt;T&gt; built by moving → nothing lost</a:t>
            </a:r>
            <a:endParaRPr lang="en-US" sz="1500" dirty="0"/>
          </a:p>
        </p:txBody>
      </p:sp>
      <p:sp>
        <p:nvSpPr>
          <p:cNvPr id="19" name="Shape 17"/>
          <p:cNvSpPr/>
          <p:nvPr/>
        </p:nvSpPr>
        <p:spPr>
          <a:xfrm>
            <a:off x="5166360" y="3429000"/>
            <a:ext cx="6476695" cy="1089660"/>
          </a:xfrm>
          <a:prstGeom prst="roundRect">
            <a:avLst>
              <a:gd name="adj" fmla="val 6713"/>
            </a:avLst>
          </a:prstGeom>
          <a:solidFill>
            <a:srgbClr val="FDF1E8"/>
          </a:solidFill>
          <a:ln w="12700">
            <a:solidFill>
              <a:srgbClr val="FDF1E8"/>
            </a:solidFill>
            <a:prstDash val="solid"/>
          </a:ln>
        </p:spPr>
      </p:sp>
      <p:sp>
        <p:nvSpPr>
          <p:cNvPr id="20" name="Text 18"/>
          <p:cNvSpPr txBox="1"/>
          <p:nvPr/>
        </p:nvSpPr>
        <p:spPr>
          <a:xfrm>
            <a:off x="5394960" y="3611880"/>
            <a:ext cx="60194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SO</a:t>
            </a:r>
            <a:endParaRPr lang="en-US" sz="1200" dirty="0"/>
          </a:p>
        </p:txBody>
      </p:sp>
      <p:sp>
        <p:nvSpPr>
          <p:cNvPr id="21" name="Text 19"/>
          <p:cNvSpPr txBox="1"/>
          <p:nvPr/>
        </p:nvSpPr>
        <p:spPr>
          <a:xfrm>
            <a:off x="5394960" y="3922776"/>
            <a:ext cx="6019495"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Moving a standard type doesn't throw. Copying can, or can be impossible.</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V7  ·  GENERIC QUEUE&lt;T&gt;</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1B2430"/>
          </a:solidFill>
          <a:ln w="12700">
            <a:solidFill>
              <a:srgbClr val="1B2430"/>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Make it a template that moves</a:t>
            </a:r>
            <a:endParaRPr lang="en-US" sz="2800" dirty="0"/>
          </a:p>
        </p:txBody>
      </p:sp>
      <p:sp>
        <p:nvSpPr>
          <p:cNvPr id="12" name="Text 10"/>
          <p:cNvSpPr txBox="1"/>
          <p:nvPr/>
        </p:nvSpPr>
        <p:spPr>
          <a:xfrm>
            <a:off x="548640" y="1417320"/>
            <a:ext cx="676656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queue.hpp</a:t>
            </a:r>
            <a:endParaRPr lang="en-US" sz="1200" dirty="0"/>
          </a:p>
        </p:txBody>
      </p:sp>
      <p:sp>
        <p:nvSpPr>
          <p:cNvPr id="13" name="Shape 11"/>
          <p:cNvSpPr/>
          <p:nvPr/>
        </p:nvSpPr>
        <p:spPr>
          <a:xfrm>
            <a:off x="548640" y="1728216"/>
            <a:ext cx="7132320" cy="2462784"/>
          </a:xfrm>
          <a:prstGeom prst="roundRect">
            <a:avLst>
              <a:gd name="adj" fmla="val 2970"/>
            </a:avLst>
          </a:prstGeom>
          <a:solidFill>
            <a:srgbClr val="161C24"/>
          </a:solidFill>
          <a:ln w="12700">
            <a:solidFill>
              <a:srgbClr val="161C24"/>
            </a:solidFill>
            <a:prstDash val="solid"/>
          </a:ln>
        </p:spPr>
      </p:sp>
      <p:sp>
        <p:nvSpPr>
          <p:cNvPr id="14" name="Text 12"/>
          <p:cNvSpPr txBox="1"/>
          <p:nvPr/>
        </p:nvSpPr>
        <p:spPr>
          <a:xfrm>
            <a:off x="731520" y="1892808"/>
            <a:ext cx="6766560" cy="2133600"/>
          </a:xfrm>
          <a:prstGeom prst="rect">
            <a:avLst/>
          </a:prstGeom>
          <a:noFill/>
          <a:ln/>
        </p:spPr>
        <p:txBody>
          <a:bodyPr wrap="square" lIns="0" tIns="0" rIns="0" bIns="0" rtlCol="0" anchor="t"/>
          <a:lstStyle/>
          <a:p>
            <a:pPr indent="0" marL="0">
              <a:lnSpc>
                <a:spcPct val="100000"/>
              </a:lnSpc>
              <a:buNone/>
            </a:pPr>
            <a:r>
              <a:rPr lang="en-US" sz="1400" strike="sngStrike" dirty="0">
                <a:solidFill>
                  <a:srgbClr val="FCA5A5"/>
                </a:solidFill>
                <a:latin typeface="Courier New" pitchFamily="34" charset="0"/>
                <a:ea typeface="Courier New" pitchFamily="34" charset="-122"/>
                <a:cs typeface="Courier New" pitchFamily="34" charset="-120"/>
              </a:rPr>
              <a:t>- class Queue {</a:t>
            </a:r>
            <a:endParaRPr lang="en-US" sz="1400" dirty="0"/>
          </a:p>
          <a:p>
            <a:pPr indent="0" marL="0">
              <a:lnSpc>
                <a:spcPct val="100000"/>
              </a:lnSpc>
              <a:buNone/>
            </a:pPr>
            <a:r>
              <a:rPr lang="en-US" sz="1400" strike="sngStrike" dirty="0">
                <a:solidFill>
                  <a:srgbClr val="FCA5A5"/>
                </a:solidFill>
                <a:latin typeface="Courier New" pitchFamily="34" charset="0"/>
                <a:ea typeface="Courier New" pitchFamily="34" charset="-122"/>
                <a:cs typeface="Courier New" pitchFamily="34" charset="-120"/>
              </a:rPr>
              <a:t>-     std::queue&lt;int&gt; q;</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template &lt;class T&gt;</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class ThreadSafeQueue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std::queue&lt;T&gt; q;</a:t>
            </a:r>
            <a:endParaRPr lang="en-US" sz="1400" dirty="0"/>
          </a:p>
          <a:p>
            <a:pPr indent="0" marL="0">
              <a:lnSpc>
                <a:spcPct val="100000"/>
              </a:lnSpc>
              <a:buNone/>
            </a:pPr>
            <a:r>
              <a:rPr lang="en-US" sz="1400" strike="sngStrike" dirty="0">
                <a:solidFill>
                  <a:srgbClr val="FCA5A5"/>
                </a:solidFill>
                <a:latin typeface="Courier New" pitchFamily="34" charset="0"/>
                <a:ea typeface="Courier New" pitchFamily="34" charset="-122"/>
                <a:cs typeface="Courier New" pitchFamily="34" charset="-120"/>
              </a:rPr>
              <a:t>-     bool push(int x) { ... q.push(x); ...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bool push(T v)   { ... q.push(std::move(v)); ... }</a:t>
            </a:r>
            <a:endParaRPr lang="en-US" sz="1400" dirty="0"/>
          </a:p>
          <a:p>
            <a:pPr indent="0" marL="0">
              <a:lnSpc>
                <a:spcPct val="100000"/>
              </a:lnSpc>
              <a:buNone/>
            </a:pPr>
            <a:r>
              <a:rPr lang="en-US" sz="1400" strike="sngStrike" dirty="0">
                <a:solidFill>
                  <a:srgbClr val="FCA5A5"/>
                </a:solidFill>
                <a:latin typeface="Courier New" pitchFamily="34" charset="0"/>
                <a:ea typeface="Courier New" pitchFamily="34" charset="-122"/>
                <a:cs typeface="Courier New" pitchFamily="34" charset="-120"/>
              </a:rPr>
              <a:t>-     std::optional&lt;int&gt; wait_and_pop()</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std::optional&lt;T&gt; wait_and_pop()</a:t>
            </a:r>
            <a:endParaRPr lang="en-US" sz="1400" dirty="0"/>
          </a:p>
          <a:p>
            <a:pPr indent="0" marL="0">
              <a:lnSpc>
                <a:spcPct val="100000"/>
              </a:lnSpc>
              <a:buNone/>
            </a:pPr>
            <a:r>
              <a:rPr lang="en-US" sz="1400" dirty="0">
                <a:solidFill>
                  <a:srgbClr val="A9B4BF"/>
                </a:solidFill>
                <a:latin typeface="Courier New" pitchFamily="34" charset="0"/>
                <a:ea typeface="Courier New" pitchFamily="34" charset="-122"/>
                <a:cs typeface="Courier New" pitchFamily="34" charset="-120"/>
              </a:rPr>
              <a:t>      { ... T v = std::move(q.front()); q.pop(); return v; }</a:t>
            </a:r>
            <a:endParaRPr lang="en-US" sz="1400" dirty="0"/>
          </a:p>
        </p:txBody>
      </p:sp>
      <p:sp>
        <p:nvSpPr>
          <p:cNvPr id="15" name="Shape 13"/>
          <p:cNvSpPr/>
          <p:nvPr/>
        </p:nvSpPr>
        <p:spPr>
          <a:xfrm>
            <a:off x="8001000" y="1728216"/>
            <a:ext cx="365760" cy="365760"/>
          </a:xfrm>
          <a:prstGeom prst="ellipse">
            <a:avLst/>
          </a:prstGeom>
          <a:solidFill>
            <a:srgbClr val="0F766E"/>
          </a:solidFill>
          <a:ln w="12700">
            <a:solidFill>
              <a:srgbClr val="0F766E"/>
            </a:solidFill>
            <a:prstDash val="solid"/>
          </a:ln>
        </p:spPr>
      </p:sp>
      <p:sp>
        <p:nvSpPr>
          <p:cNvPr id="16" name="Text 14"/>
          <p:cNvSpPr txBox="1"/>
          <p:nvPr/>
        </p:nvSpPr>
        <p:spPr>
          <a:xfrm>
            <a:off x="8001000" y="17282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8503920" y="1764792"/>
            <a:ext cx="3139135" cy="276352"/>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Take by value, then move in.</a:t>
            </a:r>
            <a:endParaRPr lang="en-US" sz="1600" dirty="0"/>
          </a:p>
        </p:txBody>
      </p:sp>
      <p:sp>
        <p:nvSpPr>
          <p:cNvPr id="18" name="Shape 16"/>
          <p:cNvSpPr/>
          <p:nvPr/>
        </p:nvSpPr>
        <p:spPr>
          <a:xfrm>
            <a:off x="8001000" y="2414016"/>
            <a:ext cx="365760" cy="365760"/>
          </a:xfrm>
          <a:prstGeom prst="ellipse">
            <a:avLst/>
          </a:prstGeom>
          <a:solidFill>
            <a:srgbClr val="0F766E"/>
          </a:solidFill>
          <a:ln w="12700">
            <a:solidFill>
              <a:srgbClr val="0F766E"/>
            </a:solidFill>
            <a:prstDash val="solid"/>
          </a:ln>
        </p:spPr>
      </p:sp>
      <p:sp>
        <p:nvSpPr>
          <p:cNvPr id="19" name="Text 17"/>
          <p:cNvSpPr txBox="1"/>
          <p:nvPr/>
        </p:nvSpPr>
        <p:spPr>
          <a:xfrm>
            <a:off x="8001000" y="24140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8503920" y="2450592"/>
            <a:ext cx="3139135" cy="276352"/>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Move out, never copy out.</a:t>
            </a:r>
            <a:endParaRPr lang="en-US" sz="1600" dirty="0"/>
          </a:p>
        </p:txBody>
      </p:sp>
      <p:sp>
        <p:nvSpPr>
          <p:cNvPr id="21" name="Shape 19"/>
          <p:cNvSpPr/>
          <p:nvPr/>
        </p:nvSpPr>
        <p:spPr>
          <a:xfrm>
            <a:off x="8001000" y="3099816"/>
            <a:ext cx="365760" cy="365760"/>
          </a:xfrm>
          <a:prstGeom prst="ellipse">
            <a:avLst/>
          </a:prstGeom>
          <a:solidFill>
            <a:srgbClr val="0F766E"/>
          </a:solidFill>
          <a:ln w="12700">
            <a:solidFill>
              <a:srgbClr val="0F766E"/>
            </a:solidFill>
            <a:prstDash val="solid"/>
          </a:ln>
        </p:spPr>
      </p:sp>
      <p:sp>
        <p:nvSpPr>
          <p:cNvPr id="22" name="Text 20"/>
          <p:cNvSpPr txBox="1"/>
          <p:nvPr/>
        </p:nvSpPr>
        <p:spPr>
          <a:xfrm>
            <a:off x="8001000" y="30998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503920" y="3136392"/>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The queue can't be copied: mutex and cv can't be, and it would make no sense.</a:t>
            </a:r>
            <a:endParaRPr lang="en-US" sz="16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V7  ·  GENERIC QUEUE&lt;T&gt;</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1B2430"/>
          </a:solidFill>
          <a:ln w="12700">
            <a:solidFill>
              <a:srgbClr val="1B2430"/>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Check yourself</a:t>
            </a:r>
            <a:endParaRPr lang="en-US" sz="2800" dirty="0"/>
          </a:p>
        </p:txBody>
      </p:sp>
      <p:sp>
        <p:nvSpPr>
          <p:cNvPr id="12" name="Shape 10"/>
          <p:cNvSpPr/>
          <p:nvPr/>
        </p:nvSpPr>
        <p:spPr>
          <a:xfrm>
            <a:off x="548640" y="1417320"/>
            <a:ext cx="4206240" cy="1404366"/>
          </a:xfrm>
          <a:prstGeom prst="roundRect">
            <a:avLst>
              <a:gd name="adj" fmla="val 5209"/>
            </a:avLst>
          </a:prstGeom>
          <a:solidFill>
            <a:srgbClr val="EEF2F5"/>
          </a:solidFill>
          <a:ln w="12700">
            <a:solidFill>
              <a:srgbClr val="EEF2F5"/>
            </a:solidFill>
            <a:prstDash val="solid"/>
          </a:ln>
        </p:spPr>
      </p:sp>
      <p:sp>
        <p:nvSpPr>
          <p:cNvPr id="13" name="Text 11"/>
          <p:cNvSpPr txBox="1"/>
          <p:nvPr/>
        </p:nvSpPr>
        <p:spPr>
          <a:xfrm>
            <a:off x="777240" y="1600200"/>
            <a:ext cx="3749040"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THE LESSON</a:t>
            </a:r>
            <a:endParaRPr lang="en-US" sz="1200" dirty="0"/>
          </a:p>
        </p:txBody>
      </p:sp>
      <p:sp>
        <p:nvSpPr>
          <p:cNvPr id="14" name="Text 12"/>
          <p:cNvSpPr txBox="1"/>
          <p:nvPr/>
        </p:nvSpPr>
        <p:spPr>
          <a:xfrm>
            <a:off x="777240" y="1911096"/>
            <a:ext cx="3749040" cy="800862"/>
          </a:xfrm>
          <a:prstGeom prst="rect">
            <a:avLst/>
          </a:prstGeom>
          <a:noFill/>
          <a:ln/>
        </p:spPr>
        <p:txBody>
          <a:bodyPr wrap="square" lIns="0" tIns="0" rIns="0" bIns="0" rtlCol="0" anchor="t"/>
          <a:lstStyle/>
          <a:p>
            <a:pPr indent="0" marL="0">
              <a:lnSpc>
                <a:spcPct val="105000"/>
              </a:lnSpc>
              <a:buNone/>
            </a:pPr>
            <a:r>
              <a:rPr lang="en-US" sz="1700" dirty="0">
                <a:solidFill>
                  <a:srgbClr val="1B2430"/>
                </a:solidFill>
                <a:latin typeface="Calibri" pitchFamily="34" charset="0"/>
                <a:ea typeface="Calibri" pitchFamily="34" charset="-122"/>
                <a:cs typeface="Calibri" pitchFamily="34" charset="-120"/>
              </a:rPr>
              <a:t>A generic concurrent container moves its values and never loses one when something throws.</a:t>
            </a:r>
            <a:endParaRPr lang="en-US" sz="1700" dirty="0"/>
          </a:p>
        </p:txBody>
      </p:sp>
      <p:sp>
        <p:nvSpPr>
          <p:cNvPr id="15" name="Text 13"/>
          <p:cNvSpPr txBox="1"/>
          <p:nvPr/>
        </p:nvSpPr>
        <p:spPr>
          <a:xfrm>
            <a:off x="548640" y="3096006"/>
            <a:ext cx="420624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EXPLAIN WITHOUT LOOKING</a:t>
            </a:r>
            <a:endParaRPr lang="en-US" sz="1200" dirty="0"/>
          </a:p>
        </p:txBody>
      </p:sp>
      <p:sp>
        <p:nvSpPr>
          <p:cNvPr id="16" name="Shape 14"/>
          <p:cNvSpPr/>
          <p:nvPr/>
        </p:nvSpPr>
        <p:spPr>
          <a:xfrm>
            <a:off x="548640" y="3489198"/>
            <a:ext cx="182880" cy="182880"/>
          </a:xfrm>
          <a:prstGeom prst="rect">
            <a:avLst/>
          </a:prstGeom>
          <a:solidFill>
            <a:srgbClr val="FFFFFF"/>
          </a:solidFill>
          <a:ln w="15875">
            <a:solidFill>
              <a:srgbClr val="0F766E"/>
            </a:solidFill>
            <a:prstDash val="solid"/>
          </a:ln>
        </p:spPr>
      </p:sp>
      <p:sp>
        <p:nvSpPr>
          <p:cNvPr id="17" name="Text 15"/>
          <p:cNvSpPr txBox="1"/>
          <p:nvPr/>
        </p:nvSpPr>
        <p:spPr>
          <a:xfrm>
            <a:off x="868680" y="3443478"/>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move instead of copy?</a:t>
            </a:r>
            <a:endParaRPr lang="en-US" sz="1500" dirty="0"/>
          </a:p>
        </p:txBody>
      </p:sp>
      <p:sp>
        <p:nvSpPr>
          <p:cNvPr id="18" name="Shape 16"/>
          <p:cNvSpPr/>
          <p:nvPr/>
        </p:nvSpPr>
        <p:spPr>
          <a:xfrm>
            <a:off x="548640" y="3860292"/>
            <a:ext cx="182880" cy="182880"/>
          </a:xfrm>
          <a:prstGeom prst="rect">
            <a:avLst/>
          </a:prstGeom>
          <a:solidFill>
            <a:srgbClr val="FFFFFF"/>
          </a:solidFill>
          <a:ln w="15875">
            <a:solidFill>
              <a:srgbClr val="0F766E"/>
            </a:solidFill>
            <a:prstDash val="solid"/>
          </a:ln>
        </p:spPr>
      </p:sp>
      <p:sp>
        <p:nvSpPr>
          <p:cNvPr id="19" name="Text 17"/>
          <p:cNvSpPr txBox="1"/>
          <p:nvPr/>
        </p:nvSpPr>
        <p:spPr>
          <a:xfrm>
            <a:off x="868680" y="3814572"/>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does std::queue::pop() return void?</a:t>
            </a:r>
            <a:endParaRPr lang="en-US" sz="1500" dirty="0"/>
          </a:p>
        </p:txBody>
      </p:sp>
      <p:sp>
        <p:nvSpPr>
          <p:cNvPr id="20" name="Shape 18"/>
          <p:cNvSpPr/>
          <p:nvPr/>
        </p:nvSpPr>
        <p:spPr>
          <a:xfrm>
            <a:off x="548640" y="4231386"/>
            <a:ext cx="182880" cy="182880"/>
          </a:xfrm>
          <a:prstGeom prst="rect">
            <a:avLst/>
          </a:prstGeom>
          <a:solidFill>
            <a:srgbClr val="FFFFFF"/>
          </a:solidFill>
          <a:ln w="15875">
            <a:solidFill>
              <a:srgbClr val="0F766E"/>
            </a:solidFill>
            <a:prstDash val="solid"/>
          </a:ln>
        </p:spPr>
      </p:sp>
      <p:sp>
        <p:nvSpPr>
          <p:cNvPr id="21" name="Text 19"/>
          <p:cNvSpPr txBox="1"/>
          <p:nvPr/>
        </p:nvSpPr>
        <p:spPr>
          <a:xfrm>
            <a:off x="868680" y="4185666"/>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can't the queue be copied?</a:t>
            </a:r>
            <a:endParaRPr lang="en-US" sz="1500" dirty="0"/>
          </a:p>
        </p:txBody>
      </p:sp>
      <p:sp>
        <p:nvSpPr>
          <p:cNvPr id="22" name="Shape 20"/>
          <p:cNvSpPr/>
          <p:nvPr/>
        </p:nvSpPr>
        <p:spPr>
          <a:xfrm>
            <a:off x="548640" y="4602480"/>
            <a:ext cx="182880" cy="182880"/>
          </a:xfrm>
          <a:prstGeom prst="rect">
            <a:avLst/>
          </a:prstGeom>
          <a:solidFill>
            <a:srgbClr val="FFFFFF"/>
          </a:solidFill>
          <a:ln w="15875">
            <a:solidFill>
              <a:srgbClr val="0F766E"/>
            </a:solidFill>
            <a:prstDash val="solid"/>
          </a:ln>
        </p:spPr>
      </p:sp>
      <p:sp>
        <p:nvSpPr>
          <p:cNvPr id="23" name="Text 21"/>
          <p:cNvSpPr txBox="1"/>
          <p:nvPr/>
        </p:nvSpPr>
        <p:spPr>
          <a:xfrm>
            <a:off x="868680" y="4556760"/>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breaks with push(const T&amp;)?</a:t>
            </a:r>
            <a:endParaRPr lang="en-US" sz="1500" dirty="0"/>
          </a:p>
        </p:txBody>
      </p:sp>
      <p:sp>
        <p:nvSpPr>
          <p:cNvPr id="24" name="Shape 22"/>
          <p:cNvSpPr/>
          <p:nvPr/>
        </p:nvSpPr>
        <p:spPr>
          <a:xfrm>
            <a:off x="5166360" y="1417320"/>
            <a:ext cx="6476695" cy="1294130"/>
          </a:xfrm>
          <a:prstGeom prst="roundRect">
            <a:avLst>
              <a:gd name="adj" fmla="val 5653"/>
            </a:avLst>
          </a:prstGeom>
          <a:solidFill>
            <a:srgbClr val="FFFFFF"/>
          </a:solidFill>
          <a:ln w="12700">
            <a:solidFill>
              <a:srgbClr val="D5DDE5"/>
            </a:solidFill>
            <a:prstDash val="solid"/>
          </a:ln>
        </p:spPr>
      </p:sp>
      <p:sp>
        <p:nvSpPr>
          <p:cNvPr id="25" name="Text 23"/>
          <p:cNvSpPr txBox="1"/>
          <p:nvPr/>
        </p:nvSpPr>
        <p:spPr>
          <a:xfrm>
            <a:off x="5394960" y="15819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NUMBERS</a:t>
            </a:r>
            <a:endParaRPr lang="en-US" sz="1200" dirty="0"/>
          </a:p>
        </p:txBody>
      </p:sp>
      <p:sp>
        <p:nvSpPr>
          <p:cNvPr id="26" name="Text 24"/>
          <p:cNvSpPr txBox="1"/>
          <p:nvPr/>
        </p:nvSpPr>
        <p:spPr>
          <a:xfrm>
            <a:off x="5394960" y="1892808"/>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Pushing a 1 MB std::string by copy vs by move: bytes copied?</a:t>
            </a:r>
            <a:endParaRPr lang="en-US" sz="1500" dirty="0"/>
          </a:p>
        </p:txBody>
      </p:sp>
      <p:sp>
        <p:nvSpPr>
          <p:cNvPr id="27" name="Text 25"/>
          <p:cNvSpPr txBox="1"/>
          <p:nvPr/>
        </p:nvSpPr>
        <p:spPr>
          <a:xfrm>
            <a:off x="5394960" y="224561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Copy: 1 MB. Move: a few pointers.</a:t>
            </a:r>
            <a:endParaRPr lang="en-US" sz="1400" dirty="0"/>
          </a:p>
        </p:txBody>
      </p:sp>
      <p:sp>
        <p:nvSpPr>
          <p:cNvPr id="28" name="Shape 26"/>
          <p:cNvSpPr/>
          <p:nvPr/>
        </p:nvSpPr>
        <p:spPr>
          <a:xfrm>
            <a:off x="5166360" y="2894330"/>
            <a:ext cx="6476695" cy="1518920"/>
          </a:xfrm>
          <a:prstGeom prst="roundRect">
            <a:avLst>
              <a:gd name="adj" fmla="val 4816"/>
            </a:avLst>
          </a:prstGeom>
          <a:solidFill>
            <a:srgbClr val="FFFFFF"/>
          </a:solidFill>
          <a:ln w="12700">
            <a:solidFill>
              <a:srgbClr val="D5DDE5"/>
            </a:solidFill>
            <a:prstDash val="solid"/>
          </a:ln>
        </p:spPr>
      </p:sp>
      <p:sp>
        <p:nvSpPr>
          <p:cNvPr id="29" name="Text 27"/>
          <p:cNvSpPr txBox="1"/>
          <p:nvPr/>
        </p:nvSpPr>
        <p:spPr>
          <a:xfrm>
            <a:off x="5394960" y="305892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TRACE IT</a:t>
            </a:r>
            <a:endParaRPr lang="en-US" sz="1200" dirty="0"/>
          </a:p>
        </p:txBody>
      </p:sp>
      <p:sp>
        <p:nvSpPr>
          <p:cNvPr id="30" name="Text 28"/>
          <p:cNvSpPr txBox="1"/>
          <p:nvPr/>
        </p:nvSpPr>
        <p:spPr>
          <a:xfrm>
            <a:off x="5394960" y="336981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ThreadSafeQueue&lt;std::unique_ptr&lt;int&gt;&gt; q; q.push(p); Does it compile?</a:t>
            </a:r>
            <a:endParaRPr lang="en-US" sz="1500" dirty="0"/>
          </a:p>
        </p:txBody>
      </p:sp>
      <p:sp>
        <p:nvSpPr>
          <p:cNvPr id="31" name="Text 29"/>
          <p:cNvSpPr txBox="1"/>
          <p:nvPr/>
        </p:nvSpPr>
        <p:spPr>
          <a:xfrm>
            <a:off x="5394960" y="394741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No: p is an lvalue. q.push(std::move(p)) compiles.</a:t>
            </a:r>
            <a:endParaRPr lang="en-US" sz="1400" dirty="0"/>
          </a:p>
        </p:txBody>
      </p:sp>
      <p:sp>
        <p:nvSpPr>
          <p:cNvPr id="32" name="Shape 30"/>
          <p:cNvSpPr/>
          <p:nvPr/>
        </p:nvSpPr>
        <p:spPr>
          <a:xfrm>
            <a:off x="5166360" y="4596130"/>
            <a:ext cx="6476695" cy="1713738"/>
          </a:xfrm>
          <a:prstGeom prst="roundRect">
            <a:avLst>
              <a:gd name="adj" fmla="val 4269"/>
            </a:avLst>
          </a:prstGeom>
          <a:solidFill>
            <a:srgbClr val="FFFFFF"/>
          </a:solidFill>
          <a:ln w="12700">
            <a:solidFill>
              <a:srgbClr val="D5DDE5"/>
            </a:solidFill>
            <a:prstDash val="solid"/>
          </a:ln>
        </p:spPr>
      </p:sp>
      <p:sp>
        <p:nvSpPr>
          <p:cNvPr id="33" name="Text 31"/>
          <p:cNvSpPr txBox="1"/>
          <p:nvPr/>
        </p:nvSpPr>
        <p:spPr>
          <a:xfrm>
            <a:off x="5394960" y="476072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DESIGN</a:t>
            </a:r>
            <a:endParaRPr lang="en-US" sz="1200" dirty="0"/>
          </a:p>
        </p:txBody>
      </p:sp>
      <p:sp>
        <p:nvSpPr>
          <p:cNvPr id="34" name="Text 32"/>
          <p:cNvSpPr txBox="1"/>
          <p:nvPr/>
        </p:nvSpPr>
        <p:spPr>
          <a:xfrm>
            <a:off x="5394960" y="5071618"/>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Part 1 checkpoint: list every rule your queue now follows.</a:t>
            </a:r>
            <a:endParaRPr lang="en-US" sz="1500" dirty="0"/>
          </a:p>
        </p:txBody>
      </p:sp>
      <p:sp>
        <p:nvSpPr>
          <p:cNvPr id="35" name="Text 33"/>
          <p:cNvSpPr txBox="1"/>
          <p:nvPr/>
        </p:nvSpPr>
        <p:spPr>
          <a:xfrm>
            <a:off x="5394960" y="5424424"/>
            <a:ext cx="6019495" cy="665988"/>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Lock every access · RAII · one-lock operations · wait with predicate · notify after change · closed + notify_all · move values.</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48640" y="2011680"/>
            <a:ext cx="5486400" cy="320040"/>
          </a:xfrm>
          <a:prstGeom prst="rect">
            <a:avLst/>
          </a:prstGeom>
          <a:noFill/>
          <a:ln/>
        </p:spPr>
        <p:txBody>
          <a:bodyPr wrap="square" lIns="0" tIns="0" rIns="0" bIns="0" rtlCol="0" anchor="ctr"/>
          <a:lstStyle/>
          <a:p>
            <a:pPr indent="0" marL="0">
              <a:buNone/>
            </a:pPr>
            <a:r>
              <a:rPr lang="en-US" sz="1400" b="1" spc="200" kern="0" dirty="0">
                <a:solidFill>
                  <a:srgbClr val="F2C14E"/>
                </a:solidFill>
                <a:latin typeface="Calibri" pitchFamily="34" charset="0"/>
                <a:ea typeface="Calibri" pitchFamily="34" charset="-122"/>
                <a:cs typeface="Calibri" pitchFamily="34" charset="-120"/>
              </a:rPr>
              <a:t>PART 2  ·  v8–v10</a:t>
            </a:r>
            <a:endParaRPr lang="en-US" sz="1400" dirty="0"/>
          </a:p>
        </p:txBody>
      </p:sp>
      <p:sp>
        <p:nvSpPr>
          <p:cNvPr id="3" name="Text 1"/>
          <p:cNvSpPr txBox="1"/>
          <p:nvPr/>
        </p:nvSpPr>
        <p:spPr>
          <a:xfrm>
            <a:off x="548640" y="2468880"/>
            <a:ext cx="6035040" cy="164592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Grow it into a thread pool</a:t>
            </a:r>
            <a:endParaRPr lang="en-US" sz="4400" dirty="0"/>
          </a:p>
        </p:txBody>
      </p:sp>
      <p:sp>
        <p:nvSpPr>
          <p:cNvPr id="4" name="Text 2"/>
          <p:cNvSpPr txBox="1"/>
          <p:nvPr/>
        </p:nvSpPr>
        <p:spPr>
          <a:xfrm>
            <a:off x="7223760" y="2011680"/>
            <a:ext cx="4389120" cy="3291840"/>
          </a:xfrm>
          <a:prstGeom prst="rect">
            <a:avLst/>
          </a:prstGeom>
          <a:noFill/>
          <a:ln/>
        </p:spPr>
        <p:txBody>
          <a:bodyPr wrap="square" lIns="0" tIns="0" rIns="0" bIns="0" rtlCol="0" anchor="t"/>
          <a:lstStyle/>
          <a:p>
            <a:pPr indent="0" marL="0">
              <a:spcAft>
                <a:spcPts val="800"/>
              </a:spcAft>
              <a:buNone/>
            </a:pPr>
            <a:r>
              <a:rPr lang="en-US" sz="1600" dirty="0">
                <a:solidFill>
                  <a:srgbClr val="D3DCE5"/>
                </a:solidFill>
                <a:latin typeface="Courier New" pitchFamily="34" charset="0"/>
                <a:ea typeface="Courier New" pitchFamily="34" charset="-122"/>
                <a:cs typeface="Courier New" pitchFamily="34" charset="-120"/>
              </a:rPr>
              <a:t>v8   task queue</a:t>
            </a:r>
            <a:endParaRPr lang="en-US" sz="1600" dirty="0"/>
          </a:p>
          <a:p>
            <a:pPr indent="0" marL="0">
              <a:spcAft>
                <a:spcPts val="800"/>
              </a:spcAft>
              <a:buNone/>
            </a:pPr>
            <a:r>
              <a:rPr lang="en-US" sz="1600" dirty="0">
                <a:solidFill>
                  <a:srgbClr val="D3DCE5"/>
                </a:solidFill>
                <a:latin typeface="Courier New" pitchFamily="34" charset="0"/>
                <a:ea typeface="Courier New" pitchFamily="34" charset="-122"/>
                <a:cs typeface="Courier New" pitchFamily="34" charset="-120"/>
              </a:rPr>
              <a:t>v9   thread pool</a:t>
            </a:r>
            <a:endParaRPr lang="en-US" sz="1600" dirty="0"/>
          </a:p>
          <a:p>
            <a:pPr indent="0" marL="0">
              <a:spcAft>
                <a:spcPts val="800"/>
              </a:spcAft>
              <a:buNone/>
            </a:pPr>
            <a:r>
              <a:rPr lang="en-US" sz="1600" dirty="0">
                <a:solidFill>
                  <a:srgbClr val="D3DCE5"/>
                </a:solidFill>
                <a:latin typeface="Courier New" pitchFamily="34" charset="0"/>
                <a:ea typeface="Courier New" pitchFamily="34" charset="-122"/>
                <a:cs typeface="Courier New" pitchFamily="34" charset="-120"/>
              </a:rPr>
              <a:t>v9   real workloads</a:t>
            </a:r>
            <a:endParaRPr lang="en-US" sz="1600" dirty="0"/>
          </a:p>
          <a:p>
            <a:pPr indent="0" marL="0">
              <a:spcAft>
                <a:spcPts val="800"/>
              </a:spcAft>
              <a:buNone/>
            </a:pPr>
            <a:r>
              <a:rPr lang="en-US" sz="1600" dirty="0">
                <a:solidFill>
                  <a:srgbClr val="D3DCE5"/>
                </a:solidFill>
                <a:latin typeface="Courier New" pitchFamily="34" charset="0"/>
                <a:ea typeface="Courier New" pitchFamily="34" charset="-122"/>
                <a:cs typeface="Courier New" pitchFamily="34" charset="-120"/>
              </a:rPr>
              <a:t>v10  futures</a:t>
            </a:r>
            <a:endParaRPr lang="en-US" sz="1600" dirty="0"/>
          </a:p>
          <a:p>
            <a:pPr indent="0" marL="0">
              <a:spcAft>
                <a:spcPts val="800"/>
              </a:spcAft>
              <a:buNone/>
            </a:pPr>
            <a:r>
              <a:rPr lang="en-US" sz="1600" dirty="0">
                <a:solidFill>
                  <a:srgbClr val="D3DCE5"/>
                </a:solidFill>
                <a:latin typeface="Courier New" pitchFamily="34" charset="0"/>
                <a:ea typeface="Courier New" pitchFamily="34" charset="-122"/>
                <a:cs typeface="Courier New" pitchFamily="34" charset="-120"/>
              </a:rPr>
              <a:t>v10  promise · shared_future</a:t>
            </a:r>
            <a:endParaRPr lang="en-US" sz="1600" dirty="0"/>
          </a:p>
          <a:p>
            <a:pPr indent="0" marL="0">
              <a:spcAft>
                <a:spcPts val="800"/>
              </a:spcAft>
              <a:buNone/>
            </a:pPr>
            <a:r>
              <a:rPr lang="en-US" sz="1600" dirty="0">
                <a:solidFill>
                  <a:srgbClr val="D3DCE5"/>
                </a:solidFill>
                <a:latin typeface="Courier New" pitchFamily="34" charset="0"/>
                <a:ea typeface="Courier New" pitchFamily="34" charset="-122"/>
                <a:cs typeface="Courier New" pitchFamily="34" charset="-120"/>
              </a:rPr>
              <a:t>v10  timeouts</a:t>
            </a:r>
            <a:endParaRPr lang="en-US" sz="1600" dirty="0"/>
          </a:p>
          <a:p>
            <a:pPr indent="0" marL="0">
              <a:spcAft>
                <a:spcPts val="800"/>
              </a:spcAft>
              <a:buNone/>
            </a:pPr>
            <a:r>
              <a:rPr lang="en-US" sz="1600" dirty="0">
                <a:solidFill>
                  <a:srgbClr val="D3DCE5"/>
                </a:solidFill>
                <a:latin typeface="Courier New" pitchFamily="34" charset="0"/>
                <a:ea typeface="Courier New" pitchFamily="34" charset="-122"/>
                <a:cs typeface="Courier New" pitchFamily="34" charset="-120"/>
              </a:rPr>
              <a:t>v10  tasks waiting on tasks</a:t>
            </a:r>
            <a:endParaRPr lang="en-US" sz="1600" dirty="0"/>
          </a:p>
        </p:txBody>
      </p:sp>
      <p:sp>
        <p:nvSpPr>
          <p:cNvPr id="5"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D3DCE5"/>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V8  ·  TASK QUEUE</a:t>
            </a:r>
            <a:endParaRPr lang="en-US" sz="1200" dirty="0"/>
          </a:p>
        </p:txBody>
      </p:sp>
      <p:sp>
        <p:nvSpPr>
          <p:cNvPr id="3" name="Shape 1"/>
          <p:cNvSpPr/>
          <p:nvPr/>
        </p:nvSpPr>
        <p:spPr>
          <a:xfrm>
            <a:off x="6229807" y="292608"/>
            <a:ext cx="1298448" cy="274320"/>
          </a:xfrm>
          <a:prstGeom prst="roundRect">
            <a:avLst>
              <a:gd name="adj" fmla="val 23333"/>
            </a:avLst>
          </a:prstGeom>
          <a:solidFill>
            <a:srgbClr val="1B2430"/>
          </a:solidFill>
          <a:ln w="12700">
            <a:solidFill>
              <a:srgbClr val="1B2430"/>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What if the queue carried work?</a:t>
            </a:r>
            <a:endParaRPr lang="en-US" sz="2800" dirty="0"/>
          </a:p>
        </p:txBody>
      </p:sp>
      <p:sp>
        <p:nvSpPr>
          <p:cNvPr id="12" name="Shape 10"/>
          <p:cNvSpPr/>
          <p:nvPr/>
        </p:nvSpPr>
        <p:spPr>
          <a:xfrm>
            <a:off x="548640" y="1417320"/>
            <a:ext cx="6766560" cy="786384"/>
          </a:xfrm>
          <a:prstGeom prst="roundRect">
            <a:avLst>
              <a:gd name="adj" fmla="val 9302"/>
            </a:avLst>
          </a:prstGeom>
          <a:solidFill>
            <a:srgbClr val="EEF2F5"/>
          </a:solidFill>
          <a:ln w="12700">
            <a:solidFill>
              <a:srgbClr val="EEF2F5"/>
            </a:solidFill>
            <a:prstDash val="solid"/>
          </a:ln>
        </p:spPr>
      </p:sp>
      <p:sp>
        <p:nvSpPr>
          <p:cNvPr id="13" name="Text 11"/>
          <p:cNvSpPr txBox="1"/>
          <p:nvPr/>
        </p:nvSpPr>
        <p:spPr>
          <a:xfrm>
            <a:off x="731520" y="1581912"/>
            <a:ext cx="6400800" cy="4572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main thread                     worker thread</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push(task) ──► [ task queue ] ──► pop, task()</a:t>
            </a:r>
            <a:endParaRPr lang="en-US" sz="1500" dirty="0"/>
          </a:p>
        </p:txBody>
      </p:sp>
      <p:sp>
        <p:nvSpPr>
          <p:cNvPr id="14" name="Shape 12"/>
          <p:cNvSpPr/>
          <p:nvPr/>
        </p:nvSpPr>
        <p:spPr>
          <a:xfrm>
            <a:off x="548640" y="2432304"/>
            <a:ext cx="6766560" cy="1319784"/>
          </a:xfrm>
          <a:prstGeom prst="roundRect">
            <a:avLst>
              <a:gd name="adj" fmla="val 5543"/>
            </a:avLst>
          </a:prstGeom>
          <a:solidFill>
            <a:srgbClr val="161C24"/>
          </a:solidFill>
          <a:ln w="12700">
            <a:solidFill>
              <a:srgbClr val="161C24"/>
            </a:solidFill>
            <a:prstDash val="solid"/>
          </a:ln>
        </p:spPr>
      </p:sp>
      <p:sp>
        <p:nvSpPr>
          <p:cNvPr id="15" name="Text 13"/>
          <p:cNvSpPr txBox="1"/>
          <p:nvPr/>
        </p:nvSpPr>
        <p:spPr>
          <a:xfrm>
            <a:off x="731520" y="2596896"/>
            <a:ext cx="6400800" cy="990600"/>
          </a:xfrm>
          <a:prstGeom prst="rect">
            <a:avLst/>
          </a:prstGeom>
          <a:noFill/>
          <a:ln/>
        </p:spPr>
        <p:txBody>
          <a:bodyPr wrap="square" lIns="0" tIns="0" rIns="0" bIns="0" rtlCol="0" anchor="t"/>
          <a:lstStyle/>
          <a:p>
            <a:pPr indent="0" marL="0">
              <a:lnSpc>
                <a:spcPct val="100000"/>
              </a:lnSpc>
              <a:buNone/>
            </a:pPr>
            <a:r>
              <a:rPr lang="en-US" sz="1300" dirty="0">
                <a:solidFill>
                  <a:srgbClr val="E8E4DA"/>
                </a:solidFill>
                <a:latin typeface="Courier New" pitchFamily="34" charset="0"/>
                <a:ea typeface="Courier New" pitchFamily="34" charset="-122"/>
                <a:cs typeface="Courier New" pitchFamily="34" charset="-120"/>
              </a:rPr>
              <a:t>try {</a:t>
            </a:r>
            <a:endParaRPr lang="en-US" sz="1300" dirty="0"/>
          </a:p>
          <a:p>
            <a:pPr indent="0" marL="0">
              <a:lnSpc>
                <a:spcPct val="100000"/>
              </a:lnSpc>
              <a:buNone/>
            </a:pPr>
            <a:r>
              <a:rPr lang="en-US" sz="1300" dirty="0">
                <a:solidFill>
                  <a:srgbClr val="E8E4DA"/>
                </a:solidFill>
                <a:latin typeface="Courier New" pitchFamily="34" charset="0"/>
                <a:ea typeface="Courier New" pitchFamily="34" charset="-122"/>
                <a:cs typeface="Courier New" pitchFamily="34" charset="-120"/>
              </a:rPr>
              <a:t>    tasks.push([] { throw std::runtime_error("disk full"); });</a:t>
            </a:r>
            <a:endParaRPr lang="en-US" sz="1300" dirty="0"/>
          </a:p>
          <a:p>
            <a:pPr indent="0" marL="0">
              <a:lnSpc>
                <a:spcPct val="100000"/>
              </a:lnSpc>
              <a:buNone/>
            </a:pPr>
            <a:r>
              <a:rPr lang="en-US" sz="1300" dirty="0">
                <a:solidFill>
                  <a:srgbClr val="E8E4DA"/>
                </a:solidFill>
                <a:latin typeface="Courier New" pitchFamily="34" charset="0"/>
                <a:ea typeface="Courier New" pitchFamily="34" charset="-122"/>
                <a:cs typeface="Courier New" pitchFamily="34" charset="-120"/>
              </a:rPr>
              <a:t>} catch (...) {</a:t>
            </a:r>
            <a:endParaRPr lang="en-US" sz="1300" dirty="0"/>
          </a:p>
          <a:p>
            <a:pPr indent="0" marL="0">
              <a:lnSpc>
                <a:spcPct val="100000"/>
              </a:lnSpc>
              <a:buNone/>
            </a:pPr>
            <a:r>
              <a:rPr lang="en-US" sz="1300" dirty="0">
                <a:solidFill>
                  <a:srgbClr val="E8E4DA"/>
                </a:solidFill>
                <a:latin typeface="Courier New" pitchFamily="34" charset="0"/>
                <a:ea typeface="Courier New" pitchFamily="34" charset="-122"/>
                <a:cs typeface="Courier New" pitchFamily="34" charset="-120"/>
              </a:rPr>
              <a:t>    std::cout &lt;&lt; "caught in main";</a:t>
            </a:r>
            <a:endParaRPr lang="en-US" sz="1300" dirty="0"/>
          </a:p>
          <a:p>
            <a:pPr indent="0" marL="0">
              <a:lnSpc>
                <a:spcPct val="100000"/>
              </a:lnSpc>
              <a:buNone/>
            </a:pPr>
            <a:r>
              <a:rPr lang="en-US" sz="1300" dirty="0">
                <a:solidFill>
                  <a:srgbClr val="E8E4DA"/>
                </a:solidFill>
                <a:latin typeface="Courier New" pitchFamily="34" charset="0"/>
                <a:ea typeface="Courier New" pitchFamily="34" charset="-122"/>
                <a:cs typeface="Courier New" pitchFamily="34" charset="-120"/>
              </a:rPr>
              <a:t>}</a:t>
            </a:r>
            <a:endParaRPr lang="en-US" sz="1300" dirty="0"/>
          </a:p>
        </p:txBody>
      </p:sp>
      <p:sp>
        <p:nvSpPr>
          <p:cNvPr id="16" name="Text 14"/>
          <p:cNvSpPr txBox="1"/>
          <p:nvPr/>
        </p:nvSpPr>
        <p:spPr>
          <a:xfrm>
            <a:off x="7680960" y="1417320"/>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THE QUESTION</a:t>
            </a:r>
            <a:endParaRPr lang="en-US" sz="1200" dirty="0"/>
          </a:p>
        </p:txBody>
      </p:sp>
      <p:sp>
        <p:nvSpPr>
          <p:cNvPr id="17" name="Text 15"/>
          <p:cNvSpPr txBox="1"/>
          <p:nvPr/>
        </p:nvSpPr>
        <p:spPr>
          <a:xfrm>
            <a:off x="7680960" y="1728216"/>
            <a:ext cx="3962095" cy="845820"/>
          </a:xfrm>
          <a:prstGeom prst="rect">
            <a:avLst/>
          </a:prstGeom>
          <a:noFill/>
          <a:ln/>
        </p:spPr>
        <p:txBody>
          <a:bodyPr wrap="square" lIns="0" tIns="0" rIns="0" bIns="0" rtlCol="0" anchor="t"/>
          <a:lstStyle/>
          <a:p>
            <a:pPr indent="0" marL="0">
              <a:lnSpc>
                <a:spcPct val="105000"/>
              </a:lnSpc>
              <a:buNone/>
            </a:pPr>
            <a:r>
              <a:rPr lang="en-US" sz="1800" b="1" dirty="0">
                <a:solidFill>
                  <a:srgbClr val="1B2430"/>
                </a:solidFill>
                <a:latin typeface="Calibri" pitchFamily="34" charset="0"/>
                <a:ea typeface="Calibri" pitchFamily="34" charset="-122"/>
                <a:cs typeface="Calibri" pitchFamily="34" charset="-120"/>
              </a:rPr>
              <a:t>A task throws an exception on the worker. main wrapped its push() in try/catch. Does main catch it?</a:t>
            </a:r>
            <a:endParaRPr lang="en-US" sz="1800" dirty="0"/>
          </a:p>
        </p:txBody>
      </p:sp>
      <p:sp>
        <p:nvSpPr>
          <p:cNvPr id="18" name="Text 16"/>
          <p:cNvSpPr txBox="1"/>
          <p:nvPr/>
        </p:nvSpPr>
        <p:spPr>
          <a:xfrm>
            <a:off x="7680960" y="2802636"/>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PREDICT</a:t>
            </a:r>
            <a:endParaRPr lang="en-US" sz="1200" dirty="0"/>
          </a:p>
        </p:txBody>
      </p:sp>
      <p:sp>
        <p:nvSpPr>
          <p:cNvPr id="19" name="Text 17"/>
          <p:cNvSpPr txBox="1"/>
          <p:nvPr/>
        </p:nvSpPr>
        <p:spPr>
          <a:xfrm>
            <a:off x="7680960" y="3113532"/>
            <a:ext cx="396209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What prints? What happens to the program?</a:t>
            </a:r>
            <a:endParaRPr lang="en-US" sz="1600" dirty="0"/>
          </a:p>
        </p:txBody>
      </p:sp>
      <p:sp>
        <p:nvSpPr>
          <p:cNvPr id="20" name="Shape 18"/>
          <p:cNvSpPr/>
          <p:nvPr/>
        </p:nvSpPr>
        <p:spPr>
          <a:xfrm>
            <a:off x="7680960" y="3903980"/>
            <a:ext cx="3962095" cy="1764030"/>
          </a:xfrm>
          <a:prstGeom prst="roundRect">
            <a:avLst>
              <a:gd name="adj" fmla="val 4147"/>
            </a:avLst>
          </a:prstGeom>
          <a:solidFill>
            <a:srgbClr val="EEF2F5"/>
          </a:solidFill>
          <a:ln w="12700">
            <a:solidFill>
              <a:srgbClr val="EEF2F5"/>
            </a:solidFill>
            <a:prstDash val="solid"/>
          </a:ln>
        </p:spPr>
      </p:sp>
      <p:sp>
        <p:nvSpPr>
          <p:cNvPr id="21" name="Text 19"/>
          <p:cNvSpPr txBox="1"/>
          <p:nvPr/>
        </p:nvSpPr>
        <p:spPr>
          <a:xfrm>
            <a:off x="7909560" y="4086860"/>
            <a:ext cx="3504895"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ANSWER</a:t>
            </a:r>
            <a:endParaRPr lang="en-US" sz="1200" dirty="0"/>
          </a:p>
        </p:txBody>
      </p:sp>
      <p:sp>
        <p:nvSpPr>
          <p:cNvPr id="22" name="Text 20"/>
          <p:cNvSpPr txBox="1"/>
          <p:nvPr/>
        </p:nvSpPr>
        <p:spPr>
          <a:xfrm>
            <a:off x="7909560" y="4397756"/>
            <a:ext cx="3504895" cy="116052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Nothing is caught. The program terminates.</a:t>
            </a:r>
            <a:endParaRPr lang="en-US" sz="1500" dirty="0"/>
          </a:p>
          <a:p>
            <a:pPr indent="0" marL="0">
              <a:lnSpc>
                <a:spcPct val="105000"/>
              </a:lnSpc>
              <a:buNone/>
            </a:pP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The exception unwinds the worker's stack, not main's.</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V8  ·  TASK QUEUE</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1B2430"/>
          </a:solidFill>
          <a:ln w="12700">
            <a:solidFill>
              <a:srgbClr val="1B2430"/>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An exception lives on one thread's stack</a:t>
            </a:r>
            <a:endParaRPr lang="en-US" sz="2800" dirty="0"/>
          </a:p>
        </p:txBody>
      </p:sp>
      <p:sp>
        <p:nvSpPr>
          <p:cNvPr id="12" name="Text 10"/>
          <p:cNvSpPr txBox="1"/>
          <p:nvPr/>
        </p:nvSpPr>
        <p:spPr>
          <a:xfrm>
            <a:off x="548640" y="1417320"/>
            <a:ext cx="429768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RUN IT</a:t>
            </a:r>
            <a:endParaRPr lang="en-US" sz="1200" dirty="0"/>
          </a:p>
        </p:txBody>
      </p:sp>
      <p:sp>
        <p:nvSpPr>
          <p:cNvPr id="13" name="Shape 11"/>
          <p:cNvSpPr/>
          <p:nvPr/>
        </p:nvSpPr>
        <p:spPr>
          <a:xfrm>
            <a:off x="548640" y="1728216"/>
            <a:ext cx="4297680" cy="1182624"/>
          </a:xfrm>
          <a:prstGeom prst="roundRect">
            <a:avLst>
              <a:gd name="adj" fmla="val 6186"/>
            </a:avLst>
          </a:prstGeom>
          <a:solidFill>
            <a:srgbClr val="0D1117"/>
          </a:solidFill>
          <a:ln w="12700">
            <a:solidFill>
              <a:srgbClr val="0D1117"/>
            </a:solidFill>
            <a:prstDash val="solid"/>
          </a:ln>
        </p:spPr>
      </p:sp>
      <p:sp>
        <p:nvSpPr>
          <p:cNvPr id="14" name="Text 12"/>
          <p:cNvSpPr txBox="1"/>
          <p:nvPr/>
        </p:nvSpPr>
        <p:spPr>
          <a:xfrm>
            <a:off x="731520" y="1892808"/>
            <a:ext cx="3931920" cy="853440"/>
          </a:xfrm>
          <a:prstGeom prst="rect">
            <a:avLst/>
          </a:prstGeom>
          <a:noFill/>
          <a:ln/>
        </p:spPr>
        <p:txBody>
          <a:bodyPr wrap="square" lIns="0" tIns="0" rIns="0" bIns="0" rtlCol="0" anchor="t"/>
          <a:lstStyle/>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 ./tiny terminate</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terminate called after throwing</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an instance of 'std::runtime_error'</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Aborted</a:t>
            </a:r>
            <a:endParaRPr lang="en-US" sz="1400" dirty="0"/>
          </a:p>
        </p:txBody>
      </p:sp>
      <p:sp>
        <p:nvSpPr>
          <p:cNvPr id="15" name="Text 13"/>
          <p:cNvSpPr txBox="1"/>
          <p:nvPr/>
        </p:nvSpPr>
        <p:spPr>
          <a:xfrm>
            <a:off x="548640" y="3093720"/>
            <a:ext cx="4297680" cy="71094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And a task that captured a local by reference ran after that local was destroyed.</a:t>
            </a:r>
            <a:endParaRPr lang="en-US" sz="1500" dirty="0"/>
          </a:p>
        </p:txBody>
      </p:sp>
      <p:sp>
        <p:nvSpPr>
          <p:cNvPr id="16" name="Text 14"/>
          <p:cNvSpPr txBox="1"/>
          <p:nvPr/>
        </p:nvSpPr>
        <p:spPr>
          <a:xfrm>
            <a:off x="5166360" y="1417320"/>
            <a:ext cx="6476695"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WHAT HAPPENS, STEP BY STEP</a:t>
            </a:r>
            <a:endParaRPr lang="en-US" sz="1200" dirty="0"/>
          </a:p>
        </p:txBody>
      </p:sp>
      <p:sp>
        <p:nvSpPr>
          <p:cNvPr id="17" name="Shape 15"/>
          <p:cNvSpPr/>
          <p:nvPr/>
        </p:nvSpPr>
        <p:spPr>
          <a:xfrm>
            <a:off x="5166360" y="1728216"/>
            <a:ext cx="6476695" cy="2036064"/>
          </a:xfrm>
          <a:prstGeom prst="roundRect">
            <a:avLst>
              <a:gd name="adj" fmla="val 3593"/>
            </a:avLst>
          </a:prstGeom>
          <a:solidFill>
            <a:srgbClr val="EEF2F5"/>
          </a:solidFill>
          <a:ln w="12700">
            <a:solidFill>
              <a:srgbClr val="EEF2F5"/>
            </a:solidFill>
            <a:prstDash val="solid"/>
          </a:ln>
        </p:spPr>
      </p:sp>
      <p:sp>
        <p:nvSpPr>
          <p:cNvPr id="18" name="Text 16"/>
          <p:cNvSpPr txBox="1"/>
          <p:nvPr/>
        </p:nvSpPr>
        <p:spPr>
          <a:xfrm>
            <a:off x="5349240" y="1892808"/>
            <a:ext cx="6110935" cy="1706880"/>
          </a:xfrm>
          <a:prstGeom prst="rect">
            <a:avLst/>
          </a:prstGeom>
          <a:noFill/>
          <a:ln/>
        </p:spPr>
        <p:txBody>
          <a:bodyPr wrap="square" lIns="0" tIns="0" rIns="0" bIns="0" rtlCol="0" anchor="t"/>
          <a:lstStyle/>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main                          worker</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 </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try { push(task) }</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catch (...) { }  ← done</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                              task() throws</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                              unwinds WORKER's stack</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                              leaves the thread function</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                              → std::terminate</a:t>
            </a:r>
            <a:endParaRPr lang="en-US" sz="1400" dirty="0"/>
          </a:p>
        </p:txBody>
      </p:sp>
      <p:sp>
        <p:nvSpPr>
          <p:cNvPr id="19" name="Shape 17"/>
          <p:cNvSpPr/>
          <p:nvPr/>
        </p:nvSpPr>
        <p:spPr>
          <a:xfrm>
            <a:off x="5166360" y="3992880"/>
            <a:ext cx="6476695" cy="1089660"/>
          </a:xfrm>
          <a:prstGeom prst="roundRect">
            <a:avLst>
              <a:gd name="adj" fmla="val 6713"/>
            </a:avLst>
          </a:prstGeom>
          <a:solidFill>
            <a:srgbClr val="FDF1E8"/>
          </a:solidFill>
          <a:ln w="12700">
            <a:solidFill>
              <a:srgbClr val="FDF1E8"/>
            </a:solidFill>
            <a:prstDash val="solid"/>
          </a:ln>
        </p:spPr>
      </p:sp>
      <p:sp>
        <p:nvSpPr>
          <p:cNvPr id="20" name="Text 18"/>
          <p:cNvSpPr txBox="1"/>
          <p:nvPr/>
        </p:nvSpPr>
        <p:spPr>
          <a:xfrm>
            <a:off x="5394960" y="4175760"/>
            <a:ext cx="60194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SO</a:t>
            </a:r>
            <a:endParaRPr lang="en-US" sz="1200" dirty="0"/>
          </a:p>
        </p:txBody>
      </p:sp>
      <p:sp>
        <p:nvSpPr>
          <p:cNvPr id="21" name="Text 19"/>
          <p:cNvSpPr txBox="1"/>
          <p:nvPr/>
        </p:nvSpPr>
        <p:spPr>
          <a:xfrm>
            <a:off x="5394960" y="4486656"/>
            <a:ext cx="6019495"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Catch on the worker, or one bad task kills the program. Queued tasks run LATER: capture by value.</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V8  ·  TASK QUEUE</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1B2430"/>
          </a:solidFill>
          <a:ln w="12700">
            <a:solidFill>
              <a:srgbClr val="1B2430"/>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A queue of work, and one worker</a:t>
            </a:r>
            <a:endParaRPr lang="en-US" sz="2800" dirty="0"/>
          </a:p>
        </p:txBody>
      </p:sp>
      <p:sp>
        <p:nvSpPr>
          <p:cNvPr id="12" name="Text 10"/>
          <p:cNvSpPr txBox="1"/>
          <p:nvPr/>
        </p:nvSpPr>
        <p:spPr>
          <a:xfrm>
            <a:off x="548640" y="1417320"/>
            <a:ext cx="676656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task_queue.hpp</a:t>
            </a:r>
            <a:endParaRPr lang="en-US" sz="1200" dirty="0"/>
          </a:p>
        </p:txBody>
      </p:sp>
      <p:sp>
        <p:nvSpPr>
          <p:cNvPr id="13" name="Shape 11"/>
          <p:cNvSpPr/>
          <p:nvPr/>
        </p:nvSpPr>
        <p:spPr>
          <a:xfrm>
            <a:off x="548640" y="1728216"/>
            <a:ext cx="7132320" cy="2508504"/>
          </a:xfrm>
          <a:prstGeom prst="roundRect">
            <a:avLst>
              <a:gd name="adj" fmla="val 2916"/>
            </a:avLst>
          </a:prstGeom>
          <a:solidFill>
            <a:srgbClr val="161C24"/>
          </a:solidFill>
          <a:ln w="12700">
            <a:solidFill>
              <a:srgbClr val="161C24"/>
            </a:solidFill>
            <a:prstDash val="solid"/>
          </a:ln>
        </p:spPr>
      </p:sp>
      <p:sp>
        <p:nvSpPr>
          <p:cNvPr id="14" name="Text 12"/>
          <p:cNvSpPr txBox="1"/>
          <p:nvPr/>
        </p:nvSpPr>
        <p:spPr>
          <a:xfrm>
            <a:off x="731520" y="1892808"/>
            <a:ext cx="6766560" cy="2179320"/>
          </a:xfrm>
          <a:prstGeom prst="rect">
            <a:avLst/>
          </a:prstGeom>
          <a:noFill/>
          <a:ln/>
        </p:spPr>
        <p:txBody>
          <a:bodyPr wrap="square" lIns="0" tIns="0" rIns="0" bIns="0" rtlCol="0" anchor="t"/>
          <a:lstStyle/>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using Task = std::function&lt;void()&gt;;</a:t>
            </a:r>
            <a:endParaRPr lang="en-US" sz="1300" dirty="0"/>
          </a:p>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class TaskQueue {</a:t>
            </a:r>
            <a:endParaRPr lang="en-US" sz="1300" dirty="0"/>
          </a:p>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ThreadSafeQueue&lt;Task&gt; tasks;</a:t>
            </a:r>
            <a:endParaRPr lang="en-US" sz="1300" dirty="0"/>
          </a:p>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std::thread worker{[this] { work(); }};</a:t>
            </a:r>
            <a:endParaRPr lang="en-US" sz="1300" dirty="0"/>
          </a:p>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void work() {</a:t>
            </a:r>
            <a:endParaRPr lang="en-US" sz="1300" dirty="0"/>
          </a:p>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while (auto t = tasks.wait_and_pop()) {</a:t>
            </a:r>
            <a:endParaRPr lang="en-US" sz="1300" dirty="0"/>
          </a:p>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try { (*t)(); }</a:t>
            </a:r>
            <a:endParaRPr lang="en-US" sz="1300" dirty="0"/>
          </a:p>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catch (...) { on_error(std::current_exception()); }</a:t>
            </a:r>
            <a:endParaRPr lang="en-US" sz="1300" dirty="0"/>
          </a:p>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a:t>
            </a:r>
            <a:endParaRPr lang="en-US" sz="1300" dirty="0"/>
          </a:p>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a:t>
            </a:r>
            <a:endParaRPr lang="en-US" sz="1300" dirty="0"/>
          </a:p>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a:t>
            </a:r>
            <a:endParaRPr lang="en-US" sz="1300" dirty="0"/>
          </a:p>
        </p:txBody>
      </p:sp>
      <p:sp>
        <p:nvSpPr>
          <p:cNvPr id="15" name="Shape 13"/>
          <p:cNvSpPr/>
          <p:nvPr/>
        </p:nvSpPr>
        <p:spPr>
          <a:xfrm>
            <a:off x="8001000" y="1728216"/>
            <a:ext cx="365760" cy="365760"/>
          </a:xfrm>
          <a:prstGeom prst="ellipse">
            <a:avLst/>
          </a:prstGeom>
          <a:solidFill>
            <a:srgbClr val="0F766E"/>
          </a:solidFill>
          <a:ln w="12700">
            <a:solidFill>
              <a:srgbClr val="0F766E"/>
            </a:solidFill>
            <a:prstDash val="solid"/>
          </a:ln>
        </p:spPr>
      </p:sp>
      <p:sp>
        <p:nvSpPr>
          <p:cNvPr id="16" name="Text 14"/>
          <p:cNvSpPr txBox="1"/>
          <p:nvPr/>
        </p:nvSpPr>
        <p:spPr>
          <a:xfrm>
            <a:off x="8001000" y="17282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8503920" y="1764792"/>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The worker is v6's consumer loop, running tasks.</a:t>
            </a:r>
            <a:endParaRPr lang="en-US" sz="1600" dirty="0"/>
          </a:p>
        </p:txBody>
      </p:sp>
      <p:sp>
        <p:nvSpPr>
          <p:cNvPr id="18" name="Shape 16"/>
          <p:cNvSpPr/>
          <p:nvPr/>
        </p:nvSpPr>
        <p:spPr>
          <a:xfrm>
            <a:off x="8001000" y="2518664"/>
            <a:ext cx="365760" cy="365760"/>
          </a:xfrm>
          <a:prstGeom prst="ellipse">
            <a:avLst/>
          </a:prstGeom>
          <a:solidFill>
            <a:srgbClr val="0F766E"/>
          </a:solidFill>
          <a:ln w="12700">
            <a:solidFill>
              <a:srgbClr val="0F766E"/>
            </a:solidFill>
            <a:prstDash val="solid"/>
          </a:ln>
        </p:spPr>
      </p:sp>
      <p:sp>
        <p:nvSpPr>
          <p:cNvPr id="19" name="Text 17"/>
          <p:cNvSpPr txBox="1"/>
          <p:nvPr/>
        </p:nvSpPr>
        <p:spPr>
          <a:xfrm>
            <a:off x="8001000" y="25186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8503920" y="2555240"/>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catch (...) keeps the worker alive.</a:t>
            </a:r>
            <a:endParaRPr lang="en-US" sz="1600" dirty="0"/>
          </a:p>
        </p:txBody>
      </p:sp>
      <p:sp>
        <p:nvSpPr>
          <p:cNvPr id="21" name="Shape 19"/>
          <p:cNvSpPr/>
          <p:nvPr/>
        </p:nvSpPr>
        <p:spPr>
          <a:xfrm>
            <a:off x="8001000" y="3309112"/>
            <a:ext cx="365760" cy="365760"/>
          </a:xfrm>
          <a:prstGeom prst="ellipse">
            <a:avLst/>
          </a:prstGeom>
          <a:solidFill>
            <a:srgbClr val="0F766E"/>
          </a:solidFill>
          <a:ln w="12700">
            <a:solidFill>
              <a:srgbClr val="0F766E"/>
            </a:solidFill>
            <a:prstDash val="solid"/>
          </a:ln>
        </p:spPr>
      </p:sp>
      <p:sp>
        <p:nvSpPr>
          <p:cNvPr id="22" name="Text 20"/>
          <p:cNvSpPr txBox="1"/>
          <p:nvPr/>
        </p:nvSpPr>
        <p:spPr>
          <a:xfrm>
            <a:off x="8001000" y="330911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503920" y="3345688"/>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But the caller never learns its task failed, and never gets a result.</a:t>
            </a:r>
            <a:endParaRPr lang="en-US" sz="16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V8  ·  TASK QUEUE</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1B2430"/>
          </a:solidFill>
          <a:ln w="12700">
            <a:solidFill>
              <a:srgbClr val="1B2430"/>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Check yourself</a:t>
            </a:r>
            <a:endParaRPr lang="en-US" sz="2800" dirty="0"/>
          </a:p>
        </p:txBody>
      </p:sp>
      <p:sp>
        <p:nvSpPr>
          <p:cNvPr id="12" name="Shape 10"/>
          <p:cNvSpPr/>
          <p:nvPr/>
        </p:nvSpPr>
        <p:spPr>
          <a:xfrm>
            <a:off x="548640" y="1417320"/>
            <a:ext cx="4206240" cy="1404366"/>
          </a:xfrm>
          <a:prstGeom prst="roundRect">
            <a:avLst>
              <a:gd name="adj" fmla="val 5209"/>
            </a:avLst>
          </a:prstGeom>
          <a:solidFill>
            <a:srgbClr val="EEF2F5"/>
          </a:solidFill>
          <a:ln w="12700">
            <a:solidFill>
              <a:srgbClr val="EEF2F5"/>
            </a:solidFill>
            <a:prstDash val="solid"/>
          </a:ln>
        </p:spPr>
      </p:sp>
      <p:sp>
        <p:nvSpPr>
          <p:cNvPr id="13" name="Text 11"/>
          <p:cNvSpPr txBox="1"/>
          <p:nvPr/>
        </p:nvSpPr>
        <p:spPr>
          <a:xfrm>
            <a:off x="777240" y="1600200"/>
            <a:ext cx="3749040"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THE LESSON</a:t>
            </a:r>
            <a:endParaRPr lang="en-US" sz="1200" dirty="0"/>
          </a:p>
        </p:txBody>
      </p:sp>
      <p:sp>
        <p:nvSpPr>
          <p:cNvPr id="14" name="Text 12"/>
          <p:cNvSpPr txBox="1"/>
          <p:nvPr/>
        </p:nvSpPr>
        <p:spPr>
          <a:xfrm>
            <a:off x="777240" y="1911096"/>
            <a:ext cx="3749040" cy="800862"/>
          </a:xfrm>
          <a:prstGeom prst="rect">
            <a:avLst/>
          </a:prstGeom>
          <a:noFill/>
          <a:ln/>
        </p:spPr>
        <p:txBody>
          <a:bodyPr wrap="square" lIns="0" tIns="0" rIns="0" bIns="0" rtlCol="0" anchor="t"/>
          <a:lstStyle/>
          <a:p>
            <a:pPr indent="0" marL="0">
              <a:lnSpc>
                <a:spcPct val="105000"/>
              </a:lnSpc>
              <a:buNone/>
            </a:pPr>
            <a:r>
              <a:rPr lang="en-US" sz="1700" dirty="0">
                <a:solidFill>
                  <a:srgbClr val="1B2430"/>
                </a:solidFill>
                <a:latin typeface="Calibri" pitchFamily="34" charset="0"/>
                <a:ea typeface="Calibri" pitchFamily="34" charset="-122"/>
                <a:cs typeface="Calibri" pitchFamily="34" charset="-120"/>
              </a:rPr>
              <a:t>An exception can't cross threads on its own. Catch it where it happens and carry it back.</a:t>
            </a:r>
            <a:endParaRPr lang="en-US" sz="1700" dirty="0"/>
          </a:p>
        </p:txBody>
      </p:sp>
      <p:sp>
        <p:nvSpPr>
          <p:cNvPr id="15" name="Text 13"/>
          <p:cNvSpPr txBox="1"/>
          <p:nvPr/>
        </p:nvSpPr>
        <p:spPr>
          <a:xfrm>
            <a:off x="548640" y="3096006"/>
            <a:ext cx="420624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EXPLAIN WITHOUT LOOKING</a:t>
            </a:r>
            <a:endParaRPr lang="en-US" sz="1200" dirty="0"/>
          </a:p>
        </p:txBody>
      </p:sp>
      <p:sp>
        <p:nvSpPr>
          <p:cNvPr id="16" name="Shape 14"/>
          <p:cNvSpPr/>
          <p:nvPr/>
        </p:nvSpPr>
        <p:spPr>
          <a:xfrm>
            <a:off x="548640" y="3489198"/>
            <a:ext cx="182880" cy="182880"/>
          </a:xfrm>
          <a:prstGeom prst="rect">
            <a:avLst/>
          </a:prstGeom>
          <a:solidFill>
            <a:srgbClr val="FFFFFF"/>
          </a:solidFill>
          <a:ln w="15875">
            <a:solidFill>
              <a:srgbClr val="0F766E"/>
            </a:solidFill>
            <a:prstDash val="solid"/>
          </a:ln>
        </p:spPr>
      </p:sp>
      <p:sp>
        <p:nvSpPr>
          <p:cNvPr id="17" name="Text 15"/>
          <p:cNvSpPr txBox="1"/>
          <p:nvPr/>
        </p:nvSpPr>
        <p:spPr>
          <a:xfrm>
            <a:off x="868680" y="3443478"/>
            <a:ext cx="3886200"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can't main catch a worker's exception?</a:t>
            </a:r>
            <a:endParaRPr lang="en-US" sz="1500" dirty="0"/>
          </a:p>
        </p:txBody>
      </p:sp>
      <p:sp>
        <p:nvSpPr>
          <p:cNvPr id="18" name="Shape 16"/>
          <p:cNvSpPr/>
          <p:nvPr/>
        </p:nvSpPr>
        <p:spPr>
          <a:xfrm>
            <a:off x="548640" y="4085082"/>
            <a:ext cx="182880" cy="182880"/>
          </a:xfrm>
          <a:prstGeom prst="rect">
            <a:avLst/>
          </a:prstGeom>
          <a:solidFill>
            <a:srgbClr val="FFFFFF"/>
          </a:solidFill>
          <a:ln w="15875">
            <a:solidFill>
              <a:srgbClr val="0F766E"/>
            </a:solidFill>
            <a:prstDash val="solid"/>
          </a:ln>
        </p:spPr>
      </p:sp>
      <p:sp>
        <p:nvSpPr>
          <p:cNvPr id="19" name="Text 17"/>
          <p:cNvSpPr txBox="1"/>
          <p:nvPr/>
        </p:nvSpPr>
        <p:spPr>
          <a:xfrm>
            <a:off x="868680" y="4039362"/>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capture by value?</a:t>
            </a:r>
            <a:endParaRPr lang="en-US" sz="1500" dirty="0"/>
          </a:p>
        </p:txBody>
      </p:sp>
      <p:sp>
        <p:nvSpPr>
          <p:cNvPr id="20" name="Shape 18"/>
          <p:cNvSpPr/>
          <p:nvPr/>
        </p:nvSpPr>
        <p:spPr>
          <a:xfrm>
            <a:off x="548640" y="4456176"/>
            <a:ext cx="182880" cy="182880"/>
          </a:xfrm>
          <a:prstGeom prst="rect">
            <a:avLst/>
          </a:prstGeom>
          <a:solidFill>
            <a:srgbClr val="FFFFFF"/>
          </a:solidFill>
          <a:ln w="15875">
            <a:solidFill>
              <a:srgbClr val="0F766E"/>
            </a:solidFill>
            <a:prstDash val="solid"/>
          </a:ln>
        </p:spPr>
      </p:sp>
      <p:sp>
        <p:nvSpPr>
          <p:cNvPr id="21" name="Text 19"/>
          <p:cNvSpPr txBox="1"/>
          <p:nvPr/>
        </p:nvSpPr>
        <p:spPr>
          <a:xfrm>
            <a:off x="868680" y="4410456"/>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does std::function require?</a:t>
            </a:r>
            <a:endParaRPr lang="en-US" sz="1500" dirty="0"/>
          </a:p>
        </p:txBody>
      </p:sp>
      <p:sp>
        <p:nvSpPr>
          <p:cNvPr id="22" name="Shape 20"/>
          <p:cNvSpPr/>
          <p:nvPr/>
        </p:nvSpPr>
        <p:spPr>
          <a:xfrm>
            <a:off x="548640" y="4827270"/>
            <a:ext cx="182880" cy="182880"/>
          </a:xfrm>
          <a:prstGeom prst="rect">
            <a:avLst/>
          </a:prstGeom>
          <a:solidFill>
            <a:srgbClr val="FFFFFF"/>
          </a:solidFill>
          <a:ln w="15875">
            <a:solidFill>
              <a:srgbClr val="0F766E"/>
            </a:solidFill>
            <a:prstDash val="solid"/>
          </a:ln>
        </p:spPr>
      </p:sp>
      <p:sp>
        <p:nvSpPr>
          <p:cNvPr id="23" name="Text 21"/>
          <p:cNvSpPr txBox="1"/>
          <p:nvPr/>
        </p:nvSpPr>
        <p:spPr>
          <a:xfrm>
            <a:off x="868680" y="4781550"/>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isn't catch (...) the whole answer?</a:t>
            </a:r>
            <a:endParaRPr lang="en-US" sz="1500" dirty="0"/>
          </a:p>
        </p:txBody>
      </p:sp>
      <p:sp>
        <p:nvSpPr>
          <p:cNvPr id="24" name="Shape 22"/>
          <p:cNvSpPr/>
          <p:nvPr/>
        </p:nvSpPr>
        <p:spPr>
          <a:xfrm>
            <a:off x="5166360" y="1417320"/>
            <a:ext cx="6476695" cy="1294130"/>
          </a:xfrm>
          <a:prstGeom prst="roundRect">
            <a:avLst>
              <a:gd name="adj" fmla="val 5653"/>
            </a:avLst>
          </a:prstGeom>
          <a:solidFill>
            <a:srgbClr val="FFFFFF"/>
          </a:solidFill>
          <a:ln w="12700">
            <a:solidFill>
              <a:srgbClr val="D5DDE5"/>
            </a:solidFill>
            <a:prstDash val="solid"/>
          </a:ln>
        </p:spPr>
      </p:sp>
      <p:sp>
        <p:nvSpPr>
          <p:cNvPr id="25" name="Text 23"/>
          <p:cNvSpPr txBox="1"/>
          <p:nvPr/>
        </p:nvSpPr>
        <p:spPr>
          <a:xfrm>
            <a:off x="5394960" y="15819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NUMBERS</a:t>
            </a:r>
            <a:endParaRPr lang="en-US" sz="1200" dirty="0"/>
          </a:p>
        </p:txBody>
      </p:sp>
      <p:sp>
        <p:nvSpPr>
          <p:cNvPr id="26" name="Text 24"/>
          <p:cNvSpPr txBox="1"/>
          <p:nvPr/>
        </p:nvSpPr>
        <p:spPr>
          <a:xfrm>
            <a:off x="5394960" y="1892808"/>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1,000,000 empty tasks take 180 ms. Cost per task?</a:t>
            </a:r>
            <a:endParaRPr lang="en-US" sz="1500" dirty="0"/>
          </a:p>
        </p:txBody>
      </p:sp>
      <p:sp>
        <p:nvSpPr>
          <p:cNvPr id="27" name="Text 25"/>
          <p:cNvSpPr txBox="1"/>
          <p:nvPr/>
        </p:nvSpPr>
        <p:spPr>
          <a:xfrm>
            <a:off x="5394960" y="224561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About 180 ns: std::function call + queue push/pop.</a:t>
            </a:r>
            <a:endParaRPr lang="en-US" sz="1400" dirty="0"/>
          </a:p>
        </p:txBody>
      </p:sp>
      <p:sp>
        <p:nvSpPr>
          <p:cNvPr id="28" name="Shape 26"/>
          <p:cNvSpPr/>
          <p:nvPr/>
        </p:nvSpPr>
        <p:spPr>
          <a:xfrm>
            <a:off x="5166360" y="2894330"/>
            <a:ext cx="6476695" cy="1503934"/>
          </a:xfrm>
          <a:prstGeom prst="roundRect">
            <a:avLst>
              <a:gd name="adj" fmla="val 4864"/>
            </a:avLst>
          </a:prstGeom>
          <a:solidFill>
            <a:srgbClr val="FFFFFF"/>
          </a:solidFill>
          <a:ln w="12700">
            <a:solidFill>
              <a:srgbClr val="D5DDE5"/>
            </a:solidFill>
            <a:prstDash val="solid"/>
          </a:ln>
        </p:spPr>
      </p:sp>
      <p:sp>
        <p:nvSpPr>
          <p:cNvPr id="29" name="Text 27"/>
          <p:cNvSpPr txBox="1"/>
          <p:nvPr/>
        </p:nvSpPr>
        <p:spPr>
          <a:xfrm>
            <a:off x="5394960" y="305892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TRACE IT</a:t>
            </a:r>
            <a:endParaRPr lang="en-US" sz="1200" dirty="0"/>
          </a:p>
        </p:txBody>
      </p:sp>
      <p:sp>
        <p:nvSpPr>
          <p:cNvPr id="30" name="Text 28"/>
          <p:cNvSpPr txBox="1"/>
          <p:nvPr/>
        </p:nvSpPr>
        <p:spPr>
          <a:xfrm>
            <a:off x="5394960" y="3369818"/>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void f(){ int x=1; tasks.push([&amp;]{ print(x); }); } Trace it.</a:t>
            </a:r>
            <a:endParaRPr lang="en-US" sz="1500" dirty="0"/>
          </a:p>
        </p:txBody>
      </p:sp>
      <p:sp>
        <p:nvSpPr>
          <p:cNvPr id="31" name="Text 29"/>
          <p:cNvSpPr txBox="1"/>
          <p:nvPr/>
        </p:nvSpPr>
        <p:spPr>
          <a:xfrm>
            <a:off x="5394960" y="3722624"/>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f returns, x is destroyed, then the worker reads it: undefined behaviour.</a:t>
            </a:r>
            <a:endParaRPr lang="en-US" sz="1400" dirty="0"/>
          </a:p>
        </p:txBody>
      </p:sp>
      <p:sp>
        <p:nvSpPr>
          <p:cNvPr id="32" name="Shape 30"/>
          <p:cNvSpPr/>
          <p:nvPr/>
        </p:nvSpPr>
        <p:spPr>
          <a:xfrm>
            <a:off x="5166360" y="4581144"/>
            <a:ext cx="6476695" cy="1503934"/>
          </a:xfrm>
          <a:prstGeom prst="roundRect">
            <a:avLst>
              <a:gd name="adj" fmla="val 4864"/>
            </a:avLst>
          </a:prstGeom>
          <a:solidFill>
            <a:srgbClr val="FFFFFF"/>
          </a:solidFill>
          <a:ln w="12700">
            <a:solidFill>
              <a:srgbClr val="D5DDE5"/>
            </a:solidFill>
            <a:prstDash val="solid"/>
          </a:ln>
        </p:spPr>
      </p:sp>
      <p:sp>
        <p:nvSpPr>
          <p:cNvPr id="33" name="Text 31"/>
          <p:cNvSpPr txBox="1"/>
          <p:nvPr/>
        </p:nvSpPr>
        <p:spPr>
          <a:xfrm>
            <a:off x="5394960" y="4745736"/>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DESIGN</a:t>
            </a:r>
            <a:endParaRPr lang="en-US" sz="1200" dirty="0"/>
          </a:p>
        </p:txBody>
      </p:sp>
      <p:sp>
        <p:nvSpPr>
          <p:cNvPr id="34" name="Text 32"/>
          <p:cNvSpPr txBox="1"/>
          <p:nvPr/>
        </p:nvSpPr>
        <p:spPr>
          <a:xfrm>
            <a:off x="5394960" y="5056632"/>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How could the caller learn that its task failed?</a:t>
            </a:r>
            <a:endParaRPr lang="en-US" sz="1500" dirty="0"/>
          </a:p>
        </p:txBody>
      </p:sp>
      <p:sp>
        <p:nvSpPr>
          <p:cNvPr id="35" name="Text 33"/>
          <p:cNvSpPr txBox="1"/>
          <p:nvPr/>
        </p:nvSpPr>
        <p:spPr>
          <a:xfrm>
            <a:off x="5394960" y="5409438"/>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Store std::exception_ptr in shared state and rethrow it in the caller: that's v10's future.</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V9  ·  THREAD POOL</a:t>
            </a:r>
            <a:endParaRPr lang="en-US" sz="1200" dirty="0"/>
          </a:p>
        </p:txBody>
      </p:sp>
      <p:sp>
        <p:nvSpPr>
          <p:cNvPr id="3" name="Shape 1"/>
          <p:cNvSpPr/>
          <p:nvPr/>
        </p:nvSpPr>
        <p:spPr>
          <a:xfrm>
            <a:off x="6229807" y="292608"/>
            <a:ext cx="1298448" cy="274320"/>
          </a:xfrm>
          <a:prstGeom prst="roundRect">
            <a:avLst>
              <a:gd name="adj" fmla="val 23333"/>
            </a:avLst>
          </a:prstGeom>
          <a:solidFill>
            <a:srgbClr val="1B2430"/>
          </a:solidFill>
          <a:ln w="12700">
            <a:solidFill>
              <a:srgbClr val="1B2430"/>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One worker runs one task at a time</a:t>
            </a:r>
            <a:endParaRPr lang="en-US" sz="2800" dirty="0"/>
          </a:p>
        </p:txBody>
      </p:sp>
      <p:sp>
        <p:nvSpPr>
          <p:cNvPr id="12" name="Shape 10"/>
          <p:cNvSpPr/>
          <p:nvPr/>
        </p:nvSpPr>
        <p:spPr>
          <a:xfrm>
            <a:off x="548640" y="1417320"/>
            <a:ext cx="6766560" cy="1014984"/>
          </a:xfrm>
          <a:prstGeom prst="roundRect">
            <a:avLst>
              <a:gd name="adj" fmla="val 7207"/>
            </a:avLst>
          </a:prstGeom>
          <a:solidFill>
            <a:srgbClr val="EEF2F5"/>
          </a:solidFill>
          <a:ln w="12700">
            <a:solidFill>
              <a:srgbClr val="EEF2F5"/>
            </a:solidFill>
            <a:prstDash val="solid"/>
          </a:ln>
        </p:spPr>
      </p:sp>
      <p:sp>
        <p:nvSpPr>
          <p:cNvPr id="13" name="Text 11"/>
          <p:cNvSpPr txBox="1"/>
          <p:nvPr/>
        </p:nvSpPr>
        <p:spPr>
          <a:xfrm>
            <a:off x="731520" y="1581912"/>
            <a:ext cx="6400800" cy="6858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submit(task) ──► [ task queue ] ──► worker 1</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 worker 2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 worker N  ?</a:t>
            </a:r>
            <a:endParaRPr lang="en-US" sz="1500" dirty="0"/>
          </a:p>
        </p:txBody>
      </p:sp>
      <p:sp>
        <p:nvSpPr>
          <p:cNvPr id="14" name="Shape 12"/>
          <p:cNvSpPr/>
          <p:nvPr/>
        </p:nvSpPr>
        <p:spPr>
          <a:xfrm>
            <a:off x="548640" y="2660904"/>
            <a:ext cx="6766560" cy="1243584"/>
          </a:xfrm>
          <a:prstGeom prst="roundRect">
            <a:avLst>
              <a:gd name="adj" fmla="val 5882"/>
            </a:avLst>
          </a:prstGeom>
          <a:solidFill>
            <a:srgbClr val="161C24"/>
          </a:solidFill>
          <a:ln w="12700">
            <a:solidFill>
              <a:srgbClr val="161C24"/>
            </a:solidFill>
            <a:prstDash val="solid"/>
          </a:ln>
        </p:spPr>
      </p:sp>
      <p:sp>
        <p:nvSpPr>
          <p:cNvPr id="15" name="Text 13"/>
          <p:cNvSpPr txBox="1"/>
          <p:nvPr/>
        </p:nvSpPr>
        <p:spPr>
          <a:xfrm>
            <a:off x="731520" y="2825496"/>
            <a:ext cx="6400800" cy="914400"/>
          </a:xfrm>
          <a:prstGeom prst="rect">
            <a:avLst/>
          </a:prstGeom>
          <a:noFill/>
          <a:ln/>
        </p:spPr>
        <p:txBody>
          <a:bodyPr wrap="square" lIns="0" tIns="0" rIns="0" bIns="0" rtlCol="0" anchor="t"/>
          <a:lstStyle/>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64 tasks that each sleep 100 ms</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64 tasks that each compute 100 ms</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on a 4-core machine</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pool(1)   pool(4)   pool(64)</a:t>
            </a:r>
            <a:endParaRPr lang="en-US" sz="1500" dirty="0"/>
          </a:p>
        </p:txBody>
      </p:sp>
      <p:sp>
        <p:nvSpPr>
          <p:cNvPr id="16" name="Text 14"/>
          <p:cNvSpPr txBox="1"/>
          <p:nvPr/>
        </p:nvSpPr>
        <p:spPr>
          <a:xfrm>
            <a:off x="7680960" y="1417320"/>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THE QUESTION</a:t>
            </a:r>
            <a:endParaRPr lang="en-US" sz="1200" dirty="0"/>
          </a:p>
        </p:txBody>
      </p:sp>
      <p:sp>
        <p:nvSpPr>
          <p:cNvPr id="17" name="Text 15"/>
          <p:cNvSpPr txBox="1"/>
          <p:nvPr/>
        </p:nvSpPr>
        <p:spPr>
          <a:xfrm>
            <a:off x="7680960" y="1728216"/>
            <a:ext cx="3962095" cy="1115568"/>
          </a:xfrm>
          <a:prstGeom prst="rect">
            <a:avLst/>
          </a:prstGeom>
          <a:noFill/>
          <a:ln/>
        </p:spPr>
        <p:txBody>
          <a:bodyPr wrap="square" lIns="0" tIns="0" rIns="0" bIns="0" rtlCol="0" anchor="t"/>
          <a:lstStyle/>
          <a:p>
            <a:pPr indent="0" marL="0">
              <a:lnSpc>
                <a:spcPct val="105000"/>
              </a:lnSpc>
              <a:buNone/>
            </a:pPr>
            <a:r>
              <a:rPr lang="en-US" sz="1800" b="1" dirty="0">
                <a:solidFill>
                  <a:srgbClr val="1B2430"/>
                </a:solidFill>
                <a:latin typeface="Calibri" pitchFamily="34" charset="0"/>
                <a:ea typeface="Calibri" pitchFamily="34" charset="-122"/>
                <a:cs typeface="Calibri" pitchFamily="34" charset="-120"/>
              </a:rPr>
              <a:t>64 tasks wait in line for one worker. How many workers should we start, and how do they all stop?</a:t>
            </a:r>
            <a:endParaRPr lang="en-US" sz="1800" dirty="0"/>
          </a:p>
        </p:txBody>
      </p:sp>
      <p:sp>
        <p:nvSpPr>
          <p:cNvPr id="18" name="Text 16"/>
          <p:cNvSpPr txBox="1"/>
          <p:nvPr/>
        </p:nvSpPr>
        <p:spPr>
          <a:xfrm>
            <a:off x="7680960" y="3072384"/>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PREDICT</a:t>
            </a:r>
            <a:endParaRPr lang="en-US" sz="1200" dirty="0"/>
          </a:p>
        </p:txBody>
      </p:sp>
      <p:sp>
        <p:nvSpPr>
          <p:cNvPr id="19" name="Text 17"/>
          <p:cNvSpPr txBox="1"/>
          <p:nvPr/>
        </p:nvSpPr>
        <p:spPr>
          <a:xfrm>
            <a:off x="7680960" y="3383280"/>
            <a:ext cx="396209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Which pool size is fastest for sleepy tasks? For busy tasks?</a:t>
            </a:r>
            <a:endParaRPr lang="en-US" sz="1600" dirty="0"/>
          </a:p>
        </p:txBody>
      </p:sp>
      <p:sp>
        <p:nvSpPr>
          <p:cNvPr id="20" name="Shape 18"/>
          <p:cNvSpPr/>
          <p:nvPr/>
        </p:nvSpPr>
        <p:spPr>
          <a:xfrm>
            <a:off x="7680960" y="4173728"/>
            <a:ext cx="3962095" cy="1314450"/>
          </a:xfrm>
          <a:prstGeom prst="roundRect">
            <a:avLst>
              <a:gd name="adj" fmla="val 5565"/>
            </a:avLst>
          </a:prstGeom>
          <a:solidFill>
            <a:srgbClr val="EEF2F5"/>
          </a:solidFill>
          <a:ln w="12700">
            <a:solidFill>
              <a:srgbClr val="EEF2F5"/>
            </a:solidFill>
            <a:prstDash val="solid"/>
          </a:ln>
        </p:spPr>
      </p:sp>
      <p:sp>
        <p:nvSpPr>
          <p:cNvPr id="21" name="Text 19"/>
          <p:cNvSpPr txBox="1"/>
          <p:nvPr/>
        </p:nvSpPr>
        <p:spPr>
          <a:xfrm>
            <a:off x="7909560" y="4356608"/>
            <a:ext cx="3504895"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ANSWER</a:t>
            </a:r>
            <a:endParaRPr lang="en-US" sz="1200" dirty="0"/>
          </a:p>
        </p:txBody>
      </p:sp>
      <p:sp>
        <p:nvSpPr>
          <p:cNvPr id="22" name="Text 20"/>
          <p:cNvSpPr txBox="1"/>
          <p:nvPr/>
        </p:nvSpPr>
        <p:spPr>
          <a:xfrm>
            <a:off x="7909560" y="4667504"/>
            <a:ext cx="3504895" cy="71094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Sleepy: 64 workers (≈0.1 s).</a:t>
            </a: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Busy: about 4 workers (one per core). More only adds switching.</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V9  ·  THREAD POOL</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1B2430"/>
          </a:solidFill>
          <a:ln w="12700">
            <a:solidFill>
              <a:srgbClr val="1B2430"/>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Members die in reverse order</a:t>
            </a:r>
            <a:endParaRPr lang="en-US" sz="2800" dirty="0"/>
          </a:p>
        </p:txBody>
      </p:sp>
      <p:sp>
        <p:nvSpPr>
          <p:cNvPr id="12" name="Text 10"/>
          <p:cNvSpPr txBox="1"/>
          <p:nvPr/>
        </p:nvSpPr>
        <p:spPr>
          <a:xfrm>
            <a:off x="548640" y="1417320"/>
            <a:ext cx="429768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RUN IT</a:t>
            </a:r>
            <a:endParaRPr lang="en-US" sz="1200" dirty="0"/>
          </a:p>
        </p:txBody>
      </p:sp>
      <p:sp>
        <p:nvSpPr>
          <p:cNvPr id="13" name="Shape 11"/>
          <p:cNvSpPr/>
          <p:nvPr/>
        </p:nvSpPr>
        <p:spPr>
          <a:xfrm>
            <a:off x="548640" y="1728216"/>
            <a:ext cx="4297680" cy="969264"/>
          </a:xfrm>
          <a:prstGeom prst="roundRect">
            <a:avLst>
              <a:gd name="adj" fmla="val 7547"/>
            </a:avLst>
          </a:prstGeom>
          <a:solidFill>
            <a:srgbClr val="0D1117"/>
          </a:solidFill>
          <a:ln w="12700">
            <a:solidFill>
              <a:srgbClr val="0D1117"/>
            </a:solidFill>
            <a:prstDash val="solid"/>
          </a:ln>
        </p:spPr>
      </p:sp>
      <p:sp>
        <p:nvSpPr>
          <p:cNvPr id="14" name="Text 12"/>
          <p:cNvSpPr txBox="1"/>
          <p:nvPr/>
        </p:nvSpPr>
        <p:spPr>
          <a:xfrm>
            <a:off x="731520" y="1892808"/>
            <a:ext cx="3931920" cy="640080"/>
          </a:xfrm>
          <a:prstGeom prst="rect">
            <a:avLst/>
          </a:prstGeom>
          <a:noFill/>
          <a:ln/>
        </p:spPr>
        <p:txBody>
          <a:bodyPr wrap="square" lIns="0" tIns="0" rIns="0" bIns="0" rtlCol="0" anchor="t"/>
          <a:lstStyle/>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 ./tiny_workers   # 64 sleepy tasks</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1 worker:   6.86 s</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20 workers: 0.44 s</a:t>
            </a:r>
            <a:endParaRPr lang="en-US" sz="1400" dirty="0"/>
          </a:p>
        </p:txBody>
      </p:sp>
      <p:sp>
        <p:nvSpPr>
          <p:cNvPr id="15" name="Text 13"/>
          <p:cNvSpPr txBox="1"/>
          <p:nvPr/>
        </p:nvSpPr>
        <p:spPr>
          <a:xfrm>
            <a:off x="548640" y="2880360"/>
            <a:ext cx="4297680" cy="71094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Swap the order of the two members in ThreadPool and the destructor hangs or crashes.</a:t>
            </a:r>
            <a:endParaRPr lang="en-US" sz="1500" dirty="0"/>
          </a:p>
        </p:txBody>
      </p:sp>
      <p:sp>
        <p:nvSpPr>
          <p:cNvPr id="16" name="Text 14"/>
          <p:cNvSpPr txBox="1"/>
          <p:nvPr/>
        </p:nvSpPr>
        <p:spPr>
          <a:xfrm>
            <a:off x="5166360" y="1417320"/>
            <a:ext cx="6476695"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WHAT HAPPENS, STEP BY STEP</a:t>
            </a:r>
            <a:endParaRPr lang="en-US" sz="1200" dirty="0"/>
          </a:p>
        </p:txBody>
      </p:sp>
      <p:sp>
        <p:nvSpPr>
          <p:cNvPr id="17" name="Shape 15"/>
          <p:cNvSpPr/>
          <p:nvPr/>
        </p:nvSpPr>
        <p:spPr>
          <a:xfrm>
            <a:off x="5166360" y="1728216"/>
            <a:ext cx="6476695" cy="1609344"/>
          </a:xfrm>
          <a:prstGeom prst="roundRect">
            <a:avLst>
              <a:gd name="adj" fmla="val 4545"/>
            </a:avLst>
          </a:prstGeom>
          <a:solidFill>
            <a:srgbClr val="EEF2F5"/>
          </a:solidFill>
          <a:ln w="12700">
            <a:solidFill>
              <a:srgbClr val="EEF2F5"/>
            </a:solidFill>
            <a:prstDash val="solid"/>
          </a:ln>
        </p:spPr>
      </p:sp>
      <p:sp>
        <p:nvSpPr>
          <p:cNvPr id="18" name="Text 16"/>
          <p:cNvSpPr txBox="1"/>
          <p:nvPr/>
        </p:nvSpPr>
        <p:spPr>
          <a:xfrm>
            <a:off x="5349240" y="1892808"/>
            <a:ext cx="6110935" cy="1280160"/>
          </a:xfrm>
          <a:prstGeom prst="rect">
            <a:avLst/>
          </a:prstGeom>
          <a:noFill/>
          <a:ln/>
        </p:spPr>
        <p:txBody>
          <a:bodyPr wrap="square" lIns="0" tIns="0" rIns="0" bIns="0" rtlCol="0" anchor="t"/>
          <a:lstStyle/>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class ThreadPool {</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    ThreadSafeQueue&lt;Task&gt; tasks;   built 1st, destroyed LAST</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    ThreadGroup workers;           built 2nd, destroyed FIRST</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 </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~ThreadPool(): tasks.shutdown()  → workers wake, drain, return</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               then workers joined, then the queue goes</a:t>
            </a:r>
            <a:endParaRPr lang="en-US" sz="1200" dirty="0"/>
          </a:p>
        </p:txBody>
      </p:sp>
      <p:sp>
        <p:nvSpPr>
          <p:cNvPr id="19" name="Shape 17"/>
          <p:cNvSpPr/>
          <p:nvPr/>
        </p:nvSpPr>
        <p:spPr>
          <a:xfrm>
            <a:off x="5166360" y="3566160"/>
            <a:ext cx="6476695" cy="1089660"/>
          </a:xfrm>
          <a:prstGeom prst="roundRect">
            <a:avLst>
              <a:gd name="adj" fmla="val 6713"/>
            </a:avLst>
          </a:prstGeom>
          <a:solidFill>
            <a:srgbClr val="FDF1E8"/>
          </a:solidFill>
          <a:ln w="12700">
            <a:solidFill>
              <a:srgbClr val="FDF1E8"/>
            </a:solidFill>
            <a:prstDash val="solid"/>
          </a:ln>
        </p:spPr>
      </p:sp>
      <p:sp>
        <p:nvSpPr>
          <p:cNvPr id="20" name="Text 18"/>
          <p:cNvSpPr txBox="1"/>
          <p:nvPr/>
        </p:nvSpPr>
        <p:spPr>
          <a:xfrm>
            <a:off x="5394960" y="3749040"/>
            <a:ext cx="60194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SO</a:t>
            </a:r>
            <a:endParaRPr lang="en-US" sz="1200" dirty="0"/>
          </a:p>
        </p:txBody>
      </p:sp>
      <p:sp>
        <p:nvSpPr>
          <p:cNvPr id="21" name="Text 19"/>
          <p:cNvSpPr txBox="1"/>
          <p:nvPr/>
        </p:nvSpPr>
        <p:spPr>
          <a:xfrm>
            <a:off x="5394960" y="4059936"/>
            <a:ext cx="6019495"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Joining before shutdown hangs: workers sleep in wait_and_pop and nobody wakes them.</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V9  ·  THREAD POOL</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1B2430"/>
          </a:solidFill>
          <a:ln w="12700">
            <a:solidFill>
              <a:srgbClr val="1B2430"/>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One worker becomes a group</a:t>
            </a:r>
            <a:endParaRPr lang="en-US" sz="2800" dirty="0"/>
          </a:p>
        </p:txBody>
      </p:sp>
      <p:sp>
        <p:nvSpPr>
          <p:cNvPr id="12" name="Text 10"/>
          <p:cNvSpPr txBox="1"/>
          <p:nvPr/>
        </p:nvSpPr>
        <p:spPr>
          <a:xfrm>
            <a:off x="548640" y="1417320"/>
            <a:ext cx="676656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pool.hpp</a:t>
            </a:r>
            <a:endParaRPr lang="en-US" sz="1200" dirty="0"/>
          </a:p>
        </p:txBody>
      </p:sp>
      <p:sp>
        <p:nvSpPr>
          <p:cNvPr id="13" name="Shape 11"/>
          <p:cNvSpPr/>
          <p:nvPr/>
        </p:nvSpPr>
        <p:spPr>
          <a:xfrm>
            <a:off x="548640" y="1728216"/>
            <a:ext cx="7132320" cy="3072384"/>
          </a:xfrm>
          <a:prstGeom prst="roundRect">
            <a:avLst>
              <a:gd name="adj" fmla="val 2381"/>
            </a:avLst>
          </a:prstGeom>
          <a:solidFill>
            <a:srgbClr val="161C24"/>
          </a:solidFill>
          <a:ln w="12700">
            <a:solidFill>
              <a:srgbClr val="161C24"/>
            </a:solidFill>
            <a:prstDash val="solid"/>
          </a:ln>
        </p:spPr>
      </p:sp>
      <p:sp>
        <p:nvSpPr>
          <p:cNvPr id="14" name="Text 12"/>
          <p:cNvSpPr txBox="1"/>
          <p:nvPr/>
        </p:nvSpPr>
        <p:spPr>
          <a:xfrm>
            <a:off x="731520" y="1892808"/>
            <a:ext cx="6766560" cy="2743200"/>
          </a:xfrm>
          <a:prstGeom prst="rect">
            <a:avLst/>
          </a:prstGeom>
          <a:noFill/>
          <a:ln/>
        </p:spPr>
        <p:txBody>
          <a:bodyPr wrap="square" lIns="0" tIns="0" rIns="0" bIns="0" rtlCol="0" anchor="t"/>
          <a:lstStyle/>
          <a:p>
            <a:pPr indent="0" marL="0">
              <a:lnSpc>
                <a:spcPct val="100000"/>
              </a:lnSpc>
              <a:buNone/>
            </a:pPr>
            <a:r>
              <a:rPr lang="en-US" sz="1500" strike="sngStrike" dirty="0">
                <a:solidFill>
                  <a:srgbClr val="FCA5A5"/>
                </a:solidFill>
                <a:latin typeface="Courier New" pitchFamily="34" charset="0"/>
                <a:ea typeface="Courier New" pitchFamily="34" charset="-122"/>
                <a:cs typeface="Courier New" pitchFamily="34" charset="-120"/>
              </a:rPr>
              <a:t>- class TaskQueue {</a:t>
            </a:r>
            <a:endParaRPr lang="en-US" sz="1500" dirty="0"/>
          </a:p>
          <a:p>
            <a:pPr indent="0" marL="0">
              <a:lnSpc>
                <a:spcPct val="100000"/>
              </a:lnSpc>
              <a:buNone/>
            </a:pPr>
            <a:r>
              <a:rPr lang="en-US" sz="1500" strike="sngStrike" dirty="0">
                <a:solidFill>
                  <a:srgbClr val="FCA5A5"/>
                </a:solidFill>
                <a:latin typeface="Courier New" pitchFamily="34" charset="0"/>
                <a:ea typeface="Courier New" pitchFamily="34" charset="-122"/>
                <a:cs typeface="Courier New" pitchFamily="34" charset="-120"/>
              </a:rPr>
              <a:t>-     std::thread worker;</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class ThreadPool {</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ThreadSafeQueue&lt;Task&gt; tasks;   // destroyed last</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ThreadGroup workers;</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public:</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explicit ThreadPool(unsigned n) {</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for (unsigned i = 0; i &lt; n; ++i)</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workers.add(std::thread([this] { work(); }));</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~ThreadPool() { tasks.shutdown(); }</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a:t>
            </a:r>
            <a:endParaRPr lang="en-US" sz="1500" dirty="0"/>
          </a:p>
        </p:txBody>
      </p:sp>
      <p:sp>
        <p:nvSpPr>
          <p:cNvPr id="15" name="Shape 13"/>
          <p:cNvSpPr/>
          <p:nvPr/>
        </p:nvSpPr>
        <p:spPr>
          <a:xfrm>
            <a:off x="8001000" y="1728216"/>
            <a:ext cx="365760" cy="365760"/>
          </a:xfrm>
          <a:prstGeom prst="ellipse">
            <a:avLst/>
          </a:prstGeom>
          <a:solidFill>
            <a:srgbClr val="0F766E"/>
          </a:solidFill>
          <a:ln w="12700">
            <a:solidFill>
              <a:srgbClr val="0F766E"/>
            </a:solidFill>
            <a:prstDash val="solid"/>
          </a:ln>
        </p:spPr>
      </p:sp>
      <p:sp>
        <p:nvSpPr>
          <p:cNvPr id="16" name="Text 14"/>
          <p:cNvSpPr txBox="1"/>
          <p:nvPr/>
        </p:nvSpPr>
        <p:spPr>
          <a:xfrm>
            <a:off x="8001000" y="17282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8503920" y="1764792"/>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N workers run the same v8 loop on one queue.</a:t>
            </a:r>
            <a:endParaRPr lang="en-US" sz="1600" dirty="0"/>
          </a:p>
        </p:txBody>
      </p:sp>
      <p:sp>
        <p:nvSpPr>
          <p:cNvPr id="18" name="Shape 16"/>
          <p:cNvSpPr/>
          <p:nvPr/>
        </p:nvSpPr>
        <p:spPr>
          <a:xfrm>
            <a:off x="8001000" y="2518664"/>
            <a:ext cx="365760" cy="365760"/>
          </a:xfrm>
          <a:prstGeom prst="ellipse">
            <a:avLst/>
          </a:prstGeom>
          <a:solidFill>
            <a:srgbClr val="0F766E"/>
          </a:solidFill>
          <a:ln w="12700">
            <a:solidFill>
              <a:srgbClr val="0F766E"/>
            </a:solidFill>
            <a:prstDash val="solid"/>
          </a:ln>
        </p:spPr>
      </p:sp>
      <p:sp>
        <p:nvSpPr>
          <p:cNvPr id="19" name="Text 17"/>
          <p:cNvSpPr txBox="1"/>
          <p:nvPr/>
        </p:nvSpPr>
        <p:spPr>
          <a:xfrm>
            <a:off x="8001000" y="25186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8503920" y="2555240"/>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Shut down first, then the ThreadGroup member joins.</a:t>
            </a:r>
            <a:endParaRPr lang="en-US" sz="1600" dirty="0"/>
          </a:p>
        </p:txBody>
      </p:sp>
      <p:sp>
        <p:nvSpPr>
          <p:cNvPr id="21" name="Shape 19"/>
          <p:cNvSpPr/>
          <p:nvPr/>
        </p:nvSpPr>
        <p:spPr>
          <a:xfrm>
            <a:off x="8001000" y="3309112"/>
            <a:ext cx="365760" cy="365760"/>
          </a:xfrm>
          <a:prstGeom prst="ellipse">
            <a:avLst/>
          </a:prstGeom>
          <a:solidFill>
            <a:srgbClr val="0F766E"/>
          </a:solidFill>
          <a:ln w="12700">
            <a:solidFill>
              <a:srgbClr val="0F766E"/>
            </a:solidFill>
            <a:prstDash val="solid"/>
          </a:ln>
        </p:spPr>
      </p:sp>
      <p:sp>
        <p:nvSpPr>
          <p:cNvPr id="22" name="Text 20"/>
          <p:cNvSpPr txBox="1"/>
          <p:nvPr/>
        </p:nvSpPr>
        <p:spPr>
          <a:xfrm>
            <a:off x="8001000" y="330911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503920" y="3345688"/>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CPU work: about one worker per core. Waiting work: many more.</a:t>
            </a:r>
            <a:endParaRPr lang="en-US" sz="16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V9  ·  THREAD POOL</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1B2430"/>
          </a:solidFill>
          <a:ln w="12700">
            <a:solidFill>
              <a:srgbClr val="1B2430"/>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Check yourself</a:t>
            </a:r>
            <a:endParaRPr lang="en-US" sz="2800" dirty="0"/>
          </a:p>
        </p:txBody>
      </p:sp>
      <p:sp>
        <p:nvSpPr>
          <p:cNvPr id="12" name="Shape 10"/>
          <p:cNvSpPr/>
          <p:nvPr/>
        </p:nvSpPr>
        <p:spPr>
          <a:xfrm>
            <a:off x="548640" y="1417320"/>
            <a:ext cx="4206240" cy="1404366"/>
          </a:xfrm>
          <a:prstGeom prst="roundRect">
            <a:avLst>
              <a:gd name="adj" fmla="val 5209"/>
            </a:avLst>
          </a:prstGeom>
          <a:solidFill>
            <a:srgbClr val="EEF2F5"/>
          </a:solidFill>
          <a:ln w="12700">
            <a:solidFill>
              <a:srgbClr val="EEF2F5"/>
            </a:solidFill>
            <a:prstDash val="solid"/>
          </a:ln>
        </p:spPr>
      </p:sp>
      <p:sp>
        <p:nvSpPr>
          <p:cNvPr id="13" name="Text 11"/>
          <p:cNvSpPr txBox="1"/>
          <p:nvPr/>
        </p:nvSpPr>
        <p:spPr>
          <a:xfrm>
            <a:off x="777240" y="1600200"/>
            <a:ext cx="3749040"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THE LESSON</a:t>
            </a:r>
            <a:endParaRPr lang="en-US" sz="1200" dirty="0"/>
          </a:p>
        </p:txBody>
      </p:sp>
      <p:sp>
        <p:nvSpPr>
          <p:cNvPr id="14" name="Text 12"/>
          <p:cNvSpPr txBox="1"/>
          <p:nvPr/>
        </p:nvSpPr>
        <p:spPr>
          <a:xfrm>
            <a:off x="777240" y="1911096"/>
            <a:ext cx="3749040" cy="800862"/>
          </a:xfrm>
          <a:prstGeom prst="rect">
            <a:avLst/>
          </a:prstGeom>
          <a:noFill/>
          <a:ln/>
        </p:spPr>
        <p:txBody>
          <a:bodyPr wrap="square" lIns="0" tIns="0" rIns="0" bIns="0" rtlCol="0" anchor="t"/>
          <a:lstStyle/>
          <a:p>
            <a:pPr indent="0" marL="0">
              <a:lnSpc>
                <a:spcPct val="105000"/>
              </a:lnSpc>
              <a:buNone/>
            </a:pPr>
            <a:r>
              <a:rPr lang="en-US" sz="1700" dirty="0">
                <a:solidFill>
                  <a:srgbClr val="1B2430"/>
                </a:solidFill>
                <a:latin typeface="Calibri" pitchFamily="34" charset="0"/>
                <a:ea typeface="Calibri" pitchFamily="34" charset="-122"/>
                <a:cs typeface="Calibri" pitchFamily="34" charset="-120"/>
              </a:rPr>
              <a:t>For computing, about one worker per core. For waiting, many more. Shut down before joining.</a:t>
            </a:r>
            <a:endParaRPr lang="en-US" sz="1700" dirty="0"/>
          </a:p>
        </p:txBody>
      </p:sp>
      <p:sp>
        <p:nvSpPr>
          <p:cNvPr id="15" name="Text 13"/>
          <p:cNvSpPr txBox="1"/>
          <p:nvPr/>
        </p:nvSpPr>
        <p:spPr>
          <a:xfrm>
            <a:off x="548640" y="3096006"/>
            <a:ext cx="420624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EXPLAIN WITHOUT LOOKING</a:t>
            </a:r>
            <a:endParaRPr lang="en-US" sz="1200" dirty="0"/>
          </a:p>
        </p:txBody>
      </p:sp>
      <p:sp>
        <p:nvSpPr>
          <p:cNvPr id="16" name="Shape 14"/>
          <p:cNvSpPr/>
          <p:nvPr/>
        </p:nvSpPr>
        <p:spPr>
          <a:xfrm>
            <a:off x="548640" y="3489198"/>
            <a:ext cx="182880" cy="182880"/>
          </a:xfrm>
          <a:prstGeom prst="rect">
            <a:avLst/>
          </a:prstGeom>
          <a:solidFill>
            <a:srgbClr val="FFFFFF"/>
          </a:solidFill>
          <a:ln w="15875">
            <a:solidFill>
              <a:srgbClr val="0F766E"/>
            </a:solidFill>
            <a:prstDash val="solid"/>
          </a:ln>
        </p:spPr>
      </p:sp>
      <p:sp>
        <p:nvSpPr>
          <p:cNvPr id="17" name="Text 15"/>
          <p:cNvSpPr txBox="1"/>
          <p:nvPr/>
        </p:nvSpPr>
        <p:spPr>
          <a:xfrm>
            <a:off x="868680" y="3443478"/>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In what order are members destroyed?</a:t>
            </a:r>
            <a:endParaRPr lang="en-US" sz="1500" dirty="0"/>
          </a:p>
        </p:txBody>
      </p:sp>
      <p:sp>
        <p:nvSpPr>
          <p:cNvPr id="18" name="Shape 16"/>
          <p:cNvSpPr/>
          <p:nvPr/>
        </p:nvSpPr>
        <p:spPr>
          <a:xfrm>
            <a:off x="548640" y="3860292"/>
            <a:ext cx="182880" cy="182880"/>
          </a:xfrm>
          <a:prstGeom prst="rect">
            <a:avLst/>
          </a:prstGeom>
          <a:solidFill>
            <a:srgbClr val="FFFFFF"/>
          </a:solidFill>
          <a:ln w="15875">
            <a:solidFill>
              <a:srgbClr val="0F766E"/>
            </a:solidFill>
            <a:prstDash val="solid"/>
          </a:ln>
        </p:spPr>
      </p:sp>
      <p:sp>
        <p:nvSpPr>
          <p:cNvPr id="19" name="Text 17"/>
          <p:cNvSpPr txBox="1"/>
          <p:nvPr/>
        </p:nvSpPr>
        <p:spPr>
          <a:xfrm>
            <a:off x="868680" y="3814572"/>
            <a:ext cx="3886200"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if workers are joined before shutdown?</a:t>
            </a:r>
            <a:endParaRPr lang="en-US" sz="1500" dirty="0"/>
          </a:p>
        </p:txBody>
      </p:sp>
      <p:sp>
        <p:nvSpPr>
          <p:cNvPr id="20" name="Shape 18"/>
          <p:cNvSpPr/>
          <p:nvPr/>
        </p:nvSpPr>
        <p:spPr>
          <a:xfrm>
            <a:off x="548640" y="4456176"/>
            <a:ext cx="182880" cy="182880"/>
          </a:xfrm>
          <a:prstGeom prst="rect">
            <a:avLst/>
          </a:prstGeom>
          <a:solidFill>
            <a:srgbClr val="FFFFFF"/>
          </a:solidFill>
          <a:ln w="15875">
            <a:solidFill>
              <a:srgbClr val="0F766E"/>
            </a:solidFill>
            <a:prstDash val="solid"/>
          </a:ln>
        </p:spPr>
      </p:sp>
      <p:sp>
        <p:nvSpPr>
          <p:cNvPr id="21" name="Text 19"/>
          <p:cNvSpPr txBox="1"/>
          <p:nvPr/>
        </p:nvSpPr>
        <p:spPr>
          <a:xfrm>
            <a:off x="868680" y="4410456"/>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is capturing this safe here?</a:t>
            </a:r>
            <a:endParaRPr lang="en-US" sz="1500" dirty="0"/>
          </a:p>
        </p:txBody>
      </p:sp>
      <p:sp>
        <p:nvSpPr>
          <p:cNvPr id="22" name="Shape 20"/>
          <p:cNvSpPr/>
          <p:nvPr/>
        </p:nvSpPr>
        <p:spPr>
          <a:xfrm>
            <a:off x="548640" y="4827270"/>
            <a:ext cx="182880" cy="182880"/>
          </a:xfrm>
          <a:prstGeom prst="rect">
            <a:avLst/>
          </a:prstGeom>
          <a:solidFill>
            <a:srgbClr val="FFFFFF"/>
          </a:solidFill>
          <a:ln w="15875">
            <a:solidFill>
              <a:srgbClr val="0F766E"/>
            </a:solidFill>
            <a:prstDash val="solid"/>
          </a:ln>
        </p:spPr>
      </p:sp>
      <p:sp>
        <p:nvSpPr>
          <p:cNvPr id="23" name="Text 21"/>
          <p:cNvSpPr txBox="1"/>
          <p:nvPr/>
        </p:nvSpPr>
        <p:spPr>
          <a:xfrm>
            <a:off x="868680" y="4781550"/>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How many workers for network calls?</a:t>
            </a:r>
            <a:endParaRPr lang="en-US" sz="1500" dirty="0"/>
          </a:p>
        </p:txBody>
      </p:sp>
      <p:sp>
        <p:nvSpPr>
          <p:cNvPr id="24" name="Shape 22"/>
          <p:cNvSpPr/>
          <p:nvPr/>
        </p:nvSpPr>
        <p:spPr>
          <a:xfrm>
            <a:off x="5166360" y="1417320"/>
            <a:ext cx="6476695" cy="1294130"/>
          </a:xfrm>
          <a:prstGeom prst="roundRect">
            <a:avLst>
              <a:gd name="adj" fmla="val 5653"/>
            </a:avLst>
          </a:prstGeom>
          <a:solidFill>
            <a:srgbClr val="FFFFFF"/>
          </a:solidFill>
          <a:ln w="12700">
            <a:solidFill>
              <a:srgbClr val="D5DDE5"/>
            </a:solidFill>
            <a:prstDash val="solid"/>
          </a:ln>
        </p:spPr>
      </p:sp>
      <p:sp>
        <p:nvSpPr>
          <p:cNvPr id="25" name="Text 23"/>
          <p:cNvSpPr txBox="1"/>
          <p:nvPr/>
        </p:nvSpPr>
        <p:spPr>
          <a:xfrm>
            <a:off x="5394960" y="15819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NUMBERS</a:t>
            </a:r>
            <a:endParaRPr lang="en-US" sz="1200" dirty="0"/>
          </a:p>
        </p:txBody>
      </p:sp>
      <p:sp>
        <p:nvSpPr>
          <p:cNvPr id="26" name="Text 24"/>
          <p:cNvSpPr txBox="1"/>
          <p:nvPr/>
        </p:nvSpPr>
        <p:spPr>
          <a:xfrm>
            <a:off x="5394960" y="1892808"/>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64 busy 100 ms tasks on 4 cores, 4 workers. Rough total?</a:t>
            </a:r>
            <a:endParaRPr lang="en-US" sz="1500" dirty="0"/>
          </a:p>
        </p:txBody>
      </p:sp>
      <p:sp>
        <p:nvSpPr>
          <p:cNvPr id="27" name="Text 25"/>
          <p:cNvSpPr txBox="1"/>
          <p:nvPr/>
        </p:nvSpPr>
        <p:spPr>
          <a:xfrm>
            <a:off x="5394960" y="224561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64 × 0.1 / 4 = 1.6 s.</a:t>
            </a:r>
            <a:endParaRPr lang="en-US" sz="1400" dirty="0"/>
          </a:p>
        </p:txBody>
      </p:sp>
      <p:sp>
        <p:nvSpPr>
          <p:cNvPr id="28" name="Shape 26"/>
          <p:cNvSpPr/>
          <p:nvPr/>
        </p:nvSpPr>
        <p:spPr>
          <a:xfrm>
            <a:off x="5166360" y="2894330"/>
            <a:ext cx="6476695" cy="1294130"/>
          </a:xfrm>
          <a:prstGeom prst="roundRect">
            <a:avLst>
              <a:gd name="adj" fmla="val 5653"/>
            </a:avLst>
          </a:prstGeom>
          <a:solidFill>
            <a:srgbClr val="FFFFFF"/>
          </a:solidFill>
          <a:ln w="12700">
            <a:solidFill>
              <a:srgbClr val="D5DDE5"/>
            </a:solidFill>
            <a:prstDash val="solid"/>
          </a:ln>
        </p:spPr>
      </p:sp>
      <p:sp>
        <p:nvSpPr>
          <p:cNvPr id="29" name="Text 27"/>
          <p:cNvSpPr txBox="1"/>
          <p:nvPr/>
        </p:nvSpPr>
        <p:spPr>
          <a:xfrm>
            <a:off x="5394960" y="305892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TRACE IT</a:t>
            </a:r>
            <a:endParaRPr lang="en-US" sz="1200" dirty="0"/>
          </a:p>
        </p:txBody>
      </p:sp>
      <p:sp>
        <p:nvSpPr>
          <p:cNvPr id="30" name="Text 28"/>
          <p:cNvSpPr txBox="1"/>
          <p:nvPr/>
        </p:nvSpPr>
        <p:spPr>
          <a:xfrm>
            <a:off x="5394960" y="3369818"/>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Destroy the pool with 1,000 tasks queued. What runs?</a:t>
            </a:r>
            <a:endParaRPr lang="en-US" sz="1500" dirty="0"/>
          </a:p>
        </p:txBody>
      </p:sp>
      <p:sp>
        <p:nvSpPr>
          <p:cNvPr id="31" name="Text 29"/>
          <p:cNvSpPr txBox="1"/>
          <p:nvPr/>
        </p:nvSpPr>
        <p:spPr>
          <a:xfrm>
            <a:off x="5394960" y="372262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All 1,000 run first (drain policy), then workers exit.</a:t>
            </a:r>
            <a:endParaRPr lang="en-US" sz="1400" dirty="0"/>
          </a:p>
        </p:txBody>
      </p:sp>
      <p:sp>
        <p:nvSpPr>
          <p:cNvPr id="32" name="Shape 30"/>
          <p:cNvSpPr/>
          <p:nvPr/>
        </p:nvSpPr>
        <p:spPr>
          <a:xfrm>
            <a:off x="5166360" y="4371340"/>
            <a:ext cx="6476695" cy="1503934"/>
          </a:xfrm>
          <a:prstGeom prst="roundRect">
            <a:avLst>
              <a:gd name="adj" fmla="val 4864"/>
            </a:avLst>
          </a:prstGeom>
          <a:solidFill>
            <a:srgbClr val="FFFFFF"/>
          </a:solidFill>
          <a:ln w="12700">
            <a:solidFill>
              <a:srgbClr val="D5DDE5"/>
            </a:solidFill>
            <a:prstDash val="solid"/>
          </a:ln>
        </p:spPr>
      </p:sp>
      <p:sp>
        <p:nvSpPr>
          <p:cNvPr id="33" name="Text 31"/>
          <p:cNvSpPr txBox="1"/>
          <p:nvPr/>
        </p:nvSpPr>
        <p:spPr>
          <a:xfrm>
            <a:off x="5394960" y="453593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DESIGN</a:t>
            </a:r>
            <a:endParaRPr lang="en-US" sz="1200" dirty="0"/>
          </a:p>
        </p:txBody>
      </p:sp>
      <p:sp>
        <p:nvSpPr>
          <p:cNvPr id="34" name="Text 32"/>
          <p:cNvSpPr txBox="1"/>
          <p:nvPr/>
        </p:nvSpPr>
        <p:spPr>
          <a:xfrm>
            <a:off x="5394960" y="4846828"/>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100,000 tiny tasks don't speed up with more workers. Why?</a:t>
            </a:r>
            <a:endParaRPr lang="en-US" sz="1500" dirty="0"/>
          </a:p>
        </p:txBody>
      </p:sp>
      <p:sp>
        <p:nvSpPr>
          <p:cNvPr id="35" name="Text 33"/>
          <p:cNvSpPr txBox="1"/>
          <p:nvPr/>
        </p:nvSpPr>
        <p:spPr>
          <a:xfrm>
            <a:off x="5394960" y="5199634"/>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They all fight over one queue mutex: contention (v5). Motivates Part 3.</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V9  ·  REAL WORKLOADS</a:t>
            </a:r>
            <a:endParaRPr lang="en-US" sz="1200" dirty="0"/>
          </a:p>
        </p:txBody>
      </p:sp>
      <p:sp>
        <p:nvSpPr>
          <p:cNvPr id="3" name="Shape 1"/>
          <p:cNvSpPr/>
          <p:nvPr/>
        </p:nvSpPr>
        <p:spPr>
          <a:xfrm>
            <a:off x="6229807" y="292608"/>
            <a:ext cx="1298448" cy="274320"/>
          </a:xfrm>
          <a:prstGeom prst="roundRect">
            <a:avLst>
              <a:gd name="adj" fmla="val 23333"/>
            </a:avLst>
          </a:prstGeom>
          <a:solidFill>
            <a:srgbClr val="1B2430"/>
          </a:solidFill>
          <a:ln w="12700">
            <a:solidFill>
              <a:srgbClr val="1B2430"/>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8 workers, as slow as 1</a:t>
            </a:r>
            <a:endParaRPr lang="en-US" sz="2800" dirty="0"/>
          </a:p>
        </p:txBody>
      </p:sp>
      <p:sp>
        <p:nvSpPr>
          <p:cNvPr id="12" name="Shape 10"/>
          <p:cNvSpPr/>
          <p:nvPr/>
        </p:nvSpPr>
        <p:spPr>
          <a:xfrm>
            <a:off x="548640" y="1417320"/>
            <a:ext cx="6766560" cy="1700784"/>
          </a:xfrm>
          <a:prstGeom prst="roundRect">
            <a:avLst>
              <a:gd name="adj" fmla="val 4301"/>
            </a:avLst>
          </a:prstGeom>
          <a:solidFill>
            <a:srgbClr val="EEF2F5"/>
          </a:solidFill>
          <a:ln w="12700">
            <a:solidFill>
              <a:srgbClr val="EEF2F5"/>
            </a:solidFill>
            <a:prstDash val="solid"/>
          </a:ln>
        </p:spPr>
      </p:sp>
      <p:sp>
        <p:nvSpPr>
          <p:cNvPr id="13" name="Text 11"/>
          <p:cNvSpPr txBox="1"/>
          <p:nvPr/>
        </p:nvSpPr>
        <p:spPr>
          <a:xfrm>
            <a:off x="731520" y="1581912"/>
            <a:ext cx="6400800" cy="13716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pool.submit([&amp;]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std::lock_guard l(m);</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auto page = download(url);     // 50 ms</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auto r = expensive_calc(page);</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results.push_back(r);</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a:t>
            </a:r>
            <a:endParaRPr lang="en-US" sz="1500" dirty="0"/>
          </a:p>
        </p:txBody>
      </p:sp>
      <p:sp>
        <p:nvSpPr>
          <p:cNvPr id="14" name="Shape 12"/>
          <p:cNvSpPr/>
          <p:nvPr/>
        </p:nvSpPr>
        <p:spPr>
          <a:xfrm>
            <a:off x="548640" y="3346704"/>
            <a:ext cx="6766560" cy="1014984"/>
          </a:xfrm>
          <a:prstGeom prst="roundRect">
            <a:avLst>
              <a:gd name="adj" fmla="val 7207"/>
            </a:avLst>
          </a:prstGeom>
          <a:solidFill>
            <a:srgbClr val="161C24"/>
          </a:solidFill>
          <a:ln w="12700">
            <a:solidFill>
              <a:srgbClr val="161C24"/>
            </a:solidFill>
            <a:prstDash val="solid"/>
          </a:ln>
        </p:spPr>
      </p:sp>
      <p:sp>
        <p:nvSpPr>
          <p:cNvPr id="15" name="Text 13"/>
          <p:cNvSpPr txBox="1"/>
          <p:nvPr/>
        </p:nvSpPr>
        <p:spPr>
          <a:xfrm>
            <a:off x="731520" y="3511296"/>
            <a:ext cx="6400800" cy="685800"/>
          </a:xfrm>
          <a:prstGeom prst="rect">
            <a:avLst/>
          </a:prstGeom>
          <a:noFill/>
          <a:ln/>
        </p:spPr>
        <p:txBody>
          <a:bodyPr wrap="square" lIns="0" tIns="0" rIns="0" bIns="0" rtlCol="0" anchor="t"/>
          <a:lstStyle/>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download(url)        → touches shared data?</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expensive_calc(page) → touches shared data?</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results.push_back(r) → touches shared data?</a:t>
            </a:r>
            <a:endParaRPr lang="en-US" sz="1500" dirty="0"/>
          </a:p>
        </p:txBody>
      </p:sp>
      <p:sp>
        <p:nvSpPr>
          <p:cNvPr id="16" name="Text 14"/>
          <p:cNvSpPr txBox="1"/>
          <p:nvPr/>
        </p:nvSpPr>
        <p:spPr>
          <a:xfrm>
            <a:off x="7680960" y="1417320"/>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THE QUESTION</a:t>
            </a:r>
            <a:endParaRPr lang="en-US" sz="1200" dirty="0"/>
          </a:p>
        </p:txBody>
      </p:sp>
      <p:sp>
        <p:nvSpPr>
          <p:cNvPr id="17" name="Text 15"/>
          <p:cNvSpPr txBox="1"/>
          <p:nvPr/>
        </p:nvSpPr>
        <p:spPr>
          <a:xfrm>
            <a:off x="7680960" y="1728216"/>
            <a:ext cx="3962095" cy="576072"/>
          </a:xfrm>
          <a:prstGeom prst="rect">
            <a:avLst/>
          </a:prstGeom>
          <a:noFill/>
          <a:ln/>
        </p:spPr>
        <p:txBody>
          <a:bodyPr wrap="square" lIns="0" tIns="0" rIns="0" bIns="0" rtlCol="0" anchor="t"/>
          <a:lstStyle/>
          <a:p>
            <a:pPr indent="0" marL="0">
              <a:lnSpc>
                <a:spcPct val="105000"/>
              </a:lnSpc>
              <a:buNone/>
            </a:pPr>
            <a:r>
              <a:rPr lang="en-US" sz="1800" b="1" dirty="0">
                <a:solidFill>
                  <a:srgbClr val="1B2430"/>
                </a:solidFill>
                <a:latin typeface="Calibri" pitchFamily="34" charset="0"/>
                <a:ea typeface="Calibri" pitchFamily="34" charset="-122"/>
                <a:cs typeface="Calibri" pitchFamily="34" charset="-120"/>
              </a:rPr>
              <a:t>64 of these jobs on 8 workers take as long as on 1 worker. Why?</a:t>
            </a:r>
            <a:endParaRPr lang="en-US" sz="1800" dirty="0"/>
          </a:p>
        </p:txBody>
      </p:sp>
      <p:sp>
        <p:nvSpPr>
          <p:cNvPr id="18" name="Text 16"/>
          <p:cNvSpPr txBox="1"/>
          <p:nvPr/>
        </p:nvSpPr>
        <p:spPr>
          <a:xfrm>
            <a:off x="7680960" y="2532888"/>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PREDICT</a:t>
            </a:r>
            <a:endParaRPr lang="en-US" sz="1200" dirty="0"/>
          </a:p>
        </p:txBody>
      </p:sp>
      <p:sp>
        <p:nvSpPr>
          <p:cNvPr id="19" name="Text 17"/>
          <p:cNvSpPr txBox="1"/>
          <p:nvPr/>
        </p:nvSpPr>
        <p:spPr>
          <a:xfrm>
            <a:off x="7680960" y="2843784"/>
            <a:ext cx="3962095" cy="276352"/>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Which line actually needs the lock?</a:t>
            </a:r>
            <a:endParaRPr lang="en-US" sz="1600" dirty="0"/>
          </a:p>
        </p:txBody>
      </p:sp>
      <p:sp>
        <p:nvSpPr>
          <p:cNvPr id="20" name="Shape 18"/>
          <p:cNvSpPr/>
          <p:nvPr/>
        </p:nvSpPr>
        <p:spPr>
          <a:xfrm>
            <a:off x="7680960" y="3394456"/>
            <a:ext cx="3962095" cy="1539240"/>
          </a:xfrm>
          <a:prstGeom prst="roundRect">
            <a:avLst>
              <a:gd name="adj" fmla="val 4752"/>
            </a:avLst>
          </a:prstGeom>
          <a:solidFill>
            <a:srgbClr val="EEF2F5"/>
          </a:solidFill>
          <a:ln w="12700">
            <a:solidFill>
              <a:srgbClr val="EEF2F5"/>
            </a:solidFill>
            <a:prstDash val="solid"/>
          </a:ln>
        </p:spPr>
      </p:sp>
      <p:sp>
        <p:nvSpPr>
          <p:cNvPr id="21" name="Text 19"/>
          <p:cNvSpPr txBox="1"/>
          <p:nvPr/>
        </p:nvSpPr>
        <p:spPr>
          <a:xfrm>
            <a:off x="7909560" y="3577336"/>
            <a:ext cx="3504895"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ANSWER</a:t>
            </a:r>
            <a:endParaRPr lang="en-US" sz="1200" dirty="0"/>
          </a:p>
        </p:txBody>
      </p:sp>
      <p:sp>
        <p:nvSpPr>
          <p:cNvPr id="22" name="Text 20"/>
          <p:cNvSpPr txBox="1"/>
          <p:nvPr/>
        </p:nvSpPr>
        <p:spPr>
          <a:xfrm>
            <a:off x="7909560" y="3888232"/>
            <a:ext cx="3504895" cy="93573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Only results.push_back(r).</a:t>
            </a:r>
            <a:endParaRPr lang="en-US" sz="1500" dirty="0"/>
          </a:p>
          <a:p>
            <a:pPr indent="0" marL="0">
              <a:lnSpc>
                <a:spcPct val="105000"/>
              </a:lnSpc>
              <a:buNone/>
            </a:pP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download and calc only touch locals.</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V9  ·  REAL WORKLOADS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1B2430"/>
          </a:solidFill>
          <a:ln w="12700">
            <a:solidFill>
              <a:srgbClr val="1B2430"/>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Lock the shared touch, not the task</a:t>
            </a:r>
            <a:endParaRPr lang="en-US" sz="2800" dirty="0"/>
          </a:p>
        </p:txBody>
      </p:sp>
      <p:sp>
        <p:nvSpPr>
          <p:cNvPr id="12" name="Text 10"/>
          <p:cNvSpPr txBox="1"/>
          <p:nvPr/>
        </p:nvSpPr>
        <p:spPr>
          <a:xfrm>
            <a:off x="548640" y="1417320"/>
            <a:ext cx="429768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RUN IT</a:t>
            </a:r>
            <a:endParaRPr lang="en-US" sz="1200" dirty="0"/>
          </a:p>
        </p:txBody>
      </p:sp>
      <p:sp>
        <p:nvSpPr>
          <p:cNvPr id="13" name="Shape 11"/>
          <p:cNvSpPr/>
          <p:nvPr/>
        </p:nvSpPr>
        <p:spPr>
          <a:xfrm>
            <a:off x="548640" y="1728216"/>
            <a:ext cx="4297680" cy="969264"/>
          </a:xfrm>
          <a:prstGeom prst="roundRect">
            <a:avLst>
              <a:gd name="adj" fmla="val 7547"/>
            </a:avLst>
          </a:prstGeom>
          <a:solidFill>
            <a:srgbClr val="0D1117"/>
          </a:solidFill>
          <a:ln w="12700">
            <a:solidFill>
              <a:srgbClr val="0D1117"/>
            </a:solidFill>
            <a:prstDash val="solid"/>
          </a:ln>
        </p:spPr>
      </p:sp>
      <p:sp>
        <p:nvSpPr>
          <p:cNvPr id="14" name="Text 12"/>
          <p:cNvSpPr txBox="1"/>
          <p:nvPr/>
        </p:nvSpPr>
        <p:spPr>
          <a:xfrm>
            <a:off x="731520" y="1892808"/>
            <a:ext cx="3931920" cy="640080"/>
          </a:xfrm>
          <a:prstGeom prst="rect">
            <a:avLst/>
          </a:prstGeom>
          <a:noFill/>
          <a:ln/>
        </p:spPr>
        <p:txBody>
          <a:bodyPr wrap="square" lIns="0" tIns="0" rIns="0" bIns="0" rtlCol="0" anchor="t"/>
          <a:lstStyle/>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 ./tiny_granularity</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lock everything: 3.2 s</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lock push_back:  0.4 s</a:t>
            </a:r>
            <a:endParaRPr lang="en-US" sz="1400" dirty="0"/>
          </a:p>
        </p:txBody>
      </p:sp>
      <p:sp>
        <p:nvSpPr>
          <p:cNvPr id="15" name="Text 13"/>
          <p:cNvSpPr txBox="1"/>
          <p:nvPr/>
        </p:nvSpPr>
        <p:spPr>
          <a:xfrm>
            <a:off x="548640" y="2880360"/>
            <a:ext cx="429768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Same 64 results, 8× faster.</a:t>
            </a:r>
            <a:endParaRPr lang="en-US" sz="1500" dirty="0"/>
          </a:p>
        </p:txBody>
      </p:sp>
      <p:sp>
        <p:nvSpPr>
          <p:cNvPr id="16" name="Text 14"/>
          <p:cNvSpPr txBox="1"/>
          <p:nvPr/>
        </p:nvSpPr>
        <p:spPr>
          <a:xfrm>
            <a:off x="5166360" y="1417320"/>
            <a:ext cx="6476695"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WHAT HAPPENS, STEP BY STEP</a:t>
            </a:r>
            <a:endParaRPr lang="en-US" sz="1200" dirty="0"/>
          </a:p>
        </p:txBody>
      </p:sp>
      <p:sp>
        <p:nvSpPr>
          <p:cNvPr id="17" name="Shape 15"/>
          <p:cNvSpPr/>
          <p:nvPr/>
        </p:nvSpPr>
        <p:spPr>
          <a:xfrm>
            <a:off x="5166360" y="1728216"/>
            <a:ext cx="6476695" cy="2386584"/>
          </a:xfrm>
          <a:prstGeom prst="roundRect">
            <a:avLst>
              <a:gd name="adj" fmla="val 3065"/>
            </a:avLst>
          </a:prstGeom>
          <a:solidFill>
            <a:srgbClr val="EEF2F5"/>
          </a:solidFill>
          <a:ln w="12700">
            <a:solidFill>
              <a:srgbClr val="EEF2F5"/>
            </a:solidFill>
            <a:prstDash val="solid"/>
          </a:ln>
        </p:spPr>
      </p:sp>
      <p:sp>
        <p:nvSpPr>
          <p:cNvPr id="18" name="Text 16"/>
          <p:cNvSpPr txBox="1"/>
          <p:nvPr/>
        </p:nvSpPr>
        <p:spPr>
          <a:xfrm>
            <a:off x="5349240" y="1892808"/>
            <a:ext cx="6110935" cy="20574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lock around the whole task</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w1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w2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w3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lock around push_back only</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w1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w2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w3 ████████▌      ▌ = the locked line</a:t>
            </a:r>
            <a:endParaRPr lang="en-US" sz="1500" dirty="0"/>
          </a:p>
        </p:txBody>
      </p:sp>
      <p:sp>
        <p:nvSpPr>
          <p:cNvPr id="19" name="Shape 17"/>
          <p:cNvSpPr/>
          <p:nvPr/>
        </p:nvSpPr>
        <p:spPr>
          <a:xfrm>
            <a:off x="5166360" y="4343400"/>
            <a:ext cx="6476695" cy="1089660"/>
          </a:xfrm>
          <a:prstGeom prst="roundRect">
            <a:avLst>
              <a:gd name="adj" fmla="val 6713"/>
            </a:avLst>
          </a:prstGeom>
          <a:solidFill>
            <a:srgbClr val="FDF1E8"/>
          </a:solidFill>
          <a:ln w="12700">
            <a:solidFill>
              <a:srgbClr val="FDF1E8"/>
            </a:solidFill>
            <a:prstDash val="solid"/>
          </a:ln>
        </p:spPr>
      </p:sp>
      <p:sp>
        <p:nvSpPr>
          <p:cNvPr id="20" name="Text 18"/>
          <p:cNvSpPr txBox="1"/>
          <p:nvPr/>
        </p:nvSpPr>
        <p:spPr>
          <a:xfrm>
            <a:off x="5394960" y="4526280"/>
            <a:ext cx="60194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SO</a:t>
            </a:r>
            <a:endParaRPr lang="en-US" sz="1200" dirty="0"/>
          </a:p>
        </p:txBody>
      </p:sp>
      <p:sp>
        <p:nvSpPr>
          <p:cNvPr id="21" name="Text 19"/>
          <p:cNvSpPr txBox="1"/>
          <p:nvPr/>
        </p:nvSpPr>
        <p:spPr>
          <a:xfrm>
            <a:off x="5394960" y="4837176"/>
            <a:ext cx="6019495"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Two more day-one tools: many readers of a cache → shared_mutex. Create the pool once → static or call_once.</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V9  ·  REAL WORKLOADS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1B2430"/>
          </a:solidFill>
          <a:ln w="12700">
            <a:solidFill>
              <a:srgbClr val="1B2430"/>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Many readers, one writer</a:t>
            </a:r>
            <a:endParaRPr lang="en-US" sz="2800" dirty="0"/>
          </a:p>
        </p:txBody>
      </p:sp>
      <p:sp>
        <p:nvSpPr>
          <p:cNvPr id="12" name="Text 10"/>
          <p:cNvSpPr txBox="1"/>
          <p:nvPr/>
        </p:nvSpPr>
        <p:spPr>
          <a:xfrm>
            <a:off x="548640" y="1417320"/>
            <a:ext cx="676656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dns_cache.hpp</a:t>
            </a:r>
            <a:endParaRPr lang="en-US" sz="1200" dirty="0"/>
          </a:p>
        </p:txBody>
      </p:sp>
      <p:sp>
        <p:nvSpPr>
          <p:cNvPr id="13" name="Shape 11"/>
          <p:cNvSpPr/>
          <p:nvPr/>
        </p:nvSpPr>
        <p:spPr>
          <a:xfrm>
            <a:off x="548640" y="1728216"/>
            <a:ext cx="7132320" cy="2904744"/>
          </a:xfrm>
          <a:prstGeom prst="roundRect">
            <a:avLst>
              <a:gd name="adj" fmla="val 2518"/>
            </a:avLst>
          </a:prstGeom>
          <a:solidFill>
            <a:srgbClr val="161C24"/>
          </a:solidFill>
          <a:ln w="12700">
            <a:solidFill>
              <a:srgbClr val="161C24"/>
            </a:solidFill>
            <a:prstDash val="solid"/>
          </a:ln>
        </p:spPr>
      </p:sp>
      <p:sp>
        <p:nvSpPr>
          <p:cNvPr id="14" name="Text 12"/>
          <p:cNvSpPr txBox="1"/>
          <p:nvPr/>
        </p:nvSpPr>
        <p:spPr>
          <a:xfrm>
            <a:off x="731520" y="1892808"/>
            <a:ext cx="6766560" cy="2575560"/>
          </a:xfrm>
          <a:prstGeom prst="rect">
            <a:avLst/>
          </a:prstGeom>
          <a:noFill/>
          <a:ln/>
        </p:spPr>
        <p:txBody>
          <a:bodyPr wrap="square" lIns="0" tIns="0" rIns="0" bIns="0" rtlCol="0" anchor="t"/>
          <a:lstStyle/>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class DnsCache {</a:t>
            </a:r>
            <a:endParaRPr lang="en-US" sz="1300" dirty="0"/>
          </a:p>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std::map&lt;std::string, std::string&gt; entries;</a:t>
            </a:r>
            <a:endParaRPr lang="en-US" sz="1300" dirty="0"/>
          </a:p>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mutable std::shared_mutex m;</a:t>
            </a:r>
            <a:endParaRPr lang="en-US" sz="1300" dirty="0"/>
          </a:p>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public:</a:t>
            </a:r>
            <a:endParaRPr lang="en-US" sz="1300" dirty="0"/>
          </a:p>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std::optional&lt;std::string&gt; find(const std::string&amp; h) const {</a:t>
            </a:r>
            <a:endParaRPr lang="en-US" sz="1300" dirty="0"/>
          </a:p>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std::shared_lock lock(m);      // many readers</a:t>
            </a:r>
            <a:endParaRPr lang="en-US" sz="1300" dirty="0"/>
          </a:p>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a:t>
            </a:r>
            <a:endParaRPr lang="en-US" sz="1300" dirty="0"/>
          </a:p>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a:t>
            </a:r>
            <a:endParaRPr lang="en-US" sz="1300" dirty="0"/>
          </a:p>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void update(std::string h, std::string ip) {</a:t>
            </a:r>
            <a:endParaRPr lang="en-US" sz="1300" dirty="0"/>
          </a:p>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std::unique_lock lock(m);      // one writer</a:t>
            </a:r>
            <a:endParaRPr lang="en-US" sz="1300" dirty="0"/>
          </a:p>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entries[h] = ip;</a:t>
            </a:r>
            <a:endParaRPr lang="en-US" sz="1300" dirty="0"/>
          </a:p>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a:t>
            </a:r>
            <a:endParaRPr lang="en-US" sz="1300" dirty="0"/>
          </a:p>
          <a:p>
            <a:pPr indent="0" marL="0">
              <a:lnSpc>
                <a:spcPct val="100000"/>
              </a:lnSpc>
              <a:buNone/>
            </a:pPr>
            <a:r>
              <a:rPr lang="en-US" sz="1300" dirty="0">
                <a:solidFill>
                  <a:srgbClr val="6EE7D2"/>
                </a:solidFill>
                <a:latin typeface="Courier New" pitchFamily="34" charset="0"/>
                <a:ea typeface="Courier New" pitchFamily="34" charset="-122"/>
                <a:cs typeface="Courier New" pitchFamily="34" charset="-120"/>
              </a:rPr>
              <a:t>+ };</a:t>
            </a:r>
            <a:endParaRPr lang="en-US" sz="1300" dirty="0"/>
          </a:p>
        </p:txBody>
      </p:sp>
      <p:sp>
        <p:nvSpPr>
          <p:cNvPr id="15" name="Shape 13"/>
          <p:cNvSpPr/>
          <p:nvPr/>
        </p:nvSpPr>
        <p:spPr>
          <a:xfrm>
            <a:off x="8001000" y="1728216"/>
            <a:ext cx="365760" cy="365760"/>
          </a:xfrm>
          <a:prstGeom prst="ellipse">
            <a:avLst/>
          </a:prstGeom>
          <a:solidFill>
            <a:srgbClr val="0F766E"/>
          </a:solidFill>
          <a:ln w="12700">
            <a:solidFill>
              <a:srgbClr val="0F766E"/>
            </a:solidFill>
            <a:prstDash val="solid"/>
          </a:ln>
        </p:spPr>
      </p:sp>
      <p:sp>
        <p:nvSpPr>
          <p:cNvPr id="16" name="Text 14"/>
          <p:cNvSpPr txBox="1"/>
          <p:nvPr/>
        </p:nvSpPr>
        <p:spPr>
          <a:xfrm>
            <a:off x="8001000" y="17282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8503920" y="1764792"/>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shared_lock: many readers at once. unique_lock: one writer, no readers.</a:t>
            </a:r>
            <a:endParaRPr lang="en-US" sz="1600" dirty="0"/>
          </a:p>
        </p:txBody>
      </p:sp>
      <p:sp>
        <p:nvSpPr>
          <p:cNvPr id="18" name="Shape 16"/>
          <p:cNvSpPr/>
          <p:nvPr/>
        </p:nvSpPr>
        <p:spPr>
          <a:xfrm>
            <a:off x="8001000" y="2758440"/>
            <a:ext cx="365760" cy="365760"/>
          </a:xfrm>
          <a:prstGeom prst="ellipse">
            <a:avLst/>
          </a:prstGeom>
          <a:solidFill>
            <a:srgbClr val="0F766E"/>
          </a:solidFill>
          <a:ln w="12700">
            <a:solidFill>
              <a:srgbClr val="0F766E"/>
            </a:solidFill>
            <a:prstDash val="solid"/>
          </a:ln>
        </p:spPr>
      </p:sp>
      <p:sp>
        <p:nvSpPr>
          <p:cNvPr id="19" name="Text 17"/>
          <p:cNvSpPr txBox="1"/>
          <p:nvPr/>
        </p:nvSpPr>
        <p:spPr>
          <a:xfrm>
            <a:off x="8001000" y="27584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8503920" y="2795016"/>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Our queue can't use it: every queue operation writes.</a:t>
            </a:r>
            <a:endParaRPr lang="en-US" sz="1600" dirty="0"/>
          </a:p>
        </p:txBody>
      </p:sp>
      <p:sp>
        <p:nvSpPr>
          <p:cNvPr id="21" name="Shape 19"/>
          <p:cNvSpPr/>
          <p:nvPr/>
        </p:nvSpPr>
        <p:spPr>
          <a:xfrm>
            <a:off x="8001000" y="3548888"/>
            <a:ext cx="365760" cy="365760"/>
          </a:xfrm>
          <a:prstGeom prst="ellipse">
            <a:avLst/>
          </a:prstGeom>
          <a:solidFill>
            <a:srgbClr val="0F766E"/>
          </a:solidFill>
          <a:ln w="12700">
            <a:solidFill>
              <a:srgbClr val="0F766E"/>
            </a:solidFill>
            <a:prstDash val="solid"/>
          </a:ln>
        </p:spPr>
      </p:sp>
      <p:sp>
        <p:nvSpPr>
          <p:cNvPr id="22" name="Text 20"/>
          <p:cNvSpPr txBox="1"/>
          <p:nvPr/>
        </p:nvSpPr>
        <p:spPr>
          <a:xfrm>
            <a:off x="8001000" y="354888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503920" y="3585464"/>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default_pool(): a function-local static is created exactly once.</a:t>
            </a:r>
            <a:endParaRPr lang="en-US" sz="16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V9  ·  REAL WORKLOADS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1B2430"/>
          </a:solidFill>
          <a:ln w="12700">
            <a:solidFill>
              <a:srgbClr val="1B2430"/>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Check yourself</a:t>
            </a:r>
            <a:endParaRPr lang="en-US" sz="2800" dirty="0"/>
          </a:p>
        </p:txBody>
      </p:sp>
      <p:sp>
        <p:nvSpPr>
          <p:cNvPr id="12" name="Shape 10"/>
          <p:cNvSpPr/>
          <p:nvPr/>
        </p:nvSpPr>
        <p:spPr>
          <a:xfrm>
            <a:off x="548640" y="1417320"/>
            <a:ext cx="4206240" cy="1404366"/>
          </a:xfrm>
          <a:prstGeom prst="roundRect">
            <a:avLst>
              <a:gd name="adj" fmla="val 5209"/>
            </a:avLst>
          </a:prstGeom>
          <a:solidFill>
            <a:srgbClr val="EEF2F5"/>
          </a:solidFill>
          <a:ln w="12700">
            <a:solidFill>
              <a:srgbClr val="EEF2F5"/>
            </a:solidFill>
            <a:prstDash val="solid"/>
          </a:ln>
        </p:spPr>
      </p:sp>
      <p:sp>
        <p:nvSpPr>
          <p:cNvPr id="13" name="Text 11"/>
          <p:cNvSpPr txBox="1"/>
          <p:nvPr/>
        </p:nvSpPr>
        <p:spPr>
          <a:xfrm>
            <a:off x="777240" y="1600200"/>
            <a:ext cx="3749040"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THE LESSON</a:t>
            </a:r>
            <a:endParaRPr lang="en-US" sz="1200" dirty="0"/>
          </a:p>
        </p:txBody>
      </p:sp>
      <p:sp>
        <p:nvSpPr>
          <p:cNvPr id="14" name="Text 12"/>
          <p:cNvSpPr txBox="1"/>
          <p:nvPr/>
        </p:nvSpPr>
        <p:spPr>
          <a:xfrm>
            <a:off x="777240" y="1911096"/>
            <a:ext cx="3749040" cy="800862"/>
          </a:xfrm>
          <a:prstGeom prst="rect">
            <a:avLst/>
          </a:prstGeom>
          <a:noFill/>
          <a:ln/>
        </p:spPr>
        <p:txBody>
          <a:bodyPr wrap="square" lIns="0" tIns="0" rIns="0" bIns="0" rtlCol="0" anchor="t"/>
          <a:lstStyle/>
          <a:p>
            <a:pPr indent="0" marL="0">
              <a:lnSpc>
                <a:spcPct val="105000"/>
              </a:lnSpc>
              <a:buNone/>
            </a:pPr>
            <a:r>
              <a:rPr lang="en-US" sz="1700" dirty="0">
                <a:solidFill>
                  <a:srgbClr val="1B2430"/>
                </a:solidFill>
                <a:latin typeface="Calibri" pitchFamily="34" charset="0"/>
                <a:ea typeface="Calibri" pitchFamily="34" charset="-122"/>
                <a:cs typeface="Calibri" pitchFamily="34" charset="-120"/>
              </a:rPr>
              <a:t>Lock the shared touch, not the whole task. Share reads. Initialise once.</a:t>
            </a:r>
            <a:endParaRPr lang="en-US" sz="1700" dirty="0"/>
          </a:p>
        </p:txBody>
      </p:sp>
      <p:sp>
        <p:nvSpPr>
          <p:cNvPr id="15" name="Text 13"/>
          <p:cNvSpPr txBox="1"/>
          <p:nvPr/>
        </p:nvSpPr>
        <p:spPr>
          <a:xfrm>
            <a:off x="548640" y="3096006"/>
            <a:ext cx="420624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EXPLAIN WITHOUT LOOKING</a:t>
            </a:r>
            <a:endParaRPr lang="en-US" sz="1200" dirty="0"/>
          </a:p>
        </p:txBody>
      </p:sp>
      <p:sp>
        <p:nvSpPr>
          <p:cNvPr id="16" name="Shape 14"/>
          <p:cNvSpPr/>
          <p:nvPr/>
        </p:nvSpPr>
        <p:spPr>
          <a:xfrm>
            <a:off x="548640" y="3489198"/>
            <a:ext cx="182880" cy="182880"/>
          </a:xfrm>
          <a:prstGeom prst="rect">
            <a:avLst/>
          </a:prstGeom>
          <a:solidFill>
            <a:srgbClr val="FFFFFF"/>
          </a:solidFill>
          <a:ln w="15875">
            <a:solidFill>
              <a:srgbClr val="0F766E"/>
            </a:solidFill>
            <a:prstDash val="solid"/>
          </a:ln>
        </p:spPr>
      </p:sp>
      <p:sp>
        <p:nvSpPr>
          <p:cNvPr id="17" name="Text 15"/>
          <p:cNvSpPr txBox="1"/>
          <p:nvPr/>
        </p:nvSpPr>
        <p:spPr>
          <a:xfrm>
            <a:off x="868680" y="3443478"/>
            <a:ext cx="3886200"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Which line needed the lock, and why only that one?</a:t>
            </a:r>
            <a:endParaRPr lang="en-US" sz="1500" dirty="0"/>
          </a:p>
        </p:txBody>
      </p:sp>
      <p:sp>
        <p:nvSpPr>
          <p:cNvPr id="18" name="Shape 16"/>
          <p:cNvSpPr/>
          <p:nvPr/>
        </p:nvSpPr>
        <p:spPr>
          <a:xfrm>
            <a:off x="548640" y="4085082"/>
            <a:ext cx="182880" cy="182880"/>
          </a:xfrm>
          <a:prstGeom prst="rect">
            <a:avLst/>
          </a:prstGeom>
          <a:solidFill>
            <a:srgbClr val="FFFFFF"/>
          </a:solidFill>
          <a:ln w="15875">
            <a:solidFill>
              <a:srgbClr val="0F766E"/>
            </a:solidFill>
            <a:prstDash val="solid"/>
          </a:ln>
        </p:spPr>
      </p:sp>
      <p:sp>
        <p:nvSpPr>
          <p:cNvPr id="19" name="Text 17"/>
          <p:cNvSpPr txBox="1"/>
          <p:nvPr/>
        </p:nvSpPr>
        <p:spPr>
          <a:xfrm>
            <a:off x="868680" y="4039362"/>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not shared_mutex for the queue?</a:t>
            </a:r>
            <a:endParaRPr lang="en-US" sz="1500" dirty="0"/>
          </a:p>
        </p:txBody>
      </p:sp>
      <p:sp>
        <p:nvSpPr>
          <p:cNvPr id="20" name="Shape 18"/>
          <p:cNvSpPr/>
          <p:nvPr/>
        </p:nvSpPr>
        <p:spPr>
          <a:xfrm>
            <a:off x="548640" y="4456176"/>
            <a:ext cx="182880" cy="182880"/>
          </a:xfrm>
          <a:prstGeom prst="rect">
            <a:avLst/>
          </a:prstGeom>
          <a:solidFill>
            <a:srgbClr val="FFFFFF"/>
          </a:solidFill>
          <a:ln w="15875">
            <a:solidFill>
              <a:srgbClr val="0F766E"/>
            </a:solidFill>
            <a:prstDash val="solid"/>
          </a:ln>
        </p:spPr>
      </p:sp>
      <p:sp>
        <p:nvSpPr>
          <p:cNvPr id="21" name="Text 19"/>
          <p:cNvSpPr txBox="1"/>
          <p:nvPr/>
        </p:nvSpPr>
        <p:spPr>
          <a:xfrm>
            <a:off x="868680" y="4410456"/>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is if (!pool) pool = new … broken?</a:t>
            </a:r>
            <a:endParaRPr lang="en-US" sz="1500" dirty="0"/>
          </a:p>
        </p:txBody>
      </p:sp>
      <p:sp>
        <p:nvSpPr>
          <p:cNvPr id="22" name="Shape 20"/>
          <p:cNvSpPr/>
          <p:nvPr/>
        </p:nvSpPr>
        <p:spPr>
          <a:xfrm>
            <a:off x="548640" y="4827270"/>
            <a:ext cx="182880" cy="182880"/>
          </a:xfrm>
          <a:prstGeom prst="rect">
            <a:avLst/>
          </a:prstGeom>
          <a:solidFill>
            <a:srgbClr val="FFFFFF"/>
          </a:solidFill>
          <a:ln w="15875">
            <a:solidFill>
              <a:srgbClr val="0F766E"/>
            </a:solidFill>
            <a:prstDash val="solid"/>
          </a:ln>
        </p:spPr>
      </p:sp>
      <p:sp>
        <p:nvSpPr>
          <p:cNvPr id="23" name="Text 21"/>
          <p:cNvSpPr txBox="1"/>
          <p:nvPr/>
        </p:nvSpPr>
        <p:spPr>
          <a:xfrm>
            <a:off x="868680" y="4781550"/>
            <a:ext cx="3886200"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Two things never to do while holding a lock?</a:t>
            </a:r>
            <a:endParaRPr lang="en-US" sz="1500" dirty="0"/>
          </a:p>
        </p:txBody>
      </p:sp>
      <p:sp>
        <p:nvSpPr>
          <p:cNvPr id="24" name="Shape 22"/>
          <p:cNvSpPr/>
          <p:nvPr/>
        </p:nvSpPr>
        <p:spPr>
          <a:xfrm>
            <a:off x="5166360" y="1417320"/>
            <a:ext cx="6476695" cy="1518920"/>
          </a:xfrm>
          <a:prstGeom prst="roundRect">
            <a:avLst>
              <a:gd name="adj" fmla="val 4816"/>
            </a:avLst>
          </a:prstGeom>
          <a:solidFill>
            <a:srgbClr val="FFFFFF"/>
          </a:solidFill>
          <a:ln w="12700">
            <a:solidFill>
              <a:srgbClr val="D5DDE5"/>
            </a:solidFill>
            <a:prstDash val="solid"/>
          </a:ln>
        </p:spPr>
      </p:sp>
      <p:sp>
        <p:nvSpPr>
          <p:cNvPr id="25" name="Text 23"/>
          <p:cNvSpPr txBox="1"/>
          <p:nvPr/>
        </p:nvSpPr>
        <p:spPr>
          <a:xfrm>
            <a:off x="5394960" y="15819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NUMBERS</a:t>
            </a:r>
            <a:endParaRPr lang="en-US" sz="1200" dirty="0"/>
          </a:p>
        </p:txBody>
      </p:sp>
      <p:sp>
        <p:nvSpPr>
          <p:cNvPr id="26" name="Text 24"/>
          <p:cNvSpPr txBox="1"/>
          <p:nvPr/>
        </p:nvSpPr>
        <p:spPr>
          <a:xfrm>
            <a:off x="5394960" y="18928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64 jobs × 50 ms on 8 workers, lock only push_back. Rough total?</a:t>
            </a:r>
            <a:endParaRPr lang="en-US" sz="1500" dirty="0"/>
          </a:p>
        </p:txBody>
      </p:sp>
      <p:sp>
        <p:nvSpPr>
          <p:cNvPr id="27" name="Text 25"/>
          <p:cNvSpPr txBox="1"/>
          <p:nvPr/>
        </p:nvSpPr>
        <p:spPr>
          <a:xfrm>
            <a:off x="5394960" y="24704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64 × 0.05 / 8 = 0.4 s.</a:t>
            </a:r>
            <a:endParaRPr lang="en-US" sz="1400" dirty="0"/>
          </a:p>
        </p:txBody>
      </p:sp>
      <p:sp>
        <p:nvSpPr>
          <p:cNvPr id="28" name="Shape 26"/>
          <p:cNvSpPr/>
          <p:nvPr/>
        </p:nvSpPr>
        <p:spPr>
          <a:xfrm>
            <a:off x="5166360" y="3119120"/>
            <a:ext cx="6476695" cy="1518920"/>
          </a:xfrm>
          <a:prstGeom prst="roundRect">
            <a:avLst>
              <a:gd name="adj" fmla="val 4816"/>
            </a:avLst>
          </a:prstGeom>
          <a:solidFill>
            <a:srgbClr val="FFFFFF"/>
          </a:solidFill>
          <a:ln w="12700">
            <a:solidFill>
              <a:srgbClr val="D5DDE5"/>
            </a:solidFill>
            <a:prstDash val="solid"/>
          </a:ln>
        </p:spPr>
      </p:sp>
      <p:sp>
        <p:nvSpPr>
          <p:cNvPr id="29" name="Text 27"/>
          <p:cNvSpPr txBox="1"/>
          <p:nvPr/>
        </p:nvSpPr>
        <p:spPr>
          <a:xfrm>
            <a:off x="5394960" y="32837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TRACE IT</a:t>
            </a:r>
            <a:endParaRPr lang="en-US" sz="1200" dirty="0"/>
          </a:p>
        </p:txBody>
      </p:sp>
      <p:sp>
        <p:nvSpPr>
          <p:cNvPr id="30" name="Text 28"/>
          <p:cNvSpPr txBox="1"/>
          <p:nvPr/>
        </p:nvSpPr>
        <p:spPr>
          <a:xfrm>
            <a:off x="5394960" y="35946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Two threads run if (!pool) pool = new ThreadPool(4); at once. Trace it.</a:t>
            </a:r>
            <a:endParaRPr lang="en-US" sz="1500" dirty="0"/>
          </a:p>
        </p:txBody>
      </p:sp>
      <p:sp>
        <p:nvSpPr>
          <p:cNvPr id="31" name="Text 29"/>
          <p:cNvSpPr txBox="1"/>
          <p:nvPr/>
        </p:nvSpPr>
        <p:spPr>
          <a:xfrm>
            <a:off x="5394960" y="41722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Both see null, both create a pool: a leak and a data race.</a:t>
            </a:r>
            <a:endParaRPr lang="en-US" sz="1400" dirty="0"/>
          </a:p>
        </p:txBody>
      </p:sp>
      <p:sp>
        <p:nvSpPr>
          <p:cNvPr id="32" name="Shape 30"/>
          <p:cNvSpPr/>
          <p:nvPr/>
        </p:nvSpPr>
        <p:spPr>
          <a:xfrm>
            <a:off x="5166360" y="4820920"/>
            <a:ext cx="6476695" cy="1518920"/>
          </a:xfrm>
          <a:prstGeom prst="roundRect">
            <a:avLst>
              <a:gd name="adj" fmla="val 4816"/>
            </a:avLst>
          </a:prstGeom>
          <a:solidFill>
            <a:srgbClr val="FFFFFF"/>
          </a:solidFill>
          <a:ln w="12700">
            <a:solidFill>
              <a:srgbClr val="D5DDE5"/>
            </a:solidFill>
            <a:prstDash val="solid"/>
          </a:ln>
        </p:spPr>
      </p:sp>
      <p:sp>
        <p:nvSpPr>
          <p:cNvPr id="33" name="Text 31"/>
          <p:cNvSpPr txBox="1"/>
          <p:nvPr/>
        </p:nvSpPr>
        <p:spPr>
          <a:xfrm>
            <a:off x="5394960" y="49855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DESIGN</a:t>
            </a:r>
            <a:endParaRPr lang="en-US" sz="1200" dirty="0"/>
          </a:p>
        </p:txBody>
      </p:sp>
      <p:sp>
        <p:nvSpPr>
          <p:cNvPr id="34" name="Text 32"/>
          <p:cNvSpPr txBox="1"/>
          <p:nvPr/>
        </p:nvSpPr>
        <p:spPr>
          <a:xfrm>
            <a:off x="5394960" y="52964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A high-score table: read 1,000×/s, updated once a minute. Which lock?</a:t>
            </a:r>
            <a:endParaRPr lang="en-US" sz="1500" dirty="0"/>
          </a:p>
        </p:txBody>
      </p:sp>
      <p:sp>
        <p:nvSpPr>
          <p:cNvPr id="35" name="Text 33"/>
          <p:cNvSpPr txBox="1"/>
          <p:nvPr/>
        </p:nvSpPr>
        <p:spPr>
          <a:xfrm>
            <a:off x="5394960" y="58740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std::shared_mutex: shared_lock to read, unique_lock to update.</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V10  ·  FUTURE-BASED RESULTS</a:t>
            </a:r>
            <a:endParaRPr lang="en-US" sz="1200" dirty="0"/>
          </a:p>
        </p:txBody>
      </p:sp>
      <p:sp>
        <p:nvSpPr>
          <p:cNvPr id="3" name="Shape 1"/>
          <p:cNvSpPr/>
          <p:nvPr/>
        </p:nvSpPr>
        <p:spPr>
          <a:xfrm>
            <a:off x="6229807" y="292608"/>
            <a:ext cx="1298448" cy="274320"/>
          </a:xfrm>
          <a:prstGeom prst="roundRect">
            <a:avLst>
              <a:gd name="adj" fmla="val 23333"/>
            </a:avLst>
          </a:prstGeom>
          <a:solidFill>
            <a:srgbClr val="1B2430"/>
          </a:solidFill>
          <a:ln w="12700">
            <a:solidFill>
              <a:srgbClr val="1B2430"/>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The caller wants the answer</a:t>
            </a:r>
            <a:endParaRPr lang="en-US" sz="2800" dirty="0"/>
          </a:p>
        </p:txBody>
      </p:sp>
      <p:sp>
        <p:nvSpPr>
          <p:cNvPr id="12" name="Shape 10"/>
          <p:cNvSpPr/>
          <p:nvPr/>
        </p:nvSpPr>
        <p:spPr>
          <a:xfrm>
            <a:off x="548640" y="1417320"/>
            <a:ext cx="6766560" cy="969264"/>
          </a:xfrm>
          <a:prstGeom prst="roundRect">
            <a:avLst>
              <a:gd name="adj" fmla="val 7547"/>
            </a:avLst>
          </a:prstGeom>
          <a:solidFill>
            <a:srgbClr val="EEF2F5"/>
          </a:solidFill>
          <a:ln w="12700">
            <a:solidFill>
              <a:srgbClr val="EEF2F5"/>
            </a:solidFill>
            <a:prstDash val="solid"/>
          </a:ln>
        </p:spPr>
      </p:sp>
      <p:sp>
        <p:nvSpPr>
          <p:cNvPr id="13" name="Text 11"/>
          <p:cNvSpPr txBox="1"/>
          <p:nvPr/>
        </p:nvSpPr>
        <p:spPr>
          <a:xfrm>
            <a:off x="731520" y="1581912"/>
            <a:ext cx="6400800" cy="640080"/>
          </a:xfrm>
          <a:prstGeom prst="rect">
            <a:avLst/>
          </a:prstGeom>
          <a:noFill/>
          <a:ln/>
        </p:spPr>
        <p:txBody>
          <a:bodyPr wrap="square" lIns="0" tIns="0" rIns="0" bIns="0" rtlCol="0" anchor="t"/>
          <a:lstStyle/>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main:   pool.submit(compute)   →  ???  where is the 42?</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worker: compute() → 42          →  lost</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worker: compute() throws        →  logged, main never knows</a:t>
            </a:r>
            <a:endParaRPr lang="en-US" sz="1400" dirty="0"/>
          </a:p>
        </p:txBody>
      </p:sp>
      <p:sp>
        <p:nvSpPr>
          <p:cNvPr id="14" name="Shape 12"/>
          <p:cNvSpPr/>
          <p:nvPr/>
        </p:nvSpPr>
        <p:spPr>
          <a:xfrm>
            <a:off x="548640" y="2615184"/>
            <a:ext cx="6766560" cy="1700784"/>
          </a:xfrm>
          <a:prstGeom prst="roundRect">
            <a:avLst>
              <a:gd name="adj" fmla="val 4301"/>
            </a:avLst>
          </a:prstGeom>
          <a:solidFill>
            <a:srgbClr val="161C24"/>
          </a:solidFill>
          <a:ln w="12700">
            <a:solidFill>
              <a:srgbClr val="161C24"/>
            </a:solidFill>
            <a:prstDash val="solid"/>
          </a:ln>
        </p:spPr>
      </p:sp>
      <p:sp>
        <p:nvSpPr>
          <p:cNvPr id="15" name="Text 13"/>
          <p:cNvSpPr txBox="1"/>
          <p:nvPr/>
        </p:nvSpPr>
        <p:spPr>
          <a:xfrm>
            <a:off x="731520" y="2779776"/>
            <a:ext cx="6400800" cy="1371600"/>
          </a:xfrm>
          <a:prstGeom prst="rect">
            <a:avLst/>
          </a:prstGeom>
          <a:noFill/>
          <a:ln/>
        </p:spPr>
        <p:txBody>
          <a:bodyPr wrap="square" lIns="0" tIns="0" rIns="0" bIns="0" rtlCol="0" anchor="t"/>
          <a:lstStyle/>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hand-built "result slot":</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T value;</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bool ready = false;</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std::mutex m;</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std::condition_variable cv;</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std::exception_ptr error;</a:t>
            </a:r>
            <a:endParaRPr lang="en-US" sz="1500" dirty="0"/>
          </a:p>
        </p:txBody>
      </p:sp>
      <p:sp>
        <p:nvSpPr>
          <p:cNvPr id="16" name="Text 14"/>
          <p:cNvSpPr txBox="1"/>
          <p:nvPr/>
        </p:nvSpPr>
        <p:spPr>
          <a:xfrm>
            <a:off x="7680960" y="1417320"/>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THE QUESTION</a:t>
            </a:r>
            <a:endParaRPr lang="en-US" sz="1200" dirty="0"/>
          </a:p>
        </p:txBody>
      </p:sp>
      <p:sp>
        <p:nvSpPr>
          <p:cNvPr id="17" name="Text 15"/>
          <p:cNvSpPr txBox="1"/>
          <p:nvPr/>
        </p:nvSpPr>
        <p:spPr>
          <a:xfrm>
            <a:off x="7680960" y="1728216"/>
            <a:ext cx="3962095" cy="845820"/>
          </a:xfrm>
          <a:prstGeom prst="rect">
            <a:avLst/>
          </a:prstGeom>
          <a:noFill/>
          <a:ln/>
        </p:spPr>
        <p:txBody>
          <a:bodyPr wrap="square" lIns="0" tIns="0" rIns="0" bIns="0" rtlCol="0" anchor="t"/>
          <a:lstStyle/>
          <a:p>
            <a:pPr indent="0" marL="0">
              <a:lnSpc>
                <a:spcPct val="105000"/>
              </a:lnSpc>
              <a:buNone/>
            </a:pPr>
            <a:r>
              <a:rPr lang="en-US" sz="1800" b="1" dirty="0">
                <a:solidFill>
                  <a:srgbClr val="1B2430"/>
                </a:solidFill>
                <a:latin typeface="Calibri" pitchFamily="34" charset="0"/>
                <a:ea typeface="Calibri" pitchFamily="34" charset="-122"/>
                <a:cs typeface="Calibri" pitchFamily="34" charset="-120"/>
              </a:rPr>
              <a:t>What would you need to build so main can wait for the result, or get the exception?</a:t>
            </a:r>
            <a:endParaRPr lang="en-US" sz="1800" dirty="0"/>
          </a:p>
        </p:txBody>
      </p:sp>
      <p:sp>
        <p:nvSpPr>
          <p:cNvPr id="18" name="Text 16"/>
          <p:cNvSpPr txBox="1"/>
          <p:nvPr/>
        </p:nvSpPr>
        <p:spPr>
          <a:xfrm>
            <a:off x="7680960" y="2802636"/>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PREDICT</a:t>
            </a:r>
            <a:endParaRPr lang="en-US" sz="1200" dirty="0"/>
          </a:p>
        </p:txBody>
      </p:sp>
      <p:sp>
        <p:nvSpPr>
          <p:cNvPr id="19" name="Text 17"/>
          <p:cNvSpPr txBox="1"/>
          <p:nvPr/>
        </p:nvSpPr>
        <p:spPr>
          <a:xfrm>
            <a:off x="7680960" y="3113532"/>
            <a:ext cx="396209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Count the parts. Would you want to write this for every task?</a:t>
            </a:r>
            <a:endParaRPr lang="en-US" sz="1600" dirty="0"/>
          </a:p>
        </p:txBody>
      </p:sp>
      <p:sp>
        <p:nvSpPr>
          <p:cNvPr id="20" name="Shape 18"/>
          <p:cNvSpPr/>
          <p:nvPr/>
        </p:nvSpPr>
        <p:spPr>
          <a:xfrm>
            <a:off x="7680960" y="3903980"/>
            <a:ext cx="3962095" cy="1539240"/>
          </a:xfrm>
          <a:prstGeom prst="roundRect">
            <a:avLst>
              <a:gd name="adj" fmla="val 4752"/>
            </a:avLst>
          </a:prstGeom>
          <a:solidFill>
            <a:srgbClr val="EEF2F5"/>
          </a:solidFill>
          <a:ln w="12700">
            <a:solidFill>
              <a:srgbClr val="EEF2F5"/>
            </a:solidFill>
            <a:prstDash val="solid"/>
          </a:ln>
        </p:spPr>
      </p:sp>
      <p:sp>
        <p:nvSpPr>
          <p:cNvPr id="21" name="Text 19"/>
          <p:cNvSpPr txBox="1"/>
          <p:nvPr/>
        </p:nvSpPr>
        <p:spPr>
          <a:xfrm>
            <a:off x="7909560" y="4086860"/>
            <a:ext cx="3504895"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ANSWER</a:t>
            </a:r>
            <a:endParaRPr lang="en-US" sz="1200" dirty="0"/>
          </a:p>
        </p:txBody>
      </p:sp>
      <p:sp>
        <p:nvSpPr>
          <p:cNvPr id="22" name="Text 20"/>
          <p:cNvSpPr txBox="1"/>
          <p:nvPr/>
        </p:nvSpPr>
        <p:spPr>
          <a:xfrm>
            <a:off x="7909560" y="4397756"/>
            <a:ext cx="3504895" cy="93573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Five parts, every time.</a:t>
            </a:r>
            <a:endParaRPr lang="en-US" sz="1500" dirty="0"/>
          </a:p>
          <a:p>
            <a:pPr indent="0" marL="0">
              <a:lnSpc>
                <a:spcPct val="105000"/>
              </a:lnSpc>
              <a:buNone/>
            </a:pP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The standard library packages exactly this: std::future.</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V10  ·  FUTURE-BASED RESULTS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1B2430"/>
          </a:solidFill>
          <a:ln w="12700">
            <a:solidFill>
              <a:srgbClr val="1B2430"/>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A one-shot channel</a:t>
            </a:r>
            <a:endParaRPr lang="en-US" sz="2800" dirty="0"/>
          </a:p>
        </p:txBody>
      </p:sp>
      <p:sp>
        <p:nvSpPr>
          <p:cNvPr id="12" name="Text 10"/>
          <p:cNvSpPr txBox="1"/>
          <p:nvPr/>
        </p:nvSpPr>
        <p:spPr>
          <a:xfrm>
            <a:off x="548640" y="1417320"/>
            <a:ext cx="429768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RUN IT</a:t>
            </a:r>
            <a:endParaRPr lang="en-US" sz="1200" dirty="0"/>
          </a:p>
        </p:txBody>
      </p:sp>
      <p:sp>
        <p:nvSpPr>
          <p:cNvPr id="13" name="Shape 11"/>
          <p:cNvSpPr/>
          <p:nvPr/>
        </p:nvSpPr>
        <p:spPr>
          <a:xfrm>
            <a:off x="548640" y="1728216"/>
            <a:ext cx="4297680" cy="969264"/>
          </a:xfrm>
          <a:prstGeom prst="roundRect">
            <a:avLst>
              <a:gd name="adj" fmla="val 7547"/>
            </a:avLst>
          </a:prstGeom>
          <a:solidFill>
            <a:srgbClr val="0D1117"/>
          </a:solidFill>
          <a:ln w="12700">
            <a:solidFill>
              <a:srgbClr val="0D1117"/>
            </a:solidFill>
            <a:prstDash val="solid"/>
          </a:ln>
        </p:spPr>
      </p:sp>
      <p:sp>
        <p:nvSpPr>
          <p:cNvPr id="14" name="Text 12"/>
          <p:cNvSpPr txBox="1"/>
          <p:nvPr/>
        </p:nvSpPr>
        <p:spPr>
          <a:xfrm>
            <a:off x="731520" y="1892808"/>
            <a:ext cx="3931920" cy="640080"/>
          </a:xfrm>
          <a:prstGeom prst="rect">
            <a:avLst/>
          </a:prstGeom>
          <a:noFill/>
          <a:ln/>
        </p:spPr>
        <p:txBody>
          <a:bodyPr wrap="square" lIns="0" tIns="0" rIns="0" bIns="0" rtlCol="0" anchor="t"/>
          <a:lstStyle/>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 ./next_bug   # v9</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how would main get the 42,</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or learn that a task failed?</a:t>
            </a:r>
            <a:endParaRPr lang="en-US" sz="1400" dirty="0"/>
          </a:p>
        </p:txBody>
      </p:sp>
      <p:sp>
        <p:nvSpPr>
          <p:cNvPr id="15" name="Text 13"/>
          <p:cNvSpPr txBox="1"/>
          <p:nvPr/>
        </p:nvSpPr>
        <p:spPr>
          <a:xfrm>
            <a:off x="548640" y="2880360"/>
            <a:ext cx="4297680"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The pool runs work. It can't return anything yet.</a:t>
            </a:r>
            <a:endParaRPr lang="en-US" sz="1500" dirty="0"/>
          </a:p>
        </p:txBody>
      </p:sp>
      <p:sp>
        <p:nvSpPr>
          <p:cNvPr id="16" name="Text 14"/>
          <p:cNvSpPr txBox="1"/>
          <p:nvPr/>
        </p:nvSpPr>
        <p:spPr>
          <a:xfrm>
            <a:off x="5166360" y="1417320"/>
            <a:ext cx="6476695"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WHAT HAPPENS, STEP BY STEP</a:t>
            </a:r>
            <a:endParaRPr lang="en-US" sz="1200" dirty="0"/>
          </a:p>
        </p:txBody>
      </p:sp>
      <p:sp>
        <p:nvSpPr>
          <p:cNvPr id="17" name="Shape 15"/>
          <p:cNvSpPr/>
          <p:nvPr/>
        </p:nvSpPr>
        <p:spPr>
          <a:xfrm>
            <a:off x="5166360" y="1728216"/>
            <a:ext cx="6476695" cy="1060704"/>
          </a:xfrm>
          <a:prstGeom prst="roundRect">
            <a:avLst>
              <a:gd name="adj" fmla="val 6897"/>
            </a:avLst>
          </a:prstGeom>
          <a:solidFill>
            <a:srgbClr val="EEF2F5"/>
          </a:solidFill>
          <a:ln w="12700">
            <a:solidFill>
              <a:srgbClr val="EEF2F5"/>
            </a:solidFill>
            <a:prstDash val="solid"/>
          </a:ln>
        </p:spPr>
      </p:sp>
      <p:sp>
        <p:nvSpPr>
          <p:cNvPr id="18" name="Text 16"/>
          <p:cNvSpPr txBox="1"/>
          <p:nvPr/>
        </p:nvSpPr>
        <p:spPr>
          <a:xfrm>
            <a:off x="5349240" y="1892808"/>
            <a:ext cx="6110935" cy="731520"/>
          </a:xfrm>
          <a:prstGeom prst="rect">
            <a:avLst/>
          </a:prstGeom>
          <a:noFill/>
          <a:ln/>
        </p:spPr>
        <p:txBody>
          <a:bodyPr wrap="square" lIns="0" tIns="0" rIns="0" bIns="0" rtlCol="0" anchor="t"/>
          <a:lstStyle/>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write end              shared state             read end</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packaged_task ─set─► [ value | exception ] ─► future.get()</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or promise             + ready flag            waits, then</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                       + mutex + cv (hidden)   returns or rethrows</a:t>
            </a:r>
            <a:endParaRPr lang="en-US" sz="1200" dirty="0"/>
          </a:p>
        </p:txBody>
      </p:sp>
      <p:sp>
        <p:nvSpPr>
          <p:cNvPr id="19" name="Shape 17"/>
          <p:cNvSpPr/>
          <p:nvPr/>
        </p:nvSpPr>
        <p:spPr>
          <a:xfrm>
            <a:off x="5166360" y="3017520"/>
            <a:ext cx="6476695" cy="1089660"/>
          </a:xfrm>
          <a:prstGeom prst="roundRect">
            <a:avLst>
              <a:gd name="adj" fmla="val 6713"/>
            </a:avLst>
          </a:prstGeom>
          <a:solidFill>
            <a:srgbClr val="FDF1E8"/>
          </a:solidFill>
          <a:ln w="12700">
            <a:solidFill>
              <a:srgbClr val="FDF1E8"/>
            </a:solidFill>
            <a:prstDash val="solid"/>
          </a:ln>
        </p:spPr>
      </p:sp>
      <p:sp>
        <p:nvSpPr>
          <p:cNvPr id="20" name="Text 18"/>
          <p:cNvSpPr txBox="1"/>
          <p:nvPr/>
        </p:nvSpPr>
        <p:spPr>
          <a:xfrm>
            <a:off x="5394960" y="3200400"/>
            <a:ext cx="60194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SO</a:t>
            </a:r>
            <a:endParaRPr lang="en-US" sz="1200" dirty="0"/>
          </a:p>
        </p:txBody>
      </p:sp>
      <p:sp>
        <p:nvSpPr>
          <p:cNvPr id="21" name="Text 19"/>
          <p:cNvSpPr txBox="1"/>
          <p:nvPr/>
        </p:nvSpPr>
        <p:spPr>
          <a:xfrm>
            <a:off x="5394960" y="3511296"/>
            <a:ext cx="6019495"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Whoever runs the packaged_task fills the future. get() is one-shot: it moves the result out.</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V10  ·  FUTURE-BASED RESULTS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1B2430"/>
          </a:solidFill>
          <a:ln w="12700">
            <a:solidFill>
              <a:srgbClr val="1B2430"/>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submit() returns a future</a:t>
            </a:r>
            <a:endParaRPr lang="en-US" sz="2800" dirty="0"/>
          </a:p>
        </p:txBody>
      </p:sp>
      <p:sp>
        <p:nvSpPr>
          <p:cNvPr id="12" name="Text 10"/>
          <p:cNvSpPr txBox="1"/>
          <p:nvPr/>
        </p:nvSpPr>
        <p:spPr>
          <a:xfrm>
            <a:off x="548640" y="1417320"/>
            <a:ext cx="676656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pool.hpp</a:t>
            </a:r>
            <a:endParaRPr lang="en-US" sz="1200" dirty="0"/>
          </a:p>
        </p:txBody>
      </p:sp>
      <p:sp>
        <p:nvSpPr>
          <p:cNvPr id="13" name="Shape 11"/>
          <p:cNvSpPr/>
          <p:nvPr/>
        </p:nvSpPr>
        <p:spPr>
          <a:xfrm>
            <a:off x="548640" y="1728216"/>
            <a:ext cx="7132320" cy="2340864"/>
          </a:xfrm>
          <a:prstGeom prst="roundRect">
            <a:avLst>
              <a:gd name="adj" fmla="val 3125"/>
            </a:avLst>
          </a:prstGeom>
          <a:solidFill>
            <a:srgbClr val="161C24"/>
          </a:solidFill>
          <a:ln w="12700">
            <a:solidFill>
              <a:srgbClr val="161C24"/>
            </a:solidFill>
            <a:prstDash val="solid"/>
          </a:ln>
        </p:spPr>
      </p:sp>
      <p:sp>
        <p:nvSpPr>
          <p:cNvPr id="14" name="Text 12"/>
          <p:cNvSpPr txBox="1"/>
          <p:nvPr/>
        </p:nvSpPr>
        <p:spPr>
          <a:xfrm>
            <a:off x="731520" y="1892808"/>
            <a:ext cx="6766560" cy="2011680"/>
          </a:xfrm>
          <a:prstGeom prst="rect">
            <a:avLst/>
          </a:prstGeom>
          <a:noFill/>
          <a:ln/>
        </p:spPr>
        <p:txBody>
          <a:bodyPr wrap="square" lIns="0" tIns="0" rIns="0" bIns="0" rtlCol="0" anchor="t"/>
          <a:lstStyle/>
          <a:p>
            <a:pPr indent="0" marL="0">
              <a:lnSpc>
                <a:spcPct val="100000"/>
              </a:lnSpc>
              <a:buNone/>
            </a:pPr>
            <a:r>
              <a:rPr lang="en-US" sz="1200" dirty="0">
                <a:solidFill>
                  <a:srgbClr val="6EE7D2"/>
                </a:solidFill>
                <a:latin typeface="Courier New" pitchFamily="34" charset="0"/>
                <a:ea typeface="Courier New" pitchFamily="34" charset="-122"/>
                <a:cs typeface="Courier New" pitchFamily="34" charset="-120"/>
              </a:rPr>
              <a:t>+ template &lt;class F&gt;</a:t>
            </a:r>
            <a:endParaRPr lang="en-US" sz="1200" dirty="0"/>
          </a:p>
          <a:p>
            <a:pPr indent="0" marL="0">
              <a:lnSpc>
                <a:spcPct val="100000"/>
              </a:lnSpc>
              <a:buNone/>
            </a:pPr>
            <a:r>
              <a:rPr lang="en-US" sz="1200" dirty="0">
                <a:solidFill>
                  <a:srgbClr val="6EE7D2"/>
                </a:solidFill>
                <a:latin typeface="Courier New" pitchFamily="34" charset="0"/>
                <a:ea typeface="Courier New" pitchFamily="34" charset="-122"/>
                <a:cs typeface="Courier New" pitchFamily="34" charset="-120"/>
              </a:rPr>
              <a:t>+ auto submit(F f) -&gt; std::future&lt;std::invoke_result_t&lt;F&gt;&gt; {</a:t>
            </a:r>
            <a:endParaRPr lang="en-US" sz="1200" dirty="0"/>
          </a:p>
          <a:p>
            <a:pPr indent="0" marL="0">
              <a:lnSpc>
                <a:spcPct val="100000"/>
              </a:lnSpc>
              <a:buNone/>
            </a:pPr>
            <a:r>
              <a:rPr lang="en-US" sz="1200" dirty="0">
                <a:solidFill>
                  <a:srgbClr val="6EE7D2"/>
                </a:solidFill>
                <a:latin typeface="Courier New" pitchFamily="34" charset="0"/>
                <a:ea typeface="Courier New" pitchFamily="34" charset="-122"/>
                <a:cs typeface="Courier New" pitchFamily="34" charset="-120"/>
              </a:rPr>
              <a:t>+     using R = std::invoke_result_t&lt;F&gt;;</a:t>
            </a:r>
            <a:endParaRPr lang="en-US" sz="1200" dirty="0"/>
          </a:p>
          <a:p>
            <a:pPr indent="0" marL="0">
              <a:lnSpc>
                <a:spcPct val="100000"/>
              </a:lnSpc>
              <a:buNone/>
            </a:pPr>
            <a:r>
              <a:rPr lang="en-US" sz="1200" dirty="0">
                <a:solidFill>
                  <a:srgbClr val="6EE7D2"/>
                </a:solidFill>
                <a:latin typeface="Courier New" pitchFamily="34" charset="0"/>
                <a:ea typeface="Courier New" pitchFamily="34" charset="-122"/>
                <a:cs typeface="Courier New" pitchFamily="34" charset="-120"/>
              </a:rPr>
              <a:t>+     auto task = std::make_shared&lt;std::packaged_task&lt;R()&gt;&gt;(std::move(f));</a:t>
            </a:r>
            <a:endParaRPr lang="en-US" sz="1200" dirty="0"/>
          </a:p>
          <a:p>
            <a:pPr indent="0" marL="0">
              <a:lnSpc>
                <a:spcPct val="100000"/>
              </a:lnSpc>
              <a:buNone/>
            </a:pPr>
            <a:r>
              <a:rPr lang="en-US" sz="1200" dirty="0">
                <a:solidFill>
                  <a:srgbClr val="6EE7D2"/>
                </a:solidFill>
                <a:latin typeface="Courier New" pitchFamily="34" charset="0"/>
                <a:ea typeface="Courier New" pitchFamily="34" charset="-122"/>
                <a:cs typeface="Courier New" pitchFamily="34" charset="-120"/>
              </a:rPr>
              <a:t>+     auto result = task-&gt;get_future();</a:t>
            </a:r>
            <a:endParaRPr lang="en-US" sz="1200" dirty="0"/>
          </a:p>
          <a:p>
            <a:pPr indent="0" marL="0">
              <a:lnSpc>
                <a:spcPct val="100000"/>
              </a:lnSpc>
              <a:buNone/>
            </a:pPr>
            <a:r>
              <a:rPr lang="en-US" sz="1200" dirty="0">
                <a:solidFill>
                  <a:srgbClr val="6EE7D2"/>
                </a:solidFill>
                <a:latin typeface="Courier New" pitchFamily="34" charset="0"/>
                <a:ea typeface="Courier New" pitchFamily="34" charset="-122"/>
                <a:cs typeface="Courier New" pitchFamily="34" charset="-120"/>
              </a:rPr>
              <a:t>+     tasks.push([task] { (*task)(); });</a:t>
            </a:r>
            <a:endParaRPr lang="en-US" sz="1200" dirty="0"/>
          </a:p>
          <a:p>
            <a:pPr indent="0" marL="0">
              <a:lnSpc>
                <a:spcPct val="100000"/>
              </a:lnSpc>
              <a:buNone/>
            </a:pPr>
            <a:r>
              <a:rPr lang="en-US" sz="1200" dirty="0">
                <a:solidFill>
                  <a:srgbClr val="6EE7D2"/>
                </a:solidFill>
                <a:latin typeface="Courier New" pitchFamily="34" charset="0"/>
                <a:ea typeface="Courier New" pitchFamily="34" charset="-122"/>
                <a:cs typeface="Courier New" pitchFamily="34" charset="-120"/>
              </a:rPr>
              <a:t>+     return result;</a:t>
            </a:r>
            <a:endParaRPr lang="en-US" sz="1200" dirty="0"/>
          </a:p>
          <a:p>
            <a:pPr indent="0" marL="0">
              <a:lnSpc>
                <a:spcPct val="100000"/>
              </a:lnSpc>
              <a:buNone/>
            </a:pPr>
            <a:r>
              <a:rPr lang="en-US" sz="1200" dirty="0">
                <a:solidFill>
                  <a:srgbClr val="6EE7D2"/>
                </a:solidFill>
                <a:latin typeface="Courier New" pitchFamily="34" charset="0"/>
                <a:ea typeface="Courier New" pitchFamily="34" charset="-122"/>
                <a:cs typeface="Courier New" pitchFamily="34" charset="-120"/>
              </a:rPr>
              <a:t>+ }</a:t>
            </a:r>
            <a:endParaRPr lang="en-US" sz="1200" dirty="0"/>
          </a:p>
          <a:p>
            <a:pPr indent="0" marL="0">
              <a:lnSpc>
                <a:spcPct val="100000"/>
              </a:lnSpc>
              <a:buNone/>
            </a:pPr>
            <a:r>
              <a:rPr lang="en-US" sz="1200" dirty="0">
                <a:solidFill>
                  <a:srgbClr val="A9B4BF"/>
                </a:solidFill>
                <a:latin typeface="Courier New" pitchFamily="34" charset="0"/>
                <a:ea typeface="Courier New" pitchFamily="34" charset="-122"/>
                <a:cs typeface="Courier New" pitchFamily="34" charset="-120"/>
              </a:rPr>
              <a:t>  // caller:</a:t>
            </a:r>
            <a:endParaRPr lang="en-US" sz="1200" dirty="0"/>
          </a:p>
          <a:p>
            <a:pPr indent="0" marL="0">
              <a:lnSpc>
                <a:spcPct val="100000"/>
              </a:lnSpc>
              <a:buNone/>
            </a:pPr>
            <a:r>
              <a:rPr lang="en-US" sz="1200" dirty="0">
                <a:solidFill>
                  <a:srgbClr val="6EE7D2"/>
                </a:solidFill>
                <a:latin typeface="Courier New" pitchFamily="34" charset="0"/>
                <a:ea typeface="Courier New" pitchFamily="34" charset="-122"/>
                <a:cs typeface="Courier New" pitchFamily="34" charset="-120"/>
              </a:rPr>
              <a:t>+ auto f = pool.submit([] { return 6 * 7; });</a:t>
            </a:r>
            <a:endParaRPr lang="en-US" sz="1200" dirty="0"/>
          </a:p>
          <a:p>
            <a:pPr indent="0" marL="0">
              <a:lnSpc>
                <a:spcPct val="100000"/>
              </a:lnSpc>
              <a:buNone/>
            </a:pPr>
            <a:r>
              <a:rPr lang="en-US" sz="1200" dirty="0">
                <a:solidFill>
                  <a:srgbClr val="6EE7D2"/>
                </a:solidFill>
                <a:latin typeface="Courier New" pitchFamily="34" charset="0"/>
                <a:ea typeface="Courier New" pitchFamily="34" charset="-122"/>
                <a:cs typeface="Courier New" pitchFamily="34" charset="-120"/>
              </a:rPr>
              <a:t>+ int x = f.get();     // 42, or rethrows</a:t>
            </a:r>
            <a:endParaRPr lang="en-US" sz="1200" dirty="0"/>
          </a:p>
        </p:txBody>
      </p:sp>
      <p:sp>
        <p:nvSpPr>
          <p:cNvPr id="15" name="Shape 13"/>
          <p:cNvSpPr/>
          <p:nvPr/>
        </p:nvSpPr>
        <p:spPr>
          <a:xfrm>
            <a:off x="8001000" y="1728216"/>
            <a:ext cx="365760" cy="365760"/>
          </a:xfrm>
          <a:prstGeom prst="ellipse">
            <a:avLst/>
          </a:prstGeom>
          <a:solidFill>
            <a:srgbClr val="0F766E"/>
          </a:solidFill>
          <a:ln w="12700">
            <a:solidFill>
              <a:srgbClr val="0F766E"/>
            </a:solidFill>
            <a:prstDash val="solid"/>
          </a:ln>
        </p:spPr>
      </p:sp>
      <p:sp>
        <p:nvSpPr>
          <p:cNvPr id="16" name="Text 14"/>
          <p:cNvSpPr txBox="1"/>
          <p:nvPr/>
        </p:nvSpPr>
        <p:spPr>
          <a:xfrm>
            <a:off x="8001000" y="17282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8503920" y="1764792"/>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packaged_task stores the value or the exception in the future.</a:t>
            </a:r>
            <a:endParaRPr lang="en-US" sz="1600" dirty="0"/>
          </a:p>
        </p:txBody>
      </p:sp>
      <p:sp>
        <p:nvSpPr>
          <p:cNvPr id="18" name="Shape 16"/>
          <p:cNvSpPr/>
          <p:nvPr/>
        </p:nvSpPr>
        <p:spPr>
          <a:xfrm>
            <a:off x="8001000" y="2758440"/>
            <a:ext cx="365760" cy="365760"/>
          </a:xfrm>
          <a:prstGeom prst="ellipse">
            <a:avLst/>
          </a:prstGeom>
          <a:solidFill>
            <a:srgbClr val="0F766E"/>
          </a:solidFill>
          <a:ln w="12700">
            <a:solidFill>
              <a:srgbClr val="0F766E"/>
            </a:solidFill>
            <a:prstDash val="solid"/>
          </a:ln>
        </p:spPr>
      </p:sp>
      <p:sp>
        <p:nvSpPr>
          <p:cNvPr id="19" name="Text 17"/>
          <p:cNvSpPr txBox="1"/>
          <p:nvPr/>
        </p:nvSpPr>
        <p:spPr>
          <a:xfrm>
            <a:off x="8001000" y="27584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8503920" y="2795016"/>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shared_ptr: packaged_task is move-only, std::function needs copyable.</a:t>
            </a:r>
            <a:endParaRPr lang="en-US" sz="1600" dirty="0"/>
          </a:p>
        </p:txBody>
      </p:sp>
      <p:sp>
        <p:nvSpPr>
          <p:cNvPr id="21" name="Shape 19"/>
          <p:cNvSpPr/>
          <p:nvPr/>
        </p:nvSpPr>
        <p:spPr>
          <a:xfrm>
            <a:off x="8001000" y="3788664"/>
            <a:ext cx="365760" cy="365760"/>
          </a:xfrm>
          <a:prstGeom prst="ellipse">
            <a:avLst/>
          </a:prstGeom>
          <a:solidFill>
            <a:srgbClr val="0F766E"/>
          </a:solidFill>
          <a:ln w="12700">
            <a:solidFill>
              <a:srgbClr val="0F766E"/>
            </a:solidFill>
            <a:prstDash val="solid"/>
          </a:ln>
        </p:spPr>
      </p:sp>
      <p:sp>
        <p:nvSpPr>
          <p:cNvPr id="22" name="Text 20"/>
          <p:cNvSpPr txBox="1"/>
          <p:nvPr/>
        </p:nvSpPr>
        <p:spPr>
          <a:xfrm>
            <a:off x="8001000" y="37886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503920" y="3825240"/>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The worker's try/catch is gone: the future carries errors.</a:t>
            </a:r>
            <a:endParaRPr lang="en-US" sz="16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V10  ·  FUTURE-BASED RESULTS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1B2430"/>
          </a:solidFill>
          <a:ln w="12700">
            <a:solidFill>
              <a:srgbClr val="1B2430"/>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Check yourself</a:t>
            </a:r>
            <a:endParaRPr lang="en-US" sz="2800" dirty="0"/>
          </a:p>
        </p:txBody>
      </p:sp>
      <p:sp>
        <p:nvSpPr>
          <p:cNvPr id="12" name="Shape 10"/>
          <p:cNvSpPr/>
          <p:nvPr/>
        </p:nvSpPr>
        <p:spPr>
          <a:xfrm>
            <a:off x="548640" y="1417320"/>
            <a:ext cx="4206240" cy="1404366"/>
          </a:xfrm>
          <a:prstGeom prst="roundRect">
            <a:avLst>
              <a:gd name="adj" fmla="val 5209"/>
            </a:avLst>
          </a:prstGeom>
          <a:solidFill>
            <a:srgbClr val="EEF2F5"/>
          </a:solidFill>
          <a:ln w="12700">
            <a:solidFill>
              <a:srgbClr val="EEF2F5"/>
            </a:solidFill>
            <a:prstDash val="solid"/>
          </a:ln>
        </p:spPr>
      </p:sp>
      <p:sp>
        <p:nvSpPr>
          <p:cNvPr id="13" name="Text 11"/>
          <p:cNvSpPr txBox="1"/>
          <p:nvPr/>
        </p:nvSpPr>
        <p:spPr>
          <a:xfrm>
            <a:off x="777240" y="1600200"/>
            <a:ext cx="3749040"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THE LESSON</a:t>
            </a:r>
            <a:endParaRPr lang="en-US" sz="1200" dirty="0"/>
          </a:p>
        </p:txBody>
      </p:sp>
      <p:sp>
        <p:nvSpPr>
          <p:cNvPr id="14" name="Text 12"/>
          <p:cNvSpPr txBox="1"/>
          <p:nvPr/>
        </p:nvSpPr>
        <p:spPr>
          <a:xfrm>
            <a:off x="777240" y="1911096"/>
            <a:ext cx="3749040" cy="800862"/>
          </a:xfrm>
          <a:prstGeom prst="rect">
            <a:avLst/>
          </a:prstGeom>
          <a:noFill/>
          <a:ln/>
        </p:spPr>
        <p:txBody>
          <a:bodyPr wrap="square" lIns="0" tIns="0" rIns="0" bIns="0" rtlCol="0" anchor="t"/>
          <a:lstStyle/>
          <a:p>
            <a:pPr indent="0" marL="0">
              <a:lnSpc>
                <a:spcPct val="105000"/>
              </a:lnSpc>
              <a:buNone/>
            </a:pPr>
            <a:r>
              <a:rPr lang="en-US" sz="1700" dirty="0">
                <a:solidFill>
                  <a:srgbClr val="1B2430"/>
                </a:solidFill>
                <a:latin typeface="Calibri" pitchFamily="34" charset="0"/>
                <a:ea typeface="Calibri" pitchFamily="34" charset="-122"/>
                <a:cs typeface="Calibri" pitchFamily="34" charset="-120"/>
              </a:rPr>
              <a:t>When threads exchange results instead of sharing state, use a future.</a:t>
            </a:r>
            <a:endParaRPr lang="en-US" sz="1700" dirty="0"/>
          </a:p>
        </p:txBody>
      </p:sp>
      <p:sp>
        <p:nvSpPr>
          <p:cNvPr id="15" name="Text 13"/>
          <p:cNvSpPr txBox="1"/>
          <p:nvPr/>
        </p:nvSpPr>
        <p:spPr>
          <a:xfrm>
            <a:off x="548640" y="3096006"/>
            <a:ext cx="420624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EXPLAIN WITHOUT LOOKING</a:t>
            </a:r>
            <a:endParaRPr lang="en-US" sz="1200" dirty="0"/>
          </a:p>
        </p:txBody>
      </p:sp>
      <p:sp>
        <p:nvSpPr>
          <p:cNvPr id="16" name="Shape 14"/>
          <p:cNvSpPr/>
          <p:nvPr/>
        </p:nvSpPr>
        <p:spPr>
          <a:xfrm>
            <a:off x="548640" y="3489198"/>
            <a:ext cx="182880" cy="182880"/>
          </a:xfrm>
          <a:prstGeom prst="rect">
            <a:avLst/>
          </a:prstGeom>
          <a:solidFill>
            <a:srgbClr val="FFFFFF"/>
          </a:solidFill>
          <a:ln w="15875">
            <a:solidFill>
              <a:srgbClr val="0F766E"/>
            </a:solidFill>
            <a:prstDash val="solid"/>
          </a:ln>
        </p:spPr>
      </p:sp>
      <p:sp>
        <p:nvSpPr>
          <p:cNvPr id="17" name="Text 15"/>
          <p:cNvSpPr txBox="1"/>
          <p:nvPr/>
        </p:nvSpPr>
        <p:spPr>
          <a:xfrm>
            <a:off x="868680" y="3443478"/>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not std::async inside submit()?</a:t>
            </a:r>
            <a:endParaRPr lang="en-US" sz="1500" dirty="0"/>
          </a:p>
        </p:txBody>
      </p:sp>
      <p:sp>
        <p:nvSpPr>
          <p:cNvPr id="18" name="Shape 16"/>
          <p:cNvSpPr/>
          <p:nvPr/>
        </p:nvSpPr>
        <p:spPr>
          <a:xfrm>
            <a:off x="548640" y="3860292"/>
            <a:ext cx="182880" cy="182880"/>
          </a:xfrm>
          <a:prstGeom prst="rect">
            <a:avLst/>
          </a:prstGeom>
          <a:solidFill>
            <a:srgbClr val="FFFFFF"/>
          </a:solidFill>
          <a:ln w="15875">
            <a:solidFill>
              <a:srgbClr val="0F766E"/>
            </a:solidFill>
            <a:prstDash val="solid"/>
          </a:ln>
        </p:spPr>
      </p:sp>
      <p:sp>
        <p:nvSpPr>
          <p:cNvPr id="19" name="Text 17"/>
          <p:cNvSpPr txBox="1"/>
          <p:nvPr/>
        </p:nvSpPr>
        <p:spPr>
          <a:xfrm>
            <a:off x="868680" y="3814572"/>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the shared_ptr?</a:t>
            </a:r>
            <a:endParaRPr lang="en-US" sz="1500" dirty="0"/>
          </a:p>
        </p:txBody>
      </p:sp>
      <p:sp>
        <p:nvSpPr>
          <p:cNvPr id="20" name="Shape 18"/>
          <p:cNvSpPr/>
          <p:nvPr/>
        </p:nvSpPr>
        <p:spPr>
          <a:xfrm>
            <a:off x="548640" y="4231386"/>
            <a:ext cx="182880" cy="182880"/>
          </a:xfrm>
          <a:prstGeom prst="rect">
            <a:avLst/>
          </a:prstGeom>
          <a:solidFill>
            <a:srgbClr val="FFFFFF"/>
          </a:solidFill>
          <a:ln w="15875">
            <a:solidFill>
              <a:srgbClr val="0F766E"/>
            </a:solidFill>
            <a:prstDash val="solid"/>
          </a:ln>
        </p:spPr>
      </p:sp>
      <p:sp>
        <p:nvSpPr>
          <p:cNvPr id="21" name="Text 19"/>
          <p:cNvSpPr txBox="1"/>
          <p:nvPr/>
        </p:nvSpPr>
        <p:spPr>
          <a:xfrm>
            <a:off x="868680" y="4185666"/>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does a second get() do?</a:t>
            </a:r>
            <a:endParaRPr lang="en-US" sz="1500" dirty="0"/>
          </a:p>
        </p:txBody>
      </p:sp>
      <p:sp>
        <p:nvSpPr>
          <p:cNvPr id="22" name="Shape 20"/>
          <p:cNvSpPr/>
          <p:nvPr/>
        </p:nvSpPr>
        <p:spPr>
          <a:xfrm>
            <a:off x="548640" y="4602480"/>
            <a:ext cx="182880" cy="182880"/>
          </a:xfrm>
          <a:prstGeom prst="rect">
            <a:avLst/>
          </a:prstGeom>
          <a:solidFill>
            <a:srgbClr val="FFFFFF"/>
          </a:solidFill>
          <a:ln w="15875">
            <a:solidFill>
              <a:srgbClr val="0F766E"/>
            </a:solidFill>
            <a:prstDash val="solid"/>
          </a:ln>
        </p:spPr>
      </p:sp>
      <p:sp>
        <p:nvSpPr>
          <p:cNvPr id="23" name="Text 21"/>
          <p:cNvSpPr txBox="1"/>
          <p:nvPr/>
        </p:nvSpPr>
        <p:spPr>
          <a:xfrm>
            <a:off x="868680" y="4556760"/>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does launch::deferred change?</a:t>
            </a:r>
            <a:endParaRPr lang="en-US" sz="1500" dirty="0"/>
          </a:p>
        </p:txBody>
      </p:sp>
      <p:sp>
        <p:nvSpPr>
          <p:cNvPr id="24" name="Shape 22"/>
          <p:cNvSpPr/>
          <p:nvPr/>
        </p:nvSpPr>
        <p:spPr>
          <a:xfrm>
            <a:off x="5166360" y="1417320"/>
            <a:ext cx="6476695" cy="1518920"/>
          </a:xfrm>
          <a:prstGeom prst="roundRect">
            <a:avLst>
              <a:gd name="adj" fmla="val 4816"/>
            </a:avLst>
          </a:prstGeom>
          <a:solidFill>
            <a:srgbClr val="FFFFFF"/>
          </a:solidFill>
          <a:ln w="12700">
            <a:solidFill>
              <a:srgbClr val="D5DDE5"/>
            </a:solidFill>
            <a:prstDash val="solid"/>
          </a:ln>
        </p:spPr>
      </p:sp>
      <p:sp>
        <p:nvSpPr>
          <p:cNvPr id="25" name="Text 23"/>
          <p:cNvSpPr txBox="1"/>
          <p:nvPr/>
        </p:nvSpPr>
        <p:spPr>
          <a:xfrm>
            <a:off x="5394960" y="15819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NUMBERS</a:t>
            </a:r>
            <a:endParaRPr lang="en-US" sz="1200" dirty="0"/>
          </a:p>
        </p:txBody>
      </p:sp>
      <p:sp>
        <p:nvSpPr>
          <p:cNvPr id="26" name="Text 24"/>
          <p:cNvSpPr txBox="1"/>
          <p:nvPr/>
        </p:nvSpPr>
        <p:spPr>
          <a:xfrm>
            <a:off x="5394960" y="18928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100,000 tiny tasks submitted. How many futures must become ready?</a:t>
            </a:r>
            <a:endParaRPr lang="en-US" sz="1500" dirty="0"/>
          </a:p>
        </p:txBody>
      </p:sp>
      <p:sp>
        <p:nvSpPr>
          <p:cNvPr id="27" name="Text 25"/>
          <p:cNvSpPr txBox="1"/>
          <p:nvPr/>
        </p:nvSpPr>
        <p:spPr>
          <a:xfrm>
            <a:off x="5394960" y="24704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All 100,000. Check every one.</a:t>
            </a:r>
            <a:endParaRPr lang="en-US" sz="1400" dirty="0"/>
          </a:p>
        </p:txBody>
      </p:sp>
      <p:sp>
        <p:nvSpPr>
          <p:cNvPr id="28" name="Shape 26"/>
          <p:cNvSpPr/>
          <p:nvPr/>
        </p:nvSpPr>
        <p:spPr>
          <a:xfrm>
            <a:off x="5166360" y="3119120"/>
            <a:ext cx="6476695" cy="1518920"/>
          </a:xfrm>
          <a:prstGeom prst="roundRect">
            <a:avLst>
              <a:gd name="adj" fmla="val 4816"/>
            </a:avLst>
          </a:prstGeom>
          <a:solidFill>
            <a:srgbClr val="FFFFFF"/>
          </a:solidFill>
          <a:ln w="12700">
            <a:solidFill>
              <a:srgbClr val="D5DDE5"/>
            </a:solidFill>
            <a:prstDash val="solid"/>
          </a:ln>
        </p:spPr>
      </p:sp>
      <p:sp>
        <p:nvSpPr>
          <p:cNvPr id="29" name="Text 27"/>
          <p:cNvSpPr txBox="1"/>
          <p:nvPr/>
        </p:nvSpPr>
        <p:spPr>
          <a:xfrm>
            <a:off x="5394960" y="32837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TRACE IT</a:t>
            </a:r>
            <a:endParaRPr lang="en-US" sz="1200" dirty="0"/>
          </a:p>
        </p:txBody>
      </p:sp>
      <p:sp>
        <p:nvSpPr>
          <p:cNvPr id="30" name="Text 28"/>
          <p:cNvSpPr txBox="1"/>
          <p:nvPr/>
        </p:nvSpPr>
        <p:spPr>
          <a:xfrm>
            <a:off x="5394960" y="35946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auto f = std::async(std::launch::deferred, calc); Which thread runs calc, and when?</a:t>
            </a:r>
            <a:endParaRPr lang="en-US" sz="1500" dirty="0"/>
          </a:p>
        </p:txBody>
      </p:sp>
      <p:sp>
        <p:nvSpPr>
          <p:cNvPr id="31" name="Text 29"/>
          <p:cNvSpPr txBox="1"/>
          <p:nvPr/>
        </p:nvSpPr>
        <p:spPr>
          <a:xfrm>
            <a:off x="5394960" y="41722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The thread that calls f.get(), at that moment.</a:t>
            </a:r>
            <a:endParaRPr lang="en-US" sz="1400" dirty="0"/>
          </a:p>
        </p:txBody>
      </p:sp>
      <p:sp>
        <p:nvSpPr>
          <p:cNvPr id="32" name="Shape 30"/>
          <p:cNvSpPr/>
          <p:nvPr/>
        </p:nvSpPr>
        <p:spPr>
          <a:xfrm>
            <a:off x="5166360" y="4820920"/>
            <a:ext cx="6476695" cy="1518920"/>
          </a:xfrm>
          <a:prstGeom prst="roundRect">
            <a:avLst>
              <a:gd name="adj" fmla="val 4816"/>
            </a:avLst>
          </a:prstGeom>
          <a:solidFill>
            <a:srgbClr val="FFFFFF"/>
          </a:solidFill>
          <a:ln w="12700">
            <a:solidFill>
              <a:srgbClr val="D5DDE5"/>
            </a:solidFill>
            <a:prstDash val="solid"/>
          </a:ln>
        </p:spPr>
      </p:sp>
      <p:sp>
        <p:nvSpPr>
          <p:cNvPr id="33" name="Text 31"/>
          <p:cNvSpPr txBox="1"/>
          <p:nvPr/>
        </p:nvSpPr>
        <p:spPr>
          <a:xfrm>
            <a:off x="5394960" y="49855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DESIGN</a:t>
            </a:r>
            <a:endParaRPr lang="en-US" sz="1200" dirty="0"/>
          </a:p>
        </p:txBody>
      </p:sp>
      <p:sp>
        <p:nvSpPr>
          <p:cNvPr id="34" name="Text 32"/>
          <p:cNvSpPr txBox="1"/>
          <p:nvPr/>
        </p:nvSpPr>
        <p:spPr>
          <a:xfrm>
            <a:off x="5394960" y="52964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Design: main needs 3 results computed in parallel, then their sum.</a:t>
            </a:r>
            <a:endParaRPr lang="en-US" sz="1500" dirty="0"/>
          </a:p>
        </p:txBody>
      </p:sp>
      <p:sp>
        <p:nvSpPr>
          <p:cNvPr id="35" name="Text 33"/>
          <p:cNvSpPr txBox="1"/>
          <p:nvPr/>
        </p:nvSpPr>
        <p:spPr>
          <a:xfrm>
            <a:off x="5394960" y="58740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Submit 3 tasks, keep 3 futures, sum the three get() calls.</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V10  ·  PROMISE AND SHARED_FUTURE</a:t>
            </a:r>
            <a:endParaRPr lang="en-US" sz="1200" dirty="0"/>
          </a:p>
        </p:txBody>
      </p:sp>
      <p:sp>
        <p:nvSpPr>
          <p:cNvPr id="3" name="Shape 1"/>
          <p:cNvSpPr/>
          <p:nvPr/>
        </p:nvSpPr>
        <p:spPr>
          <a:xfrm>
            <a:off x="6229807" y="292608"/>
            <a:ext cx="1298448" cy="274320"/>
          </a:xfrm>
          <a:prstGeom prst="roundRect">
            <a:avLst>
              <a:gd name="adj" fmla="val 23333"/>
            </a:avLst>
          </a:prstGeom>
          <a:solidFill>
            <a:srgbClr val="1B2430"/>
          </a:solidFill>
          <a:ln w="12700">
            <a:solidFill>
              <a:srgbClr val="1B2430"/>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No function to run, or many readers</a:t>
            </a:r>
            <a:endParaRPr lang="en-US" sz="2800" dirty="0"/>
          </a:p>
        </p:txBody>
      </p:sp>
      <p:sp>
        <p:nvSpPr>
          <p:cNvPr id="12" name="Shape 10"/>
          <p:cNvSpPr/>
          <p:nvPr/>
        </p:nvSpPr>
        <p:spPr>
          <a:xfrm>
            <a:off x="548640" y="1417320"/>
            <a:ext cx="6766560" cy="969264"/>
          </a:xfrm>
          <a:prstGeom prst="roundRect">
            <a:avLst>
              <a:gd name="adj" fmla="val 7547"/>
            </a:avLst>
          </a:prstGeom>
          <a:solidFill>
            <a:srgbClr val="EEF2F5"/>
          </a:solidFill>
          <a:ln w="12700">
            <a:solidFill>
              <a:srgbClr val="EEF2F5"/>
            </a:solidFill>
            <a:prstDash val="solid"/>
          </a:ln>
        </p:spPr>
      </p:sp>
      <p:sp>
        <p:nvSpPr>
          <p:cNvPr id="13" name="Text 11"/>
          <p:cNvSpPr txBox="1"/>
          <p:nvPr/>
        </p:nvSpPr>
        <p:spPr>
          <a:xfrm>
            <a:off x="731520" y="1581912"/>
            <a:ext cx="6400800" cy="640080"/>
          </a:xfrm>
          <a:prstGeom prst="rect">
            <a:avLst/>
          </a:prstGeom>
          <a:noFill/>
          <a:ln/>
        </p:spPr>
        <p:txBody>
          <a:bodyPr wrap="square" lIns="0" tIns="0" rIns="0" bIns="0" rtlCol="0" anchor="t"/>
          <a:lstStyle/>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network callback ──► reply arrives    (no function to wrap)</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 </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load_config() ──► 8 tasks all need it (many readers)</a:t>
            </a:r>
            <a:endParaRPr lang="en-US" sz="1400" dirty="0"/>
          </a:p>
        </p:txBody>
      </p:sp>
      <p:sp>
        <p:nvSpPr>
          <p:cNvPr id="14" name="Shape 12"/>
          <p:cNvSpPr/>
          <p:nvPr/>
        </p:nvSpPr>
        <p:spPr>
          <a:xfrm>
            <a:off x="548640" y="2615184"/>
            <a:ext cx="6766560" cy="1472184"/>
          </a:xfrm>
          <a:prstGeom prst="roundRect">
            <a:avLst>
              <a:gd name="adj" fmla="val 4969"/>
            </a:avLst>
          </a:prstGeom>
          <a:solidFill>
            <a:srgbClr val="161C24"/>
          </a:solidFill>
          <a:ln w="12700">
            <a:solidFill>
              <a:srgbClr val="161C24"/>
            </a:solidFill>
            <a:prstDash val="solid"/>
          </a:ln>
        </p:spPr>
      </p:sp>
      <p:sp>
        <p:nvSpPr>
          <p:cNvPr id="15" name="Text 13"/>
          <p:cNvSpPr txBox="1"/>
          <p:nvPr/>
        </p:nvSpPr>
        <p:spPr>
          <a:xfrm>
            <a:off x="731520" y="2779776"/>
            <a:ext cx="6400800" cy="1143000"/>
          </a:xfrm>
          <a:prstGeom prst="rect">
            <a:avLst/>
          </a:prstGeom>
          <a:noFill/>
          <a:ln/>
        </p:spPr>
        <p:txBody>
          <a:bodyPr wrap="square" lIns="0" tIns="0" rIns="0" bIns="0" rtlCol="0" anchor="t"/>
          <a:lstStyle/>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std::promise&lt;int&gt; p;</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auto f = p.get_future();</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p.set_value(42);</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std::cout &lt;&lt; f.get();</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std::cout &lt;&lt; f.get();</a:t>
            </a:r>
            <a:endParaRPr lang="en-US" sz="1500" dirty="0"/>
          </a:p>
        </p:txBody>
      </p:sp>
      <p:sp>
        <p:nvSpPr>
          <p:cNvPr id="16" name="Text 14"/>
          <p:cNvSpPr txBox="1"/>
          <p:nvPr/>
        </p:nvSpPr>
        <p:spPr>
          <a:xfrm>
            <a:off x="7680960" y="1417320"/>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THE QUESTION</a:t>
            </a:r>
            <a:endParaRPr lang="en-US" sz="1200" dirty="0"/>
          </a:p>
        </p:txBody>
      </p:sp>
      <p:sp>
        <p:nvSpPr>
          <p:cNvPr id="17" name="Text 15"/>
          <p:cNvSpPr txBox="1"/>
          <p:nvPr/>
        </p:nvSpPr>
        <p:spPr>
          <a:xfrm>
            <a:off x="7680960" y="1728216"/>
            <a:ext cx="3962095" cy="1115568"/>
          </a:xfrm>
          <a:prstGeom prst="rect">
            <a:avLst/>
          </a:prstGeom>
          <a:noFill/>
          <a:ln/>
        </p:spPr>
        <p:txBody>
          <a:bodyPr wrap="square" lIns="0" tIns="0" rIns="0" bIns="0" rtlCol="0" anchor="t"/>
          <a:lstStyle/>
          <a:p>
            <a:pPr indent="0" marL="0">
              <a:lnSpc>
                <a:spcPct val="105000"/>
              </a:lnSpc>
              <a:buNone/>
            </a:pPr>
            <a:r>
              <a:rPr lang="en-US" sz="1800" b="1" dirty="0">
                <a:solidFill>
                  <a:srgbClr val="1B2430"/>
                </a:solidFill>
                <a:latin typeface="Calibri" pitchFamily="34" charset="0"/>
                <a:ea typeface="Calibri" pitchFamily="34" charset="-122"/>
                <a:cs typeface="Calibri" pitchFamily="34" charset="-120"/>
              </a:rPr>
              <a:t>packaged_task wraps a function. What if the value comes from a callback? And what if 8 threads need one result?</a:t>
            </a:r>
            <a:endParaRPr lang="en-US" sz="1800" dirty="0"/>
          </a:p>
        </p:txBody>
      </p:sp>
      <p:sp>
        <p:nvSpPr>
          <p:cNvPr id="18" name="Text 16"/>
          <p:cNvSpPr txBox="1"/>
          <p:nvPr/>
        </p:nvSpPr>
        <p:spPr>
          <a:xfrm>
            <a:off x="7680960" y="3072384"/>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PREDICT</a:t>
            </a:r>
            <a:endParaRPr lang="en-US" sz="1200" dirty="0"/>
          </a:p>
        </p:txBody>
      </p:sp>
      <p:sp>
        <p:nvSpPr>
          <p:cNvPr id="19" name="Text 17"/>
          <p:cNvSpPr txBox="1"/>
          <p:nvPr/>
        </p:nvSpPr>
        <p:spPr>
          <a:xfrm>
            <a:off x="7680960" y="3383280"/>
            <a:ext cx="3962095" cy="276352"/>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What do the two get() calls print?</a:t>
            </a:r>
            <a:endParaRPr lang="en-US" sz="1600" dirty="0"/>
          </a:p>
        </p:txBody>
      </p:sp>
      <p:sp>
        <p:nvSpPr>
          <p:cNvPr id="20" name="Shape 18"/>
          <p:cNvSpPr/>
          <p:nvPr/>
        </p:nvSpPr>
        <p:spPr>
          <a:xfrm>
            <a:off x="7680960" y="3933952"/>
            <a:ext cx="3962095" cy="1764030"/>
          </a:xfrm>
          <a:prstGeom prst="roundRect">
            <a:avLst>
              <a:gd name="adj" fmla="val 4147"/>
            </a:avLst>
          </a:prstGeom>
          <a:solidFill>
            <a:srgbClr val="EEF2F5"/>
          </a:solidFill>
          <a:ln w="12700">
            <a:solidFill>
              <a:srgbClr val="EEF2F5"/>
            </a:solidFill>
            <a:prstDash val="solid"/>
          </a:ln>
        </p:spPr>
      </p:sp>
      <p:sp>
        <p:nvSpPr>
          <p:cNvPr id="21" name="Text 19"/>
          <p:cNvSpPr txBox="1"/>
          <p:nvPr/>
        </p:nvSpPr>
        <p:spPr>
          <a:xfrm>
            <a:off x="7909560" y="4116832"/>
            <a:ext cx="3504895"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ANSWER</a:t>
            </a:r>
            <a:endParaRPr lang="en-US" sz="1200" dirty="0"/>
          </a:p>
        </p:txBody>
      </p:sp>
      <p:sp>
        <p:nvSpPr>
          <p:cNvPr id="22" name="Text 20"/>
          <p:cNvSpPr txBox="1"/>
          <p:nvPr/>
        </p:nvSpPr>
        <p:spPr>
          <a:xfrm>
            <a:off x="7909560" y="4427728"/>
            <a:ext cx="3504895" cy="116052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First: 42.</a:t>
            </a: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Second: throws std::future_error (no associated state).</a:t>
            </a:r>
            <a:endParaRPr lang="en-US" sz="1500" dirty="0"/>
          </a:p>
          <a:p>
            <a:pPr indent="0" marL="0">
              <a:lnSpc>
                <a:spcPct val="105000"/>
              </a:lnSpc>
              <a:buNone/>
            </a:pP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get() is one-shot.</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V10  ·  PROMISE AND SHARED_FUTURE</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1B2430"/>
          </a:solidFill>
          <a:ln w="12700">
            <a:solidFill>
              <a:srgbClr val="1B2430"/>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Who writes, and how many read</a:t>
            </a:r>
            <a:endParaRPr lang="en-US" sz="2800" dirty="0"/>
          </a:p>
        </p:txBody>
      </p:sp>
      <p:sp>
        <p:nvSpPr>
          <p:cNvPr id="12" name="Text 10"/>
          <p:cNvSpPr txBox="1"/>
          <p:nvPr/>
        </p:nvSpPr>
        <p:spPr>
          <a:xfrm>
            <a:off x="548640" y="1417320"/>
            <a:ext cx="429768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RUN IT</a:t>
            </a:r>
            <a:endParaRPr lang="en-US" sz="1200" dirty="0"/>
          </a:p>
        </p:txBody>
      </p:sp>
      <p:sp>
        <p:nvSpPr>
          <p:cNvPr id="13" name="Shape 11"/>
          <p:cNvSpPr/>
          <p:nvPr/>
        </p:nvSpPr>
        <p:spPr>
          <a:xfrm>
            <a:off x="548640" y="1728216"/>
            <a:ext cx="4297680" cy="1182624"/>
          </a:xfrm>
          <a:prstGeom prst="roundRect">
            <a:avLst>
              <a:gd name="adj" fmla="val 6186"/>
            </a:avLst>
          </a:prstGeom>
          <a:solidFill>
            <a:srgbClr val="0D1117"/>
          </a:solidFill>
          <a:ln w="12700">
            <a:solidFill>
              <a:srgbClr val="0D1117"/>
            </a:solidFill>
            <a:prstDash val="solid"/>
          </a:ln>
        </p:spPr>
      </p:sp>
      <p:sp>
        <p:nvSpPr>
          <p:cNvPr id="14" name="Text 12"/>
          <p:cNvSpPr txBox="1"/>
          <p:nvPr/>
        </p:nvSpPr>
        <p:spPr>
          <a:xfrm>
            <a:off x="731520" y="1892808"/>
            <a:ext cx="3931920" cy="853440"/>
          </a:xfrm>
          <a:prstGeom prst="rect">
            <a:avLst/>
          </a:prstGeom>
          <a:noFill/>
          <a:ln/>
        </p:spPr>
        <p:txBody>
          <a:bodyPr wrap="square" lIns="0" tIns="0" rIns="0" bIns="0" rtlCol="0" anchor="t"/>
          <a:lstStyle/>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 ./tiny_promise</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first reader got 42</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second get(): std::future_error:</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No associated state</a:t>
            </a:r>
            <a:endParaRPr lang="en-US" sz="1400" dirty="0"/>
          </a:p>
        </p:txBody>
      </p:sp>
      <p:sp>
        <p:nvSpPr>
          <p:cNvPr id="15" name="Text 13"/>
          <p:cNvSpPr txBox="1"/>
          <p:nvPr/>
        </p:nvSpPr>
        <p:spPr>
          <a:xfrm>
            <a:off x="548640" y="3093720"/>
            <a:ext cx="4297680" cy="71094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Destroy a promise without setting it: readers get broken_promise instead of waiting forever.</a:t>
            </a:r>
            <a:endParaRPr lang="en-US" sz="1500" dirty="0"/>
          </a:p>
        </p:txBody>
      </p:sp>
      <p:sp>
        <p:nvSpPr>
          <p:cNvPr id="16" name="Text 14"/>
          <p:cNvSpPr txBox="1"/>
          <p:nvPr/>
        </p:nvSpPr>
        <p:spPr>
          <a:xfrm>
            <a:off x="5166360" y="1417320"/>
            <a:ext cx="6476695"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WHAT HAPPENS, STEP BY STEP</a:t>
            </a:r>
            <a:endParaRPr lang="en-US" sz="1200" dirty="0"/>
          </a:p>
        </p:txBody>
      </p:sp>
      <p:sp>
        <p:nvSpPr>
          <p:cNvPr id="17" name="Shape 15"/>
          <p:cNvSpPr/>
          <p:nvPr/>
        </p:nvSpPr>
        <p:spPr>
          <a:xfrm>
            <a:off x="5166360" y="1728216"/>
            <a:ext cx="6476695" cy="2157984"/>
          </a:xfrm>
          <a:prstGeom prst="roundRect">
            <a:avLst>
              <a:gd name="adj" fmla="val 3390"/>
            </a:avLst>
          </a:prstGeom>
          <a:solidFill>
            <a:srgbClr val="EEF2F5"/>
          </a:solidFill>
          <a:ln w="12700">
            <a:solidFill>
              <a:srgbClr val="EEF2F5"/>
            </a:solidFill>
            <a:prstDash val="solid"/>
          </a:ln>
        </p:spPr>
      </p:sp>
      <p:sp>
        <p:nvSpPr>
          <p:cNvPr id="18" name="Text 16"/>
          <p:cNvSpPr txBox="1"/>
          <p:nvPr/>
        </p:nvSpPr>
        <p:spPr>
          <a:xfrm>
            <a:off x="5349240" y="1892808"/>
            <a:ext cx="6110935" cy="18288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who produces the value?</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std::async          the library runs it</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std::packaged_task  you choose where it runs</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std::promise        set it by hand</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how many readers?</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std::future         one   (like unique_ptr)</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std::shared_future  many  (like shared_ptr)</a:t>
            </a:r>
            <a:endParaRPr lang="en-US" sz="1500" dirty="0"/>
          </a:p>
        </p:txBody>
      </p:sp>
      <p:sp>
        <p:nvSpPr>
          <p:cNvPr id="19" name="Shape 17"/>
          <p:cNvSpPr/>
          <p:nvPr/>
        </p:nvSpPr>
        <p:spPr>
          <a:xfrm>
            <a:off x="5166360" y="4114800"/>
            <a:ext cx="6476695" cy="1089660"/>
          </a:xfrm>
          <a:prstGeom prst="roundRect">
            <a:avLst>
              <a:gd name="adj" fmla="val 6713"/>
            </a:avLst>
          </a:prstGeom>
          <a:solidFill>
            <a:srgbClr val="FDF1E8"/>
          </a:solidFill>
          <a:ln w="12700">
            <a:solidFill>
              <a:srgbClr val="FDF1E8"/>
            </a:solidFill>
            <a:prstDash val="solid"/>
          </a:ln>
        </p:spPr>
      </p:sp>
      <p:sp>
        <p:nvSpPr>
          <p:cNvPr id="20" name="Text 18"/>
          <p:cNvSpPr txBox="1"/>
          <p:nvPr/>
        </p:nvSpPr>
        <p:spPr>
          <a:xfrm>
            <a:off x="5394960" y="4297680"/>
            <a:ext cx="60194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SO</a:t>
            </a:r>
            <a:endParaRPr lang="en-US" sz="1200" dirty="0"/>
          </a:p>
        </p:txBody>
      </p:sp>
      <p:sp>
        <p:nvSpPr>
          <p:cNvPr id="21" name="Text 19"/>
          <p:cNvSpPr txBox="1"/>
          <p:nvPr/>
        </p:nvSpPr>
        <p:spPr>
          <a:xfrm>
            <a:off x="5394960" y="4608576"/>
            <a:ext cx="6019495"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Give each reader its OWN copy of the shared_future. One object used by many threads is a data race.</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V10  ·  PROMISE AND SHARED_FUTURE</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1B2430"/>
          </a:solidFill>
          <a:ln w="12700">
            <a:solidFill>
              <a:srgbClr val="1B2430"/>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share(), one copy per task</a:t>
            </a:r>
            <a:endParaRPr lang="en-US" sz="2800" dirty="0"/>
          </a:p>
        </p:txBody>
      </p:sp>
      <p:sp>
        <p:nvSpPr>
          <p:cNvPr id="12" name="Text 10"/>
          <p:cNvSpPr txBox="1"/>
          <p:nvPr/>
        </p:nvSpPr>
        <p:spPr>
          <a:xfrm>
            <a:off x="548640" y="1417320"/>
            <a:ext cx="676656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example</a:t>
            </a:r>
            <a:endParaRPr lang="en-US" sz="1200" dirty="0"/>
          </a:p>
        </p:txBody>
      </p:sp>
      <p:sp>
        <p:nvSpPr>
          <p:cNvPr id="13" name="Shape 11"/>
          <p:cNvSpPr/>
          <p:nvPr/>
        </p:nvSpPr>
        <p:spPr>
          <a:xfrm>
            <a:off x="548640" y="1728216"/>
            <a:ext cx="7132320" cy="1700784"/>
          </a:xfrm>
          <a:prstGeom prst="roundRect">
            <a:avLst>
              <a:gd name="adj" fmla="val 4301"/>
            </a:avLst>
          </a:prstGeom>
          <a:solidFill>
            <a:srgbClr val="161C24"/>
          </a:solidFill>
          <a:ln w="12700">
            <a:solidFill>
              <a:srgbClr val="161C24"/>
            </a:solidFill>
            <a:prstDash val="solid"/>
          </a:ln>
        </p:spPr>
      </p:sp>
      <p:sp>
        <p:nvSpPr>
          <p:cNvPr id="14" name="Text 12"/>
          <p:cNvSpPr txBox="1"/>
          <p:nvPr/>
        </p:nvSpPr>
        <p:spPr>
          <a:xfrm>
            <a:off x="731520" y="1892808"/>
            <a:ext cx="6766560" cy="1371600"/>
          </a:xfrm>
          <a:prstGeom prst="rect">
            <a:avLst/>
          </a:prstGeom>
          <a:noFill/>
          <a:ln/>
        </p:spPr>
        <p:txBody>
          <a:bodyPr wrap="square" lIns="0" tIns="0" rIns="0" bIns="0" rtlCol="0" anchor="t"/>
          <a:lstStyle/>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std::shared_future&lt;Config&gt; cfg =</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pool.submit(load_config).share();</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for (int i = 0; i &lt; 8; ++i)</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pool.submit([cfg] {          // copy, by value</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use(cfg.get());</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a:t>
            </a:r>
            <a:endParaRPr lang="en-US" sz="1500" dirty="0"/>
          </a:p>
        </p:txBody>
      </p:sp>
      <p:sp>
        <p:nvSpPr>
          <p:cNvPr id="15" name="Shape 13"/>
          <p:cNvSpPr/>
          <p:nvPr/>
        </p:nvSpPr>
        <p:spPr>
          <a:xfrm>
            <a:off x="8001000" y="1728216"/>
            <a:ext cx="365760" cy="365760"/>
          </a:xfrm>
          <a:prstGeom prst="ellipse">
            <a:avLst/>
          </a:prstGeom>
          <a:solidFill>
            <a:srgbClr val="0F766E"/>
          </a:solidFill>
          <a:ln w="12700">
            <a:solidFill>
              <a:srgbClr val="0F766E"/>
            </a:solidFill>
            <a:prstDash val="solid"/>
          </a:ln>
        </p:spPr>
      </p:sp>
      <p:sp>
        <p:nvSpPr>
          <p:cNvPr id="16" name="Text 14"/>
          <p:cNvSpPr txBox="1"/>
          <p:nvPr/>
        </p:nvSpPr>
        <p:spPr>
          <a:xfrm>
            <a:off x="8001000" y="17282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8503920" y="1764792"/>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share() turns a future into a shared_future.</a:t>
            </a:r>
            <a:endParaRPr lang="en-US" sz="1600" dirty="0"/>
          </a:p>
        </p:txBody>
      </p:sp>
      <p:sp>
        <p:nvSpPr>
          <p:cNvPr id="18" name="Shape 16"/>
          <p:cNvSpPr/>
          <p:nvPr/>
        </p:nvSpPr>
        <p:spPr>
          <a:xfrm>
            <a:off x="8001000" y="2518664"/>
            <a:ext cx="365760" cy="365760"/>
          </a:xfrm>
          <a:prstGeom prst="ellipse">
            <a:avLst/>
          </a:prstGeom>
          <a:solidFill>
            <a:srgbClr val="0F766E"/>
          </a:solidFill>
          <a:ln w="12700">
            <a:solidFill>
              <a:srgbClr val="0F766E"/>
            </a:solidFill>
            <a:prstDash val="solid"/>
          </a:ln>
        </p:spPr>
      </p:sp>
      <p:sp>
        <p:nvSpPr>
          <p:cNvPr id="19" name="Text 17"/>
          <p:cNvSpPr txBox="1"/>
          <p:nvPr/>
        </p:nvSpPr>
        <p:spPr>
          <a:xfrm>
            <a:off x="8001000" y="25186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8503920" y="2555240"/>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Each task captures its own copy.</a:t>
            </a:r>
            <a:endParaRPr lang="en-US" sz="1600" dirty="0"/>
          </a:p>
        </p:txBody>
      </p:sp>
      <p:sp>
        <p:nvSpPr>
          <p:cNvPr id="21" name="Shape 19"/>
          <p:cNvSpPr/>
          <p:nvPr/>
        </p:nvSpPr>
        <p:spPr>
          <a:xfrm>
            <a:off x="8001000" y="3309112"/>
            <a:ext cx="365760" cy="365760"/>
          </a:xfrm>
          <a:prstGeom prst="ellipse">
            <a:avLst/>
          </a:prstGeom>
          <a:solidFill>
            <a:srgbClr val="0F766E"/>
          </a:solidFill>
          <a:ln w="12700">
            <a:solidFill>
              <a:srgbClr val="0F766E"/>
            </a:solidFill>
            <a:prstDash val="solid"/>
          </a:ln>
        </p:spPr>
      </p:sp>
      <p:sp>
        <p:nvSpPr>
          <p:cNvPr id="22" name="Text 20"/>
          <p:cNvSpPr txBox="1"/>
          <p:nvPr/>
        </p:nvSpPr>
        <p:spPr>
          <a:xfrm>
            <a:off x="8001000" y="330911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503920" y="3345688"/>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If load_config throws, all 8 get() calls rethrow it.</a:t>
            </a:r>
            <a:endParaRPr lang="en-US" sz="16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V10  ·  PROMISE AND SHARED_FUTURE</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1B2430"/>
          </a:solidFill>
          <a:ln w="12700">
            <a:solidFill>
              <a:srgbClr val="1B2430"/>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Check yourself</a:t>
            </a:r>
            <a:endParaRPr lang="en-US" sz="2800" dirty="0"/>
          </a:p>
        </p:txBody>
      </p:sp>
      <p:sp>
        <p:nvSpPr>
          <p:cNvPr id="12" name="Shape 10"/>
          <p:cNvSpPr/>
          <p:nvPr/>
        </p:nvSpPr>
        <p:spPr>
          <a:xfrm>
            <a:off x="548640" y="1417320"/>
            <a:ext cx="4206240" cy="1404366"/>
          </a:xfrm>
          <a:prstGeom prst="roundRect">
            <a:avLst>
              <a:gd name="adj" fmla="val 5209"/>
            </a:avLst>
          </a:prstGeom>
          <a:solidFill>
            <a:srgbClr val="EEF2F5"/>
          </a:solidFill>
          <a:ln w="12700">
            <a:solidFill>
              <a:srgbClr val="EEF2F5"/>
            </a:solidFill>
            <a:prstDash val="solid"/>
          </a:ln>
        </p:spPr>
      </p:sp>
      <p:sp>
        <p:nvSpPr>
          <p:cNvPr id="13" name="Text 11"/>
          <p:cNvSpPr txBox="1"/>
          <p:nvPr/>
        </p:nvSpPr>
        <p:spPr>
          <a:xfrm>
            <a:off x="777240" y="1600200"/>
            <a:ext cx="3749040"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THE LESSON</a:t>
            </a:r>
            <a:endParaRPr lang="en-US" sz="1200" dirty="0"/>
          </a:p>
        </p:txBody>
      </p:sp>
      <p:sp>
        <p:nvSpPr>
          <p:cNvPr id="14" name="Text 12"/>
          <p:cNvSpPr txBox="1"/>
          <p:nvPr/>
        </p:nvSpPr>
        <p:spPr>
          <a:xfrm>
            <a:off x="777240" y="1911096"/>
            <a:ext cx="3749040" cy="800862"/>
          </a:xfrm>
          <a:prstGeom prst="rect">
            <a:avLst/>
          </a:prstGeom>
          <a:noFill/>
          <a:ln/>
        </p:spPr>
        <p:txBody>
          <a:bodyPr wrap="square" lIns="0" tIns="0" rIns="0" bIns="0" rtlCol="0" anchor="t"/>
          <a:lstStyle/>
          <a:p>
            <a:pPr indent="0" marL="0">
              <a:lnSpc>
                <a:spcPct val="105000"/>
              </a:lnSpc>
              <a:buNone/>
            </a:pPr>
            <a:r>
              <a:rPr lang="en-US" sz="1700" dirty="0">
                <a:solidFill>
                  <a:srgbClr val="1B2430"/>
                </a:solidFill>
                <a:latin typeface="Calibri" pitchFamily="34" charset="0"/>
                <a:ea typeface="Calibri" pitchFamily="34" charset="-122"/>
                <a:cs typeface="Calibri" pitchFamily="34" charset="-120"/>
              </a:rPr>
              <a:t>One reader: future. Many readers: shared_future, one copy each. No function: promise.</a:t>
            </a:r>
            <a:endParaRPr lang="en-US" sz="1700" dirty="0"/>
          </a:p>
        </p:txBody>
      </p:sp>
      <p:sp>
        <p:nvSpPr>
          <p:cNvPr id="15" name="Text 13"/>
          <p:cNvSpPr txBox="1"/>
          <p:nvPr/>
        </p:nvSpPr>
        <p:spPr>
          <a:xfrm>
            <a:off x="548640" y="3096006"/>
            <a:ext cx="420624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EXPLAIN WITHOUT LOOKING</a:t>
            </a:r>
            <a:endParaRPr lang="en-US" sz="1200" dirty="0"/>
          </a:p>
        </p:txBody>
      </p:sp>
      <p:sp>
        <p:nvSpPr>
          <p:cNvPr id="16" name="Shape 14"/>
          <p:cNvSpPr/>
          <p:nvPr/>
        </p:nvSpPr>
        <p:spPr>
          <a:xfrm>
            <a:off x="548640" y="3489198"/>
            <a:ext cx="182880" cy="182880"/>
          </a:xfrm>
          <a:prstGeom prst="rect">
            <a:avLst/>
          </a:prstGeom>
          <a:solidFill>
            <a:srgbClr val="FFFFFF"/>
          </a:solidFill>
          <a:ln w="15875">
            <a:solidFill>
              <a:srgbClr val="0F766E"/>
            </a:solidFill>
            <a:prstDash val="solid"/>
          </a:ln>
        </p:spPr>
      </p:sp>
      <p:sp>
        <p:nvSpPr>
          <p:cNvPr id="17" name="Text 15"/>
          <p:cNvSpPr txBox="1"/>
          <p:nvPr/>
        </p:nvSpPr>
        <p:spPr>
          <a:xfrm>
            <a:off x="868680" y="3443478"/>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When promise instead of packaged_task?</a:t>
            </a:r>
            <a:endParaRPr lang="en-US" sz="1500" dirty="0"/>
          </a:p>
        </p:txBody>
      </p:sp>
      <p:sp>
        <p:nvSpPr>
          <p:cNvPr id="18" name="Shape 16"/>
          <p:cNvSpPr/>
          <p:nvPr/>
        </p:nvSpPr>
        <p:spPr>
          <a:xfrm>
            <a:off x="548640" y="3860292"/>
            <a:ext cx="182880" cy="182880"/>
          </a:xfrm>
          <a:prstGeom prst="rect">
            <a:avLst/>
          </a:prstGeom>
          <a:solidFill>
            <a:srgbClr val="FFFFFF"/>
          </a:solidFill>
          <a:ln w="15875">
            <a:solidFill>
              <a:srgbClr val="0F766E"/>
            </a:solidFill>
            <a:prstDash val="solid"/>
          </a:ln>
        </p:spPr>
      </p:sp>
      <p:sp>
        <p:nvSpPr>
          <p:cNvPr id="19" name="Text 17"/>
          <p:cNvSpPr txBox="1"/>
          <p:nvPr/>
        </p:nvSpPr>
        <p:spPr>
          <a:xfrm>
            <a:off x="868680" y="3814572"/>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is get() one-shot?</a:t>
            </a:r>
            <a:endParaRPr lang="en-US" sz="1500" dirty="0"/>
          </a:p>
        </p:txBody>
      </p:sp>
      <p:sp>
        <p:nvSpPr>
          <p:cNvPr id="20" name="Shape 18"/>
          <p:cNvSpPr/>
          <p:nvPr/>
        </p:nvSpPr>
        <p:spPr>
          <a:xfrm>
            <a:off x="548640" y="4231386"/>
            <a:ext cx="182880" cy="182880"/>
          </a:xfrm>
          <a:prstGeom prst="rect">
            <a:avLst/>
          </a:prstGeom>
          <a:solidFill>
            <a:srgbClr val="FFFFFF"/>
          </a:solidFill>
          <a:ln w="15875">
            <a:solidFill>
              <a:srgbClr val="0F766E"/>
            </a:solidFill>
            <a:prstDash val="solid"/>
          </a:ln>
        </p:spPr>
      </p:sp>
      <p:sp>
        <p:nvSpPr>
          <p:cNvPr id="21" name="Text 19"/>
          <p:cNvSpPr txBox="1"/>
          <p:nvPr/>
        </p:nvSpPr>
        <p:spPr>
          <a:xfrm>
            <a:off x="868680" y="4185666"/>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copy the shared_future per thread?</a:t>
            </a:r>
            <a:endParaRPr lang="en-US" sz="1500" dirty="0"/>
          </a:p>
        </p:txBody>
      </p:sp>
      <p:sp>
        <p:nvSpPr>
          <p:cNvPr id="22" name="Shape 20"/>
          <p:cNvSpPr/>
          <p:nvPr/>
        </p:nvSpPr>
        <p:spPr>
          <a:xfrm>
            <a:off x="548640" y="4602480"/>
            <a:ext cx="182880" cy="182880"/>
          </a:xfrm>
          <a:prstGeom prst="rect">
            <a:avLst/>
          </a:prstGeom>
          <a:solidFill>
            <a:srgbClr val="FFFFFF"/>
          </a:solidFill>
          <a:ln w="15875">
            <a:solidFill>
              <a:srgbClr val="0F766E"/>
            </a:solidFill>
            <a:prstDash val="solid"/>
          </a:ln>
        </p:spPr>
      </p:sp>
      <p:sp>
        <p:nvSpPr>
          <p:cNvPr id="23" name="Text 21"/>
          <p:cNvSpPr txBox="1"/>
          <p:nvPr/>
        </p:nvSpPr>
        <p:spPr>
          <a:xfrm>
            <a:off x="868680" y="4556760"/>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is broken_promise?</a:t>
            </a:r>
            <a:endParaRPr lang="en-US" sz="1500" dirty="0"/>
          </a:p>
        </p:txBody>
      </p:sp>
      <p:sp>
        <p:nvSpPr>
          <p:cNvPr id="24" name="Shape 22"/>
          <p:cNvSpPr/>
          <p:nvPr/>
        </p:nvSpPr>
        <p:spPr>
          <a:xfrm>
            <a:off x="5166360" y="1417320"/>
            <a:ext cx="6476695" cy="1294130"/>
          </a:xfrm>
          <a:prstGeom prst="roundRect">
            <a:avLst>
              <a:gd name="adj" fmla="val 5653"/>
            </a:avLst>
          </a:prstGeom>
          <a:solidFill>
            <a:srgbClr val="FFFFFF"/>
          </a:solidFill>
          <a:ln w="12700">
            <a:solidFill>
              <a:srgbClr val="D5DDE5"/>
            </a:solidFill>
            <a:prstDash val="solid"/>
          </a:ln>
        </p:spPr>
      </p:sp>
      <p:sp>
        <p:nvSpPr>
          <p:cNvPr id="25" name="Text 23"/>
          <p:cNvSpPr txBox="1"/>
          <p:nvPr/>
        </p:nvSpPr>
        <p:spPr>
          <a:xfrm>
            <a:off x="5394960" y="15819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NUMBERS</a:t>
            </a:r>
            <a:endParaRPr lang="en-US" sz="1200" dirty="0"/>
          </a:p>
        </p:txBody>
      </p:sp>
      <p:sp>
        <p:nvSpPr>
          <p:cNvPr id="26" name="Text 24"/>
          <p:cNvSpPr txBox="1"/>
          <p:nvPr/>
        </p:nvSpPr>
        <p:spPr>
          <a:xfrm>
            <a:off x="5394960" y="1892808"/>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8 readers each get x = 7 from one shared_future. Sum?</a:t>
            </a:r>
            <a:endParaRPr lang="en-US" sz="1500" dirty="0"/>
          </a:p>
        </p:txBody>
      </p:sp>
      <p:sp>
        <p:nvSpPr>
          <p:cNvPr id="27" name="Text 25"/>
          <p:cNvSpPr txBox="1"/>
          <p:nvPr/>
        </p:nvSpPr>
        <p:spPr>
          <a:xfrm>
            <a:off x="5394960" y="224561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56.</a:t>
            </a:r>
            <a:endParaRPr lang="en-US" sz="1400" dirty="0"/>
          </a:p>
        </p:txBody>
      </p:sp>
      <p:sp>
        <p:nvSpPr>
          <p:cNvPr id="28" name="Shape 26"/>
          <p:cNvSpPr/>
          <p:nvPr/>
        </p:nvSpPr>
        <p:spPr>
          <a:xfrm>
            <a:off x="5166360" y="2894330"/>
            <a:ext cx="6476695" cy="1294130"/>
          </a:xfrm>
          <a:prstGeom prst="roundRect">
            <a:avLst>
              <a:gd name="adj" fmla="val 5653"/>
            </a:avLst>
          </a:prstGeom>
          <a:solidFill>
            <a:srgbClr val="FFFFFF"/>
          </a:solidFill>
          <a:ln w="12700">
            <a:solidFill>
              <a:srgbClr val="D5DDE5"/>
            </a:solidFill>
            <a:prstDash val="solid"/>
          </a:ln>
        </p:spPr>
      </p:sp>
      <p:sp>
        <p:nvSpPr>
          <p:cNvPr id="29" name="Text 27"/>
          <p:cNvSpPr txBox="1"/>
          <p:nvPr/>
        </p:nvSpPr>
        <p:spPr>
          <a:xfrm>
            <a:off x="5394960" y="305892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TRACE IT</a:t>
            </a:r>
            <a:endParaRPr lang="en-US" sz="1200" dirty="0"/>
          </a:p>
        </p:txBody>
      </p:sp>
      <p:sp>
        <p:nvSpPr>
          <p:cNvPr id="30" name="Text 28"/>
          <p:cNvSpPr txBox="1"/>
          <p:nvPr/>
        </p:nvSpPr>
        <p:spPr>
          <a:xfrm>
            <a:off x="5394960" y="3369818"/>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The promise is destroyed before set_value. What does get() do?</a:t>
            </a:r>
            <a:endParaRPr lang="en-US" sz="1500" dirty="0"/>
          </a:p>
        </p:txBody>
      </p:sp>
      <p:sp>
        <p:nvSpPr>
          <p:cNvPr id="31" name="Text 29"/>
          <p:cNvSpPr txBox="1"/>
          <p:nvPr/>
        </p:nvSpPr>
        <p:spPr>
          <a:xfrm>
            <a:off x="5394960" y="372262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Throws std::future_error: broken_promise.</a:t>
            </a:r>
            <a:endParaRPr lang="en-US" sz="1400" dirty="0"/>
          </a:p>
        </p:txBody>
      </p:sp>
      <p:sp>
        <p:nvSpPr>
          <p:cNvPr id="32" name="Shape 30"/>
          <p:cNvSpPr/>
          <p:nvPr/>
        </p:nvSpPr>
        <p:spPr>
          <a:xfrm>
            <a:off x="5166360" y="4371340"/>
            <a:ext cx="6476695" cy="1503934"/>
          </a:xfrm>
          <a:prstGeom prst="roundRect">
            <a:avLst>
              <a:gd name="adj" fmla="val 4864"/>
            </a:avLst>
          </a:prstGeom>
          <a:solidFill>
            <a:srgbClr val="FFFFFF"/>
          </a:solidFill>
          <a:ln w="12700">
            <a:solidFill>
              <a:srgbClr val="D5DDE5"/>
            </a:solidFill>
            <a:prstDash val="solid"/>
          </a:ln>
        </p:spPr>
      </p:sp>
      <p:sp>
        <p:nvSpPr>
          <p:cNvPr id="33" name="Text 31"/>
          <p:cNvSpPr txBox="1"/>
          <p:nvPr/>
        </p:nvSpPr>
        <p:spPr>
          <a:xfrm>
            <a:off x="5394960" y="453593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DESIGN</a:t>
            </a:r>
            <a:endParaRPr lang="en-US" sz="1200" dirty="0"/>
          </a:p>
        </p:txBody>
      </p:sp>
      <p:sp>
        <p:nvSpPr>
          <p:cNvPr id="34" name="Text 32"/>
          <p:cNvSpPr txBox="1"/>
          <p:nvPr/>
        </p:nvSpPr>
        <p:spPr>
          <a:xfrm>
            <a:off x="5394960" y="4846828"/>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Start 8 benchmark threads at the same instant. Design it.</a:t>
            </a:r>
            <a:endParaRPr lang="en-US" sz="1500" dirty="0"/>
          </a:p>
        </p:txBody>
      </p:sp>
      <p:sp>
        <p:nvSpPr>
          <p:cNvPr id="35" name="Text 33"/>
          <p:cNvSpPr txBox="1"/>
          <p:nvPr/>
        </p:nvSpPr>
        <p:spPr>
          <a:xfrm>
            <a:off x="5394960" y="5199634"/>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promise&lt;void&gt; + shared_future&lt;void&gt;: every thread waits on it, then set_value() releases all.</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V10  ·  TIMEOUTS AND CANCELLATION</a:t>
            </a:r>
            <a:endParaRPr lang="en-US" sz="1200" dirty="0"/>
          </a:p>
        </p:txBody>
      </p:sp>
      <p:sp>
        <p:nvSpPr>
          <p:cNvPr id="3" name="Shape 1"/>
          <p:cNvSpPr/>
          <p:nvPr/>
        </p:nvSpPr>
        <p:spPr>
          <a:xfrm>
            <a:off x="6229807" y="292608"/>
            <a:ext cx="1298448" cy="274320"/>
          </a:xfrm>
          <a:prstGeom prst="roundRect">
            <a:avLst>
              <a:gd name="adj" fmla="val 23333"/>
            </a:avLst>
          </a:prstGeom>
          <a:solidFill>
            <a:srgbClr val="1B2430"/>
          </a:solidFill>
          <a:ln w="12700">
            <a:solidFill>
              <a:srgbClr val="1B2430"/>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A task that never finishes</a:t>
            </a:r>
            <a:endParaRPr lang="en-US" sz="2800" dirty="0"/>
          </a:p>
        </p:txBody>
      </p:sp>
      <p:sp>
        <p:nvSpPr>
          <p:cNvPr id="12" name="Shape 10"/>
          <p:cNvSpPr/>
          <p:nvPr/>
        </p:nvSpPr>
        <p:spPr>
          <a:xfrm>
            <a:off x="548640" y="1417320"/>
            <a:ext cx="6766560" cy="1014984"/>
          </a:xfrm>
          <a:prstGeom prst="roundRect">
            <a:avLst>
              <a:gd name="adj" fmla="val 7207"/>
            </a:avLst>
          </a:prstGeom>
          <a:solidFill>
            <a:srgbClr val="EEF2F5"/>
          </a:solidFill>
          <a:ln w="12700">
            <a:solidFill>
              <a:srgbClr val="EEF2F5"/>
            </a:solidFill>
            <a:prstDash val="solid"/>
          </a:ln>
        </p:spPr>
      </p:sp>
      <p:sp>
        <p:nvSpPr>
          <p:cNvPr id="13" name="Text 11"/>
          <p:cNvSpPr txBox="1"/>
          <p:nvPr/>
        </p:nvSpPr>
        <p:spPr>
          <a:xfrm>
            <a:off x="731520" y="1581912"/>
            <a:ext cx="6400800" cy="6858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auto f = pool.submit([] { return fetch(url);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fetch() sometimes hangs forever</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f.get();      // ...and so does main</a:t>
            </a:r>
            <a:endParaRPr lang="en-US" sz="1500" dirty="0"/>
          </a:p>
        </p:txBody>
      </p:sp>
      <p:sp>
        <p:nvSpPr>
          <p:cNvPr id="14" name="Shape 12"/>
          <p:cNvSpPr/>
          <p:nvPr/>
        </p:nvSpPr>
        <p:spPr>
          <a:xfrm>
            <a:off x="548640" y="2660904"/>
            <a:ext cx="6766560" cy="1472184"/>
          </a:xfrm>
          <a:prstGeom prst="roundRect">
            <a:avLst>
              <a:gd name="adj" fmla="val 4969"/>
            </a:avLst>
          </a:prstGeom>
          <a:solidFill>
            <a:srgbClr val="161C24"/>
          </a:solidFill>
          <a:ln w="12700">
            <a:solidFill>
              <a:srgbClr val="161C24"/>
            </a:solidFill>
            <a:prstDash val="solid"/>
          </a:ln>
        </p:spPr>
      </p:sp>
      <p:sp>
        <p:nvSpPr>
          <p:cNvPr id="15" name="Text 13"/>
          <p:cNvSpPr txBox="1"/>
          <p:nvPr/>
        </p:nvSpPr>
        <p:spPr>
          <a:xfrm>
            <a:off x="731520" y="2825496"/>
            <a:ext cx="6400800" cy="1143000"/>
          </a:xfrm>
          <a:prstGeom prst="rect">
            <a:avLst/>
          </a:prstGeom>
          <a:noFill/>
          <a:ln/>
        </p:spPr>
        <p:txBody>
          <a:bodyPr wrap="square" lIns="0" tIns="0" rIns="0" bIns="0" rtlCol="0" anchor="t"/>
          <a:lstStyle/>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auto f = std::async(std::launch::async,</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 { sleep_for(3s); });</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if (f.wait_for(1s) == std::future_status::timeout)</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std::cout &lt;&lt; "timed out\n";</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 leave the scope</a:t>
            </a:r>
            <a:endParaRPr lang="en-US" sz="1500" dirty="0"/>
          </a:p>
        </p:txBody>
      </p:sp>
      <p:sp>
        <p:nvSpPr>
          <p:cNvPr id="16" name="Text 14"/>
          <p:cNvSpPr txBox="1"/>
          <p:nvPr/>
        </p:nvSpPr>
        <p:spPr>
          <a:xfrm>
            <a:off x="7680960" y="1417320"/>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THE QUESTION</a:t>
            </a:r>
            <a:endParaRPr lang="en-US" sz="1200" dirty="0"/>
          </a:p>
        </p:txBody>
      </p:sp>
      <p:sp>
        <p:nvSpPr>
          <p:cNvPr id="17" name="Text 15"/>
          <p:cNvSpPr txBox="1"/>
          <p:nvPr/>
        </p:nvSpPr>
        <p:spPr>
          <a:xfrm>
            <a:off x="7680960" y="1728216"/>
            <a:ext cx="3962095" cy="845820"/>
          </a:xfrm>
          <a:prstGeom prst="rect">
            <a:avLst/>
          </a:prstGeom>
          <a:noFill/>
          <a:ln/>
        </p:spPr>
        <p:txBody>
          <a:bodyPr wrap="square" lIns="0" tIns="0" rIns="0" bIns="0" rtlCol="0" anchor="t"/>
          <a:lstStyle/>
          <a:p>
            <a:pPr indent="0" marL="0">
              <a:lnSpc>
                <a:spcPct val="105000"/>
              </a:lnSpc>
              <a:buNone/>
            </a:pPr>
            <a:r>
              <a:rPr lang="en-US" sz="1800" b="1" dirty="0">
                <a:solidFill>
                  <a:srgbClr val="1B2430"/>
                </a:solidFill>
                <a:latin typeface="Calibri" pitchFamily="34" charset="0"/>
                <a:ea typeface="Calibri" pitchFamily="34" charset="-122"/>
                <a:cs typeface="Calibri" pitchFamily="34" charset="-120"/>
              </a:rPr>
              <a:t>How do we stop waiting after 1 second? And does that stop fetch()?</a:t>
            </a:r>
            <a:endParaRPr lang="en-US" sz="1800" dirty="0"/>
          </a:p>
        </p:txBody>
      </p:sp>
      <p:sp>
        <p:nvSpPr>
          <p:cNvPr id="18" name="Text 16"/>
          <p:cNvSpPr txBox="1"/>
          <p:nvPr/>
        </p:nvSpPr>
        <p:spPr>
          <a:xfrm>
            <a:off x="7680960" y="2802636"/>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PREDICT</a:t>
            </a:r>
            <a:endParaRPr lang="en-US" sz="1200" dirty="0"/>
          </a:p>
        </p:txBody>
      </p:sp>
      <p:sp>
        <p:nvSpPr>
          <p:cNvPr id="19" name="Text 17"/>
          <p:cNvSpPr txBox="1"/>
          <p:nvPr/>
        </p:nvSpPr>
        <p:spPr>
          <a:xfrm>
            <a:off x="7680960" y="3113532"/>
            <a:ext cx="396209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When is the scope left: after 1 s or after 3 s?</a:t>
            </a:r>
            <a:endParaRPr lang="en-US" sz="1600" dirty="0"/>
          </a:p>
        </p:txBody>
      </p:sp>
      <p:sp>
        <p:nvSpPr>
          <p:cNvPr id="20" name="Shape 18"/>
          <p:cNvSpPr/>
          <p:nvPr/>
        </p:nvSpPr>
        <p:spPr>
          <a:xfrm>
            <a:off x="7680960" y="3903980"/>
            <a:ext cx="3962095" cy="1764030"/>
          </a:xfrm>
          <a:prstGeom prst="roundRect">
            <a:avLst>
              <a:gd name="adj" fmla="val 4147"/>
            </a:avLst>
          </a:prstGeom>
          <a:solidFill>
            <a:srgbClr val="EEF2F5"/>
          </a:solidFill>
          <a:ln w="12700">
            <a:solidFill>
              <a:srgbClr val="EEF2F5"/>
            </a:solidFill>
            <a:prstDash val="solid"/>
          </a:ln>
        </p:spPr>
      </p:sp>
      <p:sp>
        <p:nvSpPr>
          <p:cNvPr id="21" name="Text 19"/>
          <p:cNvSpPr txBox="1"/>
          <p:nvPr/>
        </p:nvSpPr>
        <p:spPr>
          <a:xfrm>
            <a:off x="7909560" y="4086860"/>
            <a:ext cx="3504895"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ANSWER</a:t>
            </a:r>
            <a:endParaRPr lang="en-US" sz="1200" dirty="0"/>
          </a:p>
        </p:txBody>
      </p:sp>
      <p:sp>
        <p:nvSpPr>
          <p:cNvPr id="22" name="Text 20"/>
          <p:cNvSpPr txBox="1"/>
          <p:nvPr/>
        </p:nvSpPr>
        <p:spPr>
          <a:xfrm>
            <a:off x="7909560" y="4397756"/>
            <a:ext cx="3504895" cy="116052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After 3 s.</a:t>
            </a:r>
            <a:endParaRPr lang="en-US" sz="1500" dirty="0"/>
          </a:p>
          <a:p>
            <a:pPr indent="0" marL="0">
              <a:lnSpc>
                <a:spcPct val="105000"/>
              </a:lnSpc>
              <a:buNone/>
            </a:pP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The timeout only stopped waiting. async's future waits for the task in its destructor.</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V10  ·  TIMEOUTS AND CANCELLATION</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1B2430"/>
          </a:solidFill>
          <a:ln w="12700">
            <a:solidFill>
              <a:srgbClr val="1B2430"/>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A timeout stops waiting, not work</a:t>
            </a:r>
            <a:endParaRPr lang="en-US" sz="2800" dirty="0"/>
          </a:p>
        </p:txBody>
      </p:sp>
      <p:sp>
        <p:nvSpPr>
          <p:cNvPr id="12" name="Text 10"/>
          <p:cNvSpPr txBox="1"/>
          <p:nvPr/>
        </p:nvSpPr>
        <p:spPr>
          <a:xfrm>
            <a:off x="548640" y="1417320"/>
            <a:ext cx="429768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RUN IT</a:t>
            </a:r>
            <a:endParaRPr lang="en-US" sz="1200" dirty="0"/>
          </a:p>
        </p:txBody>
      </p:sp>
      <p:sp>
        <p:nvSpPr>
          <p:cNvPr id="13" name="Shape 11"/>
          <p:cNvSpPr/>
          <p:nvPr/>
        </p:nvSpPr>
        <p:spPr>
          <a:xfrm>
            <a:off x="548640" y="1728216"/>
            <a:ext cx="4297680" cy="969264"/>
          </a:xfrm>
          <a:prstGeom prst="roundRect">
            <a:avLst>
              <a:gd name="adj" fmla="val 7547"/>
            </a:avLst>
          </a:prstGeom>
          <a:solidFill>
            <a:srgbClr val="0D1117"/>
          </a:solidFill>
          <a:ln w="12700">
            <a:solidFill>
              <a:srgbClr val="0D1117"/>
            </a:solidFill>
            <a:prstDash val="solid"/>
          </a:ln>
        </p:spPr>
      </p:sp>
      <p:sp>
        <p:nvSpPr>
          <p:cNvPr id="14" name="Text 12"/>
          <p:cNvSpPr txBox="1"/>
          <p:nvPr/>
        </p:nvSpPr>
        <p:spPr>
          <a:xfrm>
            <a:off x="731520" y="1892808"/>
            <a:ext cx="3931920" cy="640080"/>
          </a:xfrm>
          <a:prstGeom prst="rect">
            <a:avLst/>
          </a:prstGeom>
          <a:noFill/>
          <a:ln/>
        </p:spPr>
        <p:txBody>
          <a:bodyPr wrap="square" lIns="0" tIns="0" rIns="0" bIns="0" rtlCol="0" anchor="t"/>
          <a:lstStyle/>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 ./tiny_timeout</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timed out at 1.00 s</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left the scope at 3.00 s</a:t>
            </a:r>
            <a:endParaRPr lang="en-US" sz="1400" dirty="0"/>
          </a:p>
        </p:txBody>
      </p:sp>
      <p:sp>
        <p:nvSpPr>
          <p:cNvPr id="15" name="Text 13"/>
          <p:cNvSpPr txBox="1"/>
          <p:nvPr/>
        </p:nvSpPr>
        <p:spPr>
          <a:xfrm>
            <a:off x="548640" y="2880360"/>
            <a:ext cx="4297680"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C++ never kills a thread: it might hold a lock or be halfway through an update.</a:t>
            </a:r>
            <a:endParaRPr lang="en-US" sz="1500" dirty="0"/>
          </a:p>
        </p:txBody>
      </p:sp>
      <p:sp>
        <p:nvSpPr>
          <p:cNvPr id="16" name="Text 14"/>
          <p:cNvSpPr txBox="1"/>
          <p:nvPr/>
        </p:nvSpPr>
        <p:spPr>
          <a:xfrm>
            <a:off x="5166360" y="1417320"/>
            <a:ext cx="6476695"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WHAT HAPPENS, STEP BY STEP</a:t>
            </a:r>
            <a:endParaRPr lang="en-US" sz="1200" dirty="0"/>
          </a:p>
        </p:txBody>
      </p:sp>
      <p:sp>
        <p:nvSpPr>
          <p:cNvPr id="17" name="Shape 15"/>
          <p:cNvSpPr/>
          <p:nvPr/>
        </p:nvSpPr>
        <p:spPr>
          <a:xfrm>
            <a:off x="5166360" y="1728216"/>
            <a:ext cx="6476695" cy="1609344"/>
          </a:xfrm>
          <a:prstGeom prst="roundRect">
            <a:avLst>
              <a:gd name="adj" fmla="val 4545"/>
            </a:avLst>
          </a:prstGeom>
          <a:solidFill>
            <a:srgbClr val="EEF2F5"/>
          </a:solidFill>
          <a:ln w="12700">
            <a:solidFill>
              <a:srgbClr val="EEF2F5"/>
            </a:solidFill>
            <a:prstDash val="solid"/>
          </a:ln>
        </p:spPr>
      </p:sp>
      <p:sp>
        <p:nvSpPr>
          <p:cNvPr id="18" name="Text 16"/>
          <p:cNvSpPr txBox="1"/>
          <p:nvPr/>
        </p:nvSpPr>
        <p:spPr>
          <a:xfrm>
            <a:off x="5349240" y="1892808"/>
            <a:ext cx="6110935" cy="1280160"/>
          </a:xfrm>
          <a:prstGeom prst="rect">
            <a:avLst/>
          </a:prstGeom>
          <a:noFill/>
          <a:ln/>
        </p:spPr>
        <p:txBody>
          <a:bodyPr wrap="square" lIns="0" tIns="0" rIns="0" bIns="0" rtlCol="0" anchor="t"/>
          <a:lstStyle/>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caller                        worker</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 </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wait_for(1s) ... timeout</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"give up"</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                              fetch() ... still running</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pool destructor: join ...     fetch() ... still running</a:t>
            </a:r>
            <a:endParaRPr lang="en-US" sz="1400" dirty="0"/>
          </a:p>
        </p:txBody>
      </p:sp>
      <p:sp>
        <p:nvSpPr>
          <p:cNvPr id="19" name="Shape 17"/>
          <p:cNvSpPr/>
          <p:nvPr/>
        </p:nvSpPr>
        <p:spPr>
          <a:xfrm>
            <a:off x="5166360" y="3566160"/>
            <a:ext cx="6476695" cy="1089660"/>
          </a:xfrm>
          <a:prstGeom prst="roundRect">
            <a:avLst>
              <a:gd name="adj" fmla="val 6713"/>
            </a:avLst>
          </a:prstGeom>
          <a:solidFill>
            <a:srgbClr val="FDF1E8"/>
          </a:solidFill>
          <a:ln w="12700">
            <a:solidFill>
              <a:srgbClr val="FDF1E8"/>
            </a:solidFill>
            <a:prstDash val="solid"/>
          </a:ln>
        </p:spPr>
      </p:sp>
      <p:sp>
        <p:nvSpPr>
          <p:cNvPr id="20" name="Text 18"/>
          <p:cNvSpPr txBox="1"/>
          <p:nvPr/>
        </p:nvSpPr>
        <p:spPr>
          <a:xfrm>
            <a:off x="5394960" y="3749040"/>
            <a:ext cx="60194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SO</a:t>
            </a:r>
            <a:endParaRPr lang="en-US" sz="1200" dirty="0"/>
          </a:p>
        </p:txBody>
      </p:sp>
      <p:sp>
        <p:nvSpPr>
          <p:cNvPr id="21" name="Text 19"/>
          <p:cNvSpPr txBox="1"/>
          <p:nvPr/>
        </p:nvSpPr>
        <p:spPr>
          <a:xfrm>
            <a:off x="5394960" y="4059936"/>
            <a:ext cx="6019495"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Cancellation must be cooperative: ask the task to stop, and the task checks between steps.</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V10  ·  TIMEOUTS AND CANCELLATION</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1B2430"/>
          </a:solidFill>
          <a:ln w="12700">
            <a:solidFill>
              <a:srgbClr val="1B2430"/>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Ask, and let the task stop itself</a:t>
            </a:r>
            <a:endParaRPr lang="en-US" sz="2800" dirty="0"/>
          </a:p>
        </p:txBody>
      </p:sp>
      <p:sp>
        <p:nvSpPr>
          <p:cNvPr id="12" name="Text 10"/>
          <p:cNvSpPr txBox="1"/>
          <p:nvPr/>
        </p:nvSpPr>
        <p:spPr>
          <a:xfrm>
            <a:off x="548640" y="1417320"/>
            <a:ext cx="676656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pool.hpp</a:t>
            </a:r>
            <a:endParaRPr lang="en-US" sz="1200" dirty="0"/>
          </a:p>
        </p:txBody>
      </p:sp>
      <p:sp>
        <p:nvSpPr>
          <p:cNvPr id="13" name="Shape 11"/>
          <p:cNvSpPr/>
          <p:nvPr/>
        </p:nvSpPr>
        <p:spPr>
          <a:xfrm>
            <a:off x="548640" y="1728216"/>
            <a:ext cx="7132320" cy="2249424"/>
          </a:xfrm>
          <a:prstGeom prst="roundRect">
            <a:avLst>
              <a:gd name="adj" fmla="val 3252"/>
            </a:avLst>
          </a:prstGeom>
          <a:solidFill>
            <a:srgbClr val="161C24"/>
          </a:solidFill>
          <a:ln w="12700">
            <a:solidFill>
              <a:srgbClr val="161C24"/>
            </a:solidFill>
            <a:prstDash val="solid"/>
          </a:ln>
        </p:spPr>
      </p:sp>
      <p:sp>
        <p:nvSpPr>
          <p:cNvPr id="14" name="Text 12"/>
          <p:cNvSpPr txBox="1"/>
          <p:nvPr/>
        </p:nvSpPr>
        <p:spPr>
          <a:xfrm>
            <a:off x="731520" y="1892808"/>
            <a:ext cx="6766560" cy="1920240"/>
          </a:xfrm>
          <a:prstGeom prst="rect">
            <a:avLst/>
          </a:prstGeom>
          <a:noFill/>
          <a:ln/>
        </p:spPr>
        <p:txBody>
          <a:bodyPr wrap="square" lIns="0" tIns="0" rIns="0" bIns="0" rtlCol="0" anchor="t"/>
          <a:lstStyle/>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std::stop_source stop;</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auto f = pool.submit([tok = stop.get_token()]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for (int step = 0; step &lt; 50; ++step)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if (tok.stop_requested()) return -1;</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do_step();               // 100 ms</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return 0;</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stop.request_stop();             // finishes within ~0.1 s</a:t>
            </a:r>
            <a:endParaRPr lang="en-US" sz="1400" dirty="0"/>
          </a:p>
        </p:txBody>
      </p:sp>
      <p:sp>
        <p:nvSpPr>
          <p:cNvPr id="15" name="Shape 13"/>
          <p:cNvSpPr/>
          <p:nvPr/>
        </p:nvSpPr>
        <p:spPr>
          <a:xfrm>
            <a:off x="8001000" y="1728216"/>
            <a:ext cx="365760" cy="365760"/>
          </a:xfrm>
          <a:prstGeom prst="ellipse">
            <a:avLst/>
          </a:prstGeom>
          <a:solidFill>
            <a:srgbClr val="0F766E"/>
          </a:solidFill>
          <a:ln w="12700">
            <a:solidFill>
              <a:srgbClr val="0F766E"/>
            </a:solidFill>
            <a:prstDash val="solid"/>
          </a:ln>
        </p:spPr>
      </p:sp>
      <p:sp>
        <p:nvSpPr>
          <p:cNvPr id="16" name="Text 14"/>
          <p:cNvSpPr txBox="1"/>
          <p:nvPr/>
        </p:nvSpPr>
        <p:spPr>
          <a:xfrm>
            <a:off x="8001000" y="17282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8503920" y="1764792"/>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wait_for: relative. wait_until: one deadline for several steps.</a:t>
            </a:r>
            <a:endParaRPr lang="en-US" sz="1600" dirty="0"/>
          </a:p>
        </p:txBody>
      </p:sp>
      <p:sp>
        <p:nvSpPr>
          <p:cNvPr id="18" name="Shape 16"/>
          <p:cNvSpPr/>
          <p:nvPr/>
        </p:nvSpPr>
        <p:spPr>
          <a:xfrm>
            <a:off x="8001000" y="2758440"/>
            <a:ext cx="365760" cy="365760"/>
          </a:xfrm>
          <a:prstGeom prst="ellipse">
            <a:avLst/>
          </a:prstGeom>
          <a:solidFill>
            <a:srgbClr val="0F766E"/>
          </a:solidFill>
          <a:ln w="12700">
            <a:solidFill>
              <a:srgbClr val="0F766E"/>
            </a:solidFill>
            <a:prstDash val="solid"/>
          </a:ln>
        </p:spPr>
      </p:sp>
      <p:sp>
        <p:nvSpPr>
          <p:cNvPr id="19" name="Text 17"/>
          <p:cNvSpPr txBox="1"/>
          <p:nvPr/>
        </p:nvSpPr>
        <p:spPr>
          <a:xfrm>
            <a:off x="8001000" y="27584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8503920" y="2795016"/>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stop_source / stop_token (C++20): a thread-safe "please stop".</a:t>
            </a:r>
            <a:endParaRPr lang="en-US" sz="1600" dirty="0"/>
          </a:p>
        </p:txBody>
      </p:sp>
      <p:sp>
        <p:nvSpPr>
          <p:cNvPr id="21" name="Shape 19"/>
          <p:cNvSpPr/>
          <p:nvPr/>
        </p:nvSpPr>
        <p:spPr>
          <a:xfrm>
            <a:off x="8001000" y="3788664"/>
            <a:ext cx="365760" cy="365760"/>
          </a:xfrm>
          <a:prstGeom prst="ellipse">
            <a:avLst/>
          </a:prstGeom>
          <a:solidFill>
            <a:srgbClr val="0F766E"/>
          </a:solidFill>
          <a:ln w="12700">
            <a:solidFill>
              <a:srgbClr val="0F766E"/>
            </a:solidFill>
            <a:prstDash val="solid"/>
          </a:ln>
        </p:spPr>
      </p:sp>
      <p:sp>
        <p:nvSpPr>
          <p:cNvPr id="22" name="Text 20"/>
          <p:cNvSpPr txBox="1"/>
          <p:nvPr/>
        </p:nvSpPr>
        <p:spPr>
          <a:xfrm>
            <a:off x="8001000" y="37886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503920" y="3825240"/>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A task that never checks its token can't be cancelled.</a:t>
            </a:r>
            <a:endParaRPr lang="en-US" sz="16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V10  ·  TIMEOUTS AND CANCELLATION</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1B2430"/>
          </a:solidFill>
          <a:ln w="12700">
            <a:solidFill>
              <a:srgbClr val="1B2430"/>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Check yourself</a:t>
            </a:r>
            <a:endParaRPr lang="en-US" sz="2800" dirty="0"/>
          </a:p>
        </p:txBody>
      </p:sp>
      <p:sp>
        <p:nvSpPr>
          <p:cNvPr id="12" name="Shape 10"/>
          <p:cNvSpPr/>
          <p:nvPr/>
        </p:nvSpPr>
        <p:spPr>
          <a:xfrm>
            <a:off x="548640" y="1417320"/>
            <a:ext cx="4206240" cy="1404366"/>
          </a:xfrm>
          <a:prstGeom prst="roundRect">
            <a:avLst>
              <a:gd name="adj" fmla="val 5209"/>
            </a:avLst>
          </a:prstGeom>
          <a:solidFill>
            <a:srgbClr val="EEF2F5"/>
          </a:solidFill>
          <a:ln w="12700">
            <a:solidFill>
              <a:srgbClr val="EEF2F5"/>
            </a:solidFill>
            <a:prstDash val="solid"/>
          </a:ln>
        </p:spPr>
      </p:sp>
      <p:sp>
        <p:nvSpPr>
          <p:cNvPr id="13" name="Text 11"/>
          <p:cNvSpPr txBox="1"/>
          <p:nvPr/>
        </p:nvSpPr>
        <p:spPr>
          <a:xfrm>
            <a:off x="777240" y="1600200"/>
            <a:ext cx="3749040"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THE LESSON</a:t>
            </a:r>
            <a:endParaRPr lang="en-US" sz="1200" dirty="0"/>
          </a:p>
        </p:txBody>
      </p:sp>
      <p:sp>
        <p:nvSpPr>
          <p:cNvPr id="14" name="Text 12"/>
          <p:cNvSpPr txBox="1"/>
          <p:nvPr/>
        </p:nvSpPr>
        <p:spPr>
          <a:xfrm>
            <a:off x="777240" y="1911096"/>
            <a:ext cx="3749040" cy="800862"/>
          </a:xfrm>
          <a:prstGeom prst="rect">
            <a:avLst/>
          </a:prstGeom>
          <a:noFill/>
          <a:ln/>
        </p:spPr>
        <p:txBody>
          <a:bodyPr wrap="square" lIns="0" tIns="0" rIns="0" bIns="0" rtlCol="0" anchor="t"/>
          <a:lstStyle/>
          <a:p>
            <a:pPr indent="0" marL="0">
              <a:lnSpc>
                <a:spcPct val="105000"/>
              </a:lnSpc>
              <a:buNone/>
            </a:pPr>
            <a:r>
              <a:rPr lang="en-US" sz="1700" dirty="0">
                <a:solidFill>
                  <a:srgbClr val="1B2430"/>
                </a:solidFill>
                <a:latin typeface="Calibri" pitchFamily="34" charset="0"/>
                <a:ea typeface="Calibri" pitchFamily="34" charset="-122"/>
                <a:cs typeface="Calibri" pitchFamily="34" charset="-120"/>
              </a:rPr>
              <a:t>A timeout limits your waiting. Only the task can stop itself, when asked.</a:t>
            </a:r>
            <a:endParaRPr lang="en-US" sz="1700" dirty="0"/>
          </a:p>
        </p:txBody>
      </p:sp>
      <p:sp>
        <p:nvSpPr>
          <p:cNvPr id="15" name="Text 13"/>
          <p:cNvSpPr txBox="1"/>
          <p:nvPr/>
        </p:nvSpPr>
        <p:spPr>
          <a:xfrm>
            <a:off x="548640" y="3096006"/>
            <a:ext cx="420624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EXPLAIN WITHOUT LOOKING</a:t>
            </a:r>
            <a:endParaRPr lang="en-US" sz="1200" dirty="0"/>
          </a:p>
        </p:txBody>
      </p:sp>
      <p:sp>
        <p:nvSpPr>
          <p:cNvPr id="16" name="Shape 14"/>
          <p:cNvSpPr/>
          <p:nvPr/>
        </p:nvSpPr>
        <p:spPr>
          <a:xfrm>
            <a:off x="548640" y="3489198"/>
            <a:ext cx="182880" cy="182880"/>
          </a:xfrm>
          <a:prstGeom prst="rect">
            <a:avLst/>
          </a:prstGeom>
          <a:solidFill>
            <a:srgbClr val="FFFFFF"/>
          </a:solidFill>
          <a:ln w="15875">
            <a:solidFill>
              <a:srgbClr val="0F766E"/>
            </a:solidFill>
            <a:prstDash val="solid"/>
          </a:ln>
        </p:spPr>
      </p:sp>
      <p:sp>
        <p:nvSpPr>
          <p:cNvPr id="17" name="Text 15"/>
          <p:cNvSpPr txBox="1"/>
          <p:nvPr/>
        </p:nvSpPr>
        <p:spPr>
          <a:xfrm>
            <a:off x="868680" y="3443478"/>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did the scope take 3 s?</a:t>
            </a:r>
            <a:endParaRPr lang="en-US" sz="1500" dirty="0"/>
          </a:p>
        </p:txBody>
      </p:sp>
      <p:sp>
        <p:nvSpPr>
          <p:cNvPr id="18" name="Shape 16"/>
          <p:cNvSpPr/>
          <p:nvPr/>
        </p:nvSpPr>
        <p:spPr>
          <a:xfrm>
            <a:off x="548640" y="3860292"/>
            <a:ext cx="182880" cy="182880"/>
          </a:xfrm>
          <a:prstGeom prst="rect">
            <a:avLst/>
          </a:prstGeom>
          <a:solidFill>
            <a:srgbClr val="FFFFFF"/>
          </a:solidFill>
          <a:ln w="15875">
            <a:solidFill>
              <a:srgbClr val="0F766E"/>
            </a:solidFill>
            <a:prstDash val="solid"/>
          </a:ln>
        </p:spPr>
      </p:sp>
      <p:sp>
        <p:nvSpPr>
          <p:cNvPr id="19" name="Text 17"/>
          <p:cNvSpPr txBox="1"/>
          <p:nvPr/>
        </p:nvSpPr>
        <p:spPr>
          <a:xfrm>
            <a:off x="868680" y="3814572"/>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wait_for vs wait_until?</a:t>
            </a:r>
            <a:endParaRPr lang="en-US" sz="1500" dirty="0"/>
          </a:p>
        </p:txBody>
      </p:sp>
      <p:sp>
        <p:nvSpPr>
          <p:cNvPr id="20" name="Shape 18"/>
          <p:cNvSpPr/>
          <p:nvPr/>
        </p:nvSpPr>
        <p:spPr>
          <a:xfrm>
            <a:off x="548640" y="4231386"/>
            <a:ext cx="182880" cy="182880"/>
          </a:xfrm>
          <a:prstGeom prst="rect">
            <a:avLst/>
          </a:prstGeom>
          <a:solidFill>
            <a:srgbClr val="FFFFFF"/>
          </a:solidFill>
          <a:ln w="15875">
            <a:solidFill>
              <a:srgbClr val="0F766E"/>
            </a:solidFill>
            <a:prstDash val="solid"/>
          </a:ln>
        </p:spPr>
      </p:sp>
      <p:sp>
        <p:nvSpPr>
          <p:cNvPr id="21" name="Text 19"/>
          <p:cNvSpPr txBox="1"/>
          <p:nvPr/>
        </p:nvSpPr>
        <p:spPr>
          <a:xfrm>
            <a:off x="868680" y="4185666"/>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can't C++ kill a thread?</a:t>
            </a:r>
            <a:endParaRPr lang="en-US" sz="1500" dirty="0"/>
          </a:p>
        </p:txBody>
      </p:sp>
      <p:sp>
        <p:nvSpPr>
          <p:cNvPr id="22" name="Shape 20"/>
          <p:cNvSpPr/>
          <p:nvPr/>
        </p:nvSpPr>
        <p:spPr>
          <a:xfrm>
            <a:off x="548640" y="4602480"/>
            <a:ext cx="182880" cy="182880"/>
          </a:xfrm>
          <a:prstGeom prst="rect">
            <a:avLst/>
          </a:prstGeom>
          <a:solidFill>
            <a:srgbClr val="FFFFFF"/>
          </a:solidFill>
          <a:ln w="15875">
            <a:solidFill>
              <a:srgbClr val="0F766E"/>
            </a:solidFill>
            <a:prstDash val="solid"/>
          </a:ln>
        </p:spPr>
      </p:sp>
      <p:sp>
        <p:nvSpPr>
          <p:cNvPr id="23" name="Text 21"/>
          <p:cNvSpPr txBox="1"/>
          <p:nvPr/>
        </p:nvSpPr>
        <p:spPr>
          <a:xfrm>
            <a:off x="868680" y="4556760"/>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does future_status::deferred mean?</a:t>
            </a:r>
            <a:endParaRPr lang="en-US" sz="1500" dirty="0"/>
          </a:p>
        </p:txBody>
      </p:sp>
      <p:sp>
        <p:nvSpPr>
          <p:cNvPr id="24" name="Shape 22"/>
          <p:cNvSpPr/>
          <p:nvPr/>
        </p:nvSpPr>
        <p:spPr>
          <a:xfrm>
            <a:off x="5166360" y="1417320"/>
            <a:ext cx="6476695" cy="1518920"/>
          </a:xfrm>
          <a:prstGeom prst="roundRect">
            <a:avLst>
              <a:gd name="adj" fmla="val 4816"/>
            </a:avLst>
          </a:prstGeom>
          <a:solidFill>
            <a:srgbClr val="FFFFFF"/>
          </a:solidFill>
          <a:ln w="12700">
            <a:solidFill>
              <a:srgbClr val="D5DDE5"/>
            </a:solidFill>
            <a:prstDash val="solid"/>
          </a:ln>
        </p:spPr>
      </p:sp>
      <p:sp>
        <p:nvSpPr>
          <p:cNvPr id="25" name="Text 23"/>
          <p:cNvSpPr txBox="1"/>
          <p:nvPr/>
        </p:nvSpPr>
        <p:spPr>
          <a:xfrm>
            <a:off x="5394960" y="15819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NUMBERS</a:t>
            </a:r>
            <a:endParaRPr lang="en-US" sz="1200" dirty="0"/>
          </a:p>
        </p:txBody>
      </p:sp>
      <p:sp>
        <p:nvSpPr>
          <p:cNvPr id="26" name="Text 24"/>
          <p:cNvSpPr txBox="1"/>
          <p:nvPr/>
        </p:nvSpPr>
        <p:spPr>
          <a:xfrm>
            <a:off x="5394960" y="18928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A task checks its token every 100 ms. Worst delay after request_stop()?</a:t>
            </a:r>
            <a:endParaRPr lang="en-US" sz="1500" dirty="0"/>
          </a:p>
        </p:txBody>
      </p:sp>
      <p:sp>
        <p:nvSpPr>
          <p:cNvPr id="27" name="Text 25"/>
          <p:cNvSpPr txBox="1"/>
          <p:nvPr/>
        </p:nvSpPr>
        <p:spPr>
          <a:xfrm>
            <a:off x="5394960" y="24704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About 100 ms (one step).</a:t>
            </a:r>
            <a:endParaRPr lang="en-US" sz="1400" dirty="0"/>
          </a:p>
        </p:txBody>
      </p:sp>
      <p:sp>
        <p:nvSpPr>
          <p:cNvPr id="28" name="Shape 26"/>
          <p:cNvSpPr/>
          <p:nvPr/>
        </p:nvSpPr>
        <p:spPr>
          <a:xfrm>
            <a:off x="5166360" y="3119120"/>
            <a:ext cx="6476695" cy="1518920"/>
          </a:xfrm>
          <a:prstGeom prst="roundRect">
            <a:avLst>
              <a:gd name="adj" fmla="val 4816"/>
            </a:avLst>
          </a:prstGeom>
          <a:solidFill>
            <a:srgbClr val="FFFFFF"/>
          </a:solidFill>
          <a:ln w="12700">
            <a:solidFill>
              <a:srgbClr val="D5DDE5"/>
            </a:solidFill>
            <a:prstDash val="solid"/>
          </a:ln>
        </p:spPr>
      </p:sp>
      <p:sp>
        <p:nvSpPr>
          <p:cNvPr id="29" name="Text 27"/>
          <p:cNvSpPr txBox="1"/>
          <p:nvPr/>
        </p:nvSpPr>
        <p:spPr>
          <a:xfrm>
            <a:off x="5394960" y="32837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TRACE IT</a:t>
            </a:r>
            <a:endParaRPr lang="en-US" sz="1200" dirty="0"/>
          </a:p>
        </p:txBody>
      </p:sp>
      <p:sp>
        <p:nvSpPr>
          <p:cNvPr id="30" name="Text 28"/>
          <p:cNvSpPr txBox="1"/>
          <p:nvPr/>
        </p:nvSpPr>
        <p:spPr>
          <a:xfrm>
            <a:off x="5394960" y="35946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3 steps, each wait_for(1s), total budget 1 s. Trace a slow case.</a:t>
            </a:r>
            <a:endParaRPr lang="en-US" sz="1500" dirty="0"/>
          </a:p>
        </p:txBody>
      </p:sp>
      <p:sp>
        <p:nvSpPr>
          <p:cNvPr id="31" name="Text 29"/>
          <p:cNvSpPr txBox="1"/>
          <p:nvPr/>
        </p:nvSpPr>
        <p:spPr>
          <a:xfrm>
            <a:off x="5394960" y="41722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Each step may wait 1 s: total up to 3 s. Use wait_until(deadline).</a:t>
            </a:r>
            <a:endParaRPr lang="en-US" sz="1400" dirty="0"/>
          </a:p>
        </p:txBody>
      </p:sp>
      <p:sp>
        <p:nvSpPr>
          <p:cNvPr id="32" name="Shape 30"/>
          <p:cNvSpPr/>
          <p:nvPr/>
        </p:nvSpPr>
        <p:spPr>
          <a:xfrm>
            <a:off x="5166360" y="4820920"/>
            <a:ext cx="6476695" cy="1503934"/>
          </a:xfrm>
          <a:prstGeom prst="roundRect">
            <a:avLst>
              <a:gd name="adj" fmla="val 4864"/>
            </a:avLst>
          </a:prstGeom>
          <a:solidFill>
            <a:srgbClr val="FFFFFF"/>
          </a:solidFill>
          <a:ln w="12700">
            <a:solidFill>
              <a:srgbClr val="D5DDE5"/>
            </a:solidFill>
            <a:prstDash val="solid"/>
          </a:ln>
        </p:spPr>
      </p:sp>
      <p:sp>
        <p:nvSpPr>
          <p:cNvPr id="33" name="Text 31"/>
          <p:cNvSpPr txBox="1"/>
          <p:nvPr/>
        </p:nvSpPr>
        <p:spPr>
          <a:xfrm>
            <a:off x="5394960" y="49855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DESIGN</a:t>
            </a:r>
            <a:endParaRPr lang="en-US" sz="1200" dirty="0"/>
          </a:p>
        </p:txBody>
      </p:sp>
      <p:sp>
        <p:nvSpPr>
          <p:cNvPr id="34" name="Text 32"/>
          <p:cNvSpPr txBox="1"/>
          <p:nvPr/>
        </p:nvSpPr>
        <p:spPr>
          <a:xfrm>
            <a:off x="5394960" y="5296408"/>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The pool must shut down even with stuck tasks. Design it.</a:t>
            </a:r>
            <a:endParaRPr lang="en-US" sz="1500" dirty="0"/>
          </a:p>
        </p:txBody>
      </p:sp>
      <p:sp>
        <p:nvSpPr>
          <p:cNvPr id="35" name="Text 33"/>
          <p:cNvSpPr txBox="1"/>
          <p:nvPr/>
        </p:nvSpPr>
        <p:spPr>
          <a:xfrm>
            <a:off x="5394960" y="5649214"/>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Pool owns a stop_source, passes tokens to tasks, request_stop() in the destructor before joining.</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V10  ·  TASKS WAITING ON TASKS</a:t>
            </a:r>
            <a:endParaRPr lang="en-US" sz="1200" dirty="0"/>
          </a:p>
        </p:txBody>
      </p:sp>
      <p:sp>
        <p:nvSpPr>
          <p:cNvPr id="3" name="Shape 1"/>
          <p:cNvSpPr/>
          <p:nvPr/>
        </p:nvSpPr>
        <p:spPr>
          <a:xfrm>
            <a:off x="6229807" y="292608"/>
            <a:ext cx="1298448" cy="274320"/>
          </a:xfrm>
          <a:prstGeom prst="roundRect">
            <a:avLst>
              <a:gd name="adj" fmla="val 23333"/>
            </a:avLst>
          </a:prstGeom>
          <a:solidFill>
            <a:srgbClr val="1B2430"/>
          </a:solidFill>
          <a:ln w="12700">
            <a:solidFill>
              <a:srgbClr val="1B2430"/>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The pool that freezes with nothing locked</a:t>
            </a:r>
            <a:endParaRPr lang="en-US" sz="2800" dirty="0"/>
          </a:p>
        </p:txBody>
      </p:sp>
      <p:sp>
        <p:nvSpPr>
          <p:cNvPr id="12" name="Shape 10"/>
          <p:cNvSpPr/>
          <p:nvPr/>
        </p:nvSpPr>
        <p:spPr>
          <a:xfrm>
            <a:off x="548640" y="1417320"/>
            <a:ext cx="6766560" cy="1014984"/>
          </a:xfrm>
          <a:prstGeom prst="roundRect">
            <a:avLst>
              <a:gd name="adj" fmla="val 7207"/>
            </a:avLst>
          </a:prstGeom>
          <a:solidFill>
            <a:srgbClr val="EEF2F5"/>
          </a:solidFill>
          <a:ln w="12700">
            <a:solidFill>
              <a:srgbClr val="EEF2F5"/>
            </a:solidFill>
            <a:prstDash val="solid"/>
          </a:ln>
        </p:spPr>
      </p:sp>
      <p:sp>
        <p:nvSpPr>
          <p:cNvPr id="13" name="Text 11"/>
          <p:cNvSpPr txBox="1"/>
          <p:nvPr/>
        </p:nvSpPr>
        <p:spPr>
          <a:xfrm>
            <a:off x="731520" y="1581912"/>
            <a:ext cx="6400800" cy="6858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outer task:</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auto inner = pool.submit(half_of_the_work);</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return inner.get();          // wait inside a task</a:t>
            </a:r>
            <a:endParaRPr lang="en-US" sz="1500" dirty="0"/>
          </a:p>
        </p:txBody>
      </p:sp>
      <p:sp>
        <p:nvSpPr>
          <p:cNvPr id="14" name="Shape 12"/>
          <p:cNvSpPr/>
          <p:nvPr/>
        </p:nvSpPr>
        <p:spPr>
          <a:xfrm>
            <a:off x="548640" y="2660904"/>
            <a:ext cx="6766560" cy="2157984"/>
          </a:xfrm>
          <a:prstGeom prst="roundRect">
            <a:avLst>
              <a:gd name="adj" fmla="val 3390"/>
            </a:avLst>
          </a:prstGeom>
          <a:solidFill>
            <a:srgbClr val="161C24"/>
          </a:solidFill>
          <a:ln w="12700">
            <a:solidFill>
              <a:srgbClr val="161C24"/>
            </a:solidFill>
            <a:prstDash val="solid"/>
          </a:ln>
        </p:spPr>
      </p:sp>
      <p:sp>
        <p:nvSpPr>
          <p:cNvPr id="15" name="Text 13"/>
          <p:cNvSpPr txBox="1"/>
          <p:nvPr/>
        </p:nvSpPr>
        <p:spPr>
          <a:xfrm>
            <a:off x="731520" y="2825496"/>
            <a:ext cx="6400800" cy="1828800"/>
          </a:xfrm>
          <a:prstGeom prst="rect">
            <a:avLst/>
          </a:prstGeom>
          <a:noFill/>
          <a:ln/>
        </p:spPr>
        <p:txBody>
          <a:bodyPr wrap="square" lIns="0" tIns="0" rIns="0" bIns="0" rtlCol="0" anchor="t"/>
          <a:lstStyle/>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ThreadPool pool(2);</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auto outer = [&amp;] {</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auto inner = pool.submit([] { return 1; });</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return inner.get();</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auto a = pool.submit(outer);</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auto b = pool.submit(outer);</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std::cout &lt;&lt; a.get() + b.get();</a:t>
            </a:r>
            <a:endParaRPr lang="en-US" sz="1500" dirty="0"/>
          </a:p>
        </p:txBody>
      </p:sp>
      <p:sp>
        <p:nvSpPr>
          <p:cNvPr id="16" name="Text 14"/>
          <p:cNvSpPr txBox="1"/>
          <p:nvPr/>
        </p:nvSpPr>
        <p:spPr>
          <a:xfrm>
            <a:off x="7680960" y="1417320"/>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THE QUESTION</a:t>
            </a:r>
            <a:endParaRPr lang="en-US" sz="1200" dirty="0"/>
          </a:p>
        </p:txBody>
      </p:sp>
      <p:sp>
        <p:nvSpPr>
          <p:cNvPr id="17" name="Text 15"/>
          <p:cNvSpPr txBox="1"/>
          <p:nvPr/>
        </p:nvSpPr>
        <p:spPr>
          <a:xfrm>
            <a:off x="7680960" y="1728216"/>
            <a:ext cx="3962095" cy="1115568"/>
          </a:xfrm>
          <a:prstGeom prst="rect">
            <a:avLst/>
          </a:prstGeom>
          <a:noFill/>
          <a:ln/>
        </p:spPr>
        <p:txBody>
          <a:bodyPr wrap="square" lIns="0" tIns="0" rIns="0" bIns="0" rtlCol="0" anchor="t"/>
          <a:lstStyle/>
          <a:p>
            <a:pPr indent="0" marL="0">
              <a:lnSpc>
                <a:spcPct val="105000"/>
              </a:lnSpc>
              <a:buNone/>
            </a:pPr>
            <a:r>
              <a:rPr lang="en-US" sz="1800" b="1" dirty="0">
                <a:solidFill>
                  <a:srgbClr val="1B2430"/>
                </a:solidFill>
                <a:latin typeface="Calibri" pitchFamily="34" charset="0"/>
                <a:ea typeface="Calibri" pitchFamily="34" charset="-122"/>
                <a:cs typeface="Calibri" pitchFamily="34" charset="-120"/>
              </a:rPr>
              <a:t>A recursive sum submits half its work and waits for it. With 2 workers and 2 outer tasks, what happens?</a:t>
            </a:r>
            <a:endParaRPr lang="en-US" sz="1800" dirty="0"/>
          </a:p>
        </p:txBody>
      </p:sp>
      <p:sp>
        <p:nvSpPr>
          <p:cNvPr id="18" name="Text 16"/>
          <p:cNvSpPr txBox="1"/>
          <p:nvPr/>
        </p:nvSpPr>
        <p:spPr>
          <a:xfrm>
            <a:off x="7680960" y="3072384"/>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PREDICT</a:t>
            </a:r>
            <a:endParaRPr lang="en-US" sz="1200" dirty="0"/>
          </a:p>
        </p:txBody>
      </p:sp>
      <p:sp>
        <p:nvSpPr>
          <p:cNvPr id="19" name="Text 17"/>
          <p:cNvSpPr txBox="1"/>
          <p:nvPr/>
        </p:nvSpPr>
        <p:spPr>
          <a:xfrm>
            <a:off x="7680960" y="3383280"/>
            <a:ext cx="3962095" cy="276352"/>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Does it print 2?</a:t>
            </a:r>
            <a:endParaRPr lang="en-US" sz="1600" dirty="0"/>
          </a:p>
        </p:txBody>
      </p:sp>
      <p:sp>
        <p:nvSpPr>
          <p:cNvPr id="20" name="Shape 18"/>
          <p:cNvSpPr/>
          <p:nvPr/>
        </p:nvSpPr>
        <p:spPr>
          <a:xfrm>
            <a:off x="7680960" y="3933952"/>
            <a:ext cx="3962095" cy="1764030"/>
          </a:xfrm>
          <a:prstGeom prst="roundRect">
            <a:avLst>
              <a:gd name="adj" fmla="val 4147"/>
            </a:avLst>
          </a:prstGeom>
          <a:solidFill>
            <a:srgbClr val="EEF2F5"/>
          </a:solidFill>
          <a:ln w="12700">
            <a:solidFill>
              <a:srgbClr val="EEF2F5"/>
            </a:solidFill>
            <a:prstDash val="solid"/>
          </a:ln>
        </p:spPr>
      </p:sp>
      <p:sp>
        <p:nvSpPr>
          <p:cNvPr id="21" name="Text 19"/>
          <p:cNvSpPr txBox="1"/>
          <p:nvPr/>
        </p:nvSpPr>
        <p:spPr>
          <a:xfrm>
            <a:off x="7909560" y="4116832"/>
            <a:ext cx="3504895"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ANSWER</a:t>
            </a:r>
            <a:endParaRPr lang="en-US" sz="1200" dirty="0"/>
          </a:p>
        </p:txBody>
      </p:sp>
      <p:sp>
        <p:nvSpPr>
          <p:cNvPr id="22" name="Text 20"/>
          <p:cNvSpPr txBox="1"/>
          <p:nvPr/>
        </p:nvSpPr>
        <p:spPr>
          <a:xfrm>
            <a:off x="7909560" y="4427728"/>
            <a:ext cx="3504895" cy="116052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No. It hangs.</a:t>
            </a:r>
            <a:endParaRPr lang="en-US" sz="1500" dirty="0"/>
          </a:p>
          <a:p>
            <a:pPr indent="0" marL="0">
              <a:lnSpc>
                <a:spcPct val="105000"/>
              </a:lnSpc>
              <a:buNone/>
            </a:pP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Both workers wait in get(); both inner tasks sit in the queue with no free worker.</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V10  ·  TASKS WAITING ON TASKS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1B2430"/>
          </a:solidFill>
          <a:ln w="12700">
            <a:solidFill>
              <a:srgbClr val="1B2430"/>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get() is a wait-for edge too</a:t>
            </a:r>
            <a:endParaRPr lang="en-US" sz="2800" dirty="0"/>
          </a:p>
        </p:txBody>
      </p:sp>
      <p:sp>
        <p:nvSpPr>
          <p:cNvPr id="12" name="Text 10"/>
          <p:cNvSpPr txBox="1"/>
          <p:nvPr/>
        </p:nvSpPr>
        <p:spPr>
          <a:xfrm>
            <a:off x="548640" y="1417320"/>
            <a:ext cx="429768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RUN IT</a:t>
            </a:r>
            <a:endParaRPr lang="en-US" sz="1200" dirty="0"/>
          </a:p>
        </p:txBody>
      </p:sp>
      <p:sp>
        <p:nvSpPr>
          <p:cNvPr id="13" name="Shape 11"/>
          <p:cNvSpPr/>
          <p:nvPr/>
        </p:nvSpPr>
        <p:spPr>
          <a:xfrm>
            <a:off x="548640" y="1728216"/>
            <a:ext cx="4297680" cy="755904"/>
          </a:xfrm>
          <a:prstGeom prst="roundRect">
            <a:avLst>
              <a:gd name="adj" fmla="val 9677"/>
            </a:avLst>
          </a:prstGeom>
          <a:solidFill>
            <a:srgbClr val="0D1117"/>
          </a:solidFill>
          <a:ln w="12700">
            <a:solidFill>
              <a:srgbClr val="0D1117"/>
            </a:solidFill>
            <a:prstDash val="solid"/>
          </a:ln>
        </p:spPr>
      </p:sp>
      <p:sp>
        <p:nvSpPr>
          <p:cNvPr id="14" name="Text 12"/>
          <p:cNvSpPr txBox="1"/>
          <p:nvPr/>
        </p:nvSpPr>
        <p:spPr>
          <a:xfrm>
            <a:off x="731520" y="1892808"/>
            <a:ext cx="3931920" cy="426720"/>
          </a:xfrm>
          <a:prstGeom prst="rect">
            <a:avLst/>
          </a:prstGeom>
          <a:noFill/>
          <a:ln/>
        </p:spPr>
        <p:txBody>
          <a:bodyPr wrap="square" lIns="0" tIns="0" rIns="0" bIns="0" rtlCol="0" anchor="t"/>
          <a:lstStyle/>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 ./tiny_nested</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[frozen: stopped after 10 s]</a:t>
            </a:r>
            <a:endParaRPr lang="en-US" sz="1400" dirty="0"/>
          </a:p>
        </p:txBody>
      </p:sp>
      <p:sp>
        <p:nvSpPr>
          <p:cNvPr id="15" name="Text 13"/>
          <p:cNvSpPr txBox="1"/>
          <p:nvPr/>
        </p:nvSpPr>
        <p:spPr>
          <a:xfrm>
            <a:off x="548640" y="2667000"/>
            <a:ext cx="4297680"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3 workers fixes this program. 3 outer tasks break it again.</a:t>
            </a:r>
            <a:endParaRPr lang="en-US" sz="1500" dirty="0"/>
          </a:p>
        </p:txBody>
      </p:sp>
      <p:sp>
        <p:nvSpPr>
          <p:cNvPr id="16" name="Text 14"/>
          <p:cNvSpPr txBox="1"/>
          <p:nvPr/>
        </p:nvSpPr>
        <p:spPr>
          <a:xfrm>
            <a:off x="5166360" y="1417320"/>
            <a:ext cx="6476695"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WHAT HAPPENS, STEP BY STEP</a:t>
            </a:r>
            <a:endParaRPr lang="en-US" sz="1200" dirty="0"/>
          </a:p>
        </p:txBody>
      </p:sp>
      <p:sp>
        <p:nvSpPr>
          <p:cNvPr id="17" name="Shape 15"/>
          <p:cNvSpPr/>
          <p:nvPr/>
        </p:nvSpPr>
        <p:spPr>
          <a:xfrm>
            <a:off x="5166360" y="1728216"/>
            <a:ext cx="6476695" cy="1929384"/>
          </a:xfrm>
          <a:prstGeom prst="roundRect">
            <a:avLst>
              <a:gd name="adj" fmla="val 3791"/>
            </a:avLst>
          </a:prstGeom>
          <a:solidFill>
            <a:srgbClr val="EEF2F5"/>
          </a:solidFill>
          <a:ln w="12700">
            <a:solidFill>
              <a:srgbClr val="EEF2F5"/>
            </a:solidFill>
            <a:prstDash val="solid"/>
          </a:ln>
        </p:spPr>
      </p:sp>
      <p:sp>
        <p:nvSpPr>
          <p:cNvPr id="18" name="Text 16"/>
          <p:cNvSpPr txBox="1"/>
          <p:nvPr/>
        </p:nvSpPr>
        <p:spPr>
          <a:xfrm>
            <a:off x="5349240" y="1892808"/>
            <a:ext cx="6110935" cy="16002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Worker 1                    Worker 2</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run outer A                 run outer B</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inner_A.get() ... waits     inner_B.get() ... waits</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queue: [ inner A, inner B ]  ← no free worker</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worker → inner task → needs a free worker → a cycle</a:t>
            </a:r>
            <a:endParaRPr lang="en-US" sz="1500" dirty="0"/>
          </a:p>
        </p:txBody>
      </p:sp>
      <p:sp>
        <p:nvSpPr>
          <p:cNvPr id="19" name="Shape 17"/>
          <p:cNvSpPr/>
          <p:nvPr/>
        </p:nvSpPr>
        <p:spPr>
          <a:xfrm>
            <a:off x="5166360" y="3886200"/>
            <a:ext cx="6476695" cy="1089660"/>
          </a:xfrm>
          <a:prstGeom prst="roundRect">
            <a:avLst>
              <a:gd name="adj" fmla="val 6713"/>
            </a:avLst>
          </a:prstGeom>
          <a:solidFill>
            <a:srgbClr val="FDF1E8"/>
          </a:solidFill>
          <a:ln w="12700">
            <a:solidFill>
              <a:srgbClr val="FDF1E8"/>
            </a:solidFill>
            <a:prstDash val="solid"/>
          </a:ln>
        </p:spPr>
      </p:sp>
      <p:sp>
        <p:nvSpPr>
          <p:cNvPr id="20" name="Text 18"/>
          <p:cNvSpPr txBox="1"/>
          <p:nvPr/>
        </p:nvSpPr>
        <p:spPr>
          <a:xfrm>
            <a:off x="5394960" y="4069080"/>
            <a:ext cx="60194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SO</a:t>
            </a:r>
            <a:endParaRPr lang="en-US" sz="1200" dirty="0"/>
          </a:p>
        </p:txBody>
      </p:sp>
      <p:sp>
        <p:nvSpPr>
          <p:cNvPr id="21" name="Text 19"/>
          <p:cNvSpPr txBox="1"/>
          <p:nvPr/>
        </p:nvSpPr>
        <p:spPr>
          <a:xfrm>
            <a:off x="5394960" y="4379976"/>
            <a:ext cx="6019495"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Same wait-for graph as v5, with futures as edges. More workers only move the limit.</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V10  ·  TASKS WAITING ON TASKS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1B2430"/>
          </a:solidFill>
          <a:ln w="12700">
            <a:solidFill>
              <a:srgbClr val="1B2430"/>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Help instead of blocking</a:t>
            </a:r>
            <a:endParaRPr lang="en-US" sz="2800" dirty="0"/>
          </a:p>
        </p:txBody>
      </p:sp>
      <p:sp>
        <p:nvSpPr>
          <p:cNvPr id="12" name="Text 10"/>
          <p:cNvSpPr txBox="1"/>
          <p:nvPr/>
        </p:nvSpPr>
        <p:spPr>
          <a:xfrm>
            <a:off x="548640" y="1417320"/>
            <a:ext cx="676656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pool.hpp</a:t>
            </a:r>
            <a:endParaRPr lang="en-US" sz="1200" dirty="0"/>
          </a:p>
        </p:txBody>
      </p:sp>
      <p:sp>
        <p:nvSpPr>
          <p:cNvPr id="13" name="Shape 11"/>
          <p:cNvSpPr/>
          <p:nvPr/>
        </p:nvSpPr>
        <p:spPr>
          <a:xfrm>
            <a:off x="548640" y="1728216"/>
            <a:ext cx="7132320" cy="2462784"/>
          </a:xfrm>
          <a:prstGeom prst="roundRect">
            <a:avLst>
              <a:gd name="adj" fmla="val 2970"/>
            </a:avLst>
          </a:prstGeom>
          <a:solidFill>
            <a:srgbClr val="161C24"/>
          </a:solidFill>
          <a:ln w="12700">
            <a:solidFill>
              <a:srgbClr val="161C24"/>
            </a:solidFill>
            <a:prstDash val="solid"/>
          </a:ln>
        </p:spPr>
      </p:sp>
      <p:sp>
        <p:nvSpPr>
          <p:cNvPr id="14" name="Text 12"/>
          <p:cNvSpPr txBox="1"/>
          <p:nvPr/>
        </p:nvSpPr>
        <p:spPr>
          <a:xfrm>
            <a:off x="731520" y="1892808"/>
            <a:ext cx="6766560" cy="2133600"/>
          </a:xfrm>
          <a:prstGeom prst="rect">
            <a:avLst/>
          </a:prstGeom>
          <a:noFill/>
          <a:ln/>
        </p:spPr>
        <p:txBody>
          <a:bodyPr wrap="square" lIns="0" tIns="0" rIns="0" bIns="0" rtlCol="0" anchor="t"/>
          <a:lstStyle/>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template &lt;class T&gt;</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T wait_helping(std::future&lt;T&gt;&amp; f)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using namespace std::chrono_literals;</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while (f.wait_for(0s) != std::future_status::ready)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Task t;</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if (tasks.try_pop(t)) t();     // run someone's task</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else std::this_thread::yield();</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return f.get();</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a:t>
            </a:r>
            <a:endParaRPr lang="en-US" sz="1400" dirty="0"/>
          </a:p>
        </p:txBody>
      </p:sp>
      <p:sp>
        <p:nvSpPr>
          <p:cNvPr id="15" name="Shape 13"/>
          <p:cNvSpPr/>
          <p:nvPr/>
        </p:nvSpPr>
        <p:spPr>
          <a:xfrm>
            <a:off x="8001000" y="1728216"/>
            <a:ext cx="365760" cy="365760"/>
          </a:xfrm>
          <a:prstGeom prst="ellipse">
            <a:avLst/>
          </a:prstGeom>
          <a:solidFill>
            <a:srgbClr val="0F766E"/>
          </a:solidFill>
          <a:ln w="12700">
            <a:solidFill>
              <a:srgbClr val="0F766E"/>
            </a:solidFill>
            <a:prstDash val="solid"/>
          </a:ln>
        </p:spPr>
      </p:sp>
      <p:sp>
        <p:nvSpPr>
          <p:cNvPr id="16" name="Text 14"/>
          <p:cNvSpPr txBox="1"/>
          <p:nvPr/>
        </p:nvSpPr>
        <p:spPr>
          <a:xfrm>
            <a:off x="8001000" y="17282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8503920" y="1764792"/>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While waiting, a worker runs other queued tasks, maybe the one it waits for.</a:t>
            </a:r>
            <a:endParaRPr lang="en-US" sz="1600" dirty="0"/>
          </a:p>
        </p:txBody>
      </p:sp>
      <p:sp>
        <p:nvSpPr>
          <p:cNvPr id="18" name="Shape 16"/>
          <p:cNvSpPr/>
          <p:nvPr/>
        </p:nvSpPr>
        <p:spPr>
          <a:xfrm>
            <a:off x="8001000" y="2758440"/>
            <a:ext cx="365760" cy="365760"/>
          </a:xfrm>
          <a:prstGeom prst="ellipse">
            <a:avLst/>
          </a:prstGeom>
          <a:solidFill>
            <a:srgbClr val="0F766E"/>
          </a:solidFill>
          <a:ln w="12700">
            <a:solidFill>
              <a:srgbClr val="0F766E"/>
            </a:solidFill>
            <a:prstDash val="solid"/>
          </a:ln>
        </p:spPr>
      </p:sp>
      <p:sp>
        <p:nvSpPr>
          <p:cNvPr id="19" name="Text 17"/>
          <p:cNvSpPr txBox="1"/>
          <p:nvPr/>
        </p:nvSpPr>
        <p:spPr>
          <a:xfrm>
            <a:off x="8001000" y="27584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8503920" y="2795016"/>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It finally gives v3's try_pop a real job.</a:t>
            </a:r>
            <a:endParaRPr lang="en-US" sz="1600" dirty="0"/>
          </a:p>
        </p:txBody>
      </p:sp>
      <p:sp>
        <p:nvSpPr>
          <p:cNvPr id="21" name="Shape 19"/>
          <p:cNvSpPr/>
          <p:nvPr/>
        </p:nvSpPr>
        <p:spPr>
          <a:xfrm>
            <a:off x="8001000" y="3548888"/>
            <a:ext cx="365760" cy="365760"/>
          </a:xfrm>
          <a:prstGeom prst="ellipse">
            <a:avLst/>
          </a:prstGeom>
          <a:solidFill>
            <a:srgbClr val="0F766E"/>
          </a:solidFill>
          <a:ln w="12700">
            <a:solidFill>
              <a:srgbClr val="0F766E"/>
            </a:solidFill>
            <a:prstDash val="solid"/>
          </a:ln>
        </p:spPr>
      </p:sp>
      <p:sp>
        <p:nvSpPr>
          <p:cNvPr id="22" name="Text 20"/>
          <p:cNvSpPr txBox="1"/>
          <p:nvPr/>
        </p:nvSpPr>
        <p:spPr>
          <a:xfrm>
            <a:off x="8001000" y="354888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503920" y="3585464"/>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Real pools add per-worker queues and work stealing.</a:t>
            </a:r>
            <a:endParaRPr lang="en-US" sz="16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V10  ·  TASKS WAITING ON TASKS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1B2430"/>
          </a:solidFill>
          <a:ln w="12700">
            <a:solidFill>
              <a:srgbClr val="1B2430"/>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Check yourself</a:t>
            </a:r>
            <a:endParaRPr lang="en-US" sz="2800" dirty="0"/>
          </a:p>
        </p:txBody>
      </p:sp>
      <p:sp>
        <p:nvSpPr>
          <p:cNvPr id="12" name="Shape 10"/>
          <p:cNvSpPr/>
          <p:nvPr/>
        </p:nvSpPr>
        <p:spPr>
          <a:xfrm>
            <a:off x="548640" y="1417320"/>
            <a:ext cx="4206240" cy="1404366"/>
          </a:xfrm>
          <a:prstGeom prst="roundRect">
            <a:avLst>
              <a:gd name="adj" fmla="val 5209"/>
            </a:avLst>
          </a:prstGeom>
          <a:solidFill>
            <a:srgbClr val="EEF2F5"/>
          </a:solidFill>
          <a:ln w="12700">
            <a:solidFill>
              <a:srgbClr val="EEF2F5"/>
            </a:solidFill>
            <a:prstDash val="solid"/>
          </a:ln>
        </p:spPr>
      </p:sp>
      <p:sp>
        <p:nvSpPr>
          <p:cNvPr id="13" name="Text 11"/>
          <p:cNvSpPr txBox="1"/>
          <p:nvPr/>
        </p:nvSpPr>
        <p:spPr>
          <a:xfrm>
            <a:off x="777240" y="1600200"/>
            <a:ext cx="3749040"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THE LESSON</a:t>
            </a:r>
            <a:endParaRPr lang="en-US" sz="1200" dirty="0"/>
          </a:p>
        </p:txBody>
      </p:sp>
      <p:sp>
        <p:nvSpPr>
          <p:cNvPr id="14" name="Text 12"/>
          <p:cNvSpPr txBox="1"/>
          <p:nvPr/>
        </p:nvSpPr>
        <p:spPr>
          <a:xfrm>
            <a:off x="777240" y="1911096"/>
            <a:ext cx="3749040" cy="800862"/>
          </a:xfrm>
          <a:prstGeom prst="rect">
            <a:avLst/>
          </a:prstGeom>
          <a:noFill/>
          <a:ln/>
        </p:spPr>
        <p:txBody>
          <a:bodyPr wrap="square" lIns="0" tIns="0" rIns="0" bIns="0" rtlCol="0" anchor="t"/>
          <a:lstStyle/>
          <a:p>
            <a:pPr indent="0" marL="0">
              <a:lnSpc>
                <a:spcPct val="105000"/>
              </a:lnSpc>
              <a:buNone/>
            </a:pPr>
            <a:r>
              <a:rPr lang="en-US" sz="1700" dirty="0">
                <a:solidFill>
                  <a:srgbClr val="1B2430"/>
                </a:solidFill>
                <a:latin typeface="Calibri" pitchFamily="34" charset="0"/>
                <a:ea typeface="Calibri" pitchFamily="34" charset="-122"/>
                <a:cs typeface="Calibri" pitchFamily="34" charset="-120"/>
              </a:rPr>
              <a:t>A blocking get() inside a pool task is a wait-for edge. Help while you wait.</a:t>
            </a:r>
            <a:endParaRPr lang="en-US" sz="1700" dirty="0"/>
          </a:p>
        </p:txBody>
      </p:sp>
      <p:sp>
        <p:nvSpPr>
          <p:cNvPr id="15" name="Text 13"/>
          <p:cNvSpPr txBox="1"/>
          <p:nvPr/>
        </p:nvSpPr>
        <p:spPr>
          <a:xfrm>
            <a:off x="548640" y="3096006"/>
            <a:ext cx="420624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EXPLAIN WITHOUT LOOKING</a:t>
            </a:r>
            <a:endParaRPr lang="en-US" sz="1200" dirty="0"/>
          </a:p>
        </p:txBody>
      </p:sp>
      <p:sp>
        <p:nvSpPr>
          <p:cNvPr id="16" name="Shape 14"/>
          <p:cNvSpPr/>
          <p:nvPr/>
        </p:nvSpPr>
        <p:spPr>
          <a:xfrm>
            <a:off x="548640" y="3489198"/>
            <a:ext cx="182880" cy="182880"/>
          </a:xfrm>
          <a:prstGeom prst="rect">
            <a:avLst/>
          </a:prstGeom>
          <a:solidFill>
            <a:srgbClr val="FFFFFF"/>
          </a:solidFill>
          <a:ln w="15875">
            <a:solidFill>
              <a:srgbClr val="0F766E"/>
            </a:solidFill>
            <a:prstDash val="solid"/>
          </a:ln>
        </p:spPr>
      </p:sp>
      <p:sp>
        <p:nvSpPr>
          <p:cNvPr id="17" name="Text 15"/>
          <p:cNvSpPr txBox="1"/>
          <p:nvPr/>
        </p:nvSpPr>
        <p:spPr>
          <a:xfrm>
            <a:off x="868680" y="3443478"/>
            <a:ext cx="3886200"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did 2 workers and 2 outer tasks freeze?</a:t>
            </a:r>
            <a:endParaRPr lang="en-US" sz="1500" dirty="0"/>
          </a:p>
        </p:txBody>
      </p:sp>
      <p:sp>
        <p:nvSpPr>
          <p:cNvPr id="18" name="Shape 16"/>
          <p:cNvSpPr/>
          <p:nvPr/>
        </p:nvSpPr>
        <p:spPr>
          <a:xfrm>
            <a:off x="548640" y="4085082"/>
            <a:ext cx="182880" cy="182880"/>
          </a:xfrm>
          <a:prstGeom prst="rect">
            <a:avLst/>
          </a:prstGeom>
          <a:solidFill>
            <a:srgbClr val="FFFFFF"/>
          </a:solidFill>
          <a:ln w="15875">
            <a:solidFill>
              <a:srgbClr val="0F766E"/>
            </a:solidFill>
            <a:prstDash val="solid"/>
          </a:ln>
        </p:spPr>
      </p:sp>
      <p:sp>
        <p:nvSpPr>
          <p:cNvPr id="19" name="Text 17"/>
          <p:cNvSpPr txBox="1"/>
          <p:nvPr/>
        </p:nvSpPr>
        <p:spPr>
          <a:xfrm>
            <a:off x="868680" y="4039362"/>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don't more workers fix it?</a:t>
            </a:r>
            <a:endParaRPr lang="en-US" sz="1500" dirty="0"/>
          </a:p>
        </p:txBody>
      </p:sp>
      <p:sp>
        <p:nvSpPr>
          <p:cNvPr id="20" name="Shape 18"/>
          <p:cNvSpPr/>
          <p:nvPr/>
        </p:nvSpPr>
        <p:spPr>
          <a:xfrm>
            <a:off x="548640" y="4456176"/>
            <a:ext cx="182880" cy="182880"/>
          </a:xfrm>
          <a:prstGeom prst="rect">
            <a:avLst/>
          </a:prstGeom>
          <a:solidFill>
            <a:srgbClr val="FFFFFF"/>
          </a:solidFill>
          <a:ln w="15875">
            <a:solidFill>
              <a:srgbClr val="0F766E"/>
            </a:solidFill>
            <a:prstDash val="solid"/>
          </a:ln>
        </p:spPr>
      </p:sp>
      <p:sp>
        <p:nvSpPr>
          <p:cNvPr id="21" name="Text 19"/>
          <p:cNvSpPr txBox="1"/>
          <p:nvPr/>
        </p:nvSpPr>
        <p:spPr>
          <a:xfrm>
            <a:off x="868680" y="4410456"/>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does wait_helping do?</a:t>
            </a:r>
            <a:endParaRPr lang="en-US" sz="1500" dirty="0"/>
          </a:p>
        </p:txBody>
      </p:sp>
      <p:sp>
        <p:nvSpPr>
          <p:cNvPr id="22" name="Shape 20"/>
          <p:cNvSpPr/>
          <p:nvPr/>
        </p:nvSpPr>
        <p:spPr>
          <a:xfrm>
            <a:off x="548640" y="4827270"/>
            <a:ext cx="182880" cy="182880"/>
          </a:xfrm>
          <a:prstGeom prst="rect">
            <a:avLst/>
          </a:prstGeom>
          <a:solidFill>
            <a:srgbClr val="FFFFFF"/>
          </a:solidFill>
          <a:ln w="15875">
            <a:solidFill>
              <a:srgbClr val="0F766E"/>
            </a:solidFill>
            <a:prstDash val="solid"/>
          </a:ln>
        </p:spPr>
      </p:sp>
      <p:sp>
        <p:nvSpPr>
          <p:cNvPr id="23" name="Text 21"/>
          <p:cNvSpPr txBox="1"/>
          <p:nvPr/>
        </p:nvSpPr>
        <p:spPr>
          <a:xfrm>
            <a:off x="868680" y="4781550"/>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Draw the cycle.</a:t>
            </a:r>
            <a:endParaRPr lang="en-US" sz="1500" dirty="0"/>
          </a:p>
        </p:txBody>
      </p:sp>
      <p:sp>
        <p:nvSpPr>
          <p:cNvPr id="24" name="Shape 22"/>
          <p:cNvSpPr/>
          <p:nvPr/>
        </p:nvSpPr>
        <p:spPr>
          <a:xfrm>
            <a:off x="5166360" y="1417320"/>
            <a:ext cx="6476695" cy="1518920"/>
          </a:xfrm>
          <a:prstGeom prst="roundRect">
            <a:avLst>
              <a:gd name="adj" fmla="val 4816"/>
            </a:avLst>
          </a:prstGeom>
          <a:solidFill>
            <a:srgbClr val="FFFFFF"/>
          </a:solidFill>
          <a:ln w="12700">
            <a:solidFill>
              <a:srgbClr val="D5DDE5"/>
            </a:solidFill>
            <a:prstDash val="solid"/>
          </a:ln>
        </p:spPr>
      </p:sp>
      <p:sp>
        <p:nvSpPr>
          <p:cNvPr id="25" name="Text 23"/>
          <p:cNvSpPr txBox="1"/>
          <p:nvPr/>
        </p:nvSpPr>
        <p:spPr>
          <a:xfrm>
            <a:off x="5394960" y="15819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NUMBERS</a:t>
            </a:r>
            <a:endParaRPr lang="en-US" sz="1200" dirty="0"/>
          </a:p>
        </p:txBody>
      </p:sp>
      <p:sp>
        <p:nvSpPr>
          <p:cNvPr id="26" name="Text 24"/>
          <p:cNvSpPr txBox="1"/>
          <p:nvPr/>
        </p:nvSpPr>
        <p:spPr>
          <a:xfrm>
            <a:off x="5394960" y="18928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Recursive sum of 2,000,000 ints, cut-off 10,000. Roughly how many tasks?</a:t>
            </a:r>
            <a:endParaRPr lang="en-US" sz="1500" dirty="0"/>
          </a:p>
        </p:txBody>
      </p:sp>
      <p:sp>
        <p:nvSpPr>
          <p:cNvPr id="27" name="Text 25"/>
          <p:cNvSpPr txBox="1"/>
          <p:nvPr/>
        </p:nvSpPr>
        <p:spPr>
          <a:xfrm>
            <a:off x="5394960" y="24704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About 2 × 200 = 400 (a binary tree with 200 leaves).</a:t>
            </a:r>
            <a:endParaRPr lang="en-US" sz="1400" dirty="0"/>
          </a:p>
        </p:txBody>
      </p:sp>
      <p:sp>
        <p:nvSpPr>
          <p:cNvPr id="28" name="Shape 26"/>
          <p:cNvSpPr/>
          <p:nvPr/>
        </p:nvSpPr>
        <p:spPr>
          <a:xfrm>
            <a:off x="5166360" y="3119120"/>
            <a:ext cx="6476695" cy="1728724"/>
          </a:xfrm>
          <a:prstGeom prst="roundRect">
            <a:avLst>
              <a:gd name="adj" fmla="val 4232"/>
            </a:avLst>
          </a:prstGeom>
          <a:solidFill>
            <a:srgbClr val="FFFFFF"/>
          </a:solidFill>
          <a:ln w="12700">
            <a:solidFill>
              <a:srgbClr val="D5DDE5"/>
            </a:solidFill>
            <a:prstDash val="solid"/>
          </a:ln>
        </p:spPr>
      </p:sp>
      <p:sp>
        <p:nvSpPr>
          <p:cNvPr id="29" name="Text 27"/>
          <p:cNvSpPr txBox="1"/>
          <p:nvPr/>
        </p:nvSpPr>
        <p:spPr>
          <a:xfrm>
            <a:off x="5394960" y="32837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TRACE IT</a:t>
            </a:r>
            <a:endParaRPr lang="en-US" sz="1200" dirty="0"/>
          </a:p>
        </p:txBody>
      </p:sp>
      <p:sp>
        <p:nvSpPr>
          <p:cNvPr id="30" name="Text 28"/>
          <p:cNvSpPr txBox="1"/>
          <p:nvPr/>
        </p:nvSpPr>
        <p:spPr>
          <a:xfrm>
            <a:off x="5394960" y="35946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Pool of 1 worker, psum with wait_helping. Trace the first split.</a:t>
            </a:r>
            <a:endParaRPr lang="en-US" sz="1500" dirty="0"/>
          </a:p>
        </p:txBody>
      </p:sp>
      <p:sp>
        <p:nvSpPr>
          <p:cNvPr id="31" name="Text 29"/>
          <p:cNvSpPr txBox="1"/>
          <p:nvPr/>
        </p:nvSpPr>
        <p:spPr>
          <a:xfrm>
            <a:off x="5394960" y="4172204"/>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The worker submits left, computes right, then pops and runs left itself while waiting.</a:t>
            </a:r>
            <a:endParaRPr lang="en-US" sz="1400" dirty="0"/>
          </a:p>
        </p:txBody>
      </p:sp>
      <p:sp>
        <p:nvSpPr>
          <p:cNvPr id="32" name="Shape 30"/>
          <p:cNvSpPr/>
          <p:nvPr/>
        </p:nvSpPr>
        <p:spPr>
          <a:xfrm>
            <a:off x="5166360" y="5030724"/>
            <a:ext cx="6476695" cy="1503934"/>
          </a:xfrm>
          <a:prstGeom prst="roundRect">
            <a:avLst>
              <a:gd name="adj" fmla="val 4864"/>
            </a:avLst>
          </a:prstGeom>
          <a:solidFill>
            <a:srgbClr val="FFFFFF"/>
          </a:solidFill>
          <a:ln w="12700">
            <a:solidFill>
              <a:srgbClr val="D5DDE5"/>
            </a:solidFill>
            <a:prstDash val="solid"/>
          </a:ln>
        </p:spPr>
      </p:sp>
      <p:sp>
        <p:nvSpPr>
          <p:cNvPr id="33" name="Text 31"/>
          <p:cNvSpPr txBox="1"/>
          <p:nvPr/>
        </p:nvSpPr>
        <p:spPr>
          <a:xfrm>
            <a:off x="5394960" y="5195316"/>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DESIGN</a:t>
            </a:r>
            <a:endParaRPr lang="en-US" sz="1200" dirty="0"/>
          </a:p>
        </p:txBody>
      </p:sp>
      <p:sp>
        <p:nvSpPr>
          <p:cNvPr id="34" name="Text 32"/>
          <p:cNvSpPr txBox="1"/>
          <p:nvPr/>
        </p:nvSpPr>
        <p:spPr>
          <a:xfrm>
            <a:off x="5394960" y="5506212"/>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End of Part 2: list what your pool guarantees.</a:t>
            </a:r>
            <a:endParaRPr lang="en-US" sz="1500" dirty="0"/>
          </a:p>
        </p:txBody>
      </p:sp>
      <p:sp>
        <p:nvSpPr>
          <p:cNvPr id="35" name="Text 33"/>
          <p:cNvSpPr txBox="1"/>
          <p:nvPr/>
        </p:nvSpPr>
        <p:spPr>
          <a:xfrm>
            <a:off x="5394960" y="5859018"/>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Results and errors via futures · clean shutdown · cancellation by token · no nested-wait deadlock.</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548640" y="2011680"/>
            <a:ext cx="5486400" cy="320040"/>
          </a:xfrm>
          <a:prstGeom prst="rect">
            <a:avLst/>
          </a:prstGeom>
          <a:noFill/>
          <a:ln/>
        </p:spPr>
        <p:txBody>
          <a:bodyPr wrap="square" lIns="0" tIns="0" rIns="0" bIns="0" rtlCol="0" anchor="ctr"/>
          <a:lstStyle/>
          <a:p>
            <a:pPr indent="0" marL="0">
              <a:buNone/>
            </a:pPr>
            <a:r>
              <a:rPr lang="en-US" sz="1400" b="1" spc="200" kern="0" dirty="0">
                <a:solidFill>
                  <a:srgbClr val="F2C14E"/>
                </a:solidFill>
                <a:latin typeface="Calibri" pitchFamily="34" charset="0"/>
                <a:ea typeface="Calibri" pitchFamily="34" charset="-122"/>
                <a:cs typeface="Calibri" pitchFamily="34" charset="-120"/>
              </a:rPr>
              <a:t>PART 3  ·  v11–v14</a:t>
            </a:r>
            <a:endParaRPr lang="en-US" sz="1400" dirty="0"/>
          </a:p>
        </p:txBody>
      </p:sp>
      <p:sp>
        <p:nvSpPr>
          <p:cNvPr id="3" name="Text 1"/>
          <p:cNvSpPr txBox="1"/>
          <p:nvPr/>
        </p:nvSpPr>
        <p:spPr>
          <a:xfrm>
            <a:off x="548640" y="2468880"/>
            <a:ext cx="6035040" cy="164592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Take the locks away</a:t>
            </a:r>
            <a:endParaRPr lang="en-US" sz="4400" dirty="0"/>
          </a:p>
        </p:txBody>
      </p:sp>
      <p:sp>
        <p:nvSpPr>
          <p:cNvPr id="4" name="Text 2"/>
          <p:cNvSpPr txBox="1"/>
          <p:nvPr/>
        </p:nvSpPr>
        <p:spPr>
          <a:xfrm>
            <a:off x="7223760" y="2011680"/>
            <a:ext cx="4389120" cy="3291840"/>
          </a:xfrm>
          <a:prstGeom prst="rect">
            <a:avLst/>
          </a:prstGeom>
          <a:noFill/>
          <a:ln/>
        </p:spPr>
        <p:txBody>
          <a:bodyPr wrap="square" lIns="0" tIns="0" rIns="0" bIns="0" rtlCol="0" anchor="t"/>
          <a:lstStyle/>
          <a:p>
            <a:pPr indent="0" marL="0">
              <a:spcAft>
                <a:spcPts val="800"/>
              </a:spcAft>
              <a:buNone/>
            </a:pPr>
            <a:r>
              <a:rPr lang="en-US" sz="1600" dirty="0">
                <a:solidFill>
                  <a:srgbClr val="D3DCE5"/>
                </a:solidFill>
                <a:latin typeface="Courier New" pitchFamily="34" charset="0"/>
                <a:ea typeface="Courier New" pitchFamily="34" charset="-122"/>
                <a:cs typeface="Courier New" pitchFamily="34" charset="-120"/>
              </a:rPr>
              <a:t>v11  atomics</a:t>
            </a:r>
            <a:endParaRPr lang="en-US" sz="1600" dirty="0"/>
          </a:p>
          <a:p>
            <a:pPr indent="0" marL="0">
              <a:spcAft>
                <a:spcPts val="800"/>
              </a:spcAft>
              <a:buNone/>
            </a:pPr>
            <a:r>
              <a:rPr lang="en-US" sz="1600" dirty="0">
                <a:solidFill>
                  <a:srgbClr val="D3DCE5"/>
                </a:solidFill>
                <a:latin typeface="Courier New" pitchFamily="34" charset="0"/>
                <a:ea typeface="Courier New" pitchFamily="34" charset="-122"/>
                <a:cs typeface="Courier New" pitchFamily="34" charset="-120"/>
              </a:rPr>
              <a:t>v12  two-lock queue</a:t>
            </a:r>
            <a:endParaRPr lang="en-US" sz="1600" dirty="0"/>
          </a:p>
          <a:p>
            <a:pPr indent="0" marL="0">
              <a:spcAft>
                <a:spcPts val="800"/>
              </a:spcAft>
              <a:buNone/>
            </a:pPr>
            <a:r>
              <a:rPr lang="en-US" sz="1600" dirty="0">
                <a:solidFill>
                  <a:srgbClr val="D3DCE5"/>
                </a:solidFill>
                <a:latin typeface="Courier New" pitchFamily="34" charset="0"/>
                <a:ea typeface="Courier New" pitchFamily="34" charset="-122"/>
                <a:cs typeface="Courier New" pitchFamily="34" charset="-120"/>
              </a:rPr>
              <a:t>v13  lock-free SPSC ring</a:t>
            </a:r>
            <a:endParaRPr lang="en-US" sz="1600" dirty="0"/>
          </a:p>
          <a:p>
            <a:pPr indent="0" marL="0">
              <a:spcAft>
                <a:spcPts val="800"/>
              </a:spcAft>
              <a:buNone/>
            </a:pPr>
            <a:r>
              <a:rPr lang="en-US" sz="1600" dirty="0">
                <a:solidFill>
                  <a:srgbClr val="D3DCE5"/>
                </a:solidFill>
                <a:latin typeface="Courier New" pitchFamily="34" charset="0"/>
                <a:ea typeface="Courier New" pitchFamily="34" charset="-122"/>
                <a:cs typeface="Courier New" pitchFamily="34" charset="-120"/>
              </a:rPr>
              <a:t>v14  benchmark harness</a:t>
            </a:r>
            <a:endParaRPr lang="en-US" sz="1600" dirty="0"/>
          </a:p>
        </p:txBody>
      </p:sp>
      <p:sp>
        <p:nvSpPr>
          <p:cNvPr id="5"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D3DCE5"/>
                </a:solidFill>
                <a:latin typeface="Calibri"/>
                <a:ea typeface="Calibri"/>
                <a:cs typeface="Calibri"/>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V11  ·  ATOMICS</a:t>
            </a:r>
            <a:endParaRPr lang="en-US" sz="1200" dirty="0"/>
          </a:p>
        </p:txBody>
      </p:sp>
      <p:sp>
        <p:nvSpPr>
          <p:cNvPr id="3" name="Shape 1"/>
          <p:cNvSpPr/>
          <p:nvPr/>
        </p:nvSpPr>
        <p:spPr>
          <a:xfrm>
            <a:off x="6229807" y="292608"/>
            <a:ext cx="1298448" cy="274320"/>
          </a:xfrm>
          <a:prstGeom prst="roundRect">
            <a:avLst>
              <a:gd name="adj" fmla="val 23333"/>
            </a:avLst>
          </a:prstGeom>
          <a:solidFill>
            <a:srgbClr val="1B2430"/>
          </a:solidFill>
          <a:ln w="12700">
            <a:solidFill>
              <a:srgbClr val="1B2430"/>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A monitor wants counts without locking</a:t>
            </a:r>
            <a:endParaRPr lang="en-US" sz="2800" dirty="0"/>
          </a:p>
        </p:txBody>
      </p:sp>
      <p:sp>
        <p:nvSpPr>
          <p:cNvPr id="12" name="Shape 10"/>
          <p:cNvSpPr/>
          <p:nvPr/>
        </p:nvSpPr>
        <p:spPr>
          <a:xfrm>
            <a:off x="548640" y="1417320"/>
            <a:ext cx="6766560" cy="1472184"/>
          </a:xfrm>
          <a:prstGeom prst="roundRect">
            <a:avLst>
              <a:gd name="adj" fmla="val 4969"/>
            </a:avLst>
          </a:prstGeom>
          <a:solidFill>
            <a:srgbClr val="EEF2F5"/>
          </a:solidFill>
          <a:ln w="12700">
            <a:solidFill>
              <a:srgbClr val="EEF2F5"/>
            </a:solidFill>
            <a:prstDash val="solid"/>
          </a:ln>
        </p:spPr>
      </p:sp>
      <p:sp>
        <p:nvSpPr>
          <p:cNvPr id="13" name="Text 11"/>
          <p:cNvSpPr txBox="1"/>
          <p:nvPr/>
        </p:nvSpPr>
        <p:spPr>
          <a:xfrm>
            <a:off x="731520" y="1581912"/>
            <a:ext cx="6400800" cy="11430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workers:   finish task → completed++</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dashboard: every 100 ms → read submitted, completed</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with a mutex: every finished task queues</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behind the dashboard for the lock</a:t>
            </a:r>
            <a:endParaRPr lang="en-US" sz="1500" dirty="0"/>
          </a:p>
        </p:txBody>
      </p:sp>
      <p:sp>
        <p:nvSpPr>
          <p:cNvPr id="14" name="Shape 12"/>
          <p:cNvSpPr/>
          <p:nvPr/>
        </p:nvSpPr>
        <p:spPr>
          <a:xfrm>
            <a:off x="548640" y="3118104"/>
            <a:ext cx="6766560" cy="1929384"/>
          </a:xfrm>
          <a:prstGeom prst="roundRect">
            <a:avLst>
              <a:gd name="adj" fmla="val 3791"/>
            </a:avLst>
          </a:prstGeom>
          <a:solidFill>
            <a:srgbClr val="161C24"/>
          </a:solidFill>
          <a:ln w="12700">
            <a:solidFill>
              <a:srgbClr val="161C24"/>
            </a:solidFill>
            <a:prstDash val="solid"/>
          </a:ln>
        </p:spPr>
      </p:sp>
      <p:sp>
        <p:nvSpPr>
          <p:cNvPr id="15" name="Text 13"/>
          <p:cNvSpPr txBox="1"/>
          <p:nvPr/>
        </p:nvSpPr>
        <p:spPr>
          <a:xfrm>
            <a:off x="731520" y="3282696"/>
            <a:ext cx="6400800" cy="1600200"/>
          </a:xfrm>
          <a:prstGeom prst="rect">
            <a:avLst/>
          </a:prstGeom>
          <a:noFill/>
          <a:ln/>
        </p:spPr>
        <p:txBody>
          <a:bodyPr wrap="square" lIns="0" tIns="0" rIns="0" bIns="0" rtlCol="0" anchor="t"/>
          <a:lstStyle/>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int plain = 0;                      // A: no lock</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int locked = 0; std::mutex m;       // B: mutex</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std::atomic&lt;int&gt; counter{0};        // C: atomic</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two threads, 1,000,000 increments each</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++plain;</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std::lock_guard l(m); ++locked; }</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counter.fetch_add(1);</a:t>
            </a:r>
            <a:endParaRPr lang="en-US" sz="1500" dirty="0"/>
          </a:p>
        </p:txBody>
      </p:sp>
      <p:sp>
        <p:nvSpPr>
          <p:cNvPr id="16" name="Text 14"/>
          <p:cNvSpPr txBox="1"/>
          <p:nvPr/>
        </p:nvSpPr>
        <p:spPr>
          <a:xfrm>
            <a:off x="7680960" y="1417320"/>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THE QUESTION</a:t>
            </a:r>
            <a:endParaRPr lang="en-US" sz="1200" dirty="0"/>
          </a:p>
        </p:txBody>
      </p:sp>
      <p:sp>
        <p:nvSpPr>
          <p:cNvPr id="17" name="Text 15"/>
          <p:cNvSpPr txBox="1"/>
          <p:nvPr/>
        </p:nvSpPr>
        <p:spPr>
          <a:xfrm>
            <a:off x="7680960" y="1728216"/>
            <a:ext cx="3962095" cy="576072"/>
          </a:xfrm>
          <a:prstGeom prst="rect">
            <a:avLst/>
          </a:prstGeom>
          <a:noFill/>
          <a:ln/>
        </p:spPr>
        <p:txBody>
          <a:bodyPr wrap="square" lIns="0" tIns="0" rIns="0" bIns="0" rtlCol="0" anchor="t"/>
          <a:lstStyle/>
          <a:p>
            <a:pPr indent="0" marL="0">
              <a:lnSpc>
                <a:spcPct val="105000"/>
              </a:lnSpc>
              <a:buNone/>
            </a:pPr>
            <a:r>
              <a:rPr lang="en-US" sz="1800" b="1" dirty="0">
                <a:solidFill>
                  <a:srgbClr val="1B2430"/>
                </a:solidFill>
                <a:latin typeface="Calibri" pitchFamily="34" charset="0"/>
                <a:ea typeface="Calibri" pitchFamily="34" charset="-122"/>
                <a:cs typeface="Calibri" pitchFamily="34" charset="-120"/>
              </a:rPr>
              <a:t>Is a mutex the only way to make ++ safe across threads?</a:t>
            </a:r>
            <a:endParaRPr lang="en-US" sz="1800" dirty="0"/>
          </a:p>
        </p:txBody>
      </p:sp>
      <p:sp>
        <p:nvSpPr>
          <p:cNvPr id="18" name="Text 16"/>
          <p:cNvSpPr txBox="1"/>
          <p:nvPr/>
        </p:nvSpPr>
        <p:spPr>
          <a:xfrm>
            <a:off x="7680960" y="2532888"/>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PREDICT</a:t>
            </a:r>
            <a:endParaRPr lang="en-US" sz="1200" dirty="0"/>
          </a:p>
        </p:txBody>
      </p:sp>
      <p:sp>
        <p:nvSpPr>
          <p:cNvPr id="19" name="Text 17"/>
          <p:cNvSpPr txBox="1"/>
          <p:nvPr/>
        </p:nvSpPr>
        <p:spPr>
          <a:xfrm>
            <a:off x="7680960" y="2843784"/>
            <a:ext cx="396209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Which totals are 2,000,000? Rank A, B, C by speed.</a:t>
            </a:r>
            <a:endParaRPr lang="en-US" sz="1600" dirty="0"/>
          </a:p>
        </p:txBody>
      </p:sp>
      <p:sp>
        <p:nvSpPr>
          <p:cNvPr id="20" name="Shape 18"/>
          <p:cNvSpPr/>
          <p:nvPr/>
        </p:nvSpPr>
        <p:spPr>
          <a:xfrm>
            <a:off x="7680960" y="3634232"/>
            <a:ext cx="3962095" cy="1764030"/>
          </a:xfrm>
          <a:prstGeom prst="roundRect">
            <a:avLst>
              <a:gd name="adj" fmla="val 4147"/>
            </a:avLst>
          </a:prstGeom>
          <a:solidFill>
            <a:srgbClr val="EEF2F5"/>
          </a:solidFill>
          <a:ln w="12700">
            <a:solidFill>
              <a:srgbClr val="EEF2F5"/>
            </a:solidFill>
            <a:prstDash val="solid"/>
          </a:ln>
        </p:spPr>
      </p:sp>
      <p:sp>
        <p:nvSpPr>
          <p:cNvPr id="21" name="Text 19"/>
          <p:cNvSpPr txBox="1"/>
          <p:nvPr/>
        </p:nvSpPr>
        <p:spPr>
          <a:xfrm>
            <a:off x="7909560" y="3817112"/>
            <a:ext cx="3504895"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ANSWER</a:t>
            </a:r>
            <a:endParaRPr lang="en-US" sz="1200" dirty="0"/>
          </a:p>
        </p:txBody>
      </p:sp>
      <p:sp>
        <p:nvSpPr>
          <p:cNvPr id="22" name="Text 20"/>
          <p:cNvSpPr txBox="1"/>
          <p:nvPr/>
        </p:nvSpPr>
        <p:spPr>
          <a:xfrm>
            <a:off x="7909560" y="4128008"/>
            <a:ext cx="3504895" cy="116052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A: wrong (v2's race).</a:t>
            </a: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B and C: 2,000,000.</a:t>
            </a:r>
            <a:endParaRPr lang="en-US" sz="1500" dirty="0"/>
          </a:p>
          <a:p>
            <a:pPr indent="0" marL="0">
              <a:lnSpc>
                <a:spcPct val="105000"/>
              </a:lnSpc>
              <a:buNone/>
            </a:pP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C is several times faster than B: no lock to wait for.</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V11  ·  ATOMICS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1B2430"/>
          </a:solidFill>
          <a:ln w="12700">
            <a:solidFill>
              <a:srgbClr val="1B2430"/>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One indivisible step, and what it publishes</a:t>
            </a:r>
            <a:endParaRPr lang="en-US" sz="2800" dirty="0"/>
          </a:p>
        </p:txBody>
      </p:sp>
      <p:sp>
        <p:nvSpPr>
          <p:cNvPr id="12" name="Text 10"/>
          <p:cNvSpPr txBox="1"/>
          <p:nvPr/>
        </p:nvSpPr>
        <p:spPr>
          <a:xfrm>
            <a:off x="548640" y="1417320"/>
            <a:ext cx="429768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RUN IT</a:t>
            </a:r>
            <a:endParaRPr lang="en-US" sz="1200" dirty="0"/>
          </a:p>
        </p:txBody>
      </p:sp>
      <p:sp>
        <p:nvSpPr>
          <p:cNvPr id="13" name="Shape 11"/>
          <p:cNvSpPr/>
          <p:nvPr/>
        </p:nvSpPr>
        <p:spPr>
          <a:xfrm>
            <a:off x="548640" y="1728216"/>
            <a:ext cx="4297680" cy="1182624"/>
          </a:xfrm>
          <a:prstGeom prst="roundRect">
            <a:avLst>
              <a:gd name="adj" fmla="val 6186"/>
            </a:avLst>
          </a:prstGeom>
          <a:solidFill>
            <a:srgbClr val="0D1117"/>
          </a:solidFill>
          <a:ln w="12700">
            <a:solidFill>
              <a:srgbClr val="0D1117"/>
            </a:solidFill>
            <a:prstDash val="solid"/>
          </a:ln>
        </p:spPr>
      </p:sp>
      <p:sp>
        <p:nvSpPr>
          <p:cNvPr id="14" name="Text 12"/>
          <p:cNvSpPr txBox="1"/>
          <p:nvPr/>
        </p:nvSpPr>
        <p:spPr>
          <a:xfrm>
            <a:off x="731520" y="1892808"/>
            <a:ext cx="3931920" cy="853440"/>
          </a:xfrm>
          <a:prstGeom prst="rect">
            <a:avLst/>
          </a:prstGeom>
          <a:noFill/>
          <a:ln/>
        </p:spPr>
        <p:txBody>
          <a:bodyPr wrap="square" lIns="0" tIns="0" rIns="0" bIns="0" rtlCol="0" anchor="t"/>
          <a:lstStyle/>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 ./tiny_atomic   # -O0</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no lock:     1056548  (4 ms)</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std::mutex:  2000000  (212 ms)</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std::atomic: 2000000  (27 ms)</a:t>
            </a:r>
            <a:endParaRPr lang="en-US" sz="1400" dirty="0"/>
          </a:p>
        </p:txBody>
      </p:sp>
      <p:sp>
        <p:nvSpPr>
          <p:cNvPr id="15" name="Text 13"/>
          <p:cNvSpPr txBox="1"/>
          <p:nvPr/>
        </p:nvSpPr>
        <p:spPr>
          <a:xfrm>
            <a:off x="548640" y="3093720"/>
            <a:ext cx="4297680" cy="71094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Write counter = counter + 1 instead: an atomic load, then an atomic store. Two steps, updates lost again.</a:t>
            </a:r>
            <a:endParaRPr lang="en-US" sz="1500" dirty="0"/>
          </a:p>
        </p:txBody>
      </p:sp>
      <p:sp>
        <p:nvSpPr>
          <p:cNvPr id="16" name="Text 14"/>
          <p:cNvSpPr txBox="1"/>
          <p:nvPr/>
        </p:nvSpPr>
        <p:spPr>
          <a:xfrm>
            <a:off x="5166360" y="1417320"/>
            <a:ext cx="6476695"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WHAT HAPPENS, STEP BY STEP</a:t>
            </a:r>
            <a:endParaRPr lang="en-US" sz="1200" dirty="0"/>
          </a:p>
        </p:txBody>
      </p:sp>
      <p:sp>
        <p:nvSpPr>
          <p:cNvPr id="17" name="Shape 15"/>
          <p:cNvSpPr/>
          <p:nvPr/>
        </p:nvSpPr>
        <p:spPr>
          <a:xfrm>
            <a:off x="5166360" y="1728216"/>
            <a:ext cx="6476695" cy="1609344"/>
          </a:xfrm>
          <a:prstGeom prst="roundRect">
            <a:avLst>
              <a:gd name="adj" fmla="val 4545"/>
            </a:avLst>
          </a:prstGeom>
          <a:solidFill>
            <a:srgbClr val="EEF2F5"/>
          </a:solidFill>
          <a:ln w="12700">
            <a:solidFill>
              <a:srgbClr val="EEF2F5"/>
            </a:solidFill>
            <a:prstDash val="solid"/>
          </a:ln>
        </p:spPr>
      </p:sp>
      <p:sp>
        <p:nvSpPr>
          <p:cNvPr id="18" name="Text 16"/>
          <p:cNvSpPr txBox="1"/>
          <p:nvPr/>
        </p:nvSpPr>
        <p:spPr>
          <a:xfrm>
            <a:off x="5349240" y="1892808"/>
            <a:ext cx="6110935" cy="1280160"/>
          </a:xfrm>
          <a:prstGeom prst="rect">
            <a:avLst/>
          </a:prstGeom>
          <a:noFill/>
          <a:ln/>
        </p:spPr>
        <p:txBody>
          <a:bodyPr wrap="square" lIns="0" tIns="0" rIns="0" bIns="0" rtlCol="0" anchor="t"/>
          <a:lstStyle/>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++n on an int:   load → add → store     3 steps, can interleave</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n.fetch_add(1):  load+add+store         1 step, nobody in between</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 </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Writer                     Reader</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data = 42;</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ready.store(true, release) ──► ready.load(acquire) == true</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                               data is guaranteed 42</a:t>
            </a:r>
            <a:endParaRPr lang="en-US" sz="1200" dirty="0"/>
          </a:p>
        </p:txBody>
      </p:sp>
      <p:sp>
        <p:nvSpPr>
          <p:cNvPr id="19" name="Shape 17"/>
          <p:cNvSpPr/>
          <p:nvPr/>
        </p:nvSpPr>
        <p:spPr>
          <a:xfrm>
            <a:off x="5166360" y="3566160"/>
            <a:ext cx="6476695" cy="1314450"/>
          </a:xfrm>
          <a:prstGeom prst="roundRect">
            <a:avLst>
              <a:gd name="adj" fmla="val 5565"/>
            </a:avLst>
          </a:prstGeom>
          <a:solidFill>
            <a:srgbClr val="FDF1E8"/>
          </a:solidFill>
          <a:ln w="12700">
            <a:solidFill>
              <a:srgbClr val="FDF1E8"/>
            </a:solidFill>
            <a:prstDash val="solid"/>
          </a:ln>
        </p:spPr>
      </p:sp>
      <p:sp>
        <p:nvSpPr>
          <p:cNvPr id="20" name="Text 18"/>
          <p:cNvSpPr txBox="1"/>
          <p:nvPr/>
        </p:nvSpPr>
        <p:spPr>
          <a:xfrm>
            <a:off x="5394960" y="3749040"/>
            <a:ext cx="60194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SO</a:t>
            </a:r>
            <a:endParaRPr lang="en-US" sz="1200" dirty="0"/>
          </a:p>
        </p:txBody>
      </p:sp>
      <p:sp>
        <p:nvSpPr>
          <p:cNvPr id="21" name="Text 19"/>
          <p:cNvSpPr txBox="1"/>
          <p:nvPr/>
        </p:nvSpPr>
        <p:spPr>
          <a:xfrm>
            <a:off x="5394960" y="4059936"/>
            <a:ext cx="6019495" cy="71094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relaxed: atomic, nothing more (enough for counters). release/acquire: everything written before the store is visible after the load.</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V11  ·  ATOMICS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1B2430"/>
          </a:solidFill>
          <a:ln w="12700">
            <a:solidFill>
              <a:srgbClr val="1B2430"/>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Counters any thread can read</a:t>
            </a:r>
            <a:endParaRPr lang="en-US" sz="2800" dirty="0"/>
          </a:p>
        </p:txBody>
      </p:sp>
      <p:sp>
        <p:nvSpPr>
          <p:cNvPr id="12" name="Text 10"/>
          <p:cNvSpPr txBox="1"/>
          <p:nvPr/>
        </p:nvSpPr>
        <p:spPr>
          <a:xfrm>
            <a:off x="548640" y="1417320"/>
            <a:ext cx="676656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pool.hpp</a:t>
            </a:r>
            <a:endParaRPr lang="en-US" sz="1200" dirty="0"/>
          </a:p>
        </p:txBody>
      </p:sp>
      <p:sp>
        <p:nvSpPr>
          <p:cNvPr id="13" name="Shape 11"/>
          <p:cNvSpPr/>
          <p:nvPr/>
        </p:nvSpPr>
        <p:spPr>
          <a:xfrm>
            <a:off x="548640" y="1728216"/>
            <a:ext cx="7132320" cy="2386584"/>
          </a:xfrm>
          <a:prstGeom prst="roundRect">
            <a:avLst>
              <a:gd name="adj" fmla="val 3065"/>
            </a:avLst>
          </a:prstGeom>
          <a:solidFill>
            <a:srgbClr val="161C24"/>
          </a:solidFill>
          <a:ln w="12700">
            <a:solidFill>
              <a:srgbClr val="161C24"/>
            </a:solidFill>
            <a:prstDash val="solid"/>
          </a:ln>
        </p:spPr>
      </p:sp>
      <p:sp>
        <p:nvSpPr>
          <p:cNvPr id="14" name="Text 12"/>
          <p:cNvSpPr txBox="1"/>
          <p:nvPr/>
        </p:nvSpPr>
        <p:spPr>
          <a:xfrm>
            <a:off x="731520" y="1892808"/>
            <a:ext cx="6766560" cy="2057400"/>
          </a:xfrm>
          <a:prstGeom prst="rect">
            <a:avLst/>
          </a:prstGeom>
          <a:noFill/>
          <a:ln/>
        </p:spPr>
        <p:txBody>
          <a:bodyPr wrap="square" lIns="0" tIns="0" rIns="0" bIns="0" rtlCol="0" anchor="t"/>
          <a:lstStyle/>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std::atomic&lt;std::size_t&gt; submitted{0};</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std::atomic&lt;std::size_t&gt; completed{0};</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void run(Task&amp; t) {</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t();</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completed.fetch_add(1, std::memory_order_relaxed);</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std::size_t tasks_completed() const {</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return completed.load(std::memory_order_relaxed);</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a:t>
            </a:r>
            <a:endParaRPr lang="en-US" sz="1500" dirty="0"/>
          </a:p>
        </p:txBody>
      </p:sp>
      <p:sp>
        <p:nvSpPr>
          <p:cNvPr id="15" name="Shape 13"/>
          <p:cNvSpPr/>
          <p:nvPr/>
        </p:nvSpPr>
        <p:spPr>
          <a:xfrm>
            <a:off x="8001000" y="1728216"/>
            <a:ext cx="365760" cy="365760"/>
          </a:xfrm>
          <a:prstGeom prst="ellipse">
            <a:avLst/>
          </a:prstGeom>
          <a:solidFill>
            <a:srgbClr val="0F766E"/>
          </a:solidFill>
          <a:ln w="12700">
            <a:solidFill>
              <a:srgbClr val="0F766E"/>
            </a:solidFill>
            <a:prstDash val="solid"/>
          </a:ln>
        </p:spPr>
      </p:sp>
      <p:sp>
        <p:nvSpPr>
          <p:cNvPr id="16" name="Text 14"/>
          <p:cNvSpPr txBox="1"/>
          <p:nvPr/>
        </p:nvSpPr>
        <p:spPr>
          <a:xfrm>
            <a:off x="8001000" y="17282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8503920" y="1764792"/>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submit() counts only after push() succeeded.</a:t>
            </a:r>
            <a:endParaRPr lang="en-US" sz="1600" dirty="0"/>
          </a:p>
        </p:txBody>
      </p:sp>
      <p:sp>
        <p:nvSpPr>
          <p:cNvPr id="18" name="Shape 16"/>
          <p:cNvSpPr/>
          <p:nvPr/>
        </p:nvSpPr>
        <p:spPr>
          <a:xfrm>
            <a:off x="8001000" y="2518664"/>
            <a:ext cx="365760" cy="365760"/>
          </a:xfrm>
          <a:prstGeom prst="ellipse">
            <a:avLst/>
          </a:prstGeom>
          <a:solidFill>
            <a:srgbClr val="0F766E"/>
          </a:solidFill>
          <a:ln w="12700">
            <a:solidFill>
              <a:srgbClr val="0F766E"/>
            </a:solidFill>
            <a:prstDash val="solid"/>
          </a:ln>
        </p:spPr>
      </p:sp>
      <p:sp>
        <p:nvSpPr>
          <p:cNvPr id="19" name="Text 17"/>
          <p:cNvSpPr txBox="1"/>
          <p:nvPr/>
        </p:nvSpPr>
        <p:spPr>
          <a:xfrm>
            <a:off x="8001000" y="25186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8503920" y="2555240"/>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relaxed is enough: each counter only has to be exact on its own.</a:t>
            </a:r>
            <a:endParaRPr lang="en-US" sz="1600" dirty="0"/>
          </a:p>
        </p:txBody>
      </p:sp>
      <p:sp>
        <p:nvSpPr>
          <p:cNvPr id="21" name="Shape 19"/>
          <p:cNvSpPr/>
          <p:nvPr/>
        </p:nvSpPr>
        <p:spPr>
          <a:xfrm>
            <a:off x="8001000" y="3548888"/>
            <a:ext cx="365760" cy="365760"/>
          </a:xfrm>
          <a:prstGeom prst="ellipse">
            <a:avLst/>
          </a:prstGeom>
          <a:solidFill>
            <a:srgbClr val="0F766E"/>
          </a:solidFill>
          <a:ln w="12700">
            <a:solidFill>
              <a:srgbClr val="0F766E"/>
            </a:solidFill>
            <a:prstDash val="solid"/>
          </a:ln>
        </p:spPr>
      </p:sp>
      <p:sp>
        <p:nvSpPr>
          <p:cNvPr id="22" name="Text 20"/>
          <p:cNvSpPr txBox="1"/>
          <p:nvPr/>
        </p:nvSpPr>
        <p:spPr>
          <a:xfrm>
            <a:off x="8001000" y="354888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503920" y="3585464"/>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Reading never blocks a worker.</a:t>
            </a:r>
            <a:endParaRPr lang="en-US" sz="16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V11  ·  ATOMICS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1B2430"/>
          </a:solidFill>
          <a:ln w="12700">
            <a:solidFill>
              <a:srgbClr val="1B2430"/>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Check yourself</a:t>
            </a:r>
            <a:endParaRPr lang="en-US" sz="2800" dirty="0"/>
          </a:p>
        </p:txBody>
      </p:sp>
      <p:sp>
        <p:nvSpPr>
          <p:cNvPr id="12" name="Shape 10"/>
          <p:cNvSpPr/>
          <p:nvPr/>
        </p:nvSpPr>
        <p:spPr>
          <a:xfrm>
            <a:off x="548640" y="1417320"/>
            <a:ext cx="4206240" cy="1404366"/>
          </a:xfrm>
          <a:prstGeom prst="roundRect">
            <a:avLst>
              <a:gd name="adj" fmla="val 5209"/>
            </a:avLst>
          </a:prstGeom>
          <a:solidFill>
            <a:srgbClr val="EEF2F5"/>
          </a:solidFill>
          <a:ln w="12700">
            <a:solidFill>
              <a:srgbClr val="EEF2F5"/>
            </a:solidFill>
            <a:prstDash val="solid"/>
          </a:ln>
        </p:spPr>
      </p:sp>
      <p:sp>
        <p:nvSpPr>
          <p:cNvPr id="13" name="Text 11"/>
          <p:cNvSpPr txBox="1"/>
          <p:nvPr/>
        </p:nvSpPr>
        <p:spPr>
          <a:xfrm>
            <a:off x="777240" y="1600200"/>
            <a:ext cx="3749040"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THE LESSON</a:t>
            </a:r>
            <a:endParaRPr lang="en-US" sz="1200" dirty="0"/>
          </a:p>
        </p:txBody>
      </p:sp>
      <p:sp>
        <p:nvSpPr>
          <p:cNvPr id="14" name="Text 12"/>
          <p:cNvSpPr txBox="1"/>
          <p:nvPr/>
        </p:nvSpPr>
        <p:spPr>
          <a:xfrm>
            <a:off x="777240" y="1911096"/>
            <a:ext cx="3749040" cy="800862"/>
          </a:xfrm>
          <a:prstGeom prst="rect">
            <a:avLst/>
          </a:prstGeom>
          <a:noFill/>
          <a:ln/>
        </p:spPr>
        <p:txBody>
          <a:bodyPr wrap="square" lIns="0" tIns="0" rIns="0" bIns="0" rtlCol="0" anchor="t"/>
          <a:lstStyle/>
          <a:p>
            <a:pPr indent="0" marL="0">
              <a:lnSpc>
                <a:spcPct val="105000"/>
              </a:lnSpc>
              <a:buNone/>
            </a:pPr>
            <a:r>
              <a:rPr lang="en-US" sz="1700" dirty="0">
                <a:solidFill>
                  <a:srgbClr val="1B2430"/>
                </a:solidFill>
                <a:latin typeface="Calibri" pitchFamily="34" charset="0"/>
                <a:ea typeface="Calibri" pitchFamily="34" charset="-122"/>
                <a:cs typeface="Calibri" pitchFamily="34" charset="-120"/>
              </a:rPr>
              <a:t>Atomic stops lost updates. Release/acquire decides what else the other thread sees.</a:t>
            </a:r>
            <a:endParaRPr lang="en-US" sz="1700" dirty="0"/>
          </a:p>
        </p:txBody>
      </p:sp>
      <p:sp>
        <p:nvSpPr>
          <p:cNvPr id="15" name="Text 13"/>
          <p:cNvSpPr txBox="1"/>
          <p:nvPr/>
        </p:nvSpPr>
        <p:spPr>
          <a:xfrm>
            <a:off x="548640" y="3096006"/>
            <a:ext cx="420624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EXPLAIN WITHOUT LOOKING</a:t>
            </a:r>
            <a:endParaRPr lang="en-US" sz="1200" dirty="0"/>
          </a:p>
        </p:txBody>
      </p:sp>
      <p:sp>
        <p:nvSpPr>
          <p:cNvPr id="16" name="Shape 14"/>
          <p:cNvSpPr/>
          <p:nvPr/>
        </p:nvSpPr>
        <p:spPr>
          <a:xfrm>
            <a:off x="548640" y="3489198"/>
            <a:ext cx="182880" cy="182880"/>
          </a:xfrm>
          <a:prstGeom prst="rect">
            <a:avLst/>
          </a:prstGeom>
          <a:solidFill>
            <a:srgbClr val="FFFFFF"/>
          </a:solidFill>
          <a:ln w="15875">
            <a:solidFill>
              <a:srgbClr val="0F766E"/>
            </a:solidFill>
            <a:prstDash val="solid"/>
          </a:ln>
        </p:spPr>
      </p:sp>
      <p:sp>
        <p:nvSpPr>
          <p:cNvPr id="17" name="Text 15"/>
          <p:cNvSpPr txBox="1"/>
          <p:nvPr/>
        </p:nvSpPr>
        <p:spPr>
          <a:xfrm>
            <a:off x="868680" y="3443478"/>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is ++n on an int a data race?</a:t>
            </a:r>
            <a:endParaRPr lang="en-US" sz="1500" dirty="0"/>
          </a:p>
        </p:txBody>
      </p:sp>
      <p:sp>
        <p:nvSpPr>
          <p:cNvPr id="18" name="Shape 16"/>
          <p:cNvSpPr/>
          <p:nvPr/>
        </p:nvSpPr>
        <p:spPr>
          <a:xfrm>
            <a:off x="548640" y="3860292"/>
            <a:ext cx="182880" cy="182880"/>
          </a:xfrm>
          <a:prstGeom prst="rect">
            <a:avLst/>
          </a:prstGeom>
          <a:solidFill>
            <a:srgbClr val="FFFFFF"/>
          </a:solidFill>
          <a:ln w="15875">
            <a:solidFill>
              <a:srgbClr val="0F766E"/>
            </a:solidFill>
            <a:prstDash val="solid"/>
          </a:ln>
        </p:spPr>
      </p:sp>
      <p:sp>
        <p:nvSpPr>
          <p:cNvPr id="19" name="Text 17"/>
          <p:cNvSpPr txBox="1"/>
          <p:nvPr/>
        </p:nvSpPr>
        <p:spPr>
          <a:xfrm>
            <a:off x="868680" y="3814572"/>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does fetch_add guarantee?</a:t>
            </a:r>
            <a:endParaRPr lang="en-US" sz="1500" dirty="0"/>
          </a:p>
        </p:txBody>
      </p:sp>
      <p:sp>
        <p:nvSpPr>
          <p:cNvPr id="20" name="Shape 18"/>
          <p:cNvSpPr/>
          <p:nvPr/>
        </p:nvSpPr>
        <p:spPr>
          <a:xfrm>
            <a:off x="548640" y="4231386"/>
            <a:ext cx="182880" cy="182880"/>
          </a:xfrm>
          <a:prstGeom prst="rect">
            <a:avLst/>
          </a:prstGeom>
          <a:solidFill>
            <a:srgbClr val="FFFFFF"/>
          </a:solidFill>
          <a:ln w="15875">
            <a:solidFill>
              <a:srgbClr val="0F766E"/>
            </a:solidFill>
            <a:prstDash val="solid"/>
          </a:ln>
        </p:spPr>
      </p:sp>
      <p:sp>
        <p:nvSpPr>
          <p:cNvPr id="21" name="Text 19"/>
          <p:cNvSpPr txBox="1"/>
          <p:nvPr/>
        </p:nvSpPr>
        <p:spPr>
          <a:xfrm>
            <a:off x="868680" y="4185666"/>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When is relaxed enough?</a:t>
            </a:r>
            <a:endParaRPr lang="en-US" sz="1500" dirty="0"/>
          </a:p>
        </p:txBody>
      </p:sp>
      <p:sp>
        <p:nvSpPr>
          <p:cNvPr id="22" name="Shape 20"/>
          <p:cNvSpPr/>
          <p:nvPr/>
        </p:nvSpPr>
        <p:spPr>
          <a:xfrm>
            <a:off x="548640" y="4602480"/>
            <a:ext cx="182880" cy="182880"/>
          </a:xfrm>
          <a:prstGeom prst="rect">
            <a:avLst/>
          </a:prstGeom>
          <a:solidFill>
            <a:srgbClr val="FFFFFF"/>
          </a:solidFill>
          <a:ln w="15875">
            <a:solidFill>
              <a:srgbClr val="0F766E"/>
            </a:solidFill>
            <a:prstDash val="solid"/>
          </a:ln>
        </p:spPr>
      </p:sp>
      <p:sp>
        <p:nvSpPr>
          <p:cNvPr id="23" name="Text 21"/>
          <p:cNvSpPr txBox="1"/>
          <p:nvPr/>
        </p:nvSpPr>
        <p:spPr>
          <a:xfrm>
            <a:off x="868680" y="4556760"/>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does a release store promise?</a:t>
            </a:r>
            <a:endParaRPr lang="en-US" sz="1500" dirty="0"/>
          </a:p>
        </p:txBody>
      </p:sp>
      <p:sp>
        <p:nvSpPr>
          <p:cNvPr id="24" name="Shape 22"/>
          <p:cNvSpPr/>
          <p:nvPr/>
        </p:nvSpPr>
        <p:spPr>
          <a:xfrm>
            <a:off x="5166360" y="1417320"/>
            <a:ext cx="6476695" cy="1518920"/>
          </a:xfrm>
          <a:prstGeom prst="roundRect">
            <a:avLst>
              <a:gd name="adj" fmla="val 4816"/>
            </a:avLst>
          </a:prstGeom>
          <a:solidFill>
            <a:srgbClr val="FFFFFF"/>
          </a:solidFill>
          <a:ln w="12700">
            <a:solidFill>
              <a:srgbClr val="D5DDE5"/>
            </a:solidFill>
            <a:prstDash val="solid"/>
          </a:ln>
        </p:spPr>
      </p:sp>
      <p:sp>
        <p:nvSpPr>
          <p:cNvPr id="25" name="Text 23"/>
          <p:cNvSpPr txBox="1"/>
          <p:nvPr/>
        </p:nvSpPr>
        <p:spPr>
          <a:xfrm>
            <a:off x="5394960" y="15819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NUMBERS</a:t>
            </a:r>
            <a:endParaRPr lang="en-US" sz="1200" dirty="0"/>
          </a:p>
        </p:txBody>
      </p:sp>
      <p:sp>
        <p:nvSpPr>
          <p:cNvPr id="26" name="Text 24"/>
          <p:cNvSpPr txBox="1"/>
          <p:nvPr/>
        </p:nvSpPr>
        <p:spPr>
          <a:xfrm>
            <a:off x="5394960" y="18928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After 10,000 tasks finish, what must submitted and completed read?</a:t>
            </a:r>
            <a:endParaRPr lang="en-US" sz="1500" dirty="0"/>
          </a:p>
        </p:txBody>
      </p:sp>
      <p:sp>
        <p:nvSpPr>
          <p:cNvPr id="27" name="Text 25"/>
          <p:cNvSpPr txBox="1"/>
          <p:nvPr/>
        </p:nvSpPr>
        <p:spPr>
          <a:xfrm>
            <a:off x="5394960" y="24704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Both 10,000.</a:t>
            </a:r>
            <a:endParaRPr lang="en-US" sz="1400" dirty="0"/>
          </a:p>
        </p:txBody>
      </p:sp>
      <p:sp>
        <p:nvSpPr>
          <p:cNvPr id="28" name="Shape 26"/>
          <p:cNvSpPr/>
          <p:nvPr/>
        </p:nvSpPr>
        <p:spPr>
          <a:xfrm>
            <a:off x="5166360" y="3119120"/>
            <a:ext cx="6476695" cy="1728724"/>
          </a:xfrm>
          <a:prstGeom prst="roundRect">
            <a:avLst>
              <a:gd name="adj" fmla="val 4232"/>
            </a:avLst>
          </a:prstGeom>
          <a:solidFill>
            <a:srgbClr val="FFFFFF"/>
          </a:solidFill>
          <a:ln w="12700">
            <a:solidFill>
              <a:srgbClr val="D5DDE5"/>
            </a:solidFill>
            <a:prstDash val="solid"/>
          </a:ln>
        </p:spPr>
      </p:sp>
      <p:sp>
        <p:nvSpPr>
          <p:cNvPr id="29" name="Text 27"/>
          <p:cNvSpPr txBox="1"/>
          <p:nvPr/>
        </p:nvSpPr>
        <p:spPr>
          <a:xfrm>
            <a:off x="5394960" y="32837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TRACE IT</a:t>
            </a:r>
            <a:endParaRPr lang="en-US" sz="1200" dirty="0"/>
          </a:p>
        </p:txBody>
      </p:sp>
      <p:sp>
        <p:nvSpPr>
          <p:cNvPr id="30" name="Text 28"/>
          <p:cNvSpPr txBox="1"/>
          <p:nvPr/>
        </p:nvSpPr>
        <p:spPr>
          <a:xfrm>
            <a:off x="5394960" y="35946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The monitor reads submitted, then completed. Can completed &gt; submitted appear?</a:t>
            </a:r>
            <a:endParaRPr lang="en-US" sz="1500" dirty="0"/>
          </a:p>
        </p:txBody>
      </p:sp>
      <p:sp>
        <p:nvSpPr>
          <p:cNvPr id="31" name="Text 29"/>
          <p:cNvSpPr txBox="1"/>
          <p:nvPr/>
        </p:nvSpPr>
        <p:spPr>
          <a:xfrm>
            <a:off x="5394960" y="4172204"/>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Yes: two separate loads aren't a snapshot. Read completed first, or treat it as an estimate.</a:t>
            </a:r>
            <a:endParaRPr lang="en-US" sz="1400" dirty="0"/>
          </a:p>
        </p:txBody>
      </p:sp>
      <p:sp>
        <p:nvSpPr>
          <p:cNvPr id="32" name="Shape 30"/>
          <p:cNvSpPr/>
          <p:nvPr/>
        </p:nvSpPr>
        <p:spPr>
          <a:xfrm>
            <a:off x="5166360" y="5030724"/>
            <a:ext cx="6476695" cy="1503934"/>
          </a:xfrm>
          <a:prstGeom prst="roundRect">
            <a:avLst>
              <a:gd name="adj" fmla="val 4864"/>
            </a:avLst>
          </a:prstGeom>
          <a:solidFill>
            <a:srgbClr val="FFFFFF"/>
          </a:solidFill>
          <a:ln w="12700">
            <a:solidFill>
              <a:srgbClr val="D5DDE5"/>
            </a:solidFill>
            <a:prstDash val="solid"/>
          </a:ln>
        </p:spPr>
      </p:sp>
      <p:sp>
        <p:nvSpPr>
          <p:cNvPr id="33" name="Text 31"/>
          <p:cNvSpPr txBox="1"/>
          <p:nvPr/>
        </p:nvSpPr>
        <p:spPr>
          <a:xfrm>
            <a:off x="5394960" y="5195316"/>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DESIGN</a:t>
            </a:r>
            <a:endParaRPr lang="en-US" sz="1200" dirty="0"/>
          </a:p>
        </p:txBody>
      </p:sp>
      <p:sp>
        <p:nvSpPr>
          <p:cNvPr id="34" name="Text 32"/>
          <p:cNvSpPr txBox="1"/>
          <p:nvPr/>
        </p:nvSpPr>
        <p:spPr>
          <a:xfrm>
            <a:off x="5394960" y="5506212"/>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Make v9's default_pool() lazily created with atomics.</a:t>
            </a:r>
            <a:endParaRPr lang="en-US" sz="1500" dirty="0"/>
          </a:p>
        </p:txBody>
      </p:sp>
      <p:sp>
        <p:nvSpPr>
          <p:cNvPr id="35" name="Text 33"/>
          <p:cNvSpPr txBox="1"/>
          <p:nvPr/>
        </p:nvSpPr>
        <p:spPr>
          <a:xfrm>
            <a:off x="5394960" y="5859018"/>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std::atomic&lt;ThreadPool*&gt;; acquire load, then lock + re-check + release store (double-checked locking).</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V12  ·  TWO-LOCK QUEUE</a:t>
            </a:r>
            <a:endParaRPr lang="en-US" sz="1200" dirty="0"/>
          </a:p>
        </p:txBody>
      </p:sp>
      <p:sp>
        <p:nvSpPr>
          <p:cNvPr id="3" name="Shape 1"/>
          <p:cNvSpPr/>
          <p:nvPr/>
        </p:nvSpPr>
        <p:spPr>
          <a:xfrm>
            <a:off x="6229807" y="292608"/>
            <a:ext cx="1298448" cy="274320"/>
          </a:xfrm>
          <a:prstGeom prst="roundRect">
            <a:avLst>
              <a:gd name="adj" fmla="val 23333"/>
            </a:avLst>
          </a:prstGeom>
          <a:solidFill>
            <a:srgbClr val="1B2430"/>
          </a:solidFill>
          <a:ln w="12700">
            <a:solidFill>
              <a:srgbClr val="1B2430"/>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Producers and consumers share one lock</a:t>
            </a:r>
            <a:endParaRPr lang="en-US" sz="2800" dirty="0"/>
          </a:p>
        </p:txBody>
      </p:sp>
      <p:sp>
        <p:nvSpPr>
          <p:cNvPr id="12" name="Shape 10"/>
          <p:cNvSpPr/>
          <p:nvPr/>
        </p:nvSpPr>
        <p:spPr>
          <a:xfrm>
            <a:off x="548640" y="1417320"/>
            <a:ext cx="6766560" cy="1243584"/>
          </a:xfrm>
          <a:prstGeom prst="roundRect">
            <a:avLst>
              <a:gd name="adj" fmla="val 5882"/>
            </a:avLst>
          </a:prstGeom>
          <a:solidFill>
            <a:srgbClr val="EEF2F5"/>
          </a:solidFill>
          <a:ln w="12700">
            <a:solidFill>
              <a:srgbClr val="EEF2F5"/>
            </a:solidFill>
            <a:prstDash val="solid"/>
          </a:ln>
        </p:spPr>
      </p:sp>
      <p:sp>
        <p:nvSpPr>
          <p:cNvPr id="13" name="Text 11"/>
          <p:cNvSpPr txBox="1"/>
          <p:nvPr/>
        </p:nvSpPr>
        <p:spPr>
          <a:xfrm>
            <a:off x="731520" y="1581912"/>
            <a:ext cx="6400800" cy="9144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consumers take here       producers add here</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 a ][ b ][ c ][ d ][ e ][ f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 one mutex ────────┘</a:t>
            </a:r>
            <a:endParaRPr lang="en-US" sz="1500" dirty="0"/>
          </a:p>
        </p:txBody>
      </p:sp>
      <p:sp>
        <p:nvSpPr>
          <p:cNvPr id="14" name="Shape 12"/>
          <p:cNvSpPr/>
          <p:nvPr/>
        </p:nvSpPr>
        <p:spPr>
          <a:xfrm>
            <a:off x="548640" y="2889504"/>
            <a:ext cx="6766560" cy="1014984"/>
          </a:xfrm>
          <a:prstGeom prst="roundRect">
            <a:avLst>
              <a:gd name="adj" fmla="val 7207"/>
            </a:avLst>
          </a:prstGeom>
          <a:solidFill>
            <a:srgbClr val="161C24"/>
          </a:solidFill>
          <a:ln w="12700">
            <a:solidFill>
              <a:srgbClr val="161C24"/>
            </a:solidFill>
            <a:prstDash val="solid"/>
          </a:ln>
        </p:spPr>
      </p:sp>
      <p:sp>
        <p:nvSpPr>
          <p:cNvPr id="15" name="Text 13"/>
          <p:cNvSpPr txBox="1"/>
          <p:nvPr/>
        </p:nvSpPr>
        <p:spPr>
          <a:xfrm>
            <a:off x="731520" y="3054096"/>
            <a:ext cx="6400800" cy="685800"/>
          </a:xfrm>
          <a:prstGeom prst="rect">
            <a:avLst/>
          </a:prstGeom>
          <a:noFill/>
          <a:ln/>
        </p:spPr>
        <p:txBody>
          <a:bodyPr wrap="square" lIns="0" tIns="0" rIns="0" bIns="0" rtlCol="0" anchor="t"/>
          <a:lstStyle/>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./next_bug   # v11, one mutex</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1x1: 6.3 M items/s</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4x4: ?      8x8: ?</a:t>
            </a:r>
            <a:endParaRPr lang="en-US" sz="1500" dirty="0"/>
          </a:p>
        </p:txBody>
      </p:sp>
      <p:sp>
        <p:nvSpPr>
          <p:cNvPr id="16" name="Text 14"/>
          <p:cNvSpPr txBox="1"/>
          <p:nvPr/>
        </p:nvSpPr>
        <p:spPr>
          <a:xfrm>
            <a:off x="7680960" y="1417320"/>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THE QUESTION</a:t>
            </a:r>
            <a:endParaRPr lang="en-US" sz="1200" dirty="0"/>
          </a:p>
        </p:txBody>
      </p:sp>
      <p:sp>
        <p:nvSpPr>
          <p:cNvPr id="17" name="Text 15"/>
          <p:cNvSpPr txBox="1"/>
          <p:nvPr/>
        </p:nvSpPr>
        <p:spPr>
          <a:xfrm>
            <a:off x="7680960" y="1728216"/>
            <a:ext cx="3962095" cy="845820"/>
          </a:xfrm>
          <a:prstGeom prst="rect">
            <a:avLst/>
          </a:prstGeom>
          <a:noFill/>
          <a:ln/>
        </p:spPr>
        <p:txBody>
          <a:bodyPr wrap="square" lIns="0" tIns="0" rIns="0" bIns="0" rtlCol="0" anchor="t"/>
          <a:lstStyle/>
          <a:p>
            <a:pPr indent="0" marL="0">
              <a:lnSpc>
                <a:spcPct val="105000"/>
              </a:lnSpc>
              <a:buNone/>
            </a:pPr>
            <a:r>
              <a:rPr lang="en-US" sz="1800" b="1" dirty="0">
                <a:solidFill>
                  <a:srgbClr val="1B2430"/>
                </a:solidFill>
                <a:latin typeface="Calibri" pitchFamily="34" charset="0"/>
                <a:ea typeface="Calibri" pitchFamily="34" charset="-122"/>
                <a:cs typeface="Calibri" pitchFamily="34" charset="-120"/>
              </a:rPr>
              <a:t>Producers touch only the tail, consumers only the head. Why should they wait for each other?</a:t>
            </a:r>
            <a:endParaRPr lang="en-US" sz="1800" dirty="0"/>
          </a:p>
        </p:txBody>
      </p:sp>
      <p:sp>
        <p:nvSpPr>
          <p:cNvPr id="18" name="Text 16"/>
          <p:cNvSpPr txBox="1"/>
          <p:nvPr/>
        </p:nvSpPr>
        <p:spPr>
          <a:xfrm>
            <a:off x="7680960" y="2802636"/>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PREDICT</a:t>
            </a:r>
            <a:endParaRPr lang="en-US" sz="1200" dirty="0"/>
          </a:p>
        </p:txBody>
      </p:sp>
      <p:sp>
        <p:nvSpPr>
          <p:cNvPr id="19" name="Text 17"/>
          <p:cNvSpPr txBox="1"/>
          <p:nvPr/>
        </p:nvSpPr>
        <p:spPr>
          <a:xfrm>
            <a:off x="7680960" y="3113532"/>
            <a:ext cx="396209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Will more threads move more items per second?</a:t>
            </a:r>
            <a:endParaRPr lang="en-US" sz="1600" dirty="0"/>
          </a:p>
        </p:txBody>
      </p:sp>
      <p:sp>
        <p:nvSpPr>
          <p:cNvPr id="20" name="Shape 18"/>
          <p:cNvSpPr/>
          <p:nvPr/>
        </p:nvSpPr>
        <p:spPr>
          <a:xfrm>
            <a:off x="7680960" y="3903980"/>
            <a:ext cx="3962095" cy="1539240"/>
          </a:xfrm>
          <a:prstGeom prst="roundRect">
            <a:avLst>
              <a:gd name="adj" fmla="val 4752"/>
            </a:avLst>
          </a:prstGeom>
          <a:solidFill>
            <a:srgbClr val="EEF2F5"/>
          </a:solidFill>
          <a:ln w="12700">
            <a:solidFill>
              <a:srgbClr val="EEF2F5"/>
            </a:solidFill>
            <a:prstDash val="solid"/>
          </a:ln>
        </p:spPr>
      </p:sp>
      <p:sp>
        <p:nvSpPr>
          <p:cNvPr id="21" name="Text 19"/>
          <p:cNvSpPr txBox="1"/>
          <p:nvPr/>
        </p:nvSpPr>
        <p:spPr>
          <a:xfrm>
            <a:off x="7909560" y="4086860"/>
            <a:ext cx="3504895"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ANSWER</a:t>
            </a:r>
            <a:endParaRPr lang="en-US" sz="1200" dirty="0"/>
          </a:p>
        </p:txBody>
      </p:sp>
      <p:sp>
        <p:nvSpPr>
          <p:cNvPr id="22" name="Text 20"/>
          <p:cNvSpPr txBox="1"/>
          <p:nvPr/>
        </p:nvSpPr>
        <p:spPr>
          <a:xfrm>
            <a:off x="7909560" y="4397756"/>
            <a:ext cx="3504895" cy="93573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No. 1x1 ≈ 5.7, 8x8 ≈ 2.0 M items/s.</a:t>
            </a:r>
            <a:endParaRPr lang="en-US" sz="1500" dirty="0"/>
          </a:p>
          <a:p>
            <a:pPr indent="0" marL="0">
              <a:lnSpc>
                <a:spcPct val="105000"/>
              </a:lnSpc>
              <a:buNone/>
            </a:pP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More threads, more contention on one lock.</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V12  ·  TWO-LOCK QUEUE</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1B2430"/>
          </a:solidFill>
          <a:ln w="12700">
            <a:solidFill>
              <a:srgbClr val="1B2430"/>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A dummy node keeps the ends apart</a:t>
            </a:r>
            <a:endParaRPr lang="en-US" sz="2800" dirty="0"/>
          </a:p>
        </p:txBody>
      </p:sp>
      <p:sp>
        <p:nvSpPr>
          <p:cNvPr id="12" name="Text 10"/>
          <p:cNvSpPr txBox="1"/>
          <p:nvPr/>
        </p:nvSpPr>
        <p:spPr>
          <a:xfrm>
            <a:off x="548640" y="1417320"/>
            <a:ext cx="429768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RUN IT</a:t>
            </a:r>
            <a:endParaRPr lang="en-US" sz="1200" dirty="0"/>
          </a:p>
        </p:txBody>
      </p:sp>
      <p:sp>
        <p:nvSpPr>
          <p:cNvPr id="13" name="Shape 11"/>
          <p:cNvSpPr/>
          <p:nvPr/>
        </p:nvSpPr>
        <p:spPr>
          <a:xfrm>
            <a:off x="548640" y="1728216"/>
            <a:ext cx="4297680" cy="877824"/>
          </a:xfrm>
          <a:prstGeom prst="roundRect">
            <a:avLst>
              <a:gd name="adj" fmla="val 8333"/>
            </a:avLst>
          </a:prstGeom>
          <a:solidFill>
            <a:srgbClr val="0D1117"/>
          </a:solidFill>
          <a:ln w="12700">
            <a:solidFill>
              <a:srgbClr val="0D1117"/>
            </a:solidFill>
            <a:prstDash val="solid"/>
          </a:ln>
        </p:spPr>
      </p:sp>
      <p:sp>
        <p:nvSpPr>
          <p:cNvPr id="14" name="Text 12"/>
          <p:cNvSpPr txBox="1"/>
          <p:nvPr/>
        </p:nvSpPr>
        <p:spPr>
          <a:xfrm>
            <a:off x="731520" y="1892808"/>
            <a:ext cx="3931920" cy="548640"/>
          </a:xfrm>
          <a:prstGeom prst="rect">
            <a:avLst/>
          </a:prstGeom>
          <a:noFill/>
          <a:ln/>
        </p:spPr>
        <p:txBody>
          <a:bodyPr wrap="square" lIns="0" tIns="0" rIns="0" bIns="0" rtlCol="0" anchor="t"/>
          <a:lstStyle/>
          <a:p>
            <a:pPr indent="0" marL="0">
              <a:lnSpc>
                <a:spcPct val="100000"/>
              </a:lnSpc>
              <a:buNone/>
            </a:pPr>
            <a:r>
              <a:rPr lang="en-US" sz="1200" dirty="0">
                <a:solidFill>
                  <a:srgbClr val="CDE8D9"/>
                </a:solidFill>
                <a:latin typeface="Courier New" pitchFamily="34" charset="0"/>
                <a:ea typeface="Courier New" pitchFamily="34" charset="-122"/>
                <a:cs typeface="Courier New" pitchFamily="34" charset="-120"/>
              </a:rPr>
              <a:t>$ ./tiny_contention   # -O2</a:t>
            </a:r>
            <a:endParaRPr lang="en-US" sz="1200" dirty="0"/>
          </a:p>
          <a:p>
            <a:pPr indent="0" marL="0">
              <a:lnSpc>
                <a:spcPct val="100000"/>
              </a:lnSpc>
              <a:buNone/>
            </a:pPr>
            <a:r>
              <a:rPr lang="en-US" sz="1200" dirty="0">
                <a:solidFill>
                  <a:srgbClr val="CDE8D9"/>
                </a:solidFill>
                <a:latin typeface="Courier New" pitchFamily="34" charset="0"/>
                <a:ea typeface="Courier New" pitchFamily="34" charset="-122"/>
                <a:cs typeface="Courier New" pitchFamily="34" charset="-120"/>
              </a:rPr>
              <a:t>1x1  one mutex: 6.1 M/s  two locks: 0.9 M/s</a:t>
            </a:r>
            <a:endParaRPr lang="en-US" sz="1200" dirty="0"/>
          </a:p>
          <a:p>
            <a:pPr indent="0" marL="0">
              <a:lnSpc>
                <a:spcPct val="100000"/>
              </a:lnSpc>
              <a:buNone/>
            </a:pPr>
            <a:r>
              <a:rPr lang="en-US" sz="1200" dirty="0">
                <a:solidFill>
                  <a:srgbClr val="CDE8D9"/>
                </a:solidFill>
                <a:latin typeface="Courier New" pitchFamily="34" charset="0"/>
                <a:ea typeface="Courier New" pitchFamily="34" charset="-122"/>
                <a:cs typeface="Courier New" pitchFamily="34" charset="-120"/>
              </a:rPr>
              <a:t>4x4  one mutex: 3.7 M/s  two locks: 1.1 M/s</a:t>
            </a:r>
            <a:endParaRPr lang="en-US" sz="1200" dirty="0"/>
          </a:p>
        </p:txBody>
      </p:sp>
      <p:sp>
        <p:nvSpPr>
          <p:cNvPr id="15" name="Text 13"/>
          <p:cNvSpPr txBox="1"/>
          <p:nvPr/>
        </p:nvSpPr>
        <p:spPr>
          <a:xfrm>
            <a:off x="548640" y="2788920"/>
            <a:ext cx="4297680" cy="71094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Most people predict two locks win. Here they lost: every push allocates a node and takes two locks. Measure, don't believe.</a:t>
            </a:r>
            <a:endParaRPr lang="en-US" sz="1500" dirty="0"/>
          </a:p>
        </p:txBody>
      </p:sp>
      <p:sp>
        <p:nvSpPr>
          <p:cNvPr id="16" name="Text 14"/>
          <p:cNvSpPr txBox="1"/>
          <p:nvPr/>
        </p:nvSpPr>
        <p:spPr>
          <a:xfrm>
            <a:off x="5166360" y="1417320"/>
            <a:ext cx="6476695"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WHAT HAPPENS, STEP BY STEP</a:t>
            </a:r>
            <a:endParaRPr lang="en-US" sz="1200" dirty="0"/>
          </a:p>
        </p:txBody>
      </p:sp>
      <p:sp>
        <p:nvSpPr>
          <p:cNvPr id="17" name="Shape 15"/>
          <p:cNvSpPr/>
          <p:nvPr/>
        </p:nvSpPr>
        <p:spPr>
          <a:xfrm>
            <a:off x="5166360" y="1728216"/>
            <a:ext cx="6476695" cy="1914144"/>
          </a:xfrm>
          <a:prstGeom prst="roundRect">
            <a:avLst>
              <a:gd name="adj" fmla="val 3822"/>
            </a:avLst>
          </a:prstGeom>
          <a:solidFill>
            <a:srgbClr val="EEF2F5"/>
          </a:solidFill>
          <a:ln w="12700">
            <a:solidFill>
              <a:srgbClr val="EEF2F5"/>
            </a:solidFill>
            <a:prstDash val="solid"/>
          </a:ln>
        </p:spPr>
      </p:sp>
      <p:sp>
        <p:nvSpPr>
          <p:cNvPr id="18" name="Text 16"/>
          <p:cNvSpPr txBox="1"/>
          <p:nvPr/>
        </p:nvSpPr>
        <p:spPr>
          <a:xfrm>
            <a:off x="5349240" y="1892808"/>
            <a:ext cx="6110935" cy="1584960"/>
          </a:xfrm>
          <a:prstGeom prst="rect">
            <a:avLst/>
          </a:prstGeom>
          <a:noFill/>
          <a:ln/>
        </p:spPr>
        <p:txBody>
          <a:bodyPr wrap="square" lIns="0" tIns="0" rIns="0" bIns="0" rtlCol="0" anchor="t"/>
          <a:lstStyle/>
          <a:p>
            <a:pPr indent="0" marL="0">
              <a:lnSpc>
                <a:spcPct val="100000"/>
              </a:lnSpc>
              <a:buNone/>
            </a:pPr>
            <a:r>
              <a:rPr lang="en-US" sz="1300" dirty="0">
                <a:solidFill>
                  <a:srgbClr val="1B2430"/>
                </a:solidFill>
                <a:latin typeface="Courier New" pitchFamily="34" charset="0"/>
                <a:ea typeface="Courier New" pitchFamily="34" charset="-122"/>
                <a:cs typeface="Courier New" pitchFamily="34" charset="-120"/>
              </a:rPr>
              <a:t>head_m                          tail_m</a:t>
            </a:r>
            <a:endParaRPr lang="en-US" sz="1300" dirty="0"/>
          </a:p>
          <a:p>
            <a:pPr indent="0" marL="0">
              <a:lnSpc>
                <a:spcPct val="100000"/>
              </a:lnSpc>
              <a:buNone/>
            </a:pPr>
            <a:r>
              <a:rPr lang="en-US" sz="1300" dirty="0">
                <a:solidFill>
                  <a:srgbClr val="1B2430"/>
                </a:solidFill>
                <a:latin typeface="Courier New" pitchFamily="34" charset="0"/>
                <a:ea typeface="Courier New" pitchFamily="34" charset="-122"/>
                <a:cs typeface="Courier New" pitchFamily="34" charset="-120"/>
              </a:rPr>
              <a:t>  ▼                               ▼</a:t>
            </a:r>
            <a:endParaRPr lang="en-US" sz="1300" dirty="0"/>
          </a:p>
          <a:p>
            <a:pPr indent="0" marL="0">
              <a:lnSpc>
                <a:spcPct val="100000"/>
              </a:lnSpc>
              <a:buNone/>
            </a:pPr>
            <a:r>
              <a:rPr lang="en-US" sz="1300" dirty="0">
                <a:solidFill>
                  <a:srgbClr val="1B2430"/>
                </a:solidFill>
                <a:latin typeface="Courier New" pitchFamily="34" charset="0"/>
                <a:ea typeface="Courier New" pitchFamily="34" charset="-122"/>
                <a:cs typeface="Courier New" pitchFamily="34" charset="-120"/>
              </a:rPr>
              <a:t>[ a ] → [ b ] → [ c ] → [ dummy ]</a:t>
            </a:r>
            <a:endParaRPr lang="en-US" sz="1300" dirty="0"/>
          </a:p>
          <a:p>
            <a:pPr indent="0" marL="0">
              <a:lnSpc>
                <a:spcPct val="100000"/>
              </a:lnSpc>
              <a:buNone/>
            </a:pPr>
            <a:r>
              <a:rPr lang="en-US" sz="1300" dirty="0">
                <a:solidFill>
                  <a:srgbClr val="1B2430"/>
                </a:solidFill>
                <a:latin typeface="Courier New" pitchFamily="34" charset="0"/>
                <a:ea typeface="Courier New" pitchFamily="34" charset="-122"/>
                <a:cs typeface="Courier New" pitchFamily="34" charset="-120"/>
              </a:rPr>
              <a:t> </a:t>
            </a:r>
            <a:endParaRPr lang="en-US" sz="1300" dirty="0"/>
          </a:p>
          <a:p>
            <a:pPr indent="0" marL="0">
              <a:lnSpc>
                <a:spcPct val="100000"/>
              </a:lnSpc>
              <a:buNone/>
            </a:pPr>
            <a:r>
              <a:rPr lang="en-US" sz="1300" dirty="0">
                <a:solidFill>
                  <a:srgbClr val="1B2430"/>
                </a:solidFill>
                <a:latin typeface="Courier New" pitchFamily="34" charset="0"/>
                <a:ea typeface="Courier New" pitchFamily="34" charset="-122"/>
                <a:cs typeface="Courier New" pitchFamily="34" charset="-120"/>
              </a:rPr>
              <a:t>Consumer (holds head_m)     Producer (holds tail_m only)</a:t>
            </a:r>
            <a:endParaRPr lang="en-US" sz="1300" dirty="0"/>
          </a:p>
          <a:p>
            <a:pPr indent="0" marL="0">
              <a:lnSpc>
                <a:spcPct val="100000"/>
              </a:lnSpc>
              <a:buNone/>
            </a:pPr>
            <a:r>
              <a:rPr lang="en-US" sz="1300" dirty="0">
                <a:solidFill>
                  <a:srgbClr val="1B2430"/>
                </a:solidFill>
                <a:latin typeface="Courier New" pitchFamily="34" charset="0"/>
                <a:ea typeface="Courier New" pitchFamily="34" charset="-122"/>
                <a:cs typeface="Courier New" pitchFamily="34" charset="-120"/>
              </a:rPr>
              <a:t>check: empty</a:t>
            </a:r>
            <a:endParaRPr lang="en-US" sz="1300" dirty="0"/>
          </a:p>
          <a:p>
            <a:pPr indent="0" marL="0">
              <a:lnSpc>
                <a:spcPct val="100000"/>
              </a:lnSpc>
              <a:buNone/>
            </a:pPr>
            <a:r>
              <a:rPr lang="en-US" sz="1300" dirty="0">
                <a:solidFill>
                  <a:srgbClr val="1B2430"/>
                </a:solidFill>
                <a:latin typeface="Courier New" pitchFamily="34" charset="0"/>
                <a:ea typeface="Courier New" pitchFamily="34" charset="-122"/>
                <a:cs typeface="Courier New" pitchFamily="34" charset="-120"/>
              </a:rPr>
              <a:t>                            append, notify  ← nobody waiting</a:t>
            </a:r>
            <a:endParaRPr lang="en-US" sz="1300" dirty="0"/>
          </a:p>
          <a:p>
            <a:pPr indent="0" marL="0">
              <a:lnSpc>
                <a:spcPct val="100000"/>
              </a:lnSpc>
              <a:buNone/>
            </a:pPr>
            <a:r>
              <a:rPr lang="en-US" sz="1300" dirty="0">
                <a:solidFill>
                  <a:srgbClr val="1B2430"/>
                </a:solidFill>
                <a:latin typeface="Courier New" pitchFamily="34" charset="0"/>
                <a:ea typeface="Courier New" pitchFamily="34" charset="-122"/>
                <a:cs typeface="Courier New" pitchFamily="34" charset="-120"/>
              </a:rPr>
              <a:t>start waiting zzz             (v4's lost wake-up, again)</a:t>
            </a:r>
            <a:endParaRPr lang="en-US" sz="1300" dirty="0"/>
          </a:p>
        </p:txBody>
      </p:sp>
      <p:sp>
        <p:nvSpPr>
          <p:cNvPr id="19" name="Shape 17"/>
          <p:cNvSpPr/>
          <p:nvPr/>
        </p:nvSpPr>
        <p:spPr>
          <a:xfrm>
            <a:off x="5166360" y="3870960"/>
            <a:ext cx="6476695" cy="1089660"/>
          </a:xfrm>
          <a:prstGeom prst="roundRect">
            <a:avLst>
              <a:gd name="adj" fmla="val 6713"/>
            </a:avLst>
          </a:prstGeom>
          <a:solidFill>
            <a:srgbClr val="FDF1E8"/>
          </a:solidFill>
          <a:ln w="12700">
            <a:solidFill>
              <a:srgbClr val="FDF1E8"/>
            </a:solidFill>
            <a:prstDash val="solid"/>
          </a:ln>
        </p:spPr>
      </p:sp>
      <p:sp>
        <p:nvSpPr>
          <p:cNvPr id="20" name="Text 18"/>
          <p:cNvSpPr txBox="1"/>
          <p:nvPr/>
        </p:nvSpPr>
        <p:spPr>
          <a:xfrm>
            <a:off x="5394960" y="4053840"/>
            <a:ext cx="60194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SO</a:t>
            </a:r>
            <a:endParaRPr lang="en-US" sz="1200" dirty="0"/>
          </a:p>
        </p:txBody>
      </p:sp>
      <p:sp>
        <p:nvSpPr>
          <p:cNvPr id="21" name="Text 19"/>
          <p:cNvSpPr txBox="1"/>
          <p:nvPr/>
        </p:nvSpPr>
        <p:spPr>
          <a:xfrm>
            <a:off x="5394960" y="4364736"/>
            <a:ext cx="6019495"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Fix: push() briefly locks head_m before notifying, so the notify can't land in the consumer's check-then-sleep gap.</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V12  ·  TWO-LOCK QUEUE</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1B2430"/>
          </a:solidFill>
          <a:ln w="12700">
            <a:solidFill>
              <a:srgbClr val="1B2430"/>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push() locks only the tail</a:t>
            </a:r>
            <a:endParaRPr lang="en-US" sz="2800" dirty="0"/>
          </a:p>
        </p:txBody>
      </p:sp>
      <p:sp>
        <p:nvSpPr>
          <p:cNvPr id="12" name="Text 10"/>
          <p:cNvSpPr txBox="1"/>
          <p:nvPr/>
        </p:nvSpPr>
        <p:spPr>
          <a:xfrm>
            <a:off x="548640" y="1417320"/>
            <a:ext cx="676656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two_lock_queue.hpp</a:t>
            </a:r>
            <a:endParaRPr lang="en-US" sz="1200" dirty="0"/>
          </a:p>
        </p:txBody>
      </p:sp>
      <p:sp>
        <p:nvSpPr>
          <p:cNvPr id="13" name="Shape 11"/>
          <p:cNvSpPr/>
          <p:nvPr/>
        </p:nvSpPr>
        <p:spPr>
          <a:xfrm>
            <a:off x="548640" y="1728216"/>
            <a:ext cx="7132320" cy="3102864"/>
          </a:xfrm>
          <a:prstGeom prst="roundRect">
            <a:avLst>
              <a:gd name="adj" fmla="val 2358"/>
            </a:avLst>
          </a:prstGeom>
          <a:solidFill>
            <a:srgbClr val="161C24"/>
          </a:solidFill>
          <a:ln w="12700">
            <a:solidFill>
              <a:srgbClr val="161C24"/>
            </a:solidFill>
            <a:prstDash val="solid"/>
          </a:ln>
        </p:spPr>
      </p:sp>
      <p:sp>
        <p:nvSpPr>
          <p:cNvPr id="14" name="Text 12"/>
          <p:cNvSpPr txBox="1"/>
          <p:nvPr/>
        </p:nvSpPr>
        <p:spPr>
          <a:xfrm>
            <a:off x="731520" y="1892808"/>
            <a:ext cx="6766560" cy="2773680"/>
          </a:xfrm>
          <a:prstGeom prst="rect">
            <a:avLst/>
          </a:prstGeom>
          <a:noFill/>
          <a:ln/>
        </p:spPr>
        <p:txBody>
          <a:bodyPr wrap="square" lIns="0" tIns="0" rIns="0" bIns="0" rtlCol="0" anchor="t"/>
          <a:lstStyle/>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bool push(T v)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auto dummy = std::make_unique&lt;Node&gt;();    // no lock yet</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std::lock_guard&lt;std::mutex&gt; l(tail_m);</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tail-&gt;value = std::move(v);</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Node* new_tail = dummy.get();</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tail-&gt;next = std::move(dummy);</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tail = new_tail;</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 std::lock_guard&lt;std::mutex&gt; l(head_m); }</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cv.notify_one();</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return true;</a:t>
            </a:r>
            <a:endParaRPr lang="en-US" sz="1400" dirty="0"/>
          </a:p>
          <a:p>
            <a:pPr indent="0" marL="0">
              <a:lnSpc>
                <a:spcPct val="100000"/>
              </a:lnSpc>
              <a:buNone/>
            </a:pPr>
            <a:r>
              <a:rPr lang="en-US" sz="1400" dirty="0">
                <a:solidFill>
                  <a:srgbClr val="6EE7D2"/>
                </a:solidFill>
                <a:latin typeface="Courier New" pitchFamily="34" charset="0"/>
                <a:ea typeface="Courier New" pitchFamily="34" charset="-122"/>
                <a:cs typeface="Courier New" pitchFamily="34" charset="-120"/>
              </a:rPr>
              <a:t>+ }</a:t>
            </a:r>
            <a:endParaRPr lang="en-US" sz="1400" dirty="0"/>
          </a:p>
        </p:txBody>
      </p:sp>
      <p:sp>
        <p:nvSpPr>
          <p:cNvPr id="15" name="Shape 13"/>
          <p:cNvSpPr/>
          <p:nvPr/>
        </p:nvSpPr>
        <p:spPr>
          <a:xfrm>
            <a:off x="8001000" y="1728216"/>
            <a:ext cx="365760" cy="365760"/>
          </a:xfrm>
          <a:prstGeom prst="ellipse">
            <a:avLst/>
          </a:prstGeom>
          <a:solidFill>
            <a:srgbClr val="0F766E"/>
          </a:solidFill>
          <a:ln w="12700">
            <a:solidFill>
              <a:srgbClr val="0F766E"/>
            </a:solidFill>
            <a:prstDash val="solid"/>
          </a:ln>
        </p:spPr>
      </p:sp>
      <p:sp>
        <p:nvSpPr>
          <p:cNvPr id="16" name="Text 14"/>
          <p:cNvSpPr txBox="1"/>
          <p:nvPr/>
        </p:nvSpPr>
        <p:spPr>
          <a:xfrm>
            <a:off x="8001000" y="17282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8503920" y="1764792"/>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The old dummy receives the value; a new dummy becomes the tail.</a:t>
            </a:r>
            <a:endParaRPr lang="en-US" sz="1600" dirty="0"/>
          </a:p>
        </p:txBody>
      </p:sp>
      <p:sp>
        <p:nvSpPr>
          <p:cNvPr id="18" name="Shape 16"/>
          <p:cNvSpPr/>
          <p:nvPr/>
        </p:nvSpPr>
        <p:spPr>
          <a:xfrm>
            <a:off x="8001000" y="2758440"/>
            <a:ext cx="365760" cy="365760"/>
          </a:xfrm>
          <a:prstGeom prst="ellipse">
            <a:avLst/>
          </a:prstGeom>
          <a:solidFill>
            <a:srgbClr val="0F766E"/>
          </a:solidFill>
          <a:ln w="12700">
            <a:solidFill>
              <a:srgbClr val="0F766E"/>
            </a:solidFill>
            <a:prstDash val="solid"/>
          </a:ln>
        </p:spPr>
      </p:sp>
      <p:sp>
        <p:nvSpPr>
          <p:cNvPr id="19" name="Text 17"/>
          <p:cNvSpPr txBox="1"/>
          <p:nvPr/>
        </p:nvSpPr>
        <p:spPr>
          <a:xfrm>
            <a:off x="8001000" y="27584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8503920" y="2795016"/>
            <a:ext cx="3139135" cy="276352"/>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Allocate before locking.</a:t>
            </a:r>
            <a:endParaRPr lang="en-US" sz="1600" dirty="0"/>
          </a:p>
        </p:txBody>
      </p:sp>
      <p:sp>
        <p:nvSpPr>
          <p:cNvPr id="21" name="Shape 19"/>
          <p:cNvSpPr/>
          <p:nvPr/>
        </p:nvSpPr>
        <p:spPr>
          <a:xfrm>
            <a:off x="8001000" y="3444240"/>
            <a:ext cx="365760" cy="365760"/>
          </a:xfrm>
          <a:prstGeom prst="ellipse">
            <a:avLst/>
          </a:prstGeom>
          <a:solidFill>
            <a:srgbClr val="0F766E"/>
          </a:solidFill>
          <a:ln w="12700">
            <a:solidFill>
              <a:srgbClr val="0F766E"/>
            </a:solidFill>
            <a:prstDash val="solid"/>
          </a:ln>
        </p:spPr>
      </p:sp>
      <p:sp>
        <p:nvSpPr>
          <p:cNvPr id="22" name="Text 20"/>
          <p:cNvSpPr txBox="1"/>
          <p:nvPr/>
        </p:nvSpPr>
        <p:spPr>
          <a:xfrm>
            <a:off x="8001000" y="34442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503920" y="3480816"/>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The destructor frees nodes in a loop: recursion overflows the stack at 1M nodes.</a:t>
            </a:r>
            <a:endParaRPr lang="en-US" sz="16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V12  ·  TWO-LOCK QUEUE</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1B2430"/>
          </a:solidFill>
          <a:ln w="12700">
            <a:solidFill>
              <a:srgbClr val="1B2430"/>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Check yourself</a:t>
            </a:r>
            <a:endParaRPr lang="en-US" sz="2800" dirty="0"/>
          </a:p>
        </p:txBody>
      </p:sp>
      <p:sp>
        <p:nvSpPr>
          <p:cNvPr id="12" name="Shape 10"/>
          <p:cNvSpPr/>
          <p:nvPr/>
        </p:nvSpPr>
        <p:spPr>
          <a:xfrm>
            <a:off x="548640" y="1417320"/>
            <a:ext cx="4206240" cy="1659128"/>
          </a:xfrm>
          <a:prstGeom prst="roundRect">
            <a:avLst>
              <a:gd name="adj" fmla="val 4409"/>
            </a:avLst>
          </a:prstGeom>
          <a:solidFill>
            <a:srgbClr val="EEF2F5"/>
          </a:solidFill>
          <a:ln w="12700">
            <a:solidFill>
              <a:srgbClr val="EEF2F5"/>
            </a:solidFill>
            <a:prstDash val="solid"/>
          </a:ln>
        </p:spPr>
      </p:sp>
      <p:sp>
        <p:nvSpPr>
          <p:cNvPr id="13" name="Text 11"/>
          <p:cNvSpPr txBox="1"/>
          <p:nvPr/>
        </p:nvSpPr>
        <p:spPr>
          <a:xfrm>
            <a:off x="777240" y="1600200"/>
            <a:ext cx="3749040"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THE LESSON</a:t>
            </a:r>
            <a:endParaRPr lang="en-US" sz="1200" dirty="0"/>
          </a:p>
        </p:txBody>
      </p:sp>
      <p:sp>
        <p:nvSpPr>
          <p:cNvPr id="14" name="Text 12"/>
          <p:cNvSpPr txBox="1"/>
          <p:nvPr/>
        </p:nvSpPr>
        <p:spPr>
          <a:xfrm>
            <a:off x="777240" y="1911096"/>
            <a:ext cx="3749040" cy="1055624"/>
          </a:xfrm>
          <a:prstGeom prst="rect">
            <a:avLst/>
          </a:prstGeom>
          <a:noFill/>
          <a:ln/>
        </p:spPr>
        <p:txBody>
          <a:bodyPr wrap="square" lIns="0" tIns="0" rIns="0" bIns="0" rtlCol="0" anchor="t"/>
          <a:lstStyle/>
          <a:p>
            <a:pPr indent="0" marL="0">
              <a:lnSpc>
                <a:spcPct val="105000"/>
              </a:lnSpc>
              <a:buNone/>
            </a:pPr>
            <a:r>
              <a:rPr lang="en-US" sz="1700" dirty="0">
                <a:solidFill>
                  <a:srgbClr val="1B2430"/>
                </a:solidFill>
                <a:latin typeface="Calibri" pitchFamily="34" charset="0"/>
                <a:ea typeface="Calibri" pitchFamily="34" charset="-122"/>
                <a:cs typeface="Calibri" pitchFamily="34" charset="-120"/>
              </a:rPr>
              <a:t>Splitting a lock trades less waiting for more work per operation. Only a measurement says which wins.</a:t>
            </a:r>
            <a:endParaRPr lang="en-US" sz="1700" dirty="0"/>
          </a:p>
        </p:txBody>
      </p:sp>
      <p:sp>
        <p:nvSpPr>
          <p:cNvPr id="15" name="Text 13"/>
          <p:cNvSpPr txBox="1"/>
          <p:nvPr/>
        </p:nvSpPr>
        <p:spPr>
          <a:xfrm>
            <a:off x="548640" y="3350768"/>
            <a:ext cx="420624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EXPLAIN WITHOUT LOOKING</a:t>
            </a:r>
            <a:endParaRPr lang="en-US" sz="1200" dirty="0"/>
          </a:p>
        </p:txBody>
      </p:sp>
      <p:sp>
        <p:nvSpPr>
          <p:cNvPr id="16" name="Shape 14"/>
          <p:cNvSpPr/>
          <p:nvPr/>
        </p:nvSpPr>
        <p:spPr>
          <a:xfrm>
            <a:off x="548640" y="3743960"/>
            <a:ext cx="182880" cy="182880"/>
          </a:xfrm>
          <a:prstGeom prst="rect">
            <a:avLst/>
          </a:prstGeom>
          <a:solidFill>
            <a:srgbClr val="FFFFFF"/>
          </a:solidFill>
          <a:ln w="15875">
            <a:solidFill>
              <a:srgbClr val="0F766E"/>
            </a:solidFill>
            <a:prstDash val="solid"/>
          </a:ln>
        </p:spPr>
      </p:sp>
      <p:sp>
        <p:nvSpPr>
          <p:cNvPr id="17" name="Text 15"/>
          <p:cNvSpPr txBox="1"/>
          <p:nvPr/>
        </p:nvSpPr>
        <p:spPr>
          <a:xfrm>
            <a:off x="868680" y="3698240"/>
            <a:ext cx="3886200"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does the dummy node let two locks work?</a:t>
            </a:r>
            <a:endParaRPr lang="en-US" sz="1500" dirty="0"/>
          </a:p>
        </p:txBody>
      </p:sp>
      <p:sp>
        <p:nvSpPr>
          <p:cNvPr id="18" name="Shape 16"/>
          <p:cNvSpPr/>
          <p:nvPr/>
        </p:nvSpPr>
        <p:spPr>
          <a:xfrm>
            <a:off x="548640" y="4339844"/>
            <a:ext cx="182880" cy="182880"/>
          </a:xfrm>
          <a:prstGeom prst="rect">
            <a:avLst/>
          </a:prstGeom>
          <a:solidFill>
            <a:srgbClr val="FFFFFF"/>
          </a:solidFill>
          <a:ln w="15875">
            <a:solidFill>
              <a:srgbClr val="0F766E"/>
            </a:solidFill>
            <a:prstDash val="solid"/>
          </a:ln>
        </p:spPr>
      </p:sp>
      <p:sp>
        <p:nvSpPr>
          <p:cNvPr id="19" name="Text 17"/>
          <p:cNvSpPr txBox="1"/>
          <p:nvPr/>
        </p:nvSpPr>
        <p:spPr>
          <a:xfrm>
            <a:off x="868680" y="4294124"/>
            <a:ext cx="3886200"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Which lost wake-up does the empty lock prevent?</a:t>
            </a:r>
            <a:endParaRPr lang="en-US" sz="1500" dirty="0"/>
          </a:p>
        </p:txBody>
      </p:sp>
      <p:sp>
        <p:nvSpPr>
          <p:cNvPr id="20" name="Shape 18"/>
          <p:cNvSpPr/>
          <p:nvPr/>
        </p:nvSpPr>
        <p:spPr>
          <a:xfrm>
            <a:off x="548640" y="4935728"/>
            <a:ext cx="182880" cy="182880"/>
          </a:xfrm>
          <a:prstGeom prst="rect">
            <a:avLst/>
          </a:prstGeom>
          <a:solidFill>
            <a:srgbClr val="FFFFFF"/>
          </a:solidFill>
          <a:ln w="15875">
            <a:solidFill>
              <a:srgbClr val="0F766E"/>
            </a:solidFill>
            <a:prstDash val="solid"/>
          </a:ln>
        </p:spPr>
      </p:sp>
      <p:sp>
        <p:nvSpPr>
          <p:cNvPr id="21" name="Text 19"/>
          <p:cNvSpPr txBox="1"/>
          <p:nvPr/>
        </p:nvSpPr>
        <p:spPr>
          <a:xfrm>
            <a:off x="868680" y="4890008"/>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can two locks be slower?</a:t>
            </a:r>
            <a:endParaRPr lang="en-US" sz="1500" dirty="0"/>
          </a:p>
        </p:txBody>
      </p:sp>
      <p:sp>
        <p:nvSpPr>
          <p:cNvPr id="22" name="Shape 20"/>
          <p:cNvSpPr/>
          <p:nvPr/>
        </p:nvSpPr>
        <p:spPr>
          <a:xfrm>
            <a:off x="548640" y="5306822"/>
            <a:ext cx="182880" cy="182880"/>
          </a:xfrm>
          <a:prstGeom prst="rect">
            <a:avLst/>
          </a:prstGeom>
          <a:solidFill>
            <a:srgbClr val="FFFFFF"/>
          </a:solidFill>
          <a:ln w="15875">
            <a:solidFill>
              <a:srgbClr val="0F766E"/>
            </a:solidFill>
            <a:prstDash val="solid"/>
          </a:ln>
        </p:spPr>
      </p:sp>
      <p:sp>
        <p:nvSpPr>
          <p:cNvPr id="23" name="Text 21"/>
          <p:cNvSpPr txBox="1"/>
          <p:nvPr/>
        </p:nvSpPr>
        <p:spPr>
          <a:xfrm>
            <a:off x="868680" y="5261102"/>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a loop in the destructor?</a:t>
            </a:r>
            <a:endParaRPr lang="en-US" sz="1500" dirty="0"/>
          </a:p>
        </p:txBody>
      </p:sp>
      <p:sp>
        <p:nvSpPr>
          <p:cNvPr id="24" name="Shape 22"/>
          <p:cNvSpPr/>
          <p:nvPr/>
        </p:nvSpPr>
        <p:spPr>
          <a:xfrm>
            <a:off x="5166360" y="1417320"/>
            <a:ext cx="6476695" cy="1294130"/>
          </a:xfrm>
          <a:prstGeom prst="roundRect">
            <a:avLst>
              <a:gd name="adj" fmla="val 5653"/>
            </a:avLst>
          </a:prstGeom>
          <a:solidFill>
            <a:srgbClr val="FFFFFF"/>
          </a:solidFill>
          <a:ln w="12700">
            <a:solidFill>
              <a:srgbClr val="D5DDE5"/>
            </a:solidFill>
            <a:prstDash val="solid"/>
          </a:ln>
        </p:spPr>
      </p:sp>
      <p:sp>
        <p:nvSpPr>
          <p:cNvPr id="25" name="Text 23"/>
          <p:cNvSpPr txBox="1"/>
          <p:nvPr/>
        </p:nvSpPr>
        <p:spPr>
          <a:xfrm>
            <a:off x="5394960" y="15819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NUMBERS</a:t>
            </a:r>
            <a:endParaRPr lang="en-US" sz="1200" dirty="0"/>
          </a:p>
        </p:txBody>
      </p:sp>
      <p:sp>
        <p:nvSpPr>
          <p:cNvPr id="26" name="Text 24"/>
          <p:cNvSpPr txBox="1"/>
          <p:nvPr/>
        </p:nvSpPr>
        <p:spPr>
          <a:xfrm>
            <a:off x="5394960" y="1892808"/>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1,000,000 pushes. How many heap allocations in v7? In v12?</a:t>
            </a:r>
            <a:endParaRPr lang="en-US" sz="1500" dirty="0"/>
          </a:p>
        </p:txBody>
      </p:sp>
      <p:sp>
        <p:nvSpPr>
          <p:cNvPr id="27" name="Text 25"/>
          <p:cNvSpPr txBox="1"/>
          <p:nvPr/>
        </p:nvSpPr>
        <p:spPr>
          <a:xfrm>
            <a:off x="5394960" y="224561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v7: few (deque blocks). v12: 1,000,000 (one node each).</a:t>
            </a:r>
            <a:endParaRPr lang="en-US" sz="1400" dirty="0"/>
          </a:p>
        </p:txBody>
      </p:sp>
      <p:sp>
        <p:nvSpPr>
          <p:cNvPr id="28" name="Shape 26"/>
          <p:cNvSpPr/>
          <p:nvPr/>
        </p:nvSpPr>
        <p:spPr>
          <a:xfrm>
            <a:off x="5166360" y="2894330"/>
            <a:ext cx="6476695" cy="1728724"/>
          </a:xfrm>
          <a:prstGeom prst="roundRect">
            <a:avLst>
              <a:gd name="adj" fmla="val 4232"/>
            </a:avLst>
          </a:prstGeom>
          <a:solidFill>
            <a:srgbClr val="FFFFFF"/>
          </a:solidFill>
          <a:ln w="12700">
            <a:solidFill>
              <a:srgbClr val="D5DDE5"/>
            </a:solidFill>
            <a:prstDash val="solid"/>
          </a:ln>
        </p:spPr>
      </p:sp>
      <p:sp>
        <p:nvSpPr>
          <p:cNvPr id="29" name="Text 27"/>
          <p:cNvSpPr txBox="1"/>
          <p:nvPr/>
        </p:nvSpPr>
        <p:spPr>
          <a:xfrm>
            <a:off x="5394960" y="305892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TRACE IT</a:t>
            </a:r>
            <a:endParaRPr lang="en-US" sz="1200" dirty="0"/>
          </a:p>
        </p:txBody>
      </p:sp>
      <p:sp>
        <p:nvSpPr>
          <p:cNvPr id="30" name="Text 28"/>
          <p:cNvSpPr txBox="1"/>
          <p:nvPr/>
        </p:nvSpPr>
        <p:spPr>
          <a:xfrm>
            <a:off x="5394960" y="336981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Remove the empty head_m lock. Trace a consumer that never wakes.</a:t>
            </a:r>
            <a:endParaRPr lang="en-US" sz="1500" dirty="0"/>
          </a:p>
        </p:txBody>
      </p:sp>
      <p:sp>
        <p:nvSpPr>
          <p:cNvPr id="31" name="Text 29"/>
          <p:cNvSpPr txBox="1"/>
          <p:nvPr/>
        </p:nvSpPr>
        <p:spPr>
          <a:xfrm>
            <a:off x="5394960" y="3947414"/>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Consumer sees empty → producer appends + notifies → consumer starts waiting: lost wake-up.</a:t>
            </a:r>
            <a:endParaRPr lang="en-US" sz="1400" dirty="0"/>
          </a:p>
        </p:txBody>
      </p:sp>
      <p:sp>
        <p:nvSpPr>
          <p:cNvPr id="32" name="Shape 30"/>
          <p:cNvSpPr/>
          <p:nvPr/>
        </p:nvSpPr>
        <p:spPr>
          <a:xfrm>
            <a:off x="5166360" y="4805934"/>
            <a:ext cx="6476695" cy="1503934"/>
          </a:xfrm>
          <a:prstGeom prst="roundRect">
            <a:avLst>
              <a:gd name="adj" fmla="val 4864"/>
            </a:avLst>
          </a:prstGeom>
          <a:solidFill>
            <a:srgbClr val="FFFFFF"/>
          </a:solidFill>
          <a:ln w="12700">
            <a:solidFill>
              <a:srgbClr val="D5DDE5"/>
            </a:solidFill>
            <a:prstDash val="solid"/>
          </a:ln>
        </p:spPr>
      </p:sp>
      <p:sp>
        <p:nvSpPr>
          <p:cNvPr id="33" name="Text 31"/>
          <p:cNvSpPr txBox="1"/>
          <p:nvPr/>
        </p:nvSpPr>
        <p:spPr>
          <a:xfrm>
            <a:off x="5394960" y="4970526"/>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DESIGN</a:t>
            </a:r>
            <a:endParaRPr lang="en-US" sz="1200" dirty="0"/>
          </a:p>
        </p:txBody>
      </p:sp>
      <p:sp>
        <p:nvSpPr>
          <p:cNvPr id="34" name="Text 32"/>
          <p:cNvSpPr txBox="1"/>
          <p:nvPr/>
        </p:nvSpPr>
        <p:spPr>
          <a:xfrm>
            <a:off x="5394960" y="5281422"/>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Apply the idea to a hash map. What do you lock?</a:t>
            </a:r>
            <a:endParaRPr lang="en-US" sz="1500" dirty="0"/>
          </a:p>
        </p:txBody>
      </p:sp>
      <p:sp>
        <p:nvSpPr>
          <p:cNvPr id="35" name="Text 33"/>
          <p:cNvSpPr txBox="1"/>
          <p:nvPr/>
        </p:nvSpPr>
        <p:spPr>
          <a:xfrm>
            <a:off x="5394960" y="5634228"/>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One mutex per bucket: threads on different buckets don't wait for each other.</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V13  ·  LOCK-FREE SPSC RING</a:t>
            </a:r>
            <a:endParaRPr lang="en-US" sz="1200" dirty="0"/>
          </a:p>
        </p:txBody>
      </p:sp>
      <p:sp>
        <p:nvSpPr>
          <p:cNvPr id="3" name="Shape 1"/>
          <p:cNvSpPr/>
          <p:nvPr/>
        </p:nvSpPr>
        <p:spPr>
          <a:xfrm>
            <a:off x="6229807" y="292608"/>
            <a:ext cx="1298448" cy="274320"/>
          </a:xfrm>
          <a:prstGeom prst="roundRect">
            <a:avLst>
              <a:gd name="adj" fmla="val 23333"/>
            </a:avLst>
          </a:prstGeom>
          <a:solidFill>
            <a:srgbClr val="1B2430"/>
          </a:solidFill>
          <a:ln w="12700">
            <a:solidFill>
              <a:srgbClr val="1B2430"/>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One producer, one consumer, millions of messages</a:t>
            </a:r>
            <a:endParaRPr lang="en-US" sz="2800" dirty="0"/>
          </a:p>
        </p:txBody>
      </p:sp>
      <p:sp>
        <p:nvSpPr>
          <p:cNvPr id="12" name="Shape 10"/>
          <p:cNvSpPr/>
          <p:nvPr/>
        </p:nvSpPr>
        <p:spPr>
          <a:xfrm>
            <a:off x="548640" y="1417320"/>
            <a:ext cx="6766560" cy="1014984"/>
          </a:xfrm>
          <a:prstGeom prst="roundRect">
            <a:avLst>
              <a:gd name="adj" fmla="val 7207"/>
            </a:avLst>
          </a:prstGeom>
          <a:solidFill>
            <a:srgbClr val="EEF2F5"/>
          </a:solidFill>
          <a:ln w="12700">
            <a:solidFill>
              <a:srgbClr val="EEF2F5"/>
            </a:solidFill>
            <a:prstDash val="solid"/>
          </a:ln>
        </p:spPr>
      </p:sp>
      <p:sp>
        <p:nvSpPr>
          <p:cNvPr id="13" name="Text 11"/>
          <p:cNvSpPr txBox="1"/>
          <p:nvPr/>
        </p:nvSpPr>
        <p:spPr>
          <a:xfrm>
            <a:off x="731520" y="1581912"/>
            <a:ext cx="6400800" cy="6858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network thread ──► [ queue ] ──► parser thread</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~1–4 µs per item (v12)</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 message must cost ~100 ns</a:t>
            </a:r>
            <a:endParaRPr lang="en-US" sz="1500" dirty="0"/>
          </a:p>
        </p:txBody>
      </p:sp>
      <p:sp>
        <p:nvSpPr>
          <p:cNvPr id="14" name="Shape 12"/>
          <p:cNvSpPr/>
          <p:nvPr/>
        </p:nvSpPr>
        <p:spPr>
          <a:xfrm>
            <a:off x="548640" y="2660904"/>
            <a:ext cx="6766560" cy="1700784"/>
          </a:xfrm>
          <a:prstGeom prst="roundRect">
            <a:avLst>
              <a:gd name="adj" fmla="val 4301"/>
            </a:avLst>
          </a:prstGeom>
          <a:solidFill>
            <a:srgbClr val="161C24"/>
          </a:solidFill>
          <a:ln w="12700">
            <a:solidFill>
              <a:srgbClr val="161C24"/>
            </a:solidFill>
            <a:prstDash val="solid"/>
          </a:ln>
        </p:spPr>
      </p:sp>
      <p:sp>
        <p:nvSpPr>
          <p:cNvPr id="15" name="Text 13"/>
          <p:cNvSpPr txBox="1"/>
          <p:nvPr/>
        </p:nvSpPr>
        <p:spPr>
          <a:xfrm>
            <a:off x="731520" y="2825496"/>
            <a:ext cx="6400800" cy="1371600"/>
          </a:xfrm>
          <a:prstGeom prst="rect">
            <a:avLst/>
          </a:prstGeom>
          <a:noFill/>
          <a:ln/>
        </p:spPr>
        <p:txBody>
          <a:bodyPr wrap="square" lIns="0" tIns="0" rIns="0" bIns="0" rtlCol="0" anchor="t"/>
          <a:lstStyle/>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struct Together { std::atomic&lt;long&gt; a, b; };</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struct Apart {</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alignas(64) std::atomic&lt;long&gt; a;</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alignas(64) std::atomic&lt;long&gt; b;</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thread 1: ++s.a 50M times · thread 2: ++s.b 50M times</a:t>
            </a:r>
            <a:endParaRPr lang="en-US" sz="1500" dirty="0"/>
          </a:p>
        </p:txBody>
      </p:sp>
      <p:sp>
        <p:nvSpPr>
          <p:cNvPr id="16" name="Text 14"/>
          <p:cNvSpPr txBox="1"/>
          <p:nvPr/>
        </p:nvSpPr>
        <p:spPr>
          <a:xfrm>
            <a:off x="7680960" y="1417320"/>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THE QUESTION</a:t>
            </a:r>
            <a:endParaRPr lang="en-US" sz="1200" dirty="0"/>
          </a:p>
        </p:txBody>
      </p:sp>
      <p:sp>
        <p:nvSpPr>
          <p:cNvPr id="17" name="Text 15"/>
          <p:cNvSpPr txBox="1"/>
          <p:nvPr/>
        </p:nvSpPr>
        <p:spPr>
          <a:xfrm>
            <a:off x="7680960" y="1728216"/>
            <a:ext cx="3962095" cy="1385316"/>
          </a:xfrm>
          <a:prstGeom prst="rect">
            <a:avLst/>
          </a:prstGeom>
          <a:noFill/>
          <a:ln/>
        </p:spPr>
        <p:txBody>
          <a:bodyPr wrap="square" lIns="0" tIns="0" rIns="0" bIns="0" rtlCol="0" anchor="t"/>
          <a:lstStyle/>
          <a:p>
            <a:pPr indent="0" marL="0">
              <a:lnSpc>
                <a:spcPct val="105000"/>
              </a:lnSpc>
              <a:buNone/>
            </a:pPr>
            <a:r>
              <a:rPr lang="en-US" sz="1800" b="1" dirty="0">
                <a:solidFill>
                  <a:srgbClr val="1B2430"/>
                </a:solidFill>
                <a:latin typeface="Calibri" pitchFamily="34" charset="0"/>
                <a:ea typeface="Calibri" pitchFamily="34" charset="-122"/>
                <a:cs typeface="Calibri" pitchFamily="34" charset="-120"/>
              </a:rPr>
              <a:t>Locks, allocation and sleeping cost more than the message. With exactly one producer and one consumer, which of them do we really need?</a:t>
            </a:r>
            <a:endParaRPr lang="en-US" sz="1800" dirty="0"/>
          </a:p>
        </p:txBody>
      </p:sp>
      <p:sp>
        <p:nvSpPr>
          <p:cNvPr id="18" name="Text 16"/>
          <p:cNvSpPr txBox="1"/>
          <p:nvPr/>
        </p:nvSpPr>
        <p:spPr>
          <a:xfrm>
            <a:off x="7680960" y="3342132"/>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PREDICT</a:t>
            </a:r>
            <a:endParaRPr lang="en-US" sz="1200" dirty="0"/>
          </a:p>
        </p:txBody>
      </p:sp>
      <p:sp>
        <p:nvSpPr>
          <p:cNvPr id="19" name="Text 17"/>
          <p:cNvSpPr txBox="1"/>
          <p:nvPr/>
        </p:nvSpPr>
        <p:spPr>
          <a:xfrm>
            <a:off x="7680960" y="3653028"/>
            <a:ext cx="396209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Nothing is shared. Which struct is faster, and by how much?</a:t>
            </a:r>
            <a:endParaRPr lang="en-US" sz="1600" dirty="0"/>
          </a:p>
        </p:txBody>
      </p:sp>
      <p:sp>
        <p:nvSpPr>
          <p:cNvPr id="20" name="Shape 18"/>
          <p:cNvSpPr/>
          <p:nvPr/>
        </p:nvSpPr>
        <p:spPr>
          <a:xfrm>
            <a:off x="7680960" y="4443476"/>
            <a:ext cx="3962095" cy="1764030"/>
          </a:xfrm>
          <a:prstGeom prst="roundRect">
            <a:avLst>
              <a:gd name="adj" fmla="val 4147"/>
            </a:avLst>
          </a:prstGeom>
          <a:solidFill>
            <a:srgbClr val="EEF2F5"/>
          </a:solidFill>
          <a:ln w="12700">
            <a:solidFill>
              <a:srgbClr val="EEF2F5"/>
            </a:solidFill>
            <a:prstDash val="solid"/>
          </a:ln>
        </p:spPr>
      </p:sp>
      <p:sp>
        <p:nvSpPr>
          <p:cNvPr id="21" name="Text 19"/>
          <p:cNvSpPr txBox="1"/>
          <p:nvPr/>
        </p:nvSpPr>
        <p:spPr>
          <a:xfrm>
            <a:off x="7909560" y="4626356"/>
            <a:ext cx="3504895"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ANSWER</a:t>
            </a:r>
            <a:endParaRPr lang="en-US" sz="1200" dirty="0"/>
          </a:p>
        </p:txBody>
      </p:sp>
      <p:sp>
        <p:nvSpPr>
          <p:cNvPr id="22" name="Text 20"/>
          <p:cNvSpPr txBox="1"/>
          <p:nvPr/>
        </p:nvSpPr>
        <p:spPr>
          <a:xfrm>
            <a:off x="7909560" y="4937252"/>
            <a:ext cx="3504895" cy="116052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Apart, about 4× faster.</a:t>
            </a:r>
            <a:endParaRPr lang="en-US" sz="1500" dirty="0"/>
          </a:p>
          <a:p>
            <a:pPr indent="0" marL="0">
              <a:lnSpc>
                <a:spcPct val="105000"/>
              </a:lnSpc>
              <a:buNone/>
            </a:pP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On one 64-byte cache line, the two cores keep stealing the line from each other.</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V13  ·  LOCK-FREE SPSC RING</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1B2430"/>
          </a:solidFill>
          <a:ln w="12700">
            <a:solidFill>
              <a:srgbClr val="1B2430"/>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One writer per index: nothing to lock</a:t>
            </a:r>
            <a:endParaRPr lang="en-US" sz="2800" dirty="0"/>
          </a:p>
        </p:txBody>
      </p:sp>
      <p:sp>
        <p:nvSpPr>
          <p:cNvPr id="12" name="Text 10"/>
          <p:cNvSpPr txBox="1"/>
          <p:nvPr/>
        </p:nvSpPr>
        <p:spPr>
          <a:xfrm>
            <a:off x="548640" y="1417320"/>
            <a:ext cx="429768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RUN IT</a:t>
            </a:r>
            <a:endParaRPr lang="en-US" sz="1200" dirty="0"/>
          </a:p>
        </p:txBody>
      </p:sp>
      <p:sp>
        <p:nvSpPr>
          <p:cNvPr id="13" name="Shape 11"/>
          <p:cNvSpPr/>
          <p:nvPr/>
        </p:nvSpPr>
        <p:spPr>
          <a:xfrm>
            <a:off x="548640" y="1728216"/>
            <a:ext cx="4297680" cy="969264"/>
          </a:xfrm>
          <a:prstGeom prst="roundRect">
            <a:avLst>
              <a:gd name="adj" fmla="val 7547"/>
            </a:avLst>
          </a:prstGeom>
          <a:solidFill>
            <a:srgbClr val="0D1117"/>
          </a:solidFill>
          <a:ln w="12700">
            <a:solidFill>
              <a:srgbClr val="0D1117"/>
            </a:solidFill>
            <a:prstDash val="solid"/>
          </a:ln>
        </p:spPr>
      </p:sp>
      <p:sp>
        <p:nvSpPr>
          <p:cNvPr id="14" name="Text 12"/>
          <p:cNvSpPr txBox="1"/>
          <p:nvPr/>
        </p:nvSpPr>
        <p:spPr>
          <a:xfrm>
            <a:off x="731520" y="1892808"/>
            <a:ext cx="3931920" cy="640080"/>
          </a:xfrm>
          <a:prstGeom prst="rect">
            <a:avLst/>
          </a:prstGeom>
          <a:noFill/>
          <a:ln/>
        </p:spPr>
        <p:txBody>
          <a:bodyPr wrap="square" lIns="0" tIns="0" rIns="0" bIns="0" rtlCol="0" anchor="t"/>
          <a:lstStyle/>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 ./tiny_false_sharing</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same cache line:      1.53 s</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separate cache lines: 0.39 s</a:t>
            </a:r>
            <a:endParaRPr lang="en-US" sz="1400" dirty="0"/>
          </a:p>
        </p:txBody>
      </p:sp>
      <p:sp>
        <p:nvSpPr>
          <p:cNvPr id="15" name="Text 13"/>
          <p:cNvSpPr txBox="1"/>
          <p:nvPr/>
        </p:nvSpPr>
        <p:spPr>
          <a:xfrm>
            <a:off x="548640" y="2880360"/>
            <a:ext cx="4297680"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This is false sharing. The ring puts head and tail on separate lines.</a:t>
            </a:r>
            <a:endParaRPr lang="en-US" sz="1500" dirty="0"/>
          </a:p>
        </p:txBody>
      </p:sp>
      <p:sp>
        <p:nvSpPr>
          <p:cNvPr id="16" name="Text 14"/>
          <p:cNvSpPr txBox="1"/>
          <p:nvPr/>
        </p:nvSpPr>
        <p:spPr>
          <a:xfrm>
            <a:off x="5166360" y="1417320"/>
            <a:ext cx="6476695"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WHAT HAPPENS, STEP BY STEP</a:t>
            </a:r>
            <a:endParaRPr lang="en-US" sz="1200" dirty="0"/>
          </a:p>
        </p:txBody>
      </p:sp>
      <p:sp>
        <p:nvSpPr>
          <p:cNvPr id="17" name="Shape 15"/>
          <p:cNvSpPr/>
          <p:nvPr/>
        </p:nvSpPr>
        <p:spPr>
          <a:xfrm>
            <a:off x="5166360" y="1728216"/>
            <a:ext cx="6476695" cy="2157984"/>
          </a:xfrm>
          <a:prstGeom prst="roundRect">
            <a:avLst>
              <a:gd name="adj" fmla="val 3390"/>
            </a:avLst>
          </a:prstGeom>
          <a:solidFill>
            <a:srgbClr val="EEF2F5"/>
          </a:solidFill>
          <a:ln w="12700">
            <a:solidFill>
              <a:srgbClr val="EEF2F5"/>
            </a:solidFill>
            <a:prstDash val="solid"/>
          </a:ln>
        </p:spPr>
      </p:sp>
      <p:sp>
        <p:nvSpPr>
          <p:cNvPr id="18" name="Text 16"/>
          <p:cNvSpPr txBox="1"/>
          <p:nvPr/>
        </p:nvSpPr>
        <p:spPr>
          <a:xfrm>
            <a:off x="5349240" y="1892808"/>
            <a:ext cx="6110935" cy="1828800"/>
          </a:xfrm>
          <a:prstGeom prst="rect">
            <a:avLst/>
          </a:prstGeom>
          <a:noFill/>
          <a:ln/>
        </p:spPr>
        <p:txBody>
          <a:bodyPr wrap="square" lIns="0" tIns="0" rIns="0" bIns="0" rtlCol="0" anchor="t"/>
          <a:lstStyle/>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slots: [ . | a | b | c | . | . | . | . ]</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             ▲           ▲</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            head        tail</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consumer owns head · producer owns tail</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 </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Producer                         Consumer</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write slot 5</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tail.store(6, release) ───────► tail.load(acquire) == 6</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                                read slot 5 (guaranteed visible)</a:t>
            </a:r>
            <a:endParaRPr lang="en-US" sz="1200" dirty="0"/>
          </a:p>
          <a:p>
            <a:pPr indent="0" marL="0">
              <a:lnSpc>
                <a:spcPct val="100000"/>
              </a:lnSpc>
              <a:buNone/>
            </a:pPr>
            <a:r>
              <a:rPr lang="en-US" sz="1200" dirty="0">
                <a:solidFill>
                  <a:srgbClr val="1B2430"/>
                </a:solidFill>
                <a:latin typeface="Courier New" pitchFamily="34" charset="0"/>
                <a:ea typeface="Courier New" pitchFamily="34" charset="-122"/>
                <a:cs typeface="Courier New" pitchFamily="34" charset="-120"/>
              </a:rPr>
              <a:t>                                head.store(6, release)</a:t>
            </a:r>
            <a:endParaRPr lang="en-US" sz="1200" dirty="0"/>
          </a:p>
        </p:txBody>
      </p:sp>
      <p:sp>
        <p:nvSpPr>
          <p:cNvPr id="19" name="Shape 17"/>
          <p:cNvSpPr/>
          <p:nvPr/>
        </p:nvSpPr>
        <p:spPr>
          <a:xfrm>
            <a:off x="5166360" y="4114800"/>
            <a:ext cx="6476695" cy="1089660"/>
          </a:xfrm>
          <a:prstGeom prst="roundRect">
            <a:avLst>
              <a:gd name="adj" fmla="val 6713"/>
            </a:avLst>
          </a:prstGeom>
          <a:solidFill>
            <a:srgbClr val="FDF1E8"/>
          </a:solidFill>
          <a:ln w="12700">
            <a:solidFill>
              <a:srgbClr val="FDF1E8"/>
            </a:solidFill>
            <a:prstDash val="solid"/>
          </a:ln>
        </p:spPr>
      </p:sp>
      <p:sp>
        <p:nvSpPr>
          <p:cNvPr id="20" name="Text 18"/>
          <p:cNvSpPr txBox="1"/>
          <p:nvPr/>
        </p:nvSpPr>
        <p:spPr>
          <a:xfrm>
            <a:off x="5394960" y="4297680"/>
            <a:ext cx="60194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SO</a:t>
            </a:r>
            <a:endParaRPr lang="en-US" sz="1200" dirty="0"/>
          </a:p>
        </p:txBody>
      </p:sp>
      <p:sp>
        <p:nvSpPr>
          <p:cNvPr id="21" name="Text 19"/>
          <p:cNvSpPr txBox="1"/>
          <p:nvPr/>
        </p:nvSpPr>
        <p:spPr>
          <a:xfrm>
            <a:off x="5394960" y="4608576"/>
            <a:ext cx="6019495"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That's v11's publish pattern, twice. The rule: exactly ONE producer and ONE consumer.</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V13  ·  LOCK-FREE SPSC RING</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1B2430"/>
          </a:solidFill>
          <a:ln w="12700">
            <a:solidFill>
              <a:srgbClr val="1B2430"/>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Write the slot, then publish it</a:t>
            </a:r>
            <a:endParaRPr lang="en-US" sz="2800" dirty="0"/>
          </a:p>
        </p:txBody>
      </p:sp>
      <p:sp>
        <p:nvSpPr>
          <p:cNvPr id="12" name="Text 10"/>
          <p:cNvSpPr txBox="1"/>
          <p:nvPr/>
        </p:nvSpPr>
        <p:spPr>
          <a:xfrm>
            <a:off x="548640" y="1417320"/>
            <a:ext cx="676656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spsc_ring.hpp</a:t>
            </a:r>
            <a:endParaRPr lang="en-US" sz="1200" dirty="0"/>
          </a:p>
        </p:txBody>
      </p:sp>
      <p:sp>
        <p:nvSpPr>
          <p:cNvPr id="13" name="Shape 11"/>
          <p:cNvSpPr/>
          <p:nvPr/>
        </p:nvSpPr>
        <p:spPr>
          <a:xfrm>
            <a:off x="548640" y="1728216"/>
            <a:ext cx="7132320" cy="2386584"/>
          </a:xfrm>
          <a:prstGeom prst="roundRect">
            <a:avLst>
              <a:gd name="adj" fmla="val 3065"/>
            </a:avLst>
          </a:prstGeom>
          <a:solidFill>
            <a:srgbClr val="161C24"/>
          </a:solidFill>
          <a:ln w="12700">
            <a:solidFill>
              <a:srgbClr val="161C24"/>
            </a:solidFill>
            <a:prstDash val="solid"/>
          </a:ln>
        </p:spPr>
      </p:sp>
      <p:sp>
        <p:nvSpPr>
          <p:cNvPr id="14" name="Text 12"/>
          <p:cNvSpPr txBox="1"/>
          <p:nvPr/>
        </p:nvSpPr>
        <p:spPr>
          <a:xfrm>
            <a:off x="731520" y="1892808"/>
            <a:ext cx="6766560" cy="2057400"/>
          </a:xfrm>
          <a:prstGeom prst="rect">
            <a:avLst/>
          </a:prstGeom>
          <a:noFill/>
          <a:ln/>
        </p:spPr>
        <p:txBody>
          <a:bodyPr wrap="square" lIns="0" tIns="0" rIns="0" bIns="0" rtlCol="0" anchor="t"/>
          <a:lstStyle/>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bool try_push(T v) {                 // producer only</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auto t = tail.load(std::memory_order_relaxed);</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if (t - head.load(std::memory_order_acquire) == N)</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return false;                 // full</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slots[t &amp; (N - 1)] = std::move(v);</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tail.store(t + 1, std::memory_order_release);</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return true;</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6EE7D2"/>
                </a:solidFill>
                <a:latin typeface="Courier New" pitchFamily="34" charset="0"/>
                <a:ea typeface="Courier New" pitchFamily="34" charset="-122"/>
                <a:cs typeface="Courier New" pitchFamily="34" charset="-120"/>
              </a:rPr>
              <a:t>+ // try_pop: the mirror image on head</a:t>
            </a:r>
            <a:endParaRPr lang="en-US" sz="1500" dirty="0"/>
          </a:p>
        </p:txBody>
      </p:sp>
      <p:sp>
        <p:nvSpPr>
          <p:cNvPr id="15" name="Shape 13"/>
          <p:cNvSpPr/>
          <p:nvPr/>
        </p:nvSpPr>
        <p:spPr>
          <a:xfrm>
            <a:off x="8001000" y="1728216"/>
            <a:ext cx="365760" cy="365760"/>
          </a:xfrm>
          <a:prstGeom prst="ellipse">
            <a:avLst/>
          </a:prstGeom>
          <a:solidFill>
            <a:srgbClr val="0F766E"/>
          </a:solidFill>
          <a:ln w="12700">
            <a:solidFill>
              <a:srgbClr val="0F766E"/>
            </a:solidFill>
            <a:prstDash val="solid"/>
          </a:ln>
        </p:spPr>
      </p:sp>
      <p:sp>
        <p:nvSpPr>
          <p:cNvPr id="16" name="Text 14"/>
          <p:cNvSpPr txBox="1"/>
          <p:nvPr/>
        </p:nvSpPr>
        <p:spPr>
          <a:xfrm>
            <a:off x="8001000" y="17282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8503920" y="1764792"/>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A fixed array of N slots (N a power of two): no allocation.</a:t>
            </a:r>
            <a:endParaRPr lang="en-US" sz="1600" dirty="0"/>
          </a:p>
        </p:txBody>
      </p:sp>
      <p:sp>
        <p:nvSpPr>
          <p:cNvPr id="18" name="Shape 16"/>
          <p:cNvSpPr/>
          <p:nvPr/>
        </p:nvSpPr>
        <p:spPr>
          <a:xfrm>
            <a:off x="8001000" y="2518664"/>
            <a:ext cx="365760" cy="365760"/>
          </a:xfrm>
          <a:prstGeom prst="ellipse">
            <a:avLst/>
          </a:prstGeom>
          <a:solidFill>
            <a:srgbClr val="0F766E"/>
          </a:solidFill>
          <a:ln w="12700">
            <a:solidFill>
              <a:srgbClr val="0F766E"/>
            </a:solidFill>
            <a:prstDash val="solid"/>
          </a:ln>
        </p:spPr>
      </p:sp>
      <p:sp>
        <p:nvSpPr>
          <p:cNvPr id="19" name="Text 17"/>
          <p:cNvSpPr txBox="1"/>
          <p:nvPr/>
        </p:nvSpPr>
        <p:spPr>
          <a:xfrm>
            <a:off x="8001000" y="25186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8503920" y="2555240"/>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No mutex, no condition_variable: try_ functions only.</a:t>
            </a:r>
            <a:endParaRPr lang="en-US" sz="1600" dirty="0"/>
          </a:p>
        </p:txBody>
      </p:sp>
      <p:sp>
        <p:nvSpPr>
          <p:cNvPr id="21" name="Shape 19"/>
          <p:cNvSpPr/>
          <p:nvPr/>
        </p:nvSpPr>
        <p:spPr>
          <a:xfrm>
            <a:off x="8001000" y="3548888"/>
            <a:ext cx="365760" cy="365760"/>
          </a:xfrm>
          <a:prstGeom prst="ellipse">
            <a:avLst/>
          </a:prstGeom>
          <a:solidFill>
            <a:srgbClr val="0F766E"/>
          </a:solidFill>
          <a:ln w="12700">
            <a:solidFill>
              <a:srgbClr val="0F766E"/>
            </a:solidFill>
            <a:prstDash val="solid"/>
          </a:ln>
        </p:spPr>
      </p:sp>
      <p:sp>
        <p:nvSpPr>
          <p:cNvPr id="22" name="Text 20"/>
          <p:cNvSpPr txBox="1"/>
          <p:nvPr/>
        </p:nvSpPr>
        <p:spPr>
          <a:xfrm>
            <a:off x="8001000" y="354888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503920" y="3585464"/>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head and tail each alignas(64).</a:t>
            </a:r>
            <a:endParaRPr lang="en-US" sz="16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V13  ·  LOCK-FREE SPSC RING</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1B2430"/>
          </a:solidFill>
          <a:ln w="12700">
            <a:solidFill>
              <a:srgbClr val="1B2430"/>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Check yourself</a:t>
            </a:r>
            <a:endParaRPr lang="en-US" sz="2800" dirty="0"/>
          </a:p>
        </p:txBody>
      </p:sp>
      <p:sp>
        <p:nvSpPr>
          <p:cNvPr id="12" name="Shape 10"/>
          <p:cNvSpPr/>
          <p:nvPr/>
        </p:nvSpPr>
        <p:spPr>
          <a:xfrm>
            <a:off x="548640" y="1417320"/>
            <a:ext cx="4206240" cy="1404366"/>
          </a:xfrm>
          <a:prstGeom prst="roundRect">
            <a:avLst>
              <a:gd name="adj" fmla="val 5209"/>
            </a:avLst>
          </a:prstGeom>
          <a:solidFill>
            <a:srgbClr val="EEF2F5"/>
          </a:solidFill>
          <a:ln w="12700">
            <a:solidFill>
              <a:srgbClr val="EEF2F5"/>
            </a:solidFill>
            <a:prstDash val="solid"/>
          </a:ln>
        </p:spPr>
      </p:sp>
      <p:sp>
        <p:nvSpPr>
          <p:cNvPr id="13" name="Text 11"/>
          <p:cNvSpPr txBox="1"/>
          <p:nvPr/>
        </p:nvSpPr>
        <p:spPr>
          <a:xfrm>
            <a:off x="777240" y="1600200"/>
            <a:ext cx="3749040"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THE LESSON</a:t>
            </a:r>
            <a:endParaRPr lang="en-US" sz="1200" dirty="0"/>
          </a:p>
        </p:txBody>
      </p:sp>
      <p:sp>
        <p:nvSpPr>
          <p:cNvPr id="14" name="Text 12"/>
          <p:cNvSpPr txBox="1"/>
          <p:nvPr/>
        </p:nvSpPr>
        <p:spPr>
          <a:xfrm>
            <a:off x="777240" y="1911096"/>
            <a:ext cx="3749040" cy="800862"/>
          </a:xfrm>
          <a:prstGeom prst="rect">
            <a:avLst/>
          </a:prstGeom>
          <a:noFill/>
          <a:ln/>
        </p:spPr>
        <p:txBody>
          <a:bodyPr wrap="square" lIns="0" tIns="0" rIns="0" bIns="0" rtlCol="0" anchor="t"/>
          <a:lstStyle/>
          <a:p>
            <a:pPr indent="0" marL="0">
              <a:lnSpc>
                <a:spcPct val="105000"/>
              </a:lnSpc>
              <a:buNone/>
            </a:pPr>
            <a:r>
              <a:rPr lang="en-US" sz="1700" dirty="0">
                <a:solidFill>
                  <a:srgbClr val="1B2430"/>
                </a:solidFill>
                <a:latin typeface="Calibri" pitchFamily="34" charset="0"/>
                <a:ea typeface="Calibri" pitchFamily="34" charset="-122"/>
                <a:cs typeface="Calibri" pitchFamily="34" charset="-120"/>
              </a:rPr>
              <a:t>Lock-free code is only correct under its rules. SPSC: one writer per index.</a:t>
            </a:r>
            <a:endParaRPr lang="en-US" sz="1700" dirty="0"/>
          </a:p>
        </p:txBody>
      </p:sp>
      <p:sp>
        <p:nvSpPr>
          <p:cNvPr id="15" name="Text 13"/>
          <p:cNvSpPr txBox="1"/>
          <p:nvPr/>
        </p:nvSpPr>
        <p:spPr>
          <a:xfrm>
            <a:off x="548640" y="3096006"/>
            <a:ext cx="420624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EXPLAIN WITHOUT LOOKING</a:t>
            </a:r>
            <a:endParaRPr lang="en-US" sz="1200" dirty="0"/>
          </a:p>
        </p:txBody>
      </p:sp>
      <p:sp>
        <p:nvSpPr>
          <p:cNvPr id="16" name="Shape 14"/>
          <p:cNvSpPr/>
          <p:nvPr/>
        </p:nvSpPr>
        <p:spPr>
          <a:xfrm>
            <a:off x="548640" y="3489198"/>
            <a:ext cx="182880" cy="182880"/>
          </a:xfrm>
          <a:prstGeom prst="rect">
            <a:avLst/>
          </a:prstGeom>
          <a:solidFill>
            <a:srgbClr val="FFFFFF"/>
          </a:solidFill>
          <a:ln w="15875">
            <a:solidFill>
              <a:srgbClr val="0F766E"/>
            </a:solidFill>
            <a:prstDash val="solid"/>
          </a:ln>
        </p:spPr>
      </p:sp>
      <p:sp>
        <p:nvSpPr>
          <p:cNvPr id="17" name="Text 15"/>
          <p:cNvSpPr txBox="1"/>
          <p:nvPr/>
        </p:nvSpPr>
        <p:spPr>
          <a:xfrm>
            <a:off x="868680" y="3443478"/>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does SPSC need no lock?</a:t>
            </a:r>
            <a:endParaRPr lang="en-US" sz="1500" dirty="0"/>
          </a:p>
        </p:txBody>
      </p:sp>
      <p:sp>
        <p:nvSpPr>
          <p:cNvPr id="18" name="Shape 16"/>
          <p:cNvSpPr/>
          <p:nvPr/>
        </p:nvSpPr>
        <p:spPr>
          <a:xfrm>
            <a:off x="548640" y="3860292"/>
            <a:ext cx="182880" cy="182880"/>
          </a:xfrm>
          <a:prstGeom prst="rect">
            <a:avLst/>
          </a:prstGeom>
          <a:solidFill>
            <a:srgbClr val="FFFFFF"/>
          </a:solidFill>
          <a:ln w="15875">
            <a:solidFill>
              <a:srgbClr val="0F766E"/>
            </a:solidFill>
            <a:prstDash val="solid"/>
          </a:ln>
        </p:spPr>
      </p:sp>
      <p:sp>
        <p:nvSpPr>
          <p:cNvPr id="19" name="Text 17"/>
          <p:cNvSpPr txBox="1"/>
          <p:nvPr/>
        </p:nvSpPr>
        <p:spPr>
          <a:xfrm>
            <a:off x="868680" y="3814572"/>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does the release store publish?</a:t>
            </a:r>
            <a:endParaRPr lang="en-US" sz="1500" dirty="0"/>
          </a:p>
        </p:txBody>
      </p:sp>
      <p:sp>
        <p:nvSpPr>
          <p:cNvPr id="20" name="Shape 18"/>
          <p:cNvSpPr/>
          <p:nvPr/>
        </p:nvSpPr>
        <p:spPr>
          <a:xfrm>
            <a:off x="548640" y="4231386"/>
            <a:ext cx="182880" cy="182880"/>
          </a:xfrm>
          <a:prstGeom prst="rect">
            <a:avLst/>
          </a:prstGeom>
          <a:solidFill>
            <a:srgbClr val="FFFFFF"/>
          </a:solidFill>
          <a:ln w="15875">
            <a:solidFill>
              <a:srgbClr val="0F766E"/>
            </a:solidFill>
            <a:prstDash val="solid"/>
          </a:ln>
        </p:spPr>
      </p:sp>
      <p:sp>
        <p:nvSpPr>
          <p:cNvPr id="21" name="Text 19"/>
          <p:cNvSpPr txBox="1"/>
          <p:nvPr/>
        </p:nvSpPr>
        <p:spPr>
          <a:xfrm>
            <a:off x="868680" y="4185666"/>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is false sharing?</a:t>
            </a:r>
            <a:endParaRPr lang="en-US" sz="1500" dirty="0"/>
          </a:p>
        </p:txBody>
      </p:sp>
      <p:sp>
        <p:nvSpPr>
          <p:cNvPr id="22" name="Shape 20"/>
          <p:cNvSpPr/>
          <p:nvPr/>
        </p:nvSpPr>
        <p:spPr>
          <a:xfrm>
            <a:off x="548640" y="4602480"/>
            <a:ext cx="182880" cy="182880"/>
          </a:xfrm>
          <a:prstGeom prst="rect">
            <a:avLst/>
          </a:prstGeom>
          <a:solidFill>
            <a:srgbClr val="FFFFFF"/>
          </a:solidFill>
          <a:ln w="15875">
            <a:solidFill>
              <a:srgbClr val="0F766E"/>
            </a:solidFill>
            <a:prstDash val="solid"/>
          </a:ln>
        </p:spPr>
      </p:sp>
      <p:sp>
        <p:nvSpPr>
          <p:cNvPr id="23" name="Text 21"/>
          <p:cNvSpPr txBox="1"/>
          <p:nvPr/>
        </p:nvSpPr>
        <p:spPr>
          <a:xfrm>
            <a:off x="868680" y="4556760"/>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breaks with two producers?</a:t>
            </a:r>
            <a:endParaRPr lang="en-US" sz="1500" dirty="0"/>
          </a:p>
        </p:txBody>
      </p:sp>
      <p:sp>
        <p:nvSpPr>
          <p:cNvPr id="24" name="Shape 22"/>
          <p:cNvSpPr/>
          <p:nvPr/>
        </p:nvSpPr>
        <p:spPr>
          <a:xfrm>
            <a:off x="5166360" y="1417320"/>
            <a:ext cx="6476695" cy="1518920"/>
          </a:xfrm>
          <a:prstGeom prst="roundRect">
            <a:avLst>
              <a:gd name="adj" fmla="val 4816"/>
            </a:avLst>
          </a:prstGeom>
          <a:solidFill>
            <a:srgbClr val="FFFFFF"/>
          </a:solidFill>
          <a:ln w="12700">
            <a:solidFill>
              <a:srgbClr val="D5DDE5"/>
            </a:solidFill>
            <a:prstDash val="solid"/>
          </a:ln>
        </p:spPr>
      </p:sp>
      <p:sp>
        <p:nvSpPr>
          <p:cNvPr id="25" name="Text 23"/>
          <p:cNvSpPr txBox="1"/>
          <p:nvPr/>
        </p:nvSpPr>
        <p:spPr>
          <a:xfrm>
            <a:off x="5394960" y="15819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NUMBERS</a:t>
            </a:r>
            <a:endParaRPr lang="en-US" sz="1200" dirty="0"/>
          </a:p>
        </p:txBody>
      </p:sp>
      <p:sp>
        <p:nvSpPr>
          <p:cNvPr id="26" name="Text 24"/>
          <p:cNvSpPr txBox="1"/>
          <p:nvPr/>
        </p:nvSpPr>
        <p:spPr>
          <a:xfrm>
            <a:off x="5394960" y="18928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N = 1024, tail = 5000, head = 4000. How full is the ring? Can we push?</a:t>
            </a:r>
            <a:endParaRPr lang="en-US" sz="1500" dirty="0"/>
          </a:p>
        </p:txBody>
      </p:sp>
      <p:sp>
        <p:nvSpPr>
          <p:cNvPr id="27" name="Text 25"/>
          <p:cNvSpPr txBox="1"/>
          <p:nvPr/>
        </p:nvSpPr>
        <p:spPr>
          <a:xfrm>
            <a:off x="5394960" y="2470404"/>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1000 items. Yes: 1000 &lt; 1024.</a:t>
            </a:r>
            <a:endParaRPr lang="en-US" sz="1400" dirty="0"/>
          </a:p>
        </p:txBody>
      </p:sp>
      <p:sp>
        <p:nvSpPr>
          <p:cNvPr id="28" name="Shape 26"/>
          <p:cNvSpPr/>
          <p:nvPr/>
        </p:nvSpPr>
        <p:spPr>
          <a:xfrm>
            <a:off x="5166360" y="3119120"/>
            <a:ext cx="6476695" cy="1503934"/>
          </a:xfrm>
          <a:prstGeom prst="roundRect">
            <a:avLst>
              <a:gd name="adj" fmla="val 4864"/>
            </a:avLst>
          </a:prstGeom>
          <a:solidFill>
            <a:srgbClr val="FFFFFF"/>
          </a:solidFill>
          <a:ln w="12700">
            <a:solidFill>
              <a:srgbClr val="D5DDE5"/>
            </a:solidFill>
            <a:prstDash val="solid"/>
          </a:ln>
        </p:spPr>
      </p:sp>
      <p:sp>
        <p:nvSpPr>
          <p:cNvPr id="29" name="Text 27"/>
          <p:cNvSpPr txBox="1"/>
          <p:nvPr/>
        </p:nvSpPr>
        <p:spPr>
          <a:xfrm>
            <a:off x="5394960" y="32837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TRACE IT</a:t>
            </a:r>
            <a:endParaRPr lang="en-US" sz="1200" dirty="0"/>
          </a:p>
        </p:txBody>
      </p:sp>
      <p:sp>
        <p:nvSpPr>
          <p:cNvPr id="30" name="Text 28"/>
          <p:cNvSpPr txBox="1"/>
          <p:nvPr/>
        </p:nvSpPr>
        <p:spPr>
          <a:xfrm>
            <a:off x="5394960" y="3594608"/>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Two producers both read tail = 7. Trace it.</a:t>
            </a:r>
            <a:endParaRPr lang="en-US" sz="1500" dirty="0"/>
          </a:p>
        </p:txBody>
      </p:sp>
      <p:sp>
        <p:nvSpPr>
          <p:cNvPr id="31" name="Text 29"/>
          <p:cNvSpPr txBox="1"/>
          <p:nvPr/>
        </p:nvSpPr>
        <p:spPr>
          <a:xfrm>
            <a:off x="5394960" y="3947414"/>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Both write slot 7, both store tail = 8: one item lost. (Real run: 1,255,101 of 2,000,000.)</a:t>
            </a:r>
            <a:endParaRPr lang="en-US" sz="1400" dirty="0"/>
          </a:p>
        </p:txBody>
      </p:sp>
      <p:sp>
        <p:nvSpPr>
          <p:cNvPr id="32" name="Shape 30"/>
          <p:cNvSpPr/>
          <p:nvPr/>
        </p:nvSpPr>
        <p:spPr>
          <a:xfrm>
            <a:off x="5166360" y="4805934"/>
            <a:ext cx="6476695" cy="1503934"/>
          </a:xfrm>
          <a:prstGeom prst="roundRect">
            <a:avLst>
              <a:gd name="adj" fmla="val 4864"/>
            </a:avLst>
          </a:prstGeom>
          <a:solidFill>
            <a:srgbClr val="FFFFFF"/>
          </a:solidFill>
          <a:ln w="12700">
            <a:solidFill>
              <a:srgbClr val="D5DDE5"/>
            </a:solidFill>
            <a:prstDash val="solid"/>
          </a:ln>
        </p:spPr>
      </p:sp>
      <p:sp>
        <p:nvSpPr>
          <p:cNvPr id="33" name="Text 31"/>
          <p:cNvSpPr txBox="1"/>
          <p:nvPr/>
        </p:nvSpPr>
        <p:spPr>
          <a:xfrm>
            <a:off x="5394960" y="4970526"/>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DESIGN</a:t>
            </a:r>
            <a:endParaRPr lang="en-US" sz="1200" dirty="0"/>
          </a:p>
        </p:txBody>
      </p:sp>
      <p:sp>
        <p:nvSpPr>
          <p:cNvPr id="34" name="Text 32"/>
          <p:cNvSpPr txBox="1"/>
          <p:nvPr/>
        </p:nvSpPr>
        <p:spPr>
          <a:xfrm>
            <a:off x="5394960" y="5281422"/>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The consumer has nothing to read. Spin, yield or sleep?</a:t>
            </a:r>
            <a:endParaRPr lang="en-US" sz="1500" dirty="0"/>
          </a:p>
        </p:txBody>
      </p:sp>
      <p:sp>
        <p:nvSpPr>
          <p:cNvPr id="35" name="Text 33"/>
          <p:cNvSpPr txBox="1"/>
          <p:nvPr/>
        </p:nvSpPr>
        <p:spPr>
          <a:xfrm>
            <a:off x="5394960" y="5634228"/>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Lowest latency: spin. Fair CPU: yield. Idle a long time: sleep. The caller chooses.</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V14  ·  BENCHMARK HARNESS</a:t>
            </a:r>
            <a:endParaRPr lang="en-US" sz="1200" dirty="0"/>
          </a:p>
        </p:txBody>
      </p:sp>
      <p:sp>
        <p:nvSpPr>
          <p:cNvPr id="3" name="Shape 1"/>
          <p:cNvSpPr/>
          <p:nvPr/>
        </p:nvSpPr>
        <p:spPr>
          <a:xfrm>
            <a:off x="6229807" y="292608"/>
            <a:ext cx="1298448" cy="274320"/>
          </a:xfrm>
          <a:prstGeom prst="roundRect">
            <a:avLst>
              <a:gd name="adj" fmla="val 23333"/>
            </a:avLst>
          </a:prstGeom>
          <a:solidFill>
            <a:srgbClr val="1B2430"/>
          </a:solidFill>
          <a:ln w="12700">
            <a:solidFill>
              <a:srgbClr val="1B2430"/>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Which queue is fastest? Prove it.</a:t>
            </a:r>
            <a:endParaRPr lang="en-US" sz="2800" dirty="0"/>
          </a:p>
        </p:txBody>
      </p:sp>
      <p:sp>
        <p:nvSpPr>
          <p:cNvPr id="12" name="Shape 10"/>
          <p:cNvSpPr/>
          <p:nvPr/>
        </p:nvSpPr>
        <p:spPr>
          <a:xfrm>
            <a:off x="548640" y="1417320"/>
            <a:ext cx="6766560" cy="969264"/>
          </a:xfrm>
          <a:prstGeom prst="roundRect">
            <a:avLst>
              <a:gd name="adj" fmla="val 7547"/>
            </a:avLst>
          </a:prstGeom>
          <a:solidFill>
            <a:srgbClr val="EEF2F5"/>
          </a:solidFill>
          <a:ln w="12700">
            <a:solidFill>
              <a:srgbClr val="EEF2F5"/>
            </a:solidFill>
            <a:prstDash val="solid"/>
          </a:ln>
        </p:spPr>
      </p:sp>
      <p:sp>
        <p:nvSpPr>
          <p:cNvPr id="13" name="Text 11"/>
          <p:cNvSpPr txBox="1"/>
          <p:nvPr/>
        </p:nvSpPr>
        <p:spPr>
          <a:xfrm>
            <a:off x="731520" y="1581912"/>
            <a:ext cx="6400800" cy="640080"/>
          </a:xfrm>
          <a:prstGeom prst="rect">
            <a:avLst/>
          </a:prstGeom>
          <a:noFill/>
          <a:ln/>
        </p:spPr>
        <p:txBody>
          <a:bodyPr wrap="square" lIns="0" tIns="0" rIns="0" bIns="0" rtlCol="0" anchor="t"/>
          <a:lstStyle/>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ThreadSafeQueue (v7)    "simple, probably fine"</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TwoLockQueue   (v12)    "less contention, must be faster"</a:t>
            </a:r>
            <a:endParaRPr lang="en-US" sz="1400" dirty="0"/>
          </a:p>
          <a:p>
            <a:pPr indent="0" marL="0">
              <a:lnSpc>
                <a:spcPct val="100000"/>
              </a:lnSpc>
              <a:buNone/>
            </a:pPr>
            <a:r>
              <a:rPr lang="en-US" sz="1400" dirty="0">
                <a:solidFill>
                  <a:srgbClr val="1B2430"/>
                </a:solidFill>
                <a:latin typeface="Courier New" pitchFamily="34" charset="0"/>
                <a:ea typeface="Courier New" pitchFamily="34" charset="-122"/>
                <a:cs typeface="Courier New" pitchFamily="34" charset="-120"/>
              </a:rPr>
              <a:t>SpscRing       (v13)    "lock-free, must be fastest"</a:t>
            </a:r>
            <a:endParaRPr lang="en-US" sz="1400" dirty="0"/>
          </a:p>
        </p:txBody>
      </p:sp>
      <p:sp>
        <p:nvSpPr>
          <p:cNvPr id="14" name="Shape 12"/>
          <p:cNvSpPr/>
          <p:nvPr/>
        </p:nvSpPr>
        <p:spPr>
          <a:xfrm>
            <a:off x="548640" y="2615184"/>
            <a:ext cx="6766560" cy="1472184"/>
          </a:xfrm>
          <a:prstGeom prst="roundRect">
            <a:avLst>
              <a:gd name="adj" fmla="val 4969"/>
            </a:avLst>
          </a:prstGeom>
          <a:solidFill>
            <a:srgbClr val="161C24"/>
          </a:solidFill>
          <a:ln w="12700">
            <a:solidFill>
              <a:srgbClr val="161C24"/>
            </a:solidFill>
            <a:prstDash val="solid"/>
          </a:ln>
        </p:spPr>
      </p:sp>
      <p:sp>
        <p:nvSpPr>
          <p:cNvPr id="15" name="Text 13"/>
          <p:cNvSpPr txBox="1"/>
          <p:nvPr/>
        </p:nvSpPr>
        <p:spPr>
          <a:xfrm>
            <a:off x="731520" y="2779776"/>
            <a:ext cx="6400800" cy="1143000"/>
          </a:xfrm>
          <a:prstGeom prst="rect">
            <a:avLst/>
          </a:prstGeom>
          <a:noFill/>
          <a:ln/>
        </p:spPr>
        <p:txBody>
          <a:bodyPr wrap="square" lIns="0" tIns="0" rIns="0" bIns="0" rtlCol="0" anchor="t"/>
          <a:lstStyle/>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Stopwatch sw;</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std::uint64_t unused = 0;</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for (std::uint64_t i = 0; i &lt; 500'000'000; ++i)</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    unused += i % 7;           // result never used</a:t>
            </a:r>
            <a:endParaRPr lang="en-US" sz="1500" dirty="0"/>
          </a:p>
          <a:p>
            <a:pPr indent="0" marL="0">
              <a:lnSpc>
                <a:spcPct val="100000"/>
              </a:lnSpc>
              <a:buNone/>
            </a:pPr>
            <a:r>
              <a:rPr lang="en-US" sz="1500" dirty="0">
                <a:solidFill>
                  <a:srgbClr val="E8E4DA"/>
                </a:solidFill>
                <a:latin typeface="Courier New" pitchFamily="34" charset="0"/>
                <a:ea typeface="Courier New" pitchFamily="34" charset="-122"/>
                <a:cs typeface="Courier New" pitchFamily="34" charset="-120"/>
              </a:rPr>
              <a:t>std::cout &lt;&lt; sw.seconds();     // built with -O2</a:t>
            </a:r>
            <a:endParaRPr lang="en-US" sz="1500" dirty="0"/>
          </a:p>
        </p:txBody>
      </p:sp>
      <p:sp>
        <p:nvSpPr>
          <p:cNvPr id="16" name="Text 14"/>
          <p:cNvSpPr txBox="1"/>
          <p:nvPr/>
        </p:nvSpPr>
        <p:spPr>
          <a:xfrm>
            <a:off x="7680960" y="1417320"/>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THE QUESTION</a:t>
            </a:r>
            <a:endParaRPr lang="en-US" sz="1200" dirty="0"/>
          </a:p>
        </p:txBody>
      </p:sp>
      <p:sp>
        <p:nvSpPr>
          <p:cNvPr id="17" name="Text 15"/>
          <p:cNvSpPr txBox="1"/>
          <p:nvPr/>
        </p:nvSpPr>
        <p:spPr>
          <a:xfrm>
            <a:off x="7680960" y="1728216"/>
            <a:ext cx="3962095" cy="845820"/>
          </a:xfrm>
          <a:prstGeom prst="rect">
            <a:avLst/>
          </a:prstGeom>
          <a:noFill/>
          <a:ln/>
        </p:spPr>
        <p:txBody>
          <a:bodyPr wrap="square" lIns="0" tIns="0" rIns="0" bIns="0" rtlCol="0" anchor="t"/>
          <a:lstStyle/>
          <a:p>
            <a:pPr indent="0" marL="0">
              <a:lnSpc>
                <a:spcPct val="105000"/>
              </a:lnSpc>
              <a:buNone/>
            </a:pPr>
            <a:r>
              <a:rPr lang="en-US" sz="1800" b="1" dirty="0">
                <a:solidFill>
                  <a:srgbClr val="1B2430"/>
                </a:solidFill>
                <a:latin typeface="Calibri" pitchFamily="34" charset="0"/>
                <a:ea typeface="Calibri" pitchFamily="34" charset="-122"/>
                <a:cs typeface="Calibri" pitchFamily="34" charset="-120"/>
              </a:rPr>
              <a:t>Every number so far came from one run, at whatever load. Is that proof?</a:t>
            </a:r>
            <a:endParaRPr lang="en-US" sz="1800" dirty="0"/>
          </a:p>
        </p:txBody>
      </p:sp>
      <p:sp>
        <p:nvSpPr>
          <p:cNvPr id="18" name="Text 16"/>
          <p:cNvSpPr txBox="1"/>
          <p:nvPr/>
        </p:nvSpPr>
        <p:spPr>
          <a:xfrm>
            <a:off x="7680960" y="2802636"/>
            <a:ext cx="39620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PREDICT</a:t>
            </a:r>
            <a:endParaRPr lang="en-US" sz="1200" dirty="0"/>
          </a:p>
        </p:txBody>
      </p:sp>
      <p:sp>
        <p:nvSpPr>
          <p:cNvPr id="19" name="Text 17"/>
          <p:cNvSpPr txBox="1"/>
          <p:nvPr/>
        </p:nvSpPr>
        <p:spPr>
          <a:xfrm>
            <a:off x="7680960" y="3113532"/>
            <a:ext cx="3962095" cy="276352"/>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How long does the loop take?</a:t>
            </a:r>
            <a:endParaRPr lang="en-US" sz="1600" dirty="0"/>
          </a:p>
        </p:txBody>
      </p:sp>
      <p:sp>
        <p:nvSpPr>
          <p:cNvPr id="20" name="Shape 18"/>
          <p:cNvSpPr/>
          <p:nvPr/>
        </p:nvSpPr>
        <p:spPr>
          <a:xfrm>
            <a:off x="7680960" y="3664204"/>
            <a:ext cx="3962095" cy="1764030"/>
          </a:xfrm>
          <a:prstGeom prst="roundRect">
            <a:avLst>
              <a:gd name="adj" fmla="val 4147"/>
            </a:avLst>
          </a:prstGeom>
          <a:solidFill>
            <a:srgbClr val="EEF2F5"/>
          </a:solidFill>
          <a:ln w="12700">
            <a:solidFill>
              <a:srgbClr val="EEF2F5"/>
            </a:solidFill>
            <a:prstDash val="solid"/>
          </a:ln>
        </p:spPr>
      </p:sp>
      <p:sp>
        <p:nvSpPr>
          <p:cNvPr id="21" name="Text 19"/>
          <p:cNvSpPr txBox="1"/>
          <p:nvPr/>
        </p:nvSpPr>
        <p:spPr>
          <a:xfrm>
            <a:off x="7909560" y="3847084"/>
            <a:ext cx="3504895"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ANSWER</a:t>
            </a:r>
            <a:endParaRPr lang="en-US" sz="1200" dirty="0"/>
          </a:p>
        </p:txBody>
      </p:sp>
      <p:sp>
        <p:nvSpPr>
          <p:cNvPr id="22" name="Text 20"/>
          <p:cNvSpPr txBox="1"/>
          <p:nvPr/>
        </p:nvSpPr>
        <p:spPr>
          <a:xfrm>
            <a:off x="7909560" y="4157980"/>
            <a:ext cx="3504895" cy="116052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About 0 ms.</a:t>
            </a:r>
            <a:endParaRPr lang="en-US" sz="1500" dirty="0"/>
          </a:p>
          <a:p>
            <a:pPr indent="0" marL="0">
              <a:lnSpc>
                <a:spcPct val="105000"/>
              </a:lnSpc>
              <a:buNone/>
            </a:pPr>
            <a:endParaRPr lang="en-US" sz="1500" dirty="0"/>
          </a:p>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The compiler deleted a loop whose result nobody reads. Print the sum and it takes ~640 ms.</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V14  ·  BENCHMARK HARNESS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1B2430"/>
          </a:solidFill>
          <a:ln w="12700">
            <a:solidFill>
              <a:srgbClr val="1B2430"/>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Throughput is not latency</a:t>
            </a:r>
            <a:endParaRPr lang="en-US" sz="2800" dirty="0"/>
          </a:p>
        </p:txBody>
      </p:sp>
      <p:sp>
        <p:nvSpPr>
          <p:cNvPr id="12" name="Text 10"/>
          <p:cNvSpPr txBox="1"/>
          <p:nvPr/>
        </p:nvSpPr>
        <p:spPr>
          <a:xfrm>
            <a:off x="548640" y="1417320"/>
            <a:ext cx="429768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RUN IT</a:t>
            </a:r>
            <a:endParaRPr lang="en-US" sz="1200" dirty="0"/>
          </a:p>
        </p:txBody>
      </p:sp>
      <p:sp>
        <p:nvSpPr>
          <p:cNvPr id="13" name="Shape 11"/>
          <p:cNvSpPr/>
          <p:nvPr/>
        </p:nvSpPr>
        <p:spPr>
          <a:xfrm>
            <a:off x="548640" y="1728216"/>
            <a:ext cx="4297680" cy="969264"/>
          </a:xfrm>
          <a:prstGeom prst="roundRect">
            <a:avLst>
              <a:gd name="adj" fmla="val 7547"/>
            </a:avLst>
          </a:prstGeom>
          <a:solidFill>
            <a:srgbClr val="0D1117"/>
          </a:solidFill>
          <a:ln w="12700">
            <a:solidFill>
              <a:srgbClr val="0D1117"/>
            </a:solidFill>
            <a:prstDash val="solid"/>
          </a:ln>
        </p:spPr>
      </p:sp>
      <p:sp>
        <p:nvSpPr>
          <p:cNvPr id="14" name="Text 12"/>
          <p:cNvSpPr txBox="1"/>
          <p:nvPr/>
        </p:nvSpPr>
        <p:spPr>
          <a:xfrm>
            <a:off x="731520" y="1892808"/>
            <a:ext cx="3931920" cy="640080"/>
          </a:xfrm>
          <a:prstGeom prst="rect">
            <a:avLst/>
          </a:prstGeom>
          <a:noFill/>
          <a:ln/>
        </p:spPr>
        <p:txBody>
          <a:bodyPr wrap="square" lIns="0" tIns="0" rIns="0" bIns="0" rtlCol="0" anchor="t"/>
          <a:lstStyle/>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 ./tiny_optimizer   # -O2</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result unused: 0.0002 ms</a:t>
            </a:r>
            <a:endParaRPr lang="en-US" sz="1400" dirty="0"/>
          </a:p>
          <a:p>
            <a:pPr indent="0" marL="0">
              <a:lnSpc>
                <a:spcPct val="100000"/>
              </a:lnSpc>
              <a:buNone/>
            </a:pPr>
            <a:r>
              <a:rPr lang="en-US" sz="1400" dirty="0">
                <a:solidFill>
                  <a:srgbClr val="CDE8D9"/>
                </a:solidFill>
                <a:latin typeface="Courier New" pitchFamily="34" charset="0"/>
                <a:ea typeface="Courier New" pitchFamily="34" charset="-122"/>
                <a:cs typeface="Courier New" pitchFamily="34" charset="-120"/>
              </a:rPr>
              <a:t>result used:   640 ms</a:t>
            </a:r>
            <a:endParaRPr lang="en-US" sz="1400" dirty="0"/>
          </a:p>
        </p:txBody>
      </p:sp>
      <p:sp>
        <p:nvSpPr>
          <p:cNvPr id="15" name="Text 13"/>
          <p:cNvSpPr txBox="1"/>
          <p:nvPr/>
        </p:nvSpPr>
        <p:spPr>
          <a:xfrm>
            <a:off x="548640" y="2880360"/>
            <a:ext cx="4297680"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A benchmark must use its result, and be built the way you ship.</a:t>
            </a:r>
            <a:endParaRPr lang="en-US" sz="1500" dirty="0"/>
          </a:p>
        </p:txBody>
      </p:sp>
      <p:sp>
        <p:nvSpPr>
          <p:cNvPr id="16" name="Text 14"/>
          <p:cNvSpPr txBox="1"/>
          <p:nvPr/>
        </p:nvSpPr>
        <p:spPr>
          <a:xfrm>
            <a:off x="5166360" y="1417320"/>
            <a:ext cx="6476695"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WHAT HAPPENS, STEP BY STEP</a:t>
            </a:r>
            <a:endParaRPr lang="en-US" sz="1200" dirty="0"/>
          </a:p>
        </p:txBody>
      </p:sp>
      <p:sp>
        <p:nvSpPr>
          <p:cNvPr id="17" name="Shape 15"/>
          <p:cNvSpPr/>
          <p:nvPr/>
        </p:nvSpPr>
        <p:spPr>
          <a:xfrm>
            <a:off x="5166360" y="1728216"/>
            <a:ext cx="6476695" cy="2157984"/>
          </a:xfrm>
          <a:prstGeom prst="roundRect">
            <a:avLst>
              <a:gd name="adj" fmla="val 3390"/>
            </a:avLst>
          </a:prstGeom>
          <a:solidFill>
            <a:srgbClr val="EEF2F5"/>
          </a:solidFill>
          <a:ln w="12700">
            <a:solidFill>
              <a:srgbClr val="EEF2F5"/>
            </a:solidFill>
            <a:prstDash val="solid"/>
          </a:ln>
        </p:spPr>
      </p:sp>
      <p:sp>
        <p:nvSpPr>
          <p:cNvPr id="18" name="Text 16"/>
          <p:cNvSpPr txBox="1"/>
          <p:nvPr/>
        </p:nvSpPr>
        <p:spPr>
          <a:xfrm>
            <a:off x="5349240" y="1892808"/>
            <a:ext cx="6110935" cy="1828800"/>
          </a:xfrm>
          <a:prstGeom prst="rect">
            <a:avLst/>
          </a:prstGeom>
          <a:noFill/>
          <a:ln/>
        </p:spPr>
        <p:txBody>
          <a:bodyPr wrap="square" lIns="0" tIns="0" rIns="0" bIns="0" rtlCol="0" anchor="t"/>
          <a:lstStyle/>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throughput   how many per second, flat out</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latency      how long ONE message waits</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p50     the typical message</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p99     1 in 100 is slower than this</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p99.9   1 in 1,000: where trouble lives</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B2430"/>
                </a:solidFill>
                <a:latin typeface="Courier New" pitchFamily="34" charset="0"/>
                <a:ea typeface="Courier New" pitchFamily="34" charset="-122"/>
                <a:cs typeface="Courier New" pitchFamily="34" charset="-120"/>
              </a:rPr>
              <a:t>saturated queue → you only time your own backlog</a:t>
            </a:r>
            <a:endParaRPr lang="en-US" sz="1500" dirty="0"/>
          </a:p>
        </p:txBody>
      </p:sp>
      <p:sp>
        <p:nvSpPr>
          <p:cNvPr id="19" name="Shape 17"/>
          <p:cNvSpPr/>
          <p:nvPr/>
        </p:nvSpPr>
        <p:spPr>
          <a:xfrm>
            <a:off x="5166360" y="4114800"/>
            <a:ext cx="6476695" cy="1089660"/>
          </a:xfrm>
          <a:prstGeom prst="roundRect">
            <a:avLst>
              <a:gd name="adj" fmla="val 6713"/>
            </a:avLst>
          </a:prstGeom>
          <a:solidFill>
            <a:srgbClr val="FDF1E8"/>
          </a:solidFill>
          <a:ln w="12700">
            <a:solidFill>
              <a:srgbClr val="FDF1E8"/>
            </a:solidFill>
            <a:prstDash val="solid"/>
          </a:ln>
        </p:spPr>
      </p:sp>
      <p:sp>
        <p:nvSpPr>
          <p:cNvPr id="20" name="Text 18"/>
          <p:cNvSpPr txBox="1"/>
          <p:nvPr/>
        </p:nvSpPr>
        <p:spPr>
          <a:xfrm>
            <a:off x="5394960" y="4297680"/>
            <a:ext cx="6019495"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SO</a:t>
            </a:r>
            <a:endParaRPr lang="en-US" sz="1200" dirty="0"/>
          </a:p>
        </p:txBody>
      </p:sp>
      <p:sp>
        <p:nvSpPr>
          <p:cNvPr id="21" name="Text 19"/>
          <p:cNvSpPr txBox="1"/>
          <p:nvPr/>
        </p:nvSpPr>
        <p:spPr>
          <a:xfrm>
            <a:off x="5394960" y="4608576"/>
            <a:ext cx="6019495" cy="48615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Warm up and discard it. Repeat 5 times, report the median. Measure latency at a paced rate below capacity.</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V14  ·  BENCHMARK HARNESS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1B2430"/>
          </a:solidFill>
          <a:ln w="12700">
            <a:solidFill>
              <a:srgbClr val="1B2430"/>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EEF2F5"/>
          </a:solidFill>
          <a:ln w="12700">
            <a:solidFill>
              <a:srgbClr val="EEF2F5"/>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Three queues, one harness</a:t>
            </a:r>
            <a:endParaRPr lang="en-US" sz="2800" dirty="0"/>
          </a:p>
        </p:txBody>
      </p:sp>
      <p:sp>
        <p:nvSpPr>
          <p:cNvPr id="12" name="Text 10"/>
          <p:cNvSpPr txBox="1"/>
          <p:nvPr/>
        </p:nvSpPr>
        <p:spPr>
          <a:xfrm>
            <a:off x="548640" y="1417320"/>
            <a:ext cx="676656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bench.cpp   (-O2, 1 producer, 1 consumer)</a:t>
            </a:r>
            <a:endParaRPr lang="en-US" sz="1200" dirty="0"/>
          </a:p>
        </p:txBody>
      </p:sp>
      <p:sp>
        <p:nvSpPr>
          <p:cNvPr id="13" name="Shape 11"/>
          <p:cNvSpPr/>
          <p:nvPr/>
        </p:nvSpPr>
        <p:spPr>
          <a:xfrm>
            <a:off x="548640" y="1728216"/>
            <a:ext cx="7132320" cy="1472184"/>
          </a:xfrm>
          <a:prstGeom prst="roundRect">
            <a:avLst>
              <a:gd name="adj" fmla="val 4969"/>
            </a:avLst>
          </a:prstGeom>
          <a:solidFill>
            <a:srgbClr val="161C24"/>
          </a:solidFill>
          <a:ln w="12700">
            <a:solidFill>
              <a:srgbClr val="161C24"/>
            </a:solidFill>
            <a:prstDash val="solid"/>
          </a:ln>
        </p:spPr>
      </p:sp>
      <p:sp>
        <p:nvSpPr>
          <p:cNvPr id="14" name="Text 12"/>
          <p:cNvSpPr txBox="1"/>
          <p:nvPr/>
        </p:nvSpPr>
        <p:spPr>
          <a:xfrm>
            <a:off x="731520" y="1892808"/>
            <a:ext cx="6766560" cy="1143000"/>
          </a:xfrm>
          <a:prstGeom prst="rect">
            <a:avLst/>
          </a:prstGeom>
          <a:noFill/>
          <a:ln/>
        </p:spPr>
        <p:txBody>
          <a:bodyPr wrap="square" lIns="0" tIns="0" rIns="0" bIns="0" rtlCol="0" anchor="t"/>
          <a:lstStyle/>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                   M msg/s     latency at 500k msg/s</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queue              saturated   p50       p99</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ThreadSafeQueue      4.8       5.8 µs    0.9 ms</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TwoLockQueue         0.8      18.3 µs    3.6 ms</a:t>
            </a:r>
            <a:endParaRPr lang="en-US" sz="1500" dirty="0"/>
          </a:p>
          <a:p>
            <a:pPr indent="0" marL="0">
              <a:lnSpc>
                <a:spcPct val="100000"/>
              </a:lnSpc>
              <a:buNone/>
            </a:pPr>
            <a:r>
              <a:rPr lang="en-US" sz="1500" dirty="0">
                <a:solidFill>
                  <a:srgbClr val="A9B4BF"/>
                </a:solidFill>
                <a:latin typeface="Courier New" pitchFamily="34" charset="0"/>
                <a:ea typeface="Courier New" pitchFamily="34" charset="-122"/>
                <a:cs typeface="Courier New" pitchFamily="34" charset="-120"/>
              </a:rPr>
              <a:t>SpscRing           104.8       0.26 µs   0.05 ms</a:t>
            </a:r>
            <a:endParaRPr lang="en-US" sz="1500" dirty="0"/>
          </a:p>
        </p:txBody>
      </p:sp>
      <p:sp>
        <p:nvSpPr>
          <p:cNvPr id="15" name="Shape 13"/>
          <p:cNvSpPr/>
          <p:nvPr/>
        </p:nvSpPr>
        <p:spPr>
          <a:xfrm>
            <a:off x="8001000" y="1728216"/>
            <a:ext cx="365760" cy="365760"/>
          </a:xfrm>
          <a:prstGeom prst="ellipse">
            <a:avLst/>
          </a:prstGeom>
          <a:solidFill>
            <a:srgbClr val="0F766E"/>
          </a:solidFill>
          <a:ln w="12700">
            <a:solidFill>
              <a:srgbClr val="0F766E"/>
            </a:solidFill>
            <a:prstDash val="solid"/>
          </a:ln>
        </p:spPr>
      </p:sp>
      <p:sp>
        <p:nvSpPr>
          <p:cNvPr id="16" name="Text 14"/>
          <p:cNvSpPr txBox="1"/>
          <p:nvPr/>
        </p:nvSpPr>
        <p:spPr>
          <a:xfrm>
            <a:off x="8001000" y="17282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8503920" y="1764792"/>
            <a:ext cx="3139135" cy="755904"/>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SpscRing: ~20× the throughput, ~20× lower median latency.</a:t>
            </a:r>
            <a:endParaRPr lang="en-US" sz="1600" dirty="0"/>
          </a:p>
        </p:txBody>
      </p:sp>
      <p:sp>
        <p:nvSpPr>
          <p:cNvPr id="18" name="Shape 16"/>
          <p:cNvSpPr/>
          <p:nvPr/>
        </p:nvSpPr>
        <p:spPr>
          <a:xfrm>
            <a:off x="8001000" y="2758440"/>
            <a:ext cx="365760" cy="365760"/>
          </a:xfrm>
          <a:prstGeom prst="ellipse">
            <a:avLst/>
          </a:prstGeom>
          <a:solidFill>
            <a:srgbClr val="0F766E"/>
          </a:solidFill>
          <a:ln w="12700">
            <a:solidFill>
              <a:srgbClr val="0F766E"/>
            </a:solidFill>
            <a:prstDash val="solid"/>
          </a:ln>
        </p:spPr>
      </p:sp>
      <p:sp>
        <p:nvSpPr>
          <p:cNvPr id="19" name="Text 17"/>
          <p:cNvSpPr txBox="1"/>
          <p:nvPr/>
        </p:nvSpPr>
        <p:spPr>
          <a:xfrm>
            <a:off x="8001000" y="27584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8503920" y="2795016"/>
            <a:ext cx="3139135" cy="516128"/>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Why: no locks, no allocation, no sleeping.</a:t>
            </a:r>
            <a:endParaRPr lang="en-US" sz="1600" dirty="0"/>
          </a:p>
        </p:txBody>
      </p:sp>
      <p:sp>
        <p:nvSpPr>
          <p:cNvPr id="21" name="Shape 19"/>
          <p:cNvSpPr/>
          <p:nvPr/>
        </p:nvSpPr>
        <p:spPr>
          <a:xfrm>
            <a:off x="8001000" y="3548888"/>
            <a:ext cx="365760" cy="365760"/>
          </a:xfrm>
          <a:prstGeom prst="ellipse">
            <a:avLst/>
          </a:prstGeom>
          <a:solidFill>
            <a:srgbClr val="0F766E"/>
          </a:solidFill>
          <a:ln w="12700">
            <a:solidFill>
              <a:srgbClr val="0F766E"/>
            </a:solidFill>
            <a:prstDash val="solid"/>
          </a:ln>
        </p:spPr>
      </p:sp>
      <p:sp>
        <p:nvSpPr>
          <p:cNvPr id="22" name="Text 20"/>
          <p:cNvSpPr txBox="1"/>
          <p:nvPr/>
        </p:nvSpPr>
        <p:spPr>
          <a:xfrm>
            <a:off x="8001000" y="354888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503920" y="3585464"/>
            <a:ext cx="3139135" cy="995680"/>
          </a:xfrm>
          <a:prstGeom prst="rect">
            <a:avLst/>
          </a:prstGeom>
          <a:noFill/>
          <a:ln/>
        </p:spPr>
        <p:txBody>
          <a:bodyPr wrap="square" lIns="0" tIns="0" rIns="0" bIns="0" rtlCol="0" anchor="t"/>
          <a:lstStyle/>
          <a:p>
            <a:pPr indent="0" marL="0">
              <a:lnSpc>
                <a:spcPct val="105000"/>
              </a:lnSpc>
              <a:buNone/>
            </a:pPr>
            <a:r>
              <a:rPr lang="en-US" sz="1600" dirty="0">
                <a:solidFill>
                  <a:srgbClr val="1B2430"/>
                </a:solidFill>
                <a:latin typeface="Calibri" pitchFamily="34" charset="0"/>
                <a:ea typeface="Calibri" pitchFamily="34" charset="-122"/>
                <a:cs typeface="Calibri" pitchFamily="34" charset="-120"/>
              </a:rPr>
              <a:t>Even its p99.9 reaches ~1 ms: the OS pausing a thread. That's the Feed Handler's next problem.</a:t>
            </a:r>
            <a:endParaRPr lang="en-US" sz="16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txBox="1"/>
          <p:nvPr/>
        </p:nvSpPr>
        <p:spPr>
          <a:xfrm>
            <a:off x="548640" y="292608"/>
            <a:ext cx="5486400" cy="274320"/>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V14  ·  BENCHMARK HARNESS</a:t>
            </a:r>
            <a:endParaRPr lang="en-US" sz="1200" dirty="0"/>
          </a:p>
        </p:txBody>
      </p:sp>
      <p:sp>
        <p:nvSpPr>
          <p:cNvPr id="3" name="Shape 1"/>
          <p:cNvSpPr/>
          <p:nvPr/>
        </p:nvSpPr>
        <p:spPr>
          <a:xfrm>
            <a:off x="6229807" y="292608"/>
            <a:ext cx="1298448" cy="274320"/>
          </a:xfrm>
          <a:prstGeom prst="roundRect">
            <a:avLst>
              <a:gd name="adj" fmla="val 23333"/>
            </a:avLst>
          </a:prstGeom>
          <a:solidFill>
            <a:srgbClr val="EEF2F5"/>
          </a:solidFill>
          <a:ln w="12700">
            <a:solidFill>
              <a:srgbClr val="EEF2F5"/>
            </a:solidFill>
            <a:prstDash val="solid"/>
          </a:ln>
        </p:spPr>
      </p:sp>
      <p:sp>
        <p:nvSpPr>
          <p:cNvPr id="4" name="Text 2"/>
          <p:cNvSpPr txBox="1"/>
          <p:nvPr/>
        </p:nvSpPr>
        <p:spPr>
          <a:xfrm>
            <a:off x="62298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PROBLEM</a:t>
            </a:r>
            <a:endParaRPr lang="en-US" sz="1000" dirty="0"/>
          </a:p>
        </p:txBody>
      </p:sp>
      <p:sp>
        <p:nvSpPr>
          <p:cNvPr id="5" name="Shape 3"/>
          <p:cNvSpPr/>
          <p:nvPr/>
        </p:nvSpPr>
        <p:spPr>
          <a:xfrm>
            <a:off x="7601407" y="292608"/>
            <a:ext cx="1298448" cy="274320"/>
          </a:xfrm>
          <a:prstGeom prst="roundRect">
            <a:avLst>
              <a:gd name="adj" fmla="val 23333"/>
            </a:avLst>
          </a:prstGeom>
          <a:solidFill>
            <a:srgbClr val="EEF2F5"/>
          </a:solidFill>
          <a:ln w="12700">
            <a:solidFill>
              <a:srgbClr val="EEF2F5"/>
            </a:solidFill>
            <a:prstDash val="solid"/>
          </a:ln>
        </p:spPr>
      </p:sp>
      <p:sp>
        <p:nvSpPr>
          <p:cNvPr id="6" name="Text 4"/>
          <p:cNvSpPr txBox="1"/>
          <p:nvPr/>
        </p:nvSpPr>
        <p:spPr>
          <a:xfrm>
            <a:off x="76014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WHY IT BREAKS</a:t>
            </a:r>
            <a:endParaRPr lang="en-US" sz="1000" dirty="0"/>
          </a:p>
        </p:txBody>
      </p:sp>
      <p:sp>
        <p:nvSpPr>
          <p:cNvPr id="7" name="Shape 5"/>
          <p:cNvSpPr/>
          <p:nvPr/>
        </p:nvSpPr>
        <p:spPr>
          <a:xfrm>
            <a:off x="8973007" y="292608"/>
            <a:ext cx="1298448" cy="274320"/>
          </a:xfrm>
          <a:prstGeom prst="roundRect">
            <a:avLst>
              <a:gd name="adj" fmla="val 23333"/>
            </a:avLst>
          </a:prstGeom>
          <a:solidFill>
            <a:srgbClr val="EEF2F5"/>
          </a:solidFill>
          <a:ln w="12700">
            <a:solidFill>
              <a:srgbClr val="EEF2F5"/>
            </a:solidFill>
            <a:prstDash val="solid"/>
          </a:ln>
        </p:spPr>
      </p:sp>
      <p:sp>
        <p:nvSpPr>
          <p:cNvPr id="8" name="Text 6"/>
          <p:cNvSpPr txBox="1"/>
          <p:nvPr/>
        </p:nvSpPr>
        <p:spPr>
          <a:xfrm>
            <a:off x="8973007" y="292608"/>
            <a:ext cx="1298448" cy="274320"/>
          </a:xfrm>
          <a:prstGeom prst="rect">
            <a:avLst/>
          </a:prstGeom>
          <a:noFill/>
          <a:ln/>
        </p:spPr>
        <p:txBody>
          <a:bodyPr wrap="square" lIns="0" tIns="0" rIns="0" bIns="0" rtlCol="0" anchor="ctr"/>
          <a:lstStyle/>
          <a:p>
            <a:pPr algn="ctr" indent="0" marL="0">
              <a:buNone/>
            </a:pPr>
            <a:r>
              <a:rPr lang="en-US" sz="1000" dirty="0">
                <a:solidFill>
                  <a:srgbClr val="4E5D6C"/>
                </a:solidFill>
                <a:latin typeface="Calibri" pitchFamily="34" charset="0"/>
                <a:ea typeface="Calibri" pitchFamily="34" charset="-122"/>
                <a:cs typeface="Calibri" pitchFamily="34" charset="-120"/>
              </a:rPr>
              <a:t>THE FIX</a:t>
            </a:r>
            <a:endParaRPr lang="en-US" sz="1000" dirty="0"/>
          </a:p>
        </p:txBody>
      </p:sp>
      <p:sp>
        <p:nvSpPr>
          <p:cNvPr id="9" name="Shape 7"/>
          <p:cNvSpPr/>
          <p:nvPr/>
        </p:nvSpPr>
        <p:spPr>
          <a:xfrm>
            <a:off x="10344607" y="292608"/>
            <a:ext cx="1298448" cy="274320"/>
          </a:xfrm>
          <a:prstGeom prst="roundRect">
            <a:avLst>
              <a:gd name="adj" fmla="val 23333"/>
            </a:avLst>
          </a:prstGeom>
          <a:solidFill>
            <a:srgbClr val="1B2430"/>
          </a:solidFill>
          <a:ln w="12700">
            <a:solidFill>
              <a:srgbClr val="1B2430"/>
            </a:solidFill>
            <a:prstDash val="solid"/>
          </a:ln>
        </p:spPr>
      </p:sp>
      <p:sp>
        <p:nvSpPr>
          <p:cNvPr id="10" name="Text 8"/>
          <p:cNvSpPr txBox="1"/>
          <p:nvPr/>
        </p:nvSpPr>
        <p:spPr>
          <a:xfrm>
            <a:off x="10344607" y="292608"/>
            <a:ext cx="129844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CHECK YOURSELF</a:t>
            </a:r>
            <a:endParaRPr lang="en-US" sz="1000" dirty="0"/>
          </a:p>
        </p:txBody>
      </p:sp>
      <p:sp>
        <p:nvSpPr>
          <p:cNvPr id="11"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Check yourself</a:t>
            </a:r>
            <a:endParaRPr lang="en-US" sz="2800" dirty="0"/>
          </a:p>
        </p:txBody>
      </p:sp>
      <p:sp>
        <p:nvSpPr>
          <p:cNvPr id="12" name="Shape 10"/>
          <p:cNvSpPr/>
          <p:nvPr/>
        </p:nvSpPr>
        <p:spPr>
          <a:xfrm>
            <a:off x="548640" y="1417320"/>
            <a:ext cx="4206240" cy="1404366"/>
          </a:xfrm>
          <a:prstGeom prst="roundRect">
            <a:avLst>
              <a:gd name="adj" fmla="val 5209"/>
            </a:avLst>
          </a:prstGeom>
          <a:solidFill>
            <a:srgbClr val="EEF2F5"/>
          </a:solidFill>
          <a:ln w="12700">
            <a:solidFill>
              <a:srgbClr val="EEF2F5"/>
            </a:solidFill>
            <a:prstDash val="solid"/>
          </a:ln>
        </p:spPr>
      </p:sp>
      <p:sp>
        <p:nvSpPr>
          <p:cNvPr id="13" name="Text 11"/>
          <p:cNvSpPr txBox="1"/>
          <p:nvPr/>
        </p:nvSpPr>
        <p:spPr>
          <a:xfrm>
            <a:off x="777240" y="1600200"/>
            <a:ext cx="3749040" cy="237744"/>
          </a:xfrm>
          <a:prstGeom prst="rect">
            <a:avLst/>
          </a:prstGeom>
          <a:noFill/>
          <a:ln/>
        </p:spPr>
        <p:txBody>
          <a:bodyPr wrap="square" lIns="0" tIns="0" rIns="0" bIns="0" rtlCol="0" anchor="ctr"/>
          <a:lstStyle/>
          <a:p>
            <a:pPr indent="0" marL="0">
              <a:buNone/>
            </a:pPr>
            <a:r>
              <a:rPr lang="en-US" sz="1200" b="1" spc="150" kern="0" dirty="0">
                <a:solidFill>
                  <a:srgbClr val="0F766E"/>
                </a:solidFill>
                <a:latin typeface="Calibri" pitchFamily="34" charset="0"/>
                <a:ea typeface="Calibri" pitchFamily="34" charset="-122"/>
                <a:cs typeface="Calibri" pitchFamily="34" charset="-120"/>
              </a:rPr>
              <a:t>THE LESSON</a:t>
            </a:r>
            <a:endParaRPr lang="en-US" sz="1200" dirty="0"/>
          </a:p>
        </p:txBody>
      </p:sp>
      <p:sp>
        <p:nvSpPr>
          <p:cNvPr id="14" name="Text 12"/>
          <p:cNvSpPr txBox="1"/>
          <p:nvPr/>
        </p:nvSpPr>
        <p:spPr>
          <a:xfrm>
            <a:off x="777240" y="1911096"/>
            <a:ext cx="3749040" cy="800862"/>
          </a:xfrm>
          <a:prstGeom prst="rect">
            <a:avLst/>
          </a:prstGeom>
          <a:noFill/>
          <a:ln/>
        </p:spPr>
        <p:txBody>
          <a:bodyPr wrap="square" lIns="0" tIns="0" rIns="0" bIns="0" rtlCol="0" anchor="t"/>
          <a:lstStyle/>
          <a:p>
            <a:pPr indent="0" marL="0">
              <a:lnSpc>
                <a:spcPct val="105000"/>
              </a:lnSpc>
              <a:buNone/>
            </a:pPr>
            <a:r>
              <a:rPr lang="en-US" sz="1700" dirty="0">
                <a:solidFill>
                  <a:srgbClr val="1B2430"/>
                </a:solidFill>
                <a:latin typeface="Calibri" pitchFamily="34" charset="0"/>
                <a:ea typeface="Calibri" pitchFamily="34" charset="-122"/>
                <a:cs typeface="Calibri" pitchFamily="34" charset="-120"/>
              </a:rPr>
              <a:t>One number from one run is an anecdote. Report the median, and read the tail.</a:t>
            </a:r>
            <a:endParaRPr lang="en-US" sz="1700" dirty="0"/>
          </a:p>
        </p:txBody>
      </p:sp>
      <p:sp>
        <p:nvSpPr>
          <p:cNvPr id="15" name="Text 13"/>
          <p:cNvSpPr txBox="1"/>
          <p:nvPr/>
        </p:nvSpPr>
        <p:spPr>
          <a:xfrm>
            <a:off x="548640" y="3096006"/>
            <a:ext cx="4206240" cy="237744"/>
          </a:xfrm>
          <a:prstGeom prst="rect">
            <a:avLst/>
          </a:prstGeom>
          <a:noFill/>
          <a:ln/>
        </p:spPr>
        <p:txBody>
          <a:bodyPr wrap="square" lIns="0" tIns="0" rIns="0" bIns="0" rtlCol="0" anchor="ctr"/>
          <a:lstStyle/>
          <a:p>
            <a:pPr indent="0" marL="0">
              <a:buNone/>
            </a:pPr>
            <a:r>
              <a:rPr lang="en-US" sz="1200" b="1" spc="150" kern="0" dirty="0">
                <a:solidFill>
                  <a:srgbClr val="4E5D6C"/>
                </a:solidFill>
                <a:latin typeface="Calibri" pitchFamily="34" charset="0"/>
                <a:ea typeface="Calibri" pitchFamily="34" charset="-122"/>
                <a:cs typeface="Calibri" pitchFamily="34" charset="-120"/>
              </a:rPr>
              <a:t>EXPLAIN WITHOUT LOOKING</a:t>
            </a:r>
            <a:endParaRPr lang="en-US" sz="1200" dirty="0"/>
          </a:p>
        </p:txBody>
      </p:sp>
      <p:sp>
        <p:nvSpPr>
          <p:cNvPr id="16" name="Shape 14"/>
          <p:cNvSpPr/>
          <p:nvPr/>
        </p:nvSpPr>
        <p:spPr>
          <a:xfrm>
            <a:off x="548640" y="3489198"/>
            <a:ext cx="182880" cy="182880"/>
          </a:xfrm>
          <a:prstGeom prst="rect">
            <a:avLst/>
          </a:prstGeom>
          <a:solidFill>
            <a:srgbClr val="FFFFFF"/>
          </a:solidFill>
          <a:ln w="15875">
            <a:solidFill>
              <a:srgbClr val="0F766E"/>
            </a:solidFill>
            <a:prstDash val="solid"/>
          </a:ln>
        </p:spPr>
      </p:sp>
      <p:sp>
        <p:nvSpPr>
          <p:cNvPr id="17" name="Text 15"/>
          <p:cNvSpPr txBox="1"/>
          <p:nvPr/>
        </p:nvSpPr>
        <p:spPr>
          <a:xfrm>
            <a:off x="868680" y="3443478"/>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warm up?</a:t>
            </a:r>
            <a:endParaRPr lang="en-US" sz="1500" dirty="0"/>
          </a:p>
        </p:txBody>
      </p:sp>
      <p:sp>
        <p:nvSpPr>
          <p:cNvPr id="18" name="Shape 16"/>
          <p:cNvSpPr/>
          <p:nvPr/>
        </p:nvSpPr>
        <p:spPr>
          <a:xfrm>
            <a:off x="548640" y="3860292"/>
            <a:ext cx="182880" cy="182880"/>
          </a:xfrm>
          <a:prstGeom prst="rect">
            <a:avLst/>
          </a:prstGeom>
          <a:solidFill>
            <a:srgbClr val="FFFFFF"/>
          </a:solidFill>
          <a:ln w="15875">
            <a:solidFill>
              <a:srgbClr val="0F766E"/>
            </a:solidFill>
            <a:prstDash val="solid"/>
          </a:ln>
        </p:spPr>
      </p:sp>
      <p:sp>
        <p:nvSpPr>
          <p:cNvPr id="19" name="Text 17"/>
          <p:cNvSpPr txBox="1"/>
          <p:nvPr/>
        </p:nvSpPr>
        <p:spPr>
          <a:xfrm>
            <a:off x="868680" y="3814572"/>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the median, not the mean?</a:t>
            </a:r>
            <a:endParaRPr lang="en-US" sz="1500" dirty="0"/>
          </a:p>
        </p:txBody>
      </p:sp>
      <p:sp>
        <p:nvSpPr>
          <p:cNvPr id="20" name="Shape 18"/>
          <p:cNvSpPr/>
          <p:nvPr/>
        </p:nvSpPr>
        <p:spPr>
          <a:xfrm>
            <a:off x="548640" y="4231386"/>
            <a:ext cx="182880" cy="182880"/>
          </a:xfrm>
          <a:prstGeom prst="rect">
            <a:avLst/>
          </a:prstGeom>
          <a:solidFill>
            <a:srgbClr val="FFFFFF"/>
          </a:solidFill>
          <a:ln w="15875">
            <a:solidFill>
              <a:srgbClr val="0F766E"/>
            </a:solidFill>
            <a:prstDash val="solid"/>
          </a:ln>
        </p:spPr>
      </p:sp>
      <p:sp>
        <p:nvSpPr>
          <p:cNvPr id="21" name="Text 19"/>
          <p:cNvSpPr txBox="1"/>
          <p:nvPr/>
        </p:nvSpPr>
        <p:spPr>
          <a:xfrm>
            <a:off x="868680" y="4185666"/>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Why a paced rate for latency?</a:t>
            </a:r>
            <a:endParaRPr lang="en-US" sz="1500" dirty="0"/>
          </a:p>
        </p:txBody>
      </p:sp>
      <p:sp>
        <p:nvSpPr>
          <p:cNvPr id="22" name="Shape 20"/>
          <p:cNvSpPr/>
          <p:nvPr/>
        </p:nvSpPr>
        <p:spPr>
          <a:xfrm>
            <a:off x="548640" y="4602480"/>
            <a:ext cx="182880" cy="182880"/>
          </a:xfrm>
          <a:prstGeom prst="rect">
            <a:avLst/>
          </a:prstGeom>
          <a:solidFill>
            <a:srgbClr val="FFFFFF"/>
          </a:solidFill>
          <a:ln w="15875">
            <a:solidFill>
              <a:srgbClr val="0F766E"/>
            </a:solidFill>
            <a:prstDash val="solid"/>
          </a:ln>
        </p:spPr>
      </p:sp>
      <p:sp>
        <p:nvSpPr>
          <p:cNvPr id="23" name="Text 21"/>
          <p:cNvSpPr txBox="1"/>
          <p:nvPr/>
        </p:nvSpPr>
        <p:spPr>
          <a:xfrm>
            <a:off x="868680" y="4556760"/>
            <a:ext cx="3886200" cy="261366"/>
          </a:xfrm>
          <a:prstGeom prst="rect">
            <a:avLst/>
          </a:prstGeom>
          <a:noFill/>
          <a:ln/>
        </p:spPr>
        <p:txBody>
          <a:bodyPr wrap="square" lIns="0" tIns="0" rIns="0" bIns="0" rtlCol="0" anchor="t"/>
          <a:lstStyle/>
          <a:p>
            <a:pPr indent="0" marL="0">
              <a:lnSpc>
                <a:spcPct val="105000"/>
              </a:lnSpc>
              <a:buNone/>
            </a:pPr>
            <a:r>
              <a:rPr lang="en-US" sz="1500" dirty="0">
                <a:solidFill>
                  <a:srgbClr val="1B2430"/>
                </a:solidFill>
                <a:latin typeface="Calibri" pitchFamily="34" charset="0"/>
                <a:ea typeface="Calibri" pitchFamily="34" charset="-122"/>
                <a:cs typeface="Calibri" pitchFamily="34" charset="-120"/>
              </a:rPr>
              <a:t>What did -O2 do to the unused loop?</a:t>
            </a:r>
            <a:endParaRPr lang="en-US" sz="1500" dirty="0"/>
          </a:p>
        </p:txBody>
      </p:sp>
      <p:sp>
        <p:nvSpPr>
          <p:cNvPr id="24" name="Shape 22"/>
          <p:cNvSpPr/>
          <p:nvPr/>
        </p:nvSpPr>
        <p:spPr>
          <a:xfrm>
            <a:off x="5166360" y="1417320"/>
            <a:ext cx="6476695" cy="1728724"/>
          </a:xfrm>
          <a:prstGeom prst="roundRect">
            <a:avLst>
              <a:gd name="adj" fmla="val 4232"/>
            </a:avLst>
          </a:prstGeom>
          <a:solidFill>
            <a:srgbClr val="FFFFFF"/>
          </a:solidFill>
          <a:ln w="12700">
            <a:solidFill>
              <a:srgbClr val="D5DDE5"/>
            </a:solidFill>
            <a:prstDash val="solid"/>
          </a:ln>
        </p:spPr>
      </p:sp>
      <p:sp>
        <p:nvSpPr>
          <p:cNvPr id="25" name="Text 23"/>
          <p:cNvSpPr txBox="1"/>
          <p:nvPr/>
        </p:nvSpPr>
        <p:spPr>
          <a:xfrm>
            <a:off x="5394960" y="1581912"/>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NUMBERS</a:t>
            </a:r>
            <a:endParaRPr lang="en-US" sz="1200" dirty="0"/>
          </a:p>
        </p:txBody>
      </p:sp>
      <p:sp>
        <p:nvSpPr>
          <p:cNvPr id="26" name="Text 24"/>
          <p:cNvSpPr txBox="1"/>
          <p:nvPr/>
        </p:nvSpPr>
        <p:spPr>
          <a:xfrm>
            <a:off x="5394960" y="1892808"/>
            <a:ext cx="6019495" cy="48615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5 runs: 4.1, 4.8, 4.9, 5.0, 12.0 M/s. Mean? Median? Which to report?</a:t>
            </a:r>
            <a:endParaRPr lang="en-US" sz="1500" dirty="0"/>
          </a:p>
        </p:txBody>
      </p:sp>
      <p:sp>
        <p:nvSpPr>
          <p:cNvPr id="27" name="Text 25"/>
          <p:cNvSpPr txBox="1"/>
          <p:nvPr/>
        </p:nvSpPr>
        <p:spPr>
          <a:xfrm>
            <a:off x="5394960" y="2470404"/>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Mean 6.16, median 4.9. Report the median: one outlier moved the mean.</a:t>
            </a:r>
            <a:endParaRPr lang="en-US" sz="1400" dirty="0"/>
          </a:p>
        </p:txBody>
      </p:sp>
      <p:sp>
        <p:nvSpPr>
          <p:cNvPr id="28" name="Shape 26"/>
          <p:cNvSpPr/>
          <p:nvPr/>
        </p:nvSpPr>
        <p:spPr>
          <a:xfrm>
            <a:off x="5166360" y="3328924"/>
            <a:ext cx="6476695" cy="1294130"/>
          </a:xfrm>
          <a:prstGeom prst="roundRect">
            <a:avLst>
              <a:gd name="adj" fmla="val 5653"/>
            </a:avLst>
          </a:prstGeom>
          <a:solidFill>
            <a:srgbClr val="FFFFFF"/>
          </a:solidFill>
          <a:ln w="12700">
            <a:solidFill>
              <a:srgbClr val="D5DDE5"/>
            </a:solidFill>
            <a:prstDash val="solid"/>
          </a:ln>
        </p:spPr>
      </p:sp>
      <p:sp>
        <p:nvSpPr>
          <p:cNvPr id="29" name="Text 27"/>
          <p:cNvSpPr txBox="1"/>
          <p:nvPr/>
        </p:nvSpPr>
        <p:spPr>
          <a:xfrm>
            <a:off x="5394960" y="3493516"/>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TRACE IT</a:t>
            </a:r>
            <a:endParaRPr lang="en-US" sz="1200" dirty="0"/>
          </a:p>
        </p:txBody>
      </p:sp>
      <p:sp>
        <p:nvSpPr>
          <p:cNvPr id="30" name="Text 28"/>
          <p:cNvSpPr txBox="1"/>
          <p:nvPr/>
        </p:nvSpPr>
        <p:spPr>
          <a:xfrm>
            <a:off x="5394960" y="3804412"/>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1,000,000 latencies sorted. Which index is p99?</a:t>
            </a:r>
            <a:endParaRPr lang="en-US" sz="1500" dirty="0"/>
          </a:p>
        </p:txBody>
      </p:sp>
      <p:sp>
        <p:nvSpPr>
          <p:cNvPr id="31" name="Text 29"/>
          <p:cNvSpPr txBox="1"/>
          <p:nvPr/>
        </p:nvSpPr>
        <p:spPr>
          <a:xfrm>
            <a:off x="5394960" y="4157218"/>
            <a:ext cx="6019495" cy="246380"/>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Index 990,000 (99% are at or below it).</a:t>
            </a:r>
            <a:endParaRPr lang="en-US" sz="1400" dirty="0"/>
          </a:p>
        </p:txBody>
      </p:sp>
      <p:sp>
        <p:nvSpPr>
          <p:cNvPr id="32" name="Shape 30"/>
          <p:cNvSpPr/>
          <p:nvPr/>
        </p:nvSpPr>
        <p:spPr>
          <a:xfrm>
            <a:off x="5166360" y="4805934"/>
            <a:ext cx="6476695" cy="1503934"/>
          </a:xfrm>
          <a:prstGeom prst="roundRect">
            <a:avLst>
              <a:gd name="adj" fmla="val 4864"/>
            </a:avLst>
          </a:prstGeom>
          <a:solidFill>
            <a:srgbClr val="FFFFFF"/>
          </a:solidFill>
          <a:ln w="12700">
            <a:solidFill>
              <a:srgbClr val="D5DDE5"/>
            </a:solidFill>
            <a:prstDash val="solid"/>
          </a:ln>
        </p:spPr>
      </p:sp>
      <p:sp>
        <p:nvSpPr>
          <p:cNvPr id="33" name="Text 31"/>
          <p:cNvSpPr txBox="1"/>
          <p:nvPr/>
        </p:nvSpPr>
        <p:spPr>
          <a:xfrm>
            <a:off x="5394960" y="4970526"/>
            <a:ext cx="1828800" cy="237744"/>
          </a:xfrm>
          <a:prstGeom prst="rect">
            <a:avLst/>
          </a:prstGeom>
          <a:noFill/>
          <a:ln/>
        </p:spPr>
        <p:txBody>
          <a:bodyPr wrap="square" lIns="0" tIns="0" rIns="0" bIns="0" rtlCol="0" anchor="ctr"/>
          <a:lstStyle/>
          <a:p>
            <a:pPr indent="0" marL="0">
              <a:buNone/>
            </a:pPr>
            <a:r>
              <a:rPr lang="en-US" sz="1200" b="1" spc="150" kern="0" dirty="0">
                <a:solidFill>
                  <a:srgbClr val="B4501A"/>
                </a:solidFill>
                <a:latin typeface="Calibri" pitchFamily="34" charset="0"/>
                <a:ea typeface="Calibri" pitchFamily="34" charset="-122"/>
                <a:cs typeface="Calibri" pitchFamily="34" charset="-120"/>
              </a:rPr>
              <a:t>DESIGN</a:t>
            </a:r>
            <a:endParaRPr lang="en-US" sz="1200" dirty="0"/>
          </a:p>
        </p:txBody>
      </p:sp>
      <p:sp>
        <p:nvSpPr>
          <p:cNvPr id="34" name="Text 32"/>
          <p:cNvSpPr txBox="1"/>
          <p:nvPr/>
        </p:nvSpPr>
        <p:spPr>
          <a:xfrm>
            <a:off x="5394960" y="5281422"/>
            <a:ext cx="6019495" cy="261366"/>
          </a:xfrm>
          <a:prstGeom prst="rect">
            <a:avLst/>
          </a:prstGeom>
          <a:noFill/>
          <a:ln/>
        </p:spPr>
        <p:txBody>
          <a:bodyPr wrap="square" lIns="0" tIns="0" rIns="0" bIns="0" rtlCol="0" anchor="t"/>
          <a:lstStyle/>
          <a:p>
            <a:pPr indent="0" marL="0">
              <a:lnSpc>
                <a:spcPct val="105000"/>
              </a:lnSpc>
              <a:buNone/>
            </a:pPr>
            <a:r>
              <a:rPr lang="en-US" sz="1500" b="1" dirty="0">
                <a:solidFill>
                  <a:srgbClr val="1B2430"/>
                </a:solidFill>
                <a:latin typeface="Calibri" pitchFamily="34" charset="0"/>
                <a:ea typeface="Calibri" pitchFamily="34" charset="-122"/>
                <a:cs typeface="Calibri" pitchFamily="34" charset="-120"/>
              </a:rPr>
              <a:t>Design a fair comparison of your queue vs a friend's.</a:t>
            </a:r>
            <a:endParaRPr lang="en-US" sz="1500" dirty="0"/>
          </a:p>
        </p:txBody>
      </p:sp>
      <p:sp>
        <p:nvSpPr>
          <p:cNvPr id="35" name="Text 33"/>
          <p:cNvSpPr txBox="1"/>
          <p:nvPr/>
        </p:nvSpPr>
        <p:spPr>
          <a:xfrm>
            <a:off x="5394960" y="5634228"/>
            <a:ext cx="6019495" cy="456184"/>
          </a:xfrm>
          <a:prstGeom prst="rect">
            <a:avLst/>
          </a:prstGeom>
          <a:noFill/>
          <a:ln/>
        </p:spPr>
        <p:txBody>
          <a:bodyPr wrap="square" lIns="0" tIns="0" rIns="0" bIns="0" rtlCol="0" anchor="t"/>
          <a:lstStyle/>
          <a:p>
            <a:pPr indent="0" marL="0">
              <a:lnSpc>
                <a:spcPct val="105000"/>
              </a:lnSpc>
              <a:buNone/>
            </a:pPr>
            <a:r>
              <a:rPr lang="en-US" sz="1400" dirty="0">
                <a:solidFill>
                  <a:srgbClr val="4E5D6C"/>
                </a:solidFill>
                <a:latin typeface="Calibri" pitchFamily="34" charset="0"/>
                <a:ea typeface="Calibri" pitchFamily="34" charset="-122"/>
                <a:cs typeface="Calibri" pitchFamily="34" charset="-120"/>
              </a:rPr>
              <a:t>Same machine, -O2, same load, warm-up, 5+ runs, median throughput, p50/p99/p99.9 at a paced rate.</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566928"/>
          </a:xfrm>
          <a:prstGeom prst="rect">
            <a:avLst/>
          </a:prstGeom>
          <a:noFill/>
          <a:ln/>
        </p:spPr>
        <p:txBody>
          <a:bodyPr wrap="square" lIns="0" tIns="0" rIns="0" bIns="0" rtlCol="0" anchor="t"/>
          <a:lstStyle/>
          <a:p>
            <a:pPr algn="l" indent="0" marL="0">
              <a:buNone/>
            </a:pPr>
            <a:r>
              <a:rPr lang="en-US" sz="2800" b="1" dirty="0">
                <a:solidFill>
                  <a:srgbClr val="1B2430"/>
                </a:solidFill>
                <a:latin typeface="Cambria" pitchFamily="34" charset="0"/>
                <a:ea typeface="Cambria" pitchFamily="34" charset="-122"/>
                <a:cs typeface="Cambria" pitchFamily="34" charset="-120"/>
              </a:rPr>
              <a:t>Every tool arrived because something broke</a:t>
            </a:r>
            <a:endParaRPr lang="en-US" sz="2800" dirty="0"/>
          </a:p>
        </p:txBody>
      </p:sp>
      <p:sp>
        <p:nvSpPr>
          <p:cNvPr id="3" name="Shape 1"/>
          <p:cNvSpPr/>
          <p:nvPr/>
        </p:nvSpPr>
        <p:spPr>
          <a:xfrm>
            <a:off x="548640" y="1417320"/>
            <a:ext cx="3545738" cy="987552"/>
          </a:xfrm>
          <a:prstGeom prst="roundRect">
            <a:avLst>
              <a:gd name="adj" fmla="val 7407"/>
            </a:avLst>
          </a:prstGeom>
          <a:solidFill>
            <a:srgbClr val="EEF2F5"/>
          </a:solidFill>
          <a:ln w="12700">
            <a:solidFill>
              <a:srgbClr val="EEF2F5"/>
            </a:solidFill>
            <a:prstDash val="solid"/>
          </a:ln>
        </p:spPr>
      </p:sp>
      <p:sp>
        <p:nvSpPr>
          <p:cNvPr id="4" name="Text 2"/>
          <p:cNvSpPr txBox="1"/>
          <p:nvPr/>
        </p:nvSpPr>
        <p:spPr>
          <a:xfrm>
            <a:off x="777240" y="1545336"/>
            <a:ext cx="2631338" cy="731520"/>
          </a:xfrm>
          <a:prstGeom prst="rect">
            <a:avLst/>
          </a:prstGeom>
          <a:noFill/>
          <a:ln/>
        </p:spPr>
        <p:txBody>
          <a:bodyPr wrap="square" lIns="0" tIns="0" rIns="0" bIns="0" rtlCol="0" anchor="ctr"/>
          <a:lstStyle/>
          <a:p>
            <a:pPr indent="0" marL="0">
              <a:buNone/>
            </a:pPr>
            <a:r>
              <a:rPr lang="en-US" sz="1600" dirty="0">
                <a:solidFill>
                  <a:srgbClr val="4E5D6C"/>
                </a:solidFill>
                <a:latin typeface="Calibri" pitchFamily="34" charset="0"/>
                <a:ea typeface="Calibri" pitchFamily="34" charset="-122"/>
                <a:cs typeface="Calibri" pitchFamily="34" charset="-120"/>
              </a:rPr>
              <a:t>lost update</a:t>
            </a:r>
            <a:endParaRPr lang="en-US" sz="1600" dirty="0"/>
          </a:p>
          <a:p>
            <a:pPr indent="0" marL="0">
              <a:buNone/>
            </a:pPr>
            <a:r>
              <a:rPr lang="en-US" sz="1600" b="1" dirty="0">
                <a:solidFill>
                  <a:srgbClr val="1B2430"/>
                </a:solidFill>
                <a:latin typeface="Calibri" pitchFamily="34" charset="0"/>
                <a:ea typeface="Calibri" pitchFamily="34" charset="-122"/>
                <a:cs typeface="Calibri" pitchFamily="34" charset="-120"/>
              </a:rPr>
              <a:t>mutex</a:t>
            </a:r>
            <a:endParaRPr lang="en-US" sz="1600" dirty="0"/>
          </a:p>
        </p:txBody>
      </p:sp>
      <p:sp>
        <p:nvSpPr>
          <p:cNvPr id="5" name="Text 3"/>
          <p:cNvSpPr txBox="1"/>
          <p:nvPr/>
        </p:nvSpPr>
        <p:spPr>
          <a:xfrm>
            <a:off x="3362858" y="154533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urier New" pitchFamily="34" charset="0"/>
                <a:ea typeface="Courier New" pitchFamily="34" charset="-122"/>
                <a:cs typeface="Courier New" pitchFamily="34" charset="-120"/>
              </a:rPr>
              <a:t>v2</a:t>
            </a:r>
            <a:endParaRPr lang="en-US" sz="1400" dirty="0"/>
          </a:p>
        </p:txBody>
      </p:sp>
      <p:sp>
        <p:nvSpPr>
          <p:cNvPr id="6" name="Shape 4"/>
          <p:cNvSpPr/>
          <p:nvPr/>
        </p:nvSpPr>
        <p:spPr>
          <a:xfrm>
            <a:off x="4322978" y="1417320"/>
            <a:ext cx="3545738" cy="987552"/>
          </a:xfrm>
          <a:prstGeom prst="roundRect">
            <a:avLst>
              <a:gd name="adj" fmla="val 7407"/>
            </a:avLst>
          </a:prstGeom>
          <a:solidFill>
            <a:srgbClr val="EEF2F5"/>
          </a:solidFill>
          <a:ln w="12700">
            <a:solidFill>
              <a:srgbClr val="EEF2F5"/>
            </a:solidFill>
            <a:prstDash val="solid"/>
          </a:ln>
        </p:spPr>
      </p:sp>
      <p:sp>
        <p:nvSpPr>
          <p:cNvPr id="7" name="Text 5"/>
          <p:cNvSpPr txBox="1"/>
          <p:nvPr/>
        </p:nvSpPr>
        <p:spPr>
          <a:xfrm>
            <a:off x="4551578" y="1545336"/>
            <a:ext cx="2631338" cy="731520"/>
          </a:xfrm>
          <a:prstGeom prst="rect">
            <a:avLst/>
          </a:prstGeom>
          <a:noFill/>
          <a:ln/>
        </p:spPr>
        <p:txBody>
          <a:bodyPr wrap="square" lIns="0" tIns="0" rIns="0" bIns="0" rtlCol="0" anchor="ctr"/>
          <a:lstStyle/>
          <a:p>
            <a:pPr indent="0" marL="0">
              <a:buNone/>
            </a:pPr>
            <a:r>
              <a:rPr lang="en-US" sz="1600" dirty="0">
                <a:solidFill>
                  <a:srgbClr val="4E5D6C"/>
                </a:solidFill>
                <a:latin typeface="Calibri" pitchFamily="34" charset="0"/>
                <a:ea typeface="Calibri" pitchFamily="34" charset="-122"/>
                <a:cs typeface="Calibri" pitchFamily="34" charset="-120"/>
              </a:rPr>
              <a:t>forgotten unlock</a:t>
            </a:r>
            <a:endParaRPr lang="en-US" sz="1600" dirty="0"/>
          </a:p>
          <a:p>
            <a:pPr indent="0" marL="0">
              <a:buNone/>
            </a:pPr>
            <a:r>
              <a:rPr lang="en-US" sz="1600" b="1" dirty="0">
                <a:solidFill>
                  <a:srgbClr val="1B2430"/>
                </a:solidFill>
                <a:latin typeface="Calibri" pitchFamily="34" charset="0"/>
                <a:ea typeface="Calibri" pitchFamily="34" charset="-122"/>
                <a:cs typeface="Calibri" pitchFamily="34" charset="-120"/>
              </a:rPr>
              <a:t>lock_guard</a:t>
            </a:r>
            <a:endParaRPr lang="en-US" sz="1600" dirty="0"/>
          </a:p>
        </p:txBody>
      </p:sp>
      <p:sp>
        <p:nvSpPr>
          <p:cNvPr id="8" name="Text 6"/>
          <p:cNvSpPr txBox="1"/>
          <p:nvPr/>
        </p:nvSpPr>
        <p:spPr>
          <a:xfrm>
            <a:off x="7137197" y="154533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urier New" pitchFamily="34" charset="0"/>
                <a:ea typeface="Courier New" pitchFamily="34" charset="-122"/>
                <a:cs typeface="Courier New" pitchFamily="34" charset="-120"/>
              </a:rPr>
              <a:t>v3</a:t>
            </a:r>
            <a:endParaRPr lang="en-US" sz="1400" dirty="0"/>
          </a:p>
        </p:txBody>
      </p:sp>
      <p:sp>
        <p:nvSpPr>
          <p:cNvPr id="9" name="Shape 7"/>
          <p:cNvSpPr/>
          <p:nvPr/>
        </p:nvSpPr>
        <p:spPr>
          <a:xfrm>
            <a:off x="8097317" y="1417320"/>
            <a:ext cx="3545738" cy="987552"/>
          </a:xfrm>
          <a:prstGeom prst="roundRect">
            <a:avLst>
              <a:gd name="adj" fmla="val 7407"/>
            </a:avLst>
          </a:prstGeom>
          <a:solidFill>
            <a:srgbClr val="EEF2F5"/>
          </a:solidFill>
          <a:ln w="12700">
            <a:solidFill>
              <a:srgbClr val="EEF2F5"/>
            </a:solidFill>
            <a:prstDash val="solid"/>
          </a:ln>
        </p:spPr>
      </p:sp>
      <p:sp>
        <p:nvSpPr>
          <p:cNvPr id="10" name="Text 8"/>
          <p:cNvSpPr txBox="1"/>
          <p:nvPr/>
        </p:nvSpPr>
        <p:spPr>
          <a:xfrm>
            <a:off x="8325917" y="1545336"/>
            <a:ext cx="2631338" cy="731520"/>
          </a:xfrm>
          <a:prstGeom prst="rect">
            <a:avLst/>
          </a:prstGeom>
          <a:noFill/>
          <a:ln/>
        </p:spPr>
        <p:txBody>
          <a:bodyPr wrap="square" lIns="0" tIns="0" rIns="0" bIns="0" rtlCol="0" anchor="ctr"/>
          <a:lstStyle/>
          <a:p>
            <a:pPr indent="0" marL="0">
              <a:buNone/>
            </a:pPr>
            <a:r>
              <a:rPr lang="en-US" sz="1600" dirty="0">
                <a:solidFill>
                  <a:srgbClr val="4E5D6C"/>
                </a:solidFill>
                <a:latin typeface="Calibri" pitchFamily="34" charset="0"/>
                <a:ea typeface="Calibri" pitchFamily="34" charset="-122"/>
                <a:cs typeface="Calibri" pitchFamily="34" charset="-120"/>
              </a:rPr>
              <a:t>check-then-act</a:t>
            </a:r>
            <a:endParaRPr lang="en-US" sz="1600" dirty="0"/>
          </a:p>
          <a:p>
            <a:pPr indent="0" marL="0">
              <a:buNone/>
            </a:pPr>
            <a:r>
              <a:rPr lang="en-US" sz="1600" b="1" dirty="0">
                <a:solidFill>
                  <a:srgbClr val="1B2430"/>
                </a:solidFill>
                <a:latin typeface="Calibri" pitchFamily="34" charset="0"/>
                <a:ea typeface="Calibri" pitchFamily="34" charset="-122"/>
                <a:cs typeface="Calibri" pitchFamily="34" charset="-120"/>
              </a:rPr>
              <a:t>try_pop</a:t>
            </a:r>
            <a:endParaRPr lang="en-US" sz="1600" dirty="0"/>
          </a:p>
        </p:txBody>
      </p:sp>
      <p:sp>
        <p:nvSpPr>
          <p:cNvPr id="11" name="Text 9"/>
          <p:cNvSpPr txBox="1"/>
          <p:nvPr/>
        </p:nvSpPr>
        <p:spPr>
          <a:xfrm>
            <a:off x="10911535" y="154533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urier New" pitchFamily="34" charset="0"/>
                <a:ea typeface="Courier New" pitchFamily="34" charset="-122"/>
                <a:cs typeface="Courier New" pitchFamily="34" charset="-120"/>
              </a:rPr>
              <a:t>v3</a:t>
            </a:r>
            <a:endParaRPr lang="en-US" sz="1400" dirty="0"/>
          </a:p>
        </p:txBody>
      </p:sp>
      <p:sp>
        <p:nvSpPr>
          <p:cNvPr id="12" name="Shape 10"/>
          <p:cNvSpPr/>
          <p:nvPr/>
        </p:nvSpPr>
        <p:spPr>
          <a:xfrm>
            <a:off x="548640" y="2606040"/>
            <a:ext cx="3545738" cy="987552"/>
          </a:xfrm>
          <a:prstGeom prst="roundRect">
            <a:avLst>
              <a:gd name="adj" fmla="val 7407"/>
            </a:avLst>
          </a:prstGeom>
          <a:solidFill>
            <a:srgbClr val="EEF2F5"/>
          </a:solidFill>
          <a:ln w="12700">
            <a:solidFill>
              <a:srgbClr val="EEF2F5"/>
            </a:solidFill>
            <a:prstDash val="solid"/>
          </a:ln>
        </p:spPr>
      </p:sp>
      <p:sp>
        <p:nvSpPr>
          <p:cNvPr id="13" name="Text 11"/>
          <p:cNvSpPr txBox="1"/>
          <p:nvPr/>
        </p:nvSpPr>
        <p:spPr>
          <a:xfrm>
            <a:off x="777240" y="2734056"/>
            <a:ext cx="2631338" cy="731520"/>
          </a:xfrm>
          <a:prstGeom prst="rect">
            <a:avLst/>
          </a:prstGeom>
          <a:noFill/>
          <a:ln/>
        </p:spPr>
        <p:txBody>
          <a:bodyPr wrap="square" lIns="0" tIns="0" rIns="0" bIns="0" rtlCol="0" anchor="ctr"/>
          <a:lstStyle/>
          <a:p>
            <a:pPr indent="0" marL="0">
              <a:buNone/>
            </a:pPr>
            <a:r>
              <a:rPr lang="en-US" sz="1600" dirty="0">
                <a:solidFill>
                  <a:srgbClr val="4E5D6C"/>
                </a:solidFill>
                <a:latin typeface="Calibri" pitchFamily="34" charset="0"/>
                <a:ea typeface="Calibri" pitchFamily="34" charset="-122"/>
                <a:cs typeface="Calibri" pitchFamily="34" charset="-120"/>
              </a:rPr>
              <a:t>spinning consumer</a:t>
            </a:r>
            <a:endParaRPr lang="en-US" sz="1600" dirty="0"/>
          </a:p>
          <a:p>
            <a:pPr indent="0" marL="0">
              <a:buNone/>
            </a:pPr>
            <a:r>
              <a:rPr lang="en-US" sz="1600" b="1" dirty="0">
                <a:solidFill>
                  <a:srgbClr val="1B2430"/>
                </a:solidFill>
                <a:latin typeface="Calibri" pitchFamily="34" charset="0"/>
                <a:ea typeface="Calibri" pitchFamily="34" charset="-122"/>
                <a:cs typeface="Calibri" pitchFamily="34" charset="-120"/>
              </a:rPr>
              <a:t>condition_variable</a:t>
            </a:r>
            <a:endParaRPr lang="en-US" sz="1600" dirty="0"/>
          </a:p>
        </p:txBody>
      </p:sp>
      <p:sp>
        <p:nvSpPr>
          <p:cNvPr id="14" name="Text 12"/>
          <p:cNvSpPr txBox="1"/>
          <p:nvPr/>
        </p:nvSpPr>
        <p:spPr>
          <a:xfrm>
            <a:off x="3362858" y="273405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urier New" pitchFamily="34" charset="0"/>
                <a:ea typeface="Courier New" pitchFamily="34" charset="-122"/>
                <a:cs typeface="Courier New" pitchFamily="34" charset="-120"/>
              </a:rPr>
              <a:t>v4</a:t>
            </a:r>
            <a:endParaRPr lang="en-US" sz="1400" dirty="0"/>
          </a:p>
        </p:txBody>
      </p:sp>
      <p:sp>
        <p:nvSpPr>
          <p:cNvPr id="15" name="Shape 13"/>
          <p:cNvSpPr/>
          <p:nvPr/>
        </p:nvSpPr>
        <p:spPr>
          <a:xfrm>
            <a:off x="4322978" y="2606040"/>
            <a:ext cx="3545738" cy="987552"/>
          </a:xfrm>
          <a:prstGeom prst="roundRect">
            <a:avLst>
              <a:gd name="adj" fmla="val 7407"/>
            </a:avLst>
          </a:prstGeom>
          <a:solidFill>
            <a:srgbClr val="EEF2F5"/>
          </a:solidFill>
          <a:ln w="12700">
            <a:solidFill>
              <a:srgbClr val="EEF2F5"/>
            </a:solidFill>
            <a:prstDash val="solid"/>
          </a:ln>
        </p:spPr>
      </p:sp>
      <p:sp>
        <p:nvSpPr>
          <p:cNvPr id="16" name="Text 14"/>
          <p:cNvSpPr txBox="1"/>
          <p:nvPr/>
        </p:nvSpPr>
        <p:spPr>
          <a:xfrm>
            <a:off x="4551578" y="2734056"/>
            <a:ext cx="2631338" cy="731520"/>
          </a:xfrm>
          <a:prstGeom prst="rect">
            <a:avLst/>
          </a:prstGeom>
          <a:noFill/>
          <a:ln/>
        </p:spPr>
        <p:txBody>
          <a:bodyPr wrap="square" lIns="0" tIns="0" rIns="0" bIns="0" rtlCol="0" anchor="ctr"/>
          <a:lstStyle/>
          <a:p>
            <a:pPr indent="0" marL="0">
              <a:buNone/>
            </a:pPr>
            <a:r>
              <a:rPr lang="en-US" sz="1600" dirty="0">
                <a:solidFill>
                  <a:srgbClr val="4E5D6C"/>
                </a:solidFill>
                <a:latin typeface="Calibri" pitchFamily="34" charset="0"/>
                <a:ea typeface="Calibri" pitchFamily="34" charset="-122"/>
                <a:cs typeface="Calibri" pitchFamily="34" charset="-120"/>
              </a:rPr>
              <a:t>opposite locks</a:t>
            </a:r>
            <a:endParaRPr lang="en-US" sz="1600" dirty="0"/>
          </a:p>
          <a:p>
            <a:pPr indent="0" marL="0">
              <a:buNone/>
            </a:pPr>
            <a:r>
              <a:rPr lang="en-US" sz="1600" b="1" dirty="0">
                <a:solidFill>
                  <a:srgbClr val="1B2430"/>
                </a:solidFill>
                <a:latin typeface="Calibri" pitchFamily="34" charset="0"/>
                <a:ea typeface="Calibri" pitchFamily="34" charset="-122"/>
                <a:cs typeface="Calibri" pitchFamily="34" charset="-120"/>
              </a:rPr>
              <a:t>scoped_lock</a:t>
            </a:r>
            <a:endParaRPr lang="en-US" sz="1600" dirty="0"/>
          </a:p>
        </p:txBody>
      </p:sp>
      <p:sp>
        <p:nvSpPr>
          <p:cNvPr id="17" name="Text 15"/>
          <p:cNvSpPr txBox="1"/>
          <p:nvPr/>
        </p:nvSpPr>
        <p:spPr>
          <a:xfrm>
            <a:off x="7137197" y="273405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urier New" pitchFamily="34" charset="0"/>
                <a:ea typeface="Courier New" pitchFamily="34" charset="-122"/>
                <a:cs typeface="Courier New" pitchFamily="34" charset="-120"/>
              </a:rPr>
              <a:t>v5</a:t>
            </a:r>
            <a:endParaRPr lang="en-US" sz="1400" dirty="0"/>
          </a:p>
        </p:txBody>
      </p:sp>
      <p:sp>
        <p:nvSpPr>
          <p:cNvPr id="18" name="Shape 16"/>
          <p:cNvSpPr/>
          <p:nvPr/>
        </p:nvSpPr>
        <p:spPr>
          <a:xfrm>
            <a:off x="8097317" y="2606040"/>
            <a:ext cx="3545738" cy="987552"/>
          </a:xfrm>
          <a:prstGeom prst="roundRect">
            <a:avLst>
              <a:gd name="adj" fmla="val 7407"/>
            </a:avLst>
          </a:prstGeom>
          <a:solidFill>
            <a:srgbClr val="EEF2F5"/>
          </a:solidFill>
          <a:ln w="12700">
            <a:solidFill>
              <a:srgbClr val="EEF2F5"/>
            </a:solidFill>
            <a:prstDash val="solid"/>
          </a:ln>
        </p:spPr>
      </p:sp>
      <p:sp>
        <p:nvSpPr>
          <p:cNvPr id="19" name="Text 17"/>
          <p:cNvSpPr txBox="1"/>
          <p:nvPr/>
        </p:nvSpPr>
        <p:spPr>
          <a:xfrm>
            <a:off x="8325917" y="2734056"/>
            <a:ext cx="2631338" cy="731520"/>
          </a:xfrm>
          <a:prstGeom prst="rect">
            <a:avLst/>
          </a:prstGeom>
          <a:noFill/>
          <a:ln/>
        </p:spPr>
        <p:txBody>
          <a:bodyPr wrap="square" lIns="0" tIns="0" rIns="0" bIns="0" rtlCol="0" anchor="ctr"/>
          <a:lstStyle/>
          <a:p>
            <a:pPr indent="0" marL="0">
              <a:buNone/>
            </a:pPr>
            <a:r>
              <a:rPr lang="en-US" sz="1600" dirty="0">
                <a:solidFill>
                  <a:srgbClr val="4E5D6C"/>
                </a:solidFill>
                <a:latin typeface="Calibri" pitchFamily="34" charset="0"/>
                <a:ea typeface="Calibri" pitchFamily="34" charset="-122"/>
                <a:cs typeface="Calibri" pitchFamily="34" charset="-120"/>
              </a:rPr>
              <a:t>no way to stop</a:t>
            </a:r>
            <a:endParaRPr lang="en-US" sz="1600" dirty="0"/>
          </a:p>
          <a:p>
            <a:pPr indent="0" marL="0">
              <a:buNone/>
            </a:pPr>
            <a:r>
              <a:rPr lang="en-US" sz="1600" b="1" dirty="0">
                <a:solidFill>
                  <a:srgbClr val="1B2430"/>
                </a:solidFill>
                <a:latin typeface="Calibri" pitchFamily="34" charset="0"/>
                <a:ea typeface="Calibri" pitchFamily="34" charset="-122"/>
                <a:cs typeface="Calibri" pitchFamily="34" charset="-120"/>
              </a:rPr>
              <a:t>closed + notify_all</a:t>
            </a:r>
            <a:endParaRPr lang="en-US" sz="1600" dirty="0"/>
          </a:p>
        </p:txBody>
      </p:sp>
      <p:sp>
        <p:nvSpPr>
          <p:cNvPr id="20" name="Text 18"/>
          <p:cNvSpPr txBox="1"/>
          <p:nvPr/>
        </p:nvSpPr>
        <p:spPr>
          <a:xfrm>
            <a:off x="10911535" y="273405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urier New" pitchFamily="34" charset="0"/>
                <a:ea typeface="Courier New" pitchFamily="34" charset="-122"/>
                <a:cs typeface="Courier New" pitchFamily="34" charset="-120"/>
              </a:rPr>
              <a:t>v6</a:t>
            </a:r>
            <a:endParaRPr lang="en-US" sz="1400" dirty="0"/>
          </a:p>
        </p:txBody>
      </p:sp>
      <p:sp>
        <p:nvSpPr>
          <p:cNvPr id="21" name="Shape 19"/>
          <p:cNvSpPr/>
          <p:nvPr/>
        </p:nvSpPr>
        <p:spPr>
          <a:xfrm>
            <a:off x="548640" y="3794760"/>
            <a:ext cx="3545738" cy="987552"/>
          </a:xfrm>
          <a:prstGeom prst="roundRect">
            <a:avLst>
              <a:gd name="adj" fmla="val 7407"/>
            </a:avLst>
          </a:prstGeom>
          <a:solidFill>
            <a:srgbClr val="EEF2F5"/>
          </a:solidFill>
          <a:ln w="12700">
            <a:solidFill>
              <a:srgbClr val="EEF2F5"/>
            </a:solidFill>
            <a:prstDash val="solid"/>
          </a:ln>
        </p:spPr>
      </p:sp>
      <p:sp>
        <p:nvSpPr>
          <p:cNvPr id="22" name="Text 20"/>
          <p:cNvSpPr txBox="1"/>
          <p:nvPr/>
        </p:nvSpPr>
        <p:spPr>
          <a:xfrm>
            <a:off x="777240" y="3922776"/>
            <a:ext cx="2631338" cy="731520"/>
          </a:xfrm>
          <a:prstGeom prst="rect">
            <a:avLst/>
          </a:prstGeom>
          <a:noFill/>
          <a:ln/>
        </p:spPr>
        <p:txBody>
          <a:bodyPr wrap="square" lIns="0" tIns="0" rIns="0" bIns="0" rtlCol="0" anchor="ctr"/>
          <a:lstStyle/>
          <a:p>
            <a:pPr indent="0" marL="0">
              <a:buNone/>
            </a:pPr>
            <a:r>
              <a:rPr lang="en-US" sz="1600" dirty="0">
                <a:solidFill>
                  <a:srgbClr val="4E5D6C"/>
                </a:solidFill>
                <a:latin typeface="Calibri" pitchFamily="34" charset="0"/>
                <a:ea typeface="Calibri" pitchFamily="34" charset="-122"/>
                <a:cs typeface="Calibri" pitchFamily="34" charset="-120"/>
              </a:rPr>
              <a:t>can't copy</a:t>
            </a:r>
            <a:endParaRPr lang="en-US" sz="1600" dirty="0"/>
          </a:p>
          <a:p>
            <a:pPr indent="0" marL="0">
              <a:buNone/>
            </a:pPr>
            <a:r>
              <a:rPr lang="en-US" sz="1600" b="1" dirty="0">
                <a:solidFill>
                  <a:srgbClr val="1B2430"/>
                </a:solidFill>
                <a:latin typeface="Calibri" pitchFamily="34" charset="0"/>
                <a:ea typeface="Calibri" pitchFamily="34" charset="-122"/>
                <a:cs typeface="Calibri" pitchFamily="34" charset="-120"/>
              </a:rPr>
              <a:t>move + optional</a:t>
            </a:r>
            <a:endParaRPr lang="en-US" sz="1600" dirty="0"/>
          </a:p>
        </p:txBody>
      </p:sp>
      <p:sp>
        <p:nvSpPr>
          <p:cNvPr id="23" name="Text 21"/>
          <p:cNvSpPr txBox="1"/>
          <p:nvPr/>
        </p:nvSpPr>
        <p:spPr>
          <a:xfrm>
            <a:off x="3362858" y="392277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urier New" pitchFamily="34" charset="0"/>
                <a:ea typeface="Courier New" pitchFamily="34" charset="-122"/>
                <a:cs typeface="Courier New" pitchFamily="34" charset="-120"/>
              </a:rPr>
              <a:t>v7</a:t>
            </a:r>
            <a:endParaRPr lang="en-US" sz="1400" dirty="0"/>
          </a:p>
        </p:txBody>
      </p:sp>
      <p:sp>
        <p:nvSpPr>
          <p:cNvPr id="24" name="Shape 22"/>
          <p:cNvSpPr/>
          <p:nvPr/>
        </p:nvSpPr>
        <p:spPr>
          <a:xfrm>
            <a:off x="4322978" y="3794760"/>
            <a:ext cx="3545738" cy="987552"/>
          </a:xfrm>
          <a:prstGeom prst="roundRect">
            <a:avLst>
              <a:gd name="adj" fmla="val 7407"/>
            </a:avLst>
          </a:prstGeom>
          <a:solidFill>
            <a:srgbClr val="EEF2F5"/>
          </a:solidFill>
          <a:ln w="12700">
            <a:solidFill>
              <a:srgbClr val="EEF2F5"/>
            </a:solidFill>
            <a:prstDash val="solid"/>
          </a:ln>
        </p:spPr>
      </p:sp>
      <p:sp>
        <p:nvSpPr>
          <p:cNvPr id="25" name="Text 23"/>
          <p:cNvSpPr txBox="1"/>
          <p:nvPr/>
        </p:nvSpPr>
        <p:spPr>
          <a:xfrm>
            <a:off x="4551578" y="3922776"/>
            <a:ext cx="2631338" cy="731520"/>
          </a:xfrm>
          <a:prstGeom prst="rect">
            <a:avLst/>
          </a:prstGeom>
          <a:noFill/>
          <a:ln/>
        </p:spPr>
        <p:txBody>
          <a:bodyPr wrap="square" lIns="0" tIns="0" rIns="0" bIns="0" rtlCol="0" anchor="ctr"/>
          <a:lstStyle/>
          <a:p>
            <a:pPr indent="0" marL="0">
              <a:buNone/>
            </a:pPr>
            <a:r>
              <a:rPr lang="en-US" sz="1600" dirty="0">
                <a:solidFill>
                  <a:srgbClr val="4E5D6C"/>
                </a:solidFill>
                <a:latin typeface="Calibri" pitchFamily="34" charset="0"/>
                <a:ea typeface="Calibri" pitchFamily="34" charset="-122"/>
                <a:cs typeface="Calibri" pitchFamily="34" charset="-120"/>
              </a:rPr>
              <a:t>lost result</a:t>
            </a:r>
            <a:endParaRPr lang="en-US" sz="1600" dirty="0"/>
          </a:p>
          <a:p>
            <a:pPr indent="0" marL="0">
              <a:buNone/>
            </a:pPr>
            <a:r>
              <a:rPr lang="en-US" sz="1600" b="1" dirty="0">
                <a:solidFill>
                  <a:srgbClr val="1B2430"/>
                </a:solidFill>
                <a:latin typeface="Calibri" pitchFamily="34" charset="0"/>
                <a:ea typeface="Calibri" pitchFamily="34" charset="-122"/>
                <a:cs typeface="Calibri" pitchFamily="34" charset="-120"/>
              </a:rPr>
              <a:t>future</a:t>
            </a:r>
            <a:endParaRPr lang="en-US" sz="1600" dirty="0"/>
          </a:p>
        </p:txBody>
      </p:sp>
      <p:sp>
        <p:nvSpPr>
          <p:cNvPr id="26" name="Text 24"/>
          <p:cNvSpPr txBox="1"/>
          <p:nvPr/>
        </p:nvSpPr>
        <p:spPr>
          <a:xfrm>
            <a:off x="7137197" y="392277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urier New" pitchFamily="34" charset="0"/>
                <a:ea typeface="Courier New" pitchFamily="34" charset="-122"/>
                <a:cs typeface="Courier New" pitchFamily="34" charset="-120"/>
              </a:rPr>
              <a:t>v10</a:t>
            </a:r>
            <a:endParaRPr lang="en-US" sz="1400" dirty="0"/>
          </a:p>
        </p:txBody>
      </p:sp>
      <p:sp>
        <p:nvSpPr>
          <p:cNvPr id="27" name="Shape 25"/>
          <p:cNvSpPr/>
          <p:nvPr/>
        </p:nvSpPr>
        <p:spPr>
          <a:xfrm>
            <a:off x="8097317" y="3794760"/>
            <a:ext cx="3545738" cy="987552"/>
          </a:xfrm>
          <a:prstGeom prst="roundRect">
            <a:avLst>
              <a:gd name="adj" fmla="val 7407"/>
            </a:avLst>
          </a:prstGeom>
          <a:solidFill>
            <a:srgbClr val="EEF2F5"/>
          </a:solidFill>
          <a:ln w="12700">
            <a:solidFill>
              <a:srgbClr val="EEF2F5"/>
            </a:solidFill>
            <a:prstDash val="solid"/>
          </a:ln>
        </p:spPr>
      </p:sp>
      <p:sp>
        <p:nvSpPr>
          <p:cNvPr id="28" name="Text 26"/>
          <p:cNvSpPr txBox="1"/>
          <p:nvPr/>
        </p:nvSpPr>
        <p:spPr>
          <a:xfrm>
            <a:off x="8325917" y="3922776"/>
            <a:ext cx="2631338" cy="731520"/>
          </a:xfrm>
          <a:prstGeom prst="rect">
            <a:avLst/>
          </a:prstGeom>
          <a:noFill/>
          <a:ln/>
        </p:spPr>
        <p:txBody>
          <a:bodyPr wrap="square" lIns="0" tIns="0" rIns="0" bIns="0" rtlCol="0" anchor="ctr"/>
          <a:lstStyle/>
          <a:p>
            <a:pPr indent="0" marL="0">
              <a:buNone/>
            </a:pPr>
            <a:r>
              <a:rPr lang="en-US" sz="1600" dirty="0">
                <a:solidFill>
                  <a:srgbClr val="4E5D6C"/>
                </a:solidFill>
                <a:latin typeface="Calibri" pitchFamily="34" charset="0"/>
                <a:ea typeface="Calibri" pitchFamily="34" charset="-122"/>
                <a:cs typeface="Calibri" pitchFamily="34" charset="-120"/>
              </a:rPr>
              <a:t>nested waits</a:t>
            </a:r>
            <a:endParaRPr lang="en-US" sz="1600" dirty="0"/>
          </a:p>
          <a:p>
            <a:pPr indent="0" marL="0">
              <a:buNone/>
            </a:pPr>
            <a:r>
              <a:rPr lang="en-US" sz="1600" b="1" dirty="0">
                <a:solidFill>
                  <a:srgbClr val="1B2430"/>
                </a:solidFill>
                <a:latin typeface="Calibri" pitchFamily="34" charset="0"/>
                <a:ea typeface="Calibri" pitchFamily="34" charset="-122"/>
                <a:cs typeface="Calibri" pitchFamily="34" charset="-120"/>
              </a:rPr>
              <a:t>wait_helping</a:t>
            </a:r>
            <a:endParaRPr lang="en-US" sz="1600" dirty="0"/>
          </a:p>
        </p:txBody>
      </p:sp>
      <p:sp>
        <p:nvSpPr>
          <p:cNvPr id="29" name="Text 27"/>
          <p:cNvSpPr txBox="1"/>
          <p:nvPr/>
        </p:nvSpPr>
        <p:spPr>
          <a:xfrm>
            <a:off x="10911535" y="392277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urier New" pitchFamily="34" charset="0"/>
                <a:ea typeface="Courier New" pitchFamily="34" charset="-122"/>
                <a:cs typeface="Courier New" pitchFamily="34" charset="-120"/>
              </a:rPr>
              <a:t>v10</a:t>
            </a:r>
            <a:endParaRPr lang="en-US" sz="1400" dirty="0"/>
          </a:p>
        </p:txBody>
      </p:sp>
      <p:sp>
        <p:nvSpPr>
          <p:cNvPr id="30" name="Shape 28"/>
          <p:cNvSpPr/>
          <p:nvPr/>
        </p:nvSpPr>
        <p:spPr>
          <a:xfrm>
            <a:off x="548640" y="4983480"/>
            <a:ext cx="3545738" cy="987552"/>
          </a:xfrm>
          <a:prstGeom prst="roundRect">
            <a:avLst>
              <a:gd name="adj" fmla="val 7407"/>
            </a:avLst>
          </a:prstGeom>
          <a:solidFill>
            <a:srgbClr val="EEF2F5"/>
          </a:solidFill>
          <a:ln w="12700">
            <a:solidFill>
              <a:srgbClr val="EEF2F5"/>
            </a:solidFill>
            <a:prstDash val="solid"/>
          </a:ln>
        </p:spPr>
      </p:sp>
      <p:sp>
        <p:nvSpPr>
          <p:cNvPr id="31" name="Text 29"/>
          <p:cNvSpPr txBox="1"/>
          <p:nvPr/>
        </p:nvSpPr>
        <p:spPr>
          <a:xfrm>
            <a:off x="777240" y="5111496"/>
            <a:ext cx="2631338" cy="731520"/>
          </a:xfrm>
          <a:prstGeom prst="rect">
            <a:avLst/>
          </a:prstGeom>
          <a:noFill/>
          <a:ln/>
        </p:spPr>
        <p:txBody>
          <a:bodyPr wrap="square" lIns="0" tIns="0" rIns="0" bIns="0" rtlCol="0" anchor="ctr"/>
          <a:lstStyle/>
          <a:p>
            <a:pPr indent="0" marL="0">
              <a:buNone/>
            </a:pPr>
            <a:r>
              <a:rPr lang="en-US" sz="1600" dirty="0">
                <a:solidFill>
                  <a:srgbClr val="4E5D6C"/>
                </a:solidFill>
                <a:latin typeface="Calibri" pitchFamily="34" charset="0"/>
                <a:ea typeface="Calibri" pitchFamily="34" charset="-122"/>
                <a:cs typeface="Calibri" pitchFamily="34" charset="-120"/>
              </a:rPr>
              <a:t>contended counter</a:t>
            </a:r>
            <a:endParaRPr lang="en-US" sz="1600" dirty="0"/>
          </a:p>
          <a:p>
            <a:pPr indent="0" marL="0">
              <a:buNone/>
            </a:pPr>
            <a:r>
              <a:rPr lang="en-US" sz="1600" b="1" dirty="0">
                <a:solidFill>
                  <a:srgbClr val="1B2430"/>
                </a:solidFill>
                <a:latin typeface="Calibri" pitchFamily="34" charset="0"/>
                <a:ea typeface="Calibri" pitchFamily="34" charset="-122"/>
                <a:cs typeface="Calibri" pitchFamily="34" charset="-120"/>
              </a:rPr>
              <a:t>atomic</a:t>
            </a:r>
            <a:endParaRPr lang="en-US" sz="1600" dirty="0"/>
          </a:p>
        </p:txBody>
      </p:sp>
      <p:sp>
        <p:nvSpPr>
          <p:cNvPr id="32" name="Text 30"/>
          <p:cNvSpPr txBox="1"/>
          <p:nvPr/>
        </p:nvSpPr>
        <p:spPr>
          <a:xfrm>
            <a:off x="3362858" y="511149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urier New" pitchFamily="34" charset="0"/>
                <a:ea typeface="Courier New" pitchFamily="34" charset="-122"/>
                <a:cs typeface="Courier New" pitchFamily="34" charset="-120"/>
              </a:rPr>
              <a:t>v11</a:t>
            </a:r>
            <a:endParaRPr lang="en-US" sz="1400" dirty="0"/>
          </a:p>
        </p:txBody>
      </p:sp>
      <p:sp>
        <p:nvSpPr>
          <p:cNvPr id="33" name="Shape 31"/>
          <p:cNvSpPr/>
          <p:nvPr/>
        </p:nvSpPr>
        <p:spPr>
          <a:xfrm>
            <a:off x="4322978" y="4983480"/>
            <a:ext cx="3545738" cy="987552"/>
          </a:xfrm>
          <a:prstGeom prst="roundRect">
            <a:avLst>
              <a:gd name="adj" fmla="val 7407"/>
            </a:avLst>
          </a:prstGeom>
          <a:solidFill>
            <a:srgbClr val="EEF2F5"/>
          </a:solidFill>
          <a:ln w="12700">
            <a:solidFill>
              <a:srgbClr val="EEF2F5"/>
            </a:solidFill>
            <a:prstDash val="solid"/>
          </a:ln>
        </p:spPr>
      </p:sp>
      <p:sp>
        <p:nvSpPr>
          <p:cNvPr id="34" name="Text 32"/>
          <p:cNvSpPr txBox="1"/>
          <p:nvPr/>
        </p:nvSpPr>
        <p:spPr>
          <a:xfrm>
            <a:off x="4551578" y="5111496"/>
            <a:ext cx="2631338" cy="731520"/>
          </a:xfrm>
          <a:prstGeom prst="rect">
            <a:avLst/>
          </a:prstGeom>
          <a:noFill/>
          <a:ln/>
        </p:spPr>
        <p:txBody>
          <a:bodyPr wrap="square" lIns="0" tIns="0" rIns="0" bIns="0" rtlCol="0" anchor="ctr"/>
          <a:lstStyle/>
          <a:p>
            <a:pPr indent="0" marL="0">
              <a:buNone/>
            </a:pPr>
            <a:r>
              <a:rPr lang="en-US" sz="1600" dirty="0">
                <a:solidFill>
                  <a:srgbClr val="4E5D6C"/>
                </a:solidFill>
                <a:latin typeface="Calibri" pitchFamily="34" charset="0"/>
                <a:ea typeface="Calibri" pitchFamily="34" charset="-122"/>
                <a:cs typeface="Calibri" pitchFamily="34" charset="-120"/>
              </a:rPr>
              <a:t>slow hand-off</a:t>
            </a:r>
            <a:endParaRPr lang="en-US" sz="1600" dirty="0"/>
          </a:p>
          <a:p>
            <a:pPr indent="0" marL="0">
              <a:buNone/>
            </a:pPr>
            <a:r>
              <a:rPr lang="en-US" sz="1600" b="1" dirty="0">
                <a:solidFill>
                  <a:srgbClr val="1B2430"/>
                </a:solidFill>
                <a:latin typeface="Calibri" pitchFamily="34" charset="0"/>
                <a:ea typeface="Calibri" pitchFamily="34" charset="-122"/>
                <a:cs typeface="Calibri" pitchFamily="34" charset="-120"/>
              </a:rPr>
              <a:t>SPSC ring</a:t>
            </a:r>
            <a:endParaRPr lang="en-US" sz="1600" dirty="0"/>
          </a:p>
        </p:txBody>
      </p:sp>
      <p:sp>
        <p:nvSpPr>
          <p:cNvPr id="35" name="Text 33"/>
          <p:cNvSpPr txBox="1"/>
          <p:nvPr/>
        </p:nvSpPr>
        <p:spPr>
          <a:xfrm>
            <a:off x="7137197" y="511149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urier New" pitchFamily="34" charset="0"/>
                <a:ea typeface="Courier New" pitchFamily="34" charset="-122"/>
                <a:cs typeface="Courier New" pitchFamily="34" charset="-120"/>
              </a:rPr>
              <a:t>v13</a:t>
            </a:r>
            <a:endParaRPr lang="en-US" sz="1400" dirty="0"/>
          </a:p>
        </p:txBody>
      </p:sp>
      <p:sp>
        <p:nvSpPr>
          <p:cNvPr id="36" name="Shape 34"/>
          <p:cNvSpPr/>
          <p:nvPr/>
        </p:nvSpPr>
        <p:spPr>
          <a:xfrm>
            <a:off x="8097317" y="4983480"/>
            <a:ext cx="3545738" cy="987552"/>
          </a:xfrm>
          <a:prstGeom prst="roundRect">
            <a:avLst>
              <a:gd name="adj" fmla="val 7407"/>
            </a:avLst>
          </a:prstGeom>
          <a:solidFill>
            <a:srgbClr val="EEF2F5"/>
          </a:solidFill>
          <a:ln w="12700">
            <a:solidFill>
              <a:srgbClr val="EEF2F5"/>
            </a:solidFill>
            <a:prstDash val="solid"/>
          </a:ln>
        </p:spPr>
      </p:sp>
      <p:sp>
        <p:nvSpPr>
          <p:cNvPr id="37" name="Text 35"/>
          <p:cNvSpPr txBox="1"/>
          <p:nvPr/>
        </p:nvSpPr>
        <p:spPr>
          <a:xfrm>
            <a:off x="8325917" y="5111496"/>
            <a:ext cx="2631338" cy="731520"/>
          </a:xfrm>
          <a:prstGeom prst="rect">
            <a:avLst/>
          </a:prstGeom>
          <a:noFill/>
          <a:ln/>
        </p:spPr>
        <p:txBody>
          <a:bodyPr wrap="square" lIns="0" tIns="0" rIns="0" bIns="0" rtlCol="0" anchor="ctr"/>
          <a:lstStyle/>
          <a:p>
            <a:pPr indent="0" marL="0">
              <a:buNone/>
            </a:pPr>
            <a:r>
              <a:rPr lang="en-US" sz="1600" dirty="0">
                <a:solidFill>
                  <a:srgbClr val="4E5D6C"/>
                </a:solidFill>
                <a:latin typeface="Calibri" pitchFamily="34" charset="0"/>
                <a:ea typeface="Calibri" pitchFamily="34" charset="-122"/>
                <a:cs typeface="Calibri" pitchFamily="34" charset="-120"/>
              </a:rPr>
              <a:t>one-run numbers</a:t>
            </a:r>
            <a:endParaRPr lang="en-US" sz="1600" dirty="0"/>
          </a:p>
          <a:p>
            <a:pPr indent="0" marL="0">
              <a:buNone/>
            </a:pPr>
            <a:r>
              <a:rPr lang="en-US" sz="1600" b="1" dirty="0">
                <a:solidFill>
                  <a:srgbClr val="1B2430"/>
                </a:solidFill>
                <a:latin typeface="Calibri" pitchFamily="34" charset="0"/>
                <a:ea typeface="Calibri" pitchFamily="34" charset="-122"/>
                <a:cs typeface="Calibri" pitchFamily="34" charset="-120"/>
              </a:rPr>
              <a:t>median + p99</a:t>
            </a:r>
            <a:endParaRPr lang="en-US" sz="1600" dirty="0"/>
          </a:p>
        </p:txBody>
      </p:sp>
      <p:sp>
        <p:nvSpPr>
          <p:cNvPr id="38" name="Text 36"/>
          <p:cNvSpPr txBox="1"/>
          <p:nvPr/>
        </p:nvSpPr>
        <p:spPr>
          <a:xfrm>
            <a:off x="10911535" y="511149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urier New" pitchFamily="34" charset="0"/>
                <a:ea typeface="Courier New" pitchFamily="34" charset="-122"/>
                <a:cs typeface="Courier New" pitchFamily="34" charset="-120"/>
              </a:rPr>
              <a:t>v14</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E5D6C"/>
                </a:solidFill>
                <a:latin typeface="Calibri"/>
                <a:ea typeface="Calibri"/>
                <a:cs typeface="Calibri"/>
              </a:defRPr>
            </a:lvl1pPr>
          </a:lstStyle>
          <a:p>
            <a:pPr algn="r"/>
            <a:fld id="{F7021451-1387-4CA6-816F-3879F97B5CBC}" type="slidenum">
              <a:rPr b="0" lang="en-US"/>
              <a:t>91</a:t>
            </a:fld>
            <a:endParaRPr lang="en-US"/>
          </a:p>
        </p:txBody>
      </p:sp>
    </p:spTree>
  </p:cSld>
  <p:clrMapOvr>
    <a:masterClrMapping/>
  </p:clrMapOvr>
</p:sld>
</file>

<file path=ppt/theme/theme1.xml><?xml version="1.0" encoding="utf-8"?>
<a:theme xmlns:a="http://schemas.openxmlformats.org/drawingml/2006/main" name="Queue Course">
  <a:themeElements>
    <a:clrScheme name="Queue Course">
      <a:dk1>
        <a:srgbClr val="1B2430"/>
      </a:dk1>
      <a:lt1>
        <a:srgbClr val="FFFFFF"/>
      </a:lt1>
      <a:dk2>
        <a:srgbClr val="13293D"/>
      </a:dk2>
      <a:lt2>
        <a:srgbClr val="EEF2F5"/>
      </a:lt2>
      <a:accent1>
        <a:srgbClr val="B4501A"/>
      </a:accent1>
      <a:accent2>
        <a:srgbClr val="0F766E"/>
      </a:accent2>
      <a:accent3>
        <a:srgbClr val="4E5D6C"/>
      </a:accent3>
      <a:accent4>
        <a:srgbClr val="F2C14E"/>
      </a:accent4>
      <a:accent5>
        <a:srgbClr val="2E6DA4"/>
      </a:accent5>
      <a:accent6>
        <a:srgbClr val="8A3B12"/>
      </a:accent6>
      <a:hlink>
        <a:srgbClr val="2E6DA4"/>
      </a:hlink>
      <a:folHlink>
        <a:srgbClr val="4E5D6C"/>
      </a:folHlink>
    </a:clrScheme>
    <a:fontScheme name="Queue Cours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91</Slides>
  <Notes>91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91</vt:i4>
      </vt:variant>
    </vt:vector>
  </HeadingPairs>
  <TitlesOfParts>
    <vt:vector size="9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 Broken Queue to a Thread Pool</dc:title>
  <dc:subject>PptxGenJS Presentation</dc:subject>
  <dc:creator>PptxGenJS</dc:creator>
  <cp:lastModifiedBy>PptxGenJS</cp:lastModifiedBy>
  <cp:revision>1</cp:revision>
  <dcterms:created xsi:type="dcterms:W3CDTF">2026-10-04T08:19:09Z</dcterms:created>
  <dcterms:modified xsi:type="dcterms:W3CDTF">2026-10-04T08:19:09Z</dcterms:modified>
</cp:coreProperties>
</file>