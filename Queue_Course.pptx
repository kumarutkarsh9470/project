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notesMasterIdLst>
    <p:notesMasterId r:id="rId7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b9f0ab02-769c-f33d-802b-eed982847c4b}">
          <p14:sldIdLst>
            <p14:sldId id="256"/>
            <p14:sldId id="257"/>
          </p14:sldIdLst>
        </p14:section>
        <p14:section name="Part 1 · The queue" id="{19dee79e-b512-ac5d-35e5-9265e4ae5828}">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Lst>
        </p14:section>
        <p14:section name="Part 2 · The pool" id="{0d302c9d-abf5-370e-6b3b-b90fedbddd8a}">
          <p14:sldIdLst>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Lst>
        </p14:section>
        <p14:section name="Part 3 · Faster" id="{383e0fbe-6d25-8f9a-eae0-fe1a52bc34d2}">
          <p14:sldIdLst>
            <p14:sldId id="312"/>
            <p14:sldId id="313"/>
            <p14:sldId id="314"/>
            <p14:sldId id="315"/>
            <p14:sldId id="316"/>
            <p14:sldId id="317"/>
            <p14:sldId id="318"/>
            <p14:sldId id="319"/>
            <p14:sldId id="320"/>
            <p14:sldId id="321"/>
            <p14:sldId id="322"/>
            <p14:sldId id="323"/>
          </p14:sldIdLst>
        </p14:section>
        <p14:section name="Finish" id="{9c931f18-775d-a683-0c10-2bd8b75f76df}">
          <p14:sldIdLst>
            <p14:sldId id="32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502920"/>
            <a:ext cx="11185855" cy="548640"/>
          </a:xfrm>
          <a:prstGeom prst="rect">
            <a:avLst/>
          </a:prstGeom>
          <a:noFill/>
          <a:ln/>
        </p:spPr>
        <p:txBody>
          <a:bodyPr wrap="square" rtlCol="0"/>
          <a:lstStyle>
            <a:lvl1pPr algn="l" indent="0" marL="0">
              <a:buNone/>
              <a:defRPr lang="en-US" sz="2600" b="1" dirty="0">
                <a:solidFill>
                  <a:srgbClr val="1C2430"/>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283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502920"/>
            <a:ext cx="11185855" cy="548640"/>
          </a:xfrm>
          <a:prstGeom prst="rect">
            <a:avLst/>
          </a:prstGeom>
          <a:noFill/>
          <a:ln/>
        </p:spPr>
        <p:txBody>
          <a:bodyPr wrap="square" rtlCol="0"/>
          <a:lstStyle>
            <a:lvl1pPr algn="l" indent="0" marL="0">
              <a:buNone/>
              <a:defRPr lang="en-US" sz="26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D5DEE7"/>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02920" y="2103120"/>
            <a:ext cx="10058400" cy="2011680"/>
          </a:xfrm>
          <a:prstGeom prst="rect">
            <a:avLst/>
          </a:prstGeom>
          <a:noFill/>
          <a:ln/>
        </p:spPr>
        <p:txBody>
          <a:bodyPr wrap="square" lIns="0" tIns="0" rIns="0" bIns="0" rtlCol="0" anchor="t"/>
          <a:lstStyle/>
          <a:p>
            <a:pPr indent="0" marL="0">
              <a:buNone/>
            </a:pPr>
            <a:r>
              <a:rPr lang="en-US" sz="5400" b="1" dirty="0">
                <a:solidFill>
                  <a:srgbClr val="FFFFFF"/>
                </a:solidFill>
                <a:latin typeface="Cambria" pitchFamily="34" charset="0"/>
                <a:ea typeface="Cambria" pitchFamily="34" charset="-122"/>
                <a:cs typeface="Cambria" pitchFamily="34" charset="-120"/>
              </a:rPr>
              <a:t>From a broken queue</a:t>
            </a:r>
            <a:endParaRPr lang="en-US" sz="5400" dirty="0"/>
          </a:p>
          <a:p>
            <a:pPr indent="0" marL="0">
              <a:buNone/>
            </a:pPr>
            <a:r>
              <a:rPr lang="en-US" sz="5400" b="1" dirty="0">
                <a:solidFill>
                  <a:srgbClr val="FFFFFF"/>
                </a:solidFill>
                <a:latin typeface="Cambria" pitchFamily="34" charset="0"/>
                <a:ea typeface="Cambria" pitchFamily="34" charset="-122"/>
                <a:cs typeface="Cambria" pitchFamily="34" charset="-120"/>
              </a:rPr>
              <a:t>to a thread pool</a:t>
            </a:r>
            <a:endParaRPr lang="en-US" sz="54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D5DEE7"/>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Before you start</a:t>
            </a:r>
            <a:endParaRPr lang="en-US" sz="2600" dirty="0"/>
          </a:p>
        </p:txBody>
      </p:sp>
      <p:sp>
        <p:nvSpPr>
          <p:cNvPr id="3" name="Text 1"/>
          <p:cNvSpPr txBox="1"/>
          <p:nvPr/>
        </p:nvSpPr>
        <p:spPr>
          <a:xfrm>
            <a:off x="502920"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Each lesson starts from a problem in our queue and a short program that shows it. The slides give you the real output of every program, and the command to run it yourself, so you can see the same thing on your machine.</a:t>
            </a:r>
            <a:endParaRPr lang="en-US" sz="1500" dirty="0"/>
          </a:p>
        </p:txBody>
      </p:sp>
      <p:sp>
        <p:nvSpPr>
          <p:cNvPr id="4" name="Text 2"/>
          <p:cNvSpPr txBox="1"/>
          <p:nvPr/>
        </p:nvSpPr>
        <p:spPr>
          <a:xfrm>
            <a:off x="502920" y="2551176"/>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versions build on each other, so go in order. Every lesson ends with three exercises with their answers. Cover the answer, work it out, then compare.</a:t>
            </a:r>
            <a:endParaRPr lang="en-US" sz="1500" dirty="0"/>
          </a:p>
        </p:txBody>
      </p:sp>
      <p:sp>
        <p:nvSpPr>
          <p:cNvPr id="5" name="Text 3"/>
          <p:cNvSpPr txBox="1"/>
          <p:nvPr/>
        </p:nvSpPr>
        <p:spPr>
          <a:xfrm>
            <a:off x="502920" y="341071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 the master folder, read each version's main file (queue.hpp, later pool.hpp and the others) and its tiny examples. The helpers in common/ are tools for tests and timing, so you can skip them.</a:t>
            </a:r>
            <a:endParaRPr lang="en-US" sz="1500" dirty="0"/>
          </a:p>
        </p:txBody>
      </p:sp>
      <p:sp>
        <p:nvSpPr>
          <p:cNvPr id="6" name="Text 4"/>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Building the examples</a:t>
            </a:r>
            <a:endParaRPr lang="en-US" sz="1800" dirty="0"/>
          </a:p>
        </p:txBody>
      </p:sp>
      <p:sp>
        <p:nvSpPr>
          <p:cNvPr id="7" name="Shape 5"/>
          <p:cNvSpPr/>
          <p:nvPr/>
        </p:nvSpPr>
        <p:spPr>
          <a:xfrm>
            <a:off x="6301588" y="1764792"/>
            <a:ext cx="5387188" cy="1023620"/>
          </a:xfrm>
          <a:prstGeom prst="roundRect">
            <a:avLst>
              <a:gd name="adj" fmla="val 5360"/>
            </a:avLst>
          </a:prstGeom>
          <a:solidFill>
            <a:srgbClr val="0F1419"/>
          </a:solidFill>
          <a:ln w="12700">
            <a:solidFill>
              <a:srgbClr val="0F1419"/>
            </a:solidFill>
            <a:prstDash val="solid"/>
          </a:ln>
        </p:spPr>
      </p:sp>
      <p:sp>
        <p:nvSpPr>
          <p:cNvPr id="8" name="Text 6"/>
          <p:cNvSpPr txBox="1"/>
          <p:nvPr/>
        </p:nvSpPr>
        <p:spPr>
          <a:xfrm>
            <a:off x="6484468" y="1901952"/>
            <a:ext cx="5021428" cy="749300"/>
          </a:xfrm>
          <a:prstGeom prst="rect">
            <a:avLst/>
          </a:prstGeom>
          <a:noFill/>
          <a:ln/>
        </p:spPr>
        <p:txBody>
          <a:bodyPr wrap="square" lIns="0" tIns="0" rIns="0" bIns="0" rtlCol="0" anchor="t"/>
          <a:lstStyle/>
          <a:p>
            <a:pPr indent="0" marL="0">
              <a:lnSpc>
                <a:spcPct val="100000"/>
              </a:lnSpc>
              <a:buNone/>
            </a:pPr>
            <a:r>
              <a:rPr lang="en-US" sz="1250" dirty="0">
                <a:solidFill>
                  <a:srgbClr val="FFFFFF"/>
                </a:solidFill>
                <a:latin typeface="Consolas" pitchFamily="34" charset="0"/>
                <a:ea typeface="Consolas" pitchFamily="34" charset="-122"/>
                <a:cs typeface="Consolas" pitchFamily="34" charset="-120"/>
              </a:rPr>
              <a:t>$ cd master</a:t>
            </a:r>
            <a:endParaRPr lang="en-US" sz="1250" dirty="0"/>
          </a:p>
          <a:p>
            <a:pPr indent="0" marL="0">
              <a:lnSpc>
                <a:spcPct val="100000"/>
              </a:lnSpc>
              <a:buNone/>
            </a:pPr>
            <a:r>
              <a:rPr lang="en-US" sz="1250" dirty="0">
                <a:solidFill>
                  <a:srgbClr val="FFFFFF"/>
                </a:solidFill>
                <a:latin typeface="Consolas" pitchFamily="34" charset="0"/>
                <a:ea typeface="Consolas" pitchFamily="34" charset="-122"/>
                <a:cs typeface="Consolas" pitchFamily="34" charset="-120"/>
              </a:rPr>
              <a:t>$ ./run.sh v0 tiny            # build and run one program</a:t>
            </a:r>
            <a:endParaRPr lang="en-US" sz="1250" dirty="0"/>
          </a:p>
          <a:p>
            <a:pPr indent="0" marL="0">
              <a:lnSpc>
                <a:spcPct val="100000"/>
              </a:lnSpc>
              <a:buNone/>
            </a:pPr>
            <a:r>
              <a:rPr lang="en-US" sz="1250" dirty="0">
                <a:solidFill>
                  <a:srgbClr val="FFFFFF"/>
                </a:solidFill>
                <a:latin typeface="Consolas" pitchFamily="34" charset="0"/>
                <a:ea typeface="Consolas" pitchFamily="34" charset="-122"/>
                <a:cs typeface="Consolas" pitchFamily="34" charset="-120"/>
              </a:rPr>
              <a:t>$ OPT=-O0 ./run.sh v2 tiny   # -O0 to explore races</a:t>
            </a:r>
            <a:endParaRPr lang="en-US" sz="1250" dirty="0"/>
          </a:p>
          <a:p>
            <a:pPr indent="0" marL="0">
              <a:lnSpc>
                <a:spcPct val="100000"/>
              </a:lnSpc>
              <a:buNone/>
            </a:pPr>
            <a:r>
              <a:rPr lang="en-US" sz="1250" dirty="0">
                <a:solidFill>
                  <a:srgbClr val="FFFFFF"/>
                </a:solidFill>
                <a:latin typeface="Consolas" pitchFamily="34" charset="0"/>
                <a:ea typeface="Consolas" pitchFamily="34" charset="-122"/>
                <a:cs typeface="Consolas" pitchFamily="34" charset="-120"/>
              </a:rPr>
              <a:t>$ ./build_all.sh --demos     # everything, with tests</a:t>
            </a:r>
            <a:endParaRPr lang="en-US" sz="1250" dirty="0"/>
          </a:p>
        </p:txBody>
      </p:sp>
      <p:sp>
        <p:nvSpPr>
          <p:cNvPr id="9" name="Text 7"/>
          <p:cNvSpPr txBox="1"/>
          <p:nvPr/>
        </p:nvSpPr>
        <p:spPr>
          <a:xfrm>
            <a:off x="6301588" y="2934716"/>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run.sh builds with -O2 unless you set OPT. Use -O0 when you are chasing a race and -O2 when you are timing something. On Windows use run.bat the same way.</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2011680"/>
            <a:ext cx="5486400" cy="320040"/>
          </a:xfrm>
          <a:prstGeom prst="rect">
            <a:avLst/>
          </a:prstGeom>
          <a:noFill/>
          <a:ln/>
        </p:spPr>
        <p:txBody>
          <a:bodyPr wrap="square" lIns="0" tIns="0" rIns="0" bIns="0" rtlCol="0" anchor="ctr"/>
          <a:lstStyle/>
          <a:p>
            <a:pPr indent="0" marL="0">
              <a:buNone/>
            </a:pPr>
            <a:r>
              <a:rPr lang="en-US" sz="1500" b="1" dirty="0">
                <a:solidFill>
                  <a:srgbClr val="E9B44C"/>
                </a:solidFill>
                <a:latin typeface="Calibri" pitchFamily="34" charset="0"/>
                <a:ea typeface="Calibri" pitchFamily="34" charset="-122"/>
                <a:cs typeface="Calibri" pitchFamily="34" charset="-120"/>
              </a:rPr>
              <a:t>Part 1  ·  v0 to v7</a:t>
            </a:r>
            <a:endParaRPr lang="en-US" sz="1500" dirty="0"/>
          </a:p>
        </p:txBody>
      </p:sp>
      <p:sp>
        <p:nvSpPr>
          <p:cNvPr id="3" name="Text 1"/>
          <p:cNvSpPr txBox="1"/>
          <p:nvPr/>
        </p:nvSpPr>
        <p:spPr>
          <a:xfrm>
            <a:off x="502920" y="2468880"/>
            <a:ext cx="5852160" cy="1645920"/>
          </a:xfrm>
          <a:prstGeom prst="rect">
            <a:avLst/>
          </a:prstGeom>
          <a:noFill/>
          <a:ln/>
        </p:spPr>
        <p:txBody>
          <a:bodyPr wrap="square" lIns="0" tIns="0" rIns="0" bIns="0" rtlCol="0" anchor="t"/>
          <a:lstStyle/>
          <a:p>
            <a:pPr indent="0" marL="0">
              <a:buNone/>
            </a:pPr>
            <a:r>
              <a:rPr lang="en-US" sz="4200" b="1" dirty="0">
                <a:solidFill>
                  <a:srgbClr val="FFFFFF"/>
                </a:solidFill>
                <a:latin typeface="Cambria" pitchFamily="34" charset="0"/>
                <a:ea typeface="Cambria" pitchFamily="34" charset="-122"/>
                <a:cs typeface="Cambria" pitchFamily="34" charset="-120"/>
              </a:rPr>
              <a:t>Building the queue</a:t>
            </a:r>
            <a:endParaRPr lang="en-US" sz="4200" dirty="0"/>
          </a:p>
        </p:txBody>
      </p:sp>
      <p:sp>
        <p:nvSpPr>
          <p:cNvPr id="4" name="Text 2"/>
          <p:cNvSpPr txBox="1"/>
          <p:nvPr/>
        </p:nvSpPr>
        <p:spPr>
          <a:xfrm>
            <a:off x="6766560" y="2011680"/>
            <a:ext cx="4922215" cy="3840480"/>
          </a:xfrm>
          <a:prstGeom prst="rect">
            <a:avLst/>
          </a:prstGeom>
          <a:noFill/>
          <a:ln/>
        </p:spPr>
        <p:txBody>
          <a:bodyPr wrap="square" lIns="0" tIns="0" rIns="0" bIns="0" rtlCol="0" anchor="t"/>
          <a:lstStyle/>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v0    What does a second thread buy us?</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    Who owns a thread?</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v2    Two threads, one queue</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v3    The lock that never unlocks</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v3    Every call is safe, the program is not</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v4    Waiting without burning a core</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v5    Does it hold up under load?</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v5    Two queues, two locks, frozen</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v6    The producers are done, the program never exits</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v7    A queue of anything</a:t>
            </a:r>
            <a:endParaRPr lang="en-US" sz="1600" dirty="0"/>
          </a:p>
        </p:txBody>
      </p:sp>
      <p:sp>
        <p:nvSpPr>
          <p:cNvPr id="5"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D5DEE7"/>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What does a second thread buy us?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Where we start</a:t>
            </a:r>
            <a:endParaRPr lang="en-US" sz="1800" dirty="0"/>
          </a:p>
        </p:txBody>
      </p:sp>
      <p:sp>
        <p:nvSpPr>
          <p:cNvPr id="5" name="Text 3"/>
          <p:cNvSpPr txBox="1"/>
          <p:nvPr/>
        </p:nvSpPr>
        <p:spPr>
          <a:xfrm>
            <a:off x="502920" y="1764792"/>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Our first program is a plain queue of ints. One function produces items and pushes them, another pops and consumes them. Everything runs on one thread, so the consumer only starts once the producer has finished.</a:t>
            </a:r>
            <a:endParaRPr lang="en-US" sz="1500" dirty="0"/>
          </a:p>
        </p:txBody>
      </p:sp>
      <p:sp>
        <p:nvSpPr>
          <p:cNvPr id="6" name="Shape 4"/>
          <p:cNvSpPr/>
          <p:nvPr/>
        </p:nvSpPr>
        <p:spPr>
          <a:xfrm>
            <a:off x="502920" y="3081528"/>
            <a:ext cx="5387188" cy="2417318"/>
          </a:xfrm>
          <a:prstGeom prst="roundRect">
            <a:avLst>
              <a:gd name="adj" fmla="val 2270"/>
            </a:avLst>
          </a:prstGeom>
          <a:solidFill>
            <a:srgbClr val="1E2230"/>
          </a:solidFill>
          <a:ln w="12700">
            <a:solidFill>
              <a:srgbClr val="1E2230"/>
            </a:solidFill>
            <a:prstDash val="solid"/>
          </a:ln>
        </p:spPr>
      </p:sp>
      <p:sp>
        <p:nvSpPr>
          <p:cNvPr id="7" name="Text 5"/>
          <p:cNvSpPr txBox="1"/>
          <p:nvPr/>
        </p:nvSpPr>
        <p:spPr>
          <a:xfrm>
            <a:off x="685800" y="3218688"/>
            <a:ext cx="5021428" cy="2142998"/>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Text 6"/>
          <p:cNvSpPr txBox="1"/>
          <p:nvPr/>
        </p:nvSpPr>
        <p:spPr>
          <a:xfrm>
            <a:off x="6301588"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obvious idea is to give the producer and the consumer a thread each and expect the program to run twice as fast. Before doing that, it is worth asking what a second thread really gives us.</a:t>
            </a:r>
            <a:endParaRPr lang="en-US" sz="1500" dirty="0"/>
          </a:p>
        </p:txBody>
      </p:sp>
      <p:sp>
        <p:nvSpPr>
          <p:cNvPr id="9" name="Text 7"/>
          <p:cNvSpPr txBox="1"/>
          <p:nvPr/>
        </p:nvSpPr>
        <p:spPr>
          <a:xfrm>
            <a:off x="6301588" y="23774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small experiment</a:t>
            </a:r>
            <a:endParaRPr lang="en-US" sz="1800" dirty="0"/>
          </a:p>
        </p:txBody>
      </p:sp>
      <p:sp>
        <p:nvSpPr>
          <p:cNvPr id="10" name="Text 8"/>
          <p:cNvSpPr txBox="1"/>
          <p:nvPr/>
        </p:nvSpPr>
        <p:spPr>
          <a:xfrm>
            <a:off x="6301588" y="2852928"/>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Take a task that does nothing but wait for two seconds, the way a program waits for a disk or a network reply. Run it twice on one thread, then once each on two threads.</a:t>
            </a:r>
            <a:endParaRPr lang="en-US" sz="1500" dirty="0"/>
          </a:p>
        </p:txBody>
      </p:sp>
      <p:sp>
        <p:nvSpPr>
          <p:cNvPr id="11" name="Shape 9"/>
          <p:cNvSpPr/>
          <p:nvPr/>
        </p:nvSpPr>
        <p:spPr>
          <a:xfrm>
            <a:off x="6301588" y="3941064"/>
            <a:ext cx="5387188" cy="1832864"/>
          </a:xfrm>
          <a:prstGeom prst="roundRect">
            <a:avLst>
              <a:gd name="adj" fmla="val 2993"/>
            </a:avLst>
          </a:prstGeom>
          <a:solidFill>
            <a:srgbClr val="1E2230"/>
          </a:solidFill>
          <a:ln w="12700">
            <a:solidFill>
              <a:srgbClr val="1E2230"/>
            </a:solidFill>
            <a:prstDash val="solid"/>
          </a:ln>
        </p:spPr>
      </p:sp>
      <p:sp>
        <p:nvSpPr>
          <p:cNvPr id="12" name="Text 10"/>
          <p:cNvSpPr txBox="1"/>
          <p:nvPr/>
        </p:nvSpPr>
        <p:spPr>
          <a:xfrm>
            <a:off x="6484468" y="4078224"/>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std::this_thread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sleep_for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2s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one thread</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two threads</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t2</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t2</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What does a second thread buy us?</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single-threaded version takes 4 seconds and the two-threaded version takes 2. You can see it yourself:</a:t>
            </a:r>
            <a:endParaRPr lang="en-US" sz="1500" dirty="0"/>
          </a:p>
        </p:txBody>
      </p:sp>
      <p:sp>
        <p:nvSpPr>
          <p:cNvPr id="5" name="Shape 3"/>
          <p:cNvSpPr/>
          <p:nvPr/>
        </p:nvSpPr>
        <p:spPr>
          <a:xfrm>
            <a:off x="502920" y="1865376"/>
            <a:ext cx="5387188" cy="858774"/>
          </a:xfrm>
          <a:prstGeom prst="roundRect">
            <a:avLst>
              <a:gd name="adj" fmla="val 6389"/>
            </a:avLst>
          </a:prstGeom>
          <a:solidFill>
            <a:srgbClr val="0F1419"/>
          </a:solidFill>
          <a:ln w="12700">
            <a:solidFill>
              <a:srgbClr val="0F1419"/>
            </a:solidFill>
            <a:prstDash val="solid"/>
          </a:ln>
        </p:spPr>
      </p:sp>
      <p:sp>
        <p:nvSpPr>
          <p:cNvPr id="6" name="Text 4"/>
          <p:cNvSpPr txBox="1"/>
          <p:nvPr/>
        </p:nvSpPr>
        <p:spPr>
          <a:xfrm>
            <a:off x="685800" y="2002536"/>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./run.sh v0 tiny</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sequential:  4.00 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two threads: 2.00 s</a:t>
            </a:r>
            <a:endParaRPr lang="en-US" sz="1300" dirty="0"/>
          </a:p>
        </p:txBody>
      </p:sp>
      <p:sp>
        <p:nvSpPr>
          <p:cNvPr id="7" name="Text 5"/>
          <p:cNvSpPr txBox="1"/>
          <p:nvPr/>
        </p:nvSpPr>
        <p:spPr>
          <a:xfrm>
            <a:off x="502920" y="2925318"/>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What happens on the clock</a:t>
            </a:r>
            <a:endParaRPr lang="en-US" sz="1800" dirty="0"/>
          </a:p>
        </p:txBody>
      </p:sp>
      <p:sp>
        <p:nvSpPr>
          <p:cNvPr id="8" name="Text 6"/>
          <p:cNvSpPr txBox="1"/>
          <p:nvPr/>
        </p:nvSpPr>
        <p:spPr>
          <a:xfrm>
            <a:off x="502920" y="340080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Picture a clock that starts at t = 0. In the single-threaded version the first call to task() sleeps from 0 s to 2 s. Only when it returns does the second call start, so it sleeps from 2 s to 4 s. The two waits sit end to end.</a:t>
            </a:r>
            <a:endParaRPr lang="en-US" sz="1500" dirty="0"/>
          </a:p>
        </p:txBody>
      </p:sp>
      <p:sp>
        <p:nvSpPr>
          <p:cNvPr id="9" name="Shape 7"/>
          <p:cNvSpPr/>
          <p:nvPr/>
        </p:nvSpPr>
        <p:spPr>
          <a:xfrm>
            <a:off x="502920" y="4717542"/>
            <a:ext cx="5387188" cy="858774"/>
          </a:xfrm>
          <a:prstGeom prst="roundRect">
            <a:avLst>
              <a:gd name="adj" fmla="val 6389"/>
            </a:avLst>
          </a:prstGeom>
          <a:solidFill>
            <a:srgbClr val="F1F4F7"/>
          </a:solidFill>
          <a:ln w="12700">
            <a:solidFill>
              <a:srgbClr val="F1F4F7"/>
            </a:solidFill>
            <a:prstDash val="solid"/>
          </a:ln>
        </p:spPr>
      </p:sp>
      <p:sp>
        <p:nvSpPr>
          <p:cNvPr id="10" name="Text 8"/>
          <p:cNvSpPr txBox="1"/>
          <p:nvPr/>
        </p:nvSpPr>
        <p:spPr>
          <a:xfrm>
            <a:off x="685800" y="4854702"/>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time        0s        1s        2s        3s        4s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 task() ==========|== task()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2nd call starts</a:t>
            </a:r>
            <a:endParaRPr lang="en-US" sz="1300" dirty="0"/>
          </a:p>
        </p:txBody>
      </p:sp>
      <p:sp>
        <p:nvSpPr>
          <p:cNvPr id="11" name="Text 9"/>
          <p:cNvSpPr txBox="1"/>
          <p:nvPr/>
        </p:nvSpPr>
        <p:spPr>
          <a:xfrm>
            <a:off x="6301588"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Now the two-threaded version. The line std::thread t1(task), t2(task); starts both threads almost instantly. They are written one after the other, but creating a thread only takes microseconds, so for our purposes t1 and t2 both begin sleeping at t = 0.</a:t>
            </a:r>
            <a:endParaRPr lang="en-US" sz="1500" dirty="0"/>
          </a:p>
        </p:txBody>
      </p:sp>
      <p:sp>
        <p:nvSpPr>
          <p:cNvPr id="12" name="Shape 10"/>
          <p:cNvSpPr/>
          <p:nvPr/>
        </p:nvSpPr>
        <p:spPr>
          <a:xfrm>
            <a:off x="6301588" y="2551176"/>
            <a:ext cx="5387188" cy="1638046"/>
          </a:xfrm>
          <a:prstGeom prst="roundRect">
            <a:avLst>
              <a:gd name="adj" fmla="val 3349"/>
            </a:avLst>
          </a:prstGeom>
          <a:solidFill>
            <a:srgbClr val="F1F4F7"/>
          </a:solidFill>
          <a:ln w="12700">
            <a:solidFill>
              <a:srgbClr val="F1F4F7"/>
            </a:solidFill>
            <a:prstDash val="solid"/>
          </a:ln>
        </p:spPr>
      </p:sp>
      <p:sp>
        <p:nvSpPr>
          <p:cNvPr id="13" name="Text 11"/>
          <p:cNvSpPr txBox="1"/>
          <p:nvPr/>
        </p:nvSpPr>
        <p:spPr>
          <a:xfrm>
            <a:off x="6484468" y="2688336"/>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time        0s        1s        2s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t1          |== sleeping ========|  done at 2s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t2          |== sleeping ========|  done at 2s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start t1, t2</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t1.join() waits ......| returns at 2s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t2.join(): returns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at once, t2 is done</a:t>
            </a:r>
            <a:endParaRPr lang="en-US" sz="1300" dirty="0"/>
          </a:p>
        </p:txBody>
      </p:sp>
      <p:sp>
        <p:nvSpPr>
          <p:cNvPr id="14" name="Text 12"/>
          <p:cNvSpPr txBox="1"/>
          <p:nvPr/>
        </p:nvSpPr>
        <p:spPr>
          <a:xfrm>
            <a:off x="6301588" y="433552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main reaches t1.join() right after starting the threads and waits there. At t = 2 s t1 finishes and join() returns. main moves to t2.join(), but t2 started at the same moment and has also finished, so that join returns immediately. The total is 2 seconds.</a:t>
            </a:r>
            <a:endParaRPr lang="en-US" sz="1500" dirty="0"/>
          </a:p>
        </p:txBody>
      </p:sp>
      <p:sp>
        <p:nvSpPr>
          <p:cNvPr id="15" name="Text 13"/>
          <p:cNvSpPr txBox="1"/>
          <p:nvPr/>
        </p:nvSpPr>
        <p:spPr>
          <a:xfrm>
            <a:off x="6301588" y="5652262"/>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Notice what did not happen. Neither task got faster. Each still slept its full two seconds. We saved time only because the two waits overlapped.</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What does a second thread buy us?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Taking turns is not the same as running together</a:t>
            </a:r>
            <a:endParaRPr lang="en-US" sz="1800" dirty="0"/>
          </a:p>
        </p:txBody>
      </p:sp>
      <p:sp>
        <p:nvSpPr>
          <p:cNvPr id="5" name="Shape 3"/>
          <p:cNvSpPr/>
          <p:nvPr/>
        </p:nvSpPr>
        <p:spPr>
          <a:xfrm>
            <a:off x="502920" y="1764792"/>
            <a:ext cx="5387188" cy="1638046"/>
          </a:xfrm>
          <a:prstGeom prst="roundRect">
            <a:avLst>
              <a:gd name="adj" fmla="val 3349"/>
            </a:avLst>
          </a:prstGeom>
          <a:solidFill>
            <a:srgbClr val="F1F4F7"/>
          </a:solidFill>
          <a:ln w="12700">
            <a:solidFill>
              <a:srgbClr val="F1F4F7"/>
            </a:solidFill>
            <a:prstDash val="solid"/>
          </a:ln>
        </p:spPr>
      </p:sp>
      <p:sp>
        <p:nvSpPr>
          <p:cNvPr id="6" name="Text 4"/>
          <p:cNvSpPr txBox="1"/>
          <p:nvPr/>
        </p:nvSpPr>
        <p:spPr>
          <a:xfrm>
            <a:off x="685800" y="1901952"/>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one core, two threads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core 0 | T1 T1 T2 T1 T2 T2 T1    the OS switches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between them</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two cores, two threads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core 0 | T1 T1 T1 T1 T1 T1 T1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core 1 | T2 T2 T2 T2 T2 T2 T2    really at once</a:t>
            </a:r>
            <a:endParaRPr lang="en-US" sz="1300" dirty="0"/>
          </a:p>
        </p:txBody>
      </p:sp>
      <p:sp>
        <p:nvSpPr>
          <p:cNvPr id="7" name="Text 5"/>
          <p:cNvSpPr txBox="1"/>
          <p:nvPr/>
        </p:nvSpPr>
        <p:spPr>
          <a:xfrm>
            <a:off x="502920" y="3549142"/>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On a single core the two threads only take turns. The operating system runs a bit of one, then a bit of the other. That is concurrency: two tasks in progress at once. When the work is waiting, taking turns is enough, because a waiting thread does not need the core.</a:t>
            </a:r>
            <a:endParaRPr lang="en-US" sz="1500" dirty="0"/>
          </a:p>
        </p:txBody>
      </p:sp>
      <p:sp>
        <p:nvSpPr>
          <p:cNvPr id="8" name="Text 6"/>
          <p:cNvSpPr txBox="1"/>
          <p:nvPr/>
        </p:nvSpPr>
        <p:spPr>
          <a:xfrm>
            <a:off x="502920" y="4865878"/>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Parallelism means the threads really execute at the same instant, and that needs more than one core. If you replace the sleep with a loop that computes, two threads on one core take turns on the same arithmetic and finish no sooner than one thread would.</a:t>
            </a:r>
            <a:endParaRPr lang="en-US" sz="1500" dirty="0"/>
          </a:p>
        </p:txBody>
      </p:sp>
      <p:sp>
        <p:nvSpPr>
          <p:cNvPr id="9" name="Text 7"/>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Why we measure first</a:t>
            </a:r>
            <a:endParaRPr lang="en-US" sz="1800" dirty="0"/>
          </a:p>
        </p:txBody>
      </p:sp>
      <p:sp>
        <p:nvSpPr>
          <p:cNvPr id="10" name="Text 8"/>
          <p:cNvSpPr txBox="1"/>
          <p:nvPr/>
        </p:nvSpPr>
        <p:spPr>
          <a:xfrm>
            <a:off x="6301588"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Every version from here on adds safety, and safety costs time. So we measure v0 now: about 60 ns for one push plus one pop. Keep that number. Later versions are judged against it.</a:t>
            </a:r>
            <a:endParaRPr lang="en-US" sz="1500" dirty="0"/>
          </a:p>
        </p:txBody>
      </p:sp>
      <p:sp>
        <p:nvSpPr>
          <p:cNvPr id="11" name="Text 9"/>
          <p:cNvSpPr txBox="1"/>
          <p:nvPr/>
        </p:nvSpPr>
        <p:spPr>
          <a:xfrm>
            <a:off x="6301588" y="2907792"/>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12" name="Text 10"/>
          <p:cNvSpPr txBox="1"/>
          <p:nvPr/>
        </p:nvSpPr>
        <p:spPr>
          <a:xfrm>
            <a:off x="6301588" y="338328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64 tasks each sleep for 100 ms. How long on one thread, and how long on 64 threads?</a:t>
            </a:r>
            <a:endParaRPr lang="en-US" sz="1500" dirty="0"/>
          </a:p>
        </p:txBody>
      </p:sp>
      <p:sp>
        <p:nvSpPr>
          <p:cNvPr id="13" name="Shape 11"/>
          <p:cNvSpPr/>
          <p:nvPr/>
        </p:nvSpPr>
        <p:spPr>
          <a:xfrm>
            <a:off x="6301588" y="3941064"/>
            <a:ext cx="5387188" cy="765048"/>
          </a:xfrm>
          <a:prstGeom prst="roundRect">
            <a:avLst>
              <a:gd name="adj" fmla="val 7171"/>
            </a:avLst>
          </a:prstGeom>
          <a:solidFill>
            <a:srgbClr val="F1F4F7"/>
          </a:solidFill>
          <a:ln w="12700">
            <a:solidFill>
              <a:srgbClr val="F1F4F7"/>
            </a:solidFill>
            <a:prstDash val="solid"/>
          </a:ln>
        </p:spPr>
      </p:sp>
      <p:sp>
        <p:nvSpPr>
          <p:cNvPr id="14" name="Text 12"/>
          <p:cNvSpPr txBox="1"/>
          <p:nvPr/>
        </p:nvSpPr>
        <p:spPr>
          <a:xfrm>
            <a:off x="6484468" y="4069080"/>
            <a:ext cx="5021428" cy="5364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About 6.4 s on one thread and a little over 0.1 s on 64. Waiting overlaps almost perfectly.</a:t>
            </a:r>
            <a:endParaRPr lang="en-US" sz="1400" dirty="0"/>
          </a:p>
        </p:txBody>
      </p:sp>
      <p:sp>
        <p:nvSpPr>
          <p:cNvPr id="15" name="Text 13"/>
          <p:cNvSpPr txBox="1"/>
          <p:nvPr/>
        </p:nvSpPr>
        <p:spPr>
          <a:xfrm>
            <a:off x="6301588" y="485241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Two threads each print 1, 2, 3. Can the output be 1 1 2 3 2 3?</a:t>
            </a:r>
            <a:endParaRPr lang="en-US" sz="1500" dirty="0"/>
          </a:p>
        </p:txBody>
      </p:sp>
      <p:sp>
        <p:nvSpPr>
          <p:cNvPr id="16" name="Shape 14"/>
          <p:cNvSpPr/>
          <p:nvPr/>
        </p:nvSpPr>
        <p:spPr>
          <a:xfrm>
            <a:off x="6301588" y="5410200"/>
            <a:ext cx="5387188" cy="765048"/>
          </a:xfrm>
          <a:prstGeom prst="roundRect">
            <a:avLst>
              <a:gd name="adj" fmla="val 7171"/>
            </a:avLst>
          </a:prstGeom>
          <a:solidFill>
            <a:srgbClr val="F1F4F7"/>
          </a:solidFill>
          <a:ln w="12700">
            <a:solidFill>
              <a:srgbClr val="F1F4F7"/>
            </a:solidFill>
            <a:prstDash val="solid"/>
          </a:ln>
        </p:spPr>
      </p:sp>
      <p:sp>
        <p:nvSpPr>
          <p:cNvPr id="17" name="Text 15"/>
          <p:cNvSpPr txBox="1"/>
          <p:nvPr/>
        </p:nvSpPr>
        <p:spPr>
          <a:xfrm>
            <a:off x="6484468" y="5538216"/>
            <a:ext cx="5021428" cy="5364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Yes. Each thread keeps its own order, but the scheduler can interleave the two in any way.</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What does a second thread buy us?</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program downloads 10 files and then hashes them. Where do extra threads help?</a:t>
            </a:r>
            <a:endParaRPr lang="en-US" sz="1500" dirty="0"/>
          </a:p>
        </p:txBody>
      </p:sp>
      <p:sp>
        <p:nvSpPr>
          <p:cNvPr id="5" name="Shape 3"/>
          <p:cNvSpPr/>
          <p:nvPr/>
        </p:nvSpPr>
        <p:spPr>
          <a:xfrm>
            <a:off x="502920" y="1792224"/>
            <a:ext cx="5387188" cy="765048"/>
          </a:xfrm>
          <a:prstGeom prst="roundRect">
            <a:avLst>
              <a:gd name="adj" fmla="val 7171"/>
            </a:avLst>
          </a:prstGeom>
          <a:solidFill>
            <a:srgbClr val="F1F4F7"/>
          </a:solidFill>
          <a:ln w="12700">
            <a:solidFill>
              <a:srgbClr val="F1F4F7"/>
            </a:solidFill>
            <a:prstDash val="solid"/>
          </a:ln>
        </p:spPr>
      </p:sp>
      <p:sp>
        <p:nvSpPr>
          <p:cNvPr id="6" name="Text 4"/>
          <p:cNvSpPr txBox="1"/>
          <p:nvPr/>
        </p:nvSpPr>
        <p:spPr>
          <a:xfrm>
            <a:off x="685800" y="1920240"/>
            <a:ext cx="5021428" cy="5364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downloads, because they are mostly waiting. Hashing only gets faster with more cores.</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Who owns a thread?</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Giving the producer its own thread</a:t>
            </a:r>
            <a:endParaRPr lang="en-US" sz="1800" dirty="0"/>
          </a:p>
        </p:txBody>
      </p:sp>
      <p:sp>
        <p:nvSpPr>
          <p:cNvPr id="5" name="Text 3"/>
          <p:cNvSpPr txBox="1"/>
          <p:nvPr/>
        </p:nvSpPr>
        <p:spPr>
          <a:xfrm>
            <a:off x="502920" y="1764792"/>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Starting a thread is one line. The first surprise comes when the function that started it returns.</a:t>
            </a:r>
            <a:endParaRPr lang="en-US" sz="1500" dirty="0"/>
          </a:p>
        </p:txBody>
      </p:sp>
      <p:sp>
        <p:nvSpPr>
          <p:cNvPr id="6" name="Shape 4"/>
          <p:cNvSpPr/>
          <p:nvPr/>
        </p:nvSpPr>
        <p:spPr>
          <a:xfrm>
            <a:off x="502920" y="2395728"/>
            <a:ext cx="5387188" cy="1248410"/>
          </a:xfrm>
          <a:prstGeom prst="roundRect">
            <a:avLst>
              <a:gd name="adj" fmla="val 4395"/>
            </a:avLst>
          </a:prstGeom>
          <a:solidFill>
            <a:srgbClr val="1E2230"/>
          </a:solidFill>
          <a:ln w="12700">
            <a:solidFill>
              <a:srgbClr val="1E2230"/>
            </a:solidFill>
            <a:prstDash val="solid"/>
          </a:ln>
        </p:spPr>
      </p:sp>
      <p:sp>
        <p:nvSpPr>
          <p:cNvPr id="7" name="Text 5"/>
          <p:cNvSpPr txBox="1"/>
          <p:nvPr/>
        </p:nvSpPr>
        <p:spPr>
          <a:xfrm>
            <a:off x="685800" y="2532888"/>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"working\n"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t is destroyed here</a:t>
            </a:r>
            <a:endParaRPr lang="en-US" sz="1300" dirty="0"/>
          </a:p>
        </p:txBody>
      </p:sp>
      <p:sp>
        <p:nvSpPr>
          <p:cNvPr id="8" name="Text 6"/>
          <p:cNvSpPr txBox="1"/>
          <p:nvPr/>
        </p:nvSpPr>
        <p:spPr>
          <a:xfrm>
            <a:off x="502920" y="3790442"/>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program does not print "working" and exit normally. It aborts:</a:t>
            </a:r>
            <a:endParaRPr lang="en-US" sz="1500" dirty="0"/>
          </a:p>
        </p:txBody>
      </p:sp>
      <p:sp>
        <p:nvSpPr>
          <p:cNvPr id="9" name="Shape 7"/>
          <p:cNvSpPr/>
          <p:nvPr/>
        </p:nvSpPr>
        <p:spPr>
          <a:xfrm>
            <a:off x="502920" y="4421378"/>
            <a:ext cx="5387188" cy="858774"/>
          </a:xfrm>
          <a:prstGeom prst="roundRect">
            <a:avLst>
              <a:gd name="adj" fmla="val 6389"/>
            </a:avLst>
          </a:prstGeom>
          <a:solidFill>
            <a:srgbClr val="0F1419"/>
          </a:solidFill>
          <a:ln w="12700">
            <a:solidFill>
              <a:srgbClr val="0F1419"/>
            </a:solidFill>
            <a:prstDash val="solid"/>
          </a:ln>
        </p:spPr>
      </p:sp>
      <p:sp>
        <p:nvSpPr>
          <p:cNvPr id="10" name="Text 8"/>
          <p:cNvSpPr txBox="1"/>
          <p:nvPr/>
        </p:nvSpPr>
        <p:spPr>
          <a:xfrm>
            <a:off x="685800" y="4558538"/>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v1 tiny terminate</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terminate called without an active exception</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Aborted</a:t>
            </a:r>
            <a:endParaRPr lang="en-US" sz="1300" dirty="0"/>
          </a:p>
        </p:txBody>
      </p:sp>
      <p:sp>
        <p:nvSpPr>
          <p:cNvPr id="11" name="Shape 9"/>
          <p:cNvSpPr/>
          <p:nvPr/>
        </p:nvSpPr>
        <p:spPr>
          <a:xfrm>
            <a:off x="502920" y="5426456"/>
            <a:ext cx="5387188" cy="858774"/>
          </a:xfrm>
          <a:prstGeom prst="roundRect">
            <a:avLst>
              <a:gd name="adj" fmla="val 6389"/>
            </a:avLst>
          </a:prstGeom>
          <a:solidFill>
            <a:srgbClr val="F1F4F7"/>
          </a:solidFill>
          <a:ln w="12700">
            <a:solidFill>
              <a:srgbClr val="F1F4F7"/>
            </a:solidFill>
            <a:prstDash val="solid"/>
          </a:ln>
        </p:spPr>
      </p:sp>
      <p:sp>
        <p:nvSpPr>
          <p:cNvPr id="12" name="Text 10"/>
          <p:cNvSpPr txBox="1"/>
          <p:nvPr/>
        </p:nvSpPr>
        <p:spPr>
          <a:xfrm>
            <a:off x="685800" y="5563616"/>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time   0                    a few microseconds later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std::thread t(work)  reaches }, t is destroyed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            starts running work() ... still running</a:t>
            </a:r>
            <a:endParaRPr lang="en-US" sz="1300" dirty="0"/>
          </a:p>
        </p:txBody>
      </p:sp>
      <p:sp>
        <p:nvSpPr>
          <p:cNvPr id="13" name="Text 11"/>
          <p:cNvSpPr txBox="1"/>
          <p:nvPr/>
        </p:nvSpPr>
        <p:spPr>
          <a:xfrm>
            <a:off x="6301588" y="1234440"/>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main creates t and immediately reaches the closing brace. The new thread has barely started, but the std::thread object t is already being destroyed. It aborts every time. To understand why, look at what a std::thread object is. It is a handle that owns a running operating system thread. When the handle is destroyed, C++ has to decide what happens to that thread, and both possible answers are dangerous.</a:t>
            </a:r>
            <a:endParaRPr lang="en-US" sz="1500" dirty="0"/>
          </a:p>
        </p:txBody>
      </p:sp>
      <p:sp>
        <p:nvSpPr>
          <p:cNvPr id="14" name="Shape 12"/>
          <p:cNvSpPr/>
          <p:nvPr/>
        </p:nvSpPr>
        <p:spPr>
          <a:xfrm>
            <a:off x="6301588" y="3236976"/>
            <a:ext cx="5387188" cy="1638046"/>
          </a:xfrm>
          <a:prstGeom prst="roundRect">
            <a:avLst>
              <a:gd name="adj" fmla="val 3349"/>
            </a:avLst>
          </a:prstGeom>
          <a:solidFill>
            <a:srgbClr val="F1F4F7"/>
          </a:solidFill>
          <a:ln w="12700">
            <a:solidFill>
              <a:srgbClr val="F1F4F7"/>
            </a:solidFill>
            <a:prstDash val="solid"/>
          </a:ln>
        </p:spPr>
      </p:sp>
      <p:sp>
        <p:nvSpPr>
          <p:cNvPr id="15" name="Text 13"/>
          <p:cNvSpPr txBox="1"/>
          <p:nvPr/>
        </p:nvSpPr>
        <p:spPr>
          <a:xfrm>
            <a:off x="6484468" y="3374136"/>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std::thread object  --owns--&gt;  OS thread</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before the object is destroyed you must call:</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join()    wait here until the thread finishes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detach()  let it carry on with no owner</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destroyed while still joinable -&gt; std::terminate</a:t>
            </a:r>
            <a:endParaRPr lang="en-US" sz="1300" dirty="0"/>
          </a:p>
        </p:txBody>
      </p:sp>
      <p:sp>
        <p:nvSpPr>
          <p:cNvPr id="16" name="Text 14"/>
          <p:cNvSpPr txBox="1"/>
          <p:nvPr/>
        </p:nvSpPr>
        <p:spPr>
          <a:xfrm>
            <a:off x="6301588" y="5021326"/>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Joining automatically could freeze the program in a destructor. Detaching automatically could leave a thread reading memory that is about to disappear. C++ refuses to guess and stops the program instead.</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Who owns a thread?</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Arguments are copied</a:t>
            </a:r>
            <a:endParaRPr lang="en-US" sz="1800" dirty="0"/>
          </a:p>
        </p:txBody>
      </p:sp>
      <p:sp>
        <p:nvSpPr>
          <p:cNvPr id="5" name="Text 3"/>
          <p:cNvSpPr txBox="1"/>
          <p:nvPr/>
        </p:nvSpPr>
        <p:spPr>
          <a:xfrm>
            <a:off x="502920" y="1764792"/>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second surprise is quieter. std::thread copies every argument into the new thread. If you pass your queue, the thread receives its own copy and fills that, while the queue in main stays empty. To share the real object you have to say so with std::ref(q).</a:t>
            </a:r>
            <a:endParaRPr lang="en-US" sz="1500" dirty="0"/>
          </a:p>
        </p:txBody>
      </p:sp>
      <p:sp>
        <p:nvSpPr>
          <p:cNvPr id="6" name="Text 4"/>
          <p:cNvSpPr txBox="1"/>
          <p:nvPr/>
        </p:nvSpPr>
        <p:spPr>
          <a:xfrm>
            <a:off x="502920" y="3136392"/>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fix: let a destructor do the joining</a:t>
            </a:r>
            <a:endParaRPr lang="en-US" sz="1800" dirty="0"/>
          </a:p>
        </p:txBody>
      </p:sp>
      <p:sp>
        <p:nvSpPr>
          <p:cNvPr id="7" name="Text 5"/>
          <p:cNvSpPr txBox="1"/>
          <p:nvPr/>
        </p:nvSpPr>
        <p:spPr>
          <a:xfrm>
            <a:off x="502920" y="361188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We forget things, especially when an exception skips the line that would have called join(). C++ has one reliable tool for "this must happen on every way out of a scope": a destructor. So we write a small class that owns threads and joins all of them when it goes out of scope.</a:t>
            </a:r>
            <a:endParaRPr lang="en-US" sz="1500" dirty="0"/>
          </a:p>
        </p:txBody>
      </p:sp>
      <p:sp>
        <p:nvSpPr>
          <p:cNvPr id="8" name="Shape 6"/>
          <p:cNvSpPr/>
          <p:nvPr/>
        </p:nvSpPr>
        <p:spPr>
          <a:xfrm>
            <a:off x="6301588" y="1234440"/>
            <a:ext cx="5387188" cy="3001772"/>
          </a:xfrm>
          <a:prstGeom prst="roundRect">
            <a:avLst>
              <a:gd name="adj" fmla="val 1828"/>
            </a:avLst>
          </a:prstGeom>
          <a:solidFill>
            <a:srgbClr val="1E2230"/>
          </a:solidFill>
          <a:ln w="12700">
            <a:solidFill>
              <a:srgbClr val="1E2230"/>
            </a:solidFill>
            <a:prstDash val="solid"/>
          </a:ln>
        </p:spPr>
      </p:sp>
      <p:sp>
        <p:nvSpPr>
          <p:cNvPr id="9" name="Text 7"/>
          <p:cNvSpPr txBox="1"/>
          <p:nvPr/>
        </p:nvSpPr>
        <p:spPr>
          <a:xfrm>
            <a:off x="6484468" y="1371600"/>
            <a:ext cx="5021428" cy="2727452"/>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std::vector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push_back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joinable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producer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std::ref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10" name="Text 8"/>
          <p:cNvSpPr txBox="1"/>
          <p:nvPr/>
        </p:nvSpPr>
        <p:spPr>
          <a:xfrm>
            <a:off x="6301588" y="4382516"/>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Now every thread has exactly one owner, and that owner joins it whether the scope ends normally or through an exception. In this project we never detach.</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Who owns a thread?</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t1.join(); t2.join(); std::cout &lt;&lt; "Done"; Can "Done" appear before the output of t1 or t2?</a:t>
            </a:r>
            <a:endParaRPr lang="en-US" sz="1500" dirty="0"/>
          </a:p>
        </p:txBody>
      </p:sp>
      <p:sp>
        <p:nvSpPr>
          <p:cNvPr id="6" name="Shape 4"/>
          <p:cNvSpPr/>
          <p:nvPr/>
        </p:nvSpPr>
        <p:spPr>
          <a:xfrm>
            <a:off x="502920" y="2322576"/>
            <a:ext cx="5387188" cy="765048"/>
          </a:xfrm>
          <a:prstGeom prst="roundRect">
            <a:avLst>
              <a:gd name="adj" fmla="val 7171"/>
            </a:avLst>
          </a:prstGeom>
          <a:solidFill>
            <a:srgbClr val="F1F4F7"/>
          </a:solidFill>
          <a:ln w="12700">
            <a:solidFill>
              <a:srgbClr val="F1F4F7"/>
            </a:solidFill>
            <a:prstDash val="solid"/>
          </a:ln>
        </p:spPr>
      </p:sp>
      <p:sp>
        <p:nvSpPr>
          <p:cNvPr id="7" name="Text 5"/>
          <p:cNvSpPr txBox="1"/>
          <p:nvPr/>
        </p:nvSpPr>
        <p:spPr>
          <a:xfrm>
            <a:off x="685800" y="2450592"/>
            <a:ext cx="5021428" cy="5364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No. Each join waits for its thread to finish, so Done always comes last. t1 and t2 can print in either order.</a:t>
            </a:r>
            <a:endParaRPr lang="en-US" sz="1400" dirty="0"/>
          </a:p>
        </p:txBody>
      </p:sp>
      <p:sp>
        <p:nvSpPr>
          <p:cNvPr id="8" name="Text 6"/>
          <p:cNvSpPr txBox="1"/>
          <p:nvPr/>
        </p:nvSpPr>
        <p:spPr>
          <a:xfrm>
            <a:off x="502920" y="3233928"/>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Three threads are started and then an exception is thrown. How do you make sure all three are joined?</a:t>
            </a:r>
            <a:endParaRPr lang="en-US" sz="1500" dirty="0"/>
          </a:p>
        </p:txBody>
      </p:sp>
      <p:sp>
        <p:nvSpPr>
          <p:cNvPr id="9" name="Shape 7"/>
          <p:cNvSpPr/>
          <p:nvPr/>
        </p:nvSpPr>
        <p:spPr>
          <a:xfrm>
            <a:off x="502920" y="3791712"/>
            <a:ext cx="5387188" cy="765048"/>
          </a:xfrm>
          <a:prstGeom prst="roundRect">
            <a:avLst>
              <a:gd name="adj" fmla="val 7171"/>
            </a:avLst>
          </a:prstGeom>
          <a:solidFill>
            <a:srgbClr val="F1F4F7"/>
          </a:solidFill>
          <a:ln w="12700">
            <a:solidFill>
              <a:srgbClr val="F1F4F7"/>
            </a:solidFill>
            <a:prstDash val="solid"/>
          </a:ln>
        </p:spPr>
      </p:sp>
      <p:sp>
        <p:nvSpPr>
          <p:cNvPr id="10" name="Text 8"/>
          <p:cNvSpPr txBox="1"/>
          <p:nvPr/>
        </p:nvSpPr>
        <p:spPr>
          <a:xfrm>
            <a:off x="685800" y="3919728"/>
            <a:ext cx="5021428" cy="5364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Keep them in an owner like ThreadGroup, or use std::jthread, which joins in its destructor.</a:t>
            </a:r>
            <a:endParaRPr lang="en-US" sz="1400" dirty="0"/>
          </a:p>
        </p:txBody>
      </p:sp>
      <p:sp>
        <p:nvSpPr>
          <p:cNvPr id="11" name="Text 9"/>
          <p:cNvSpPr txBox="1"/>
          <p:nvPr/>
        </p:nvSpPr>
        <p:spPr>
          <a:xfrm>
            <a:off x="502920" y="4703064"/>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Four producers push 100,000 items each into one plain std::queue. What size do you expect?</a:t>
            </a:r>
            <a:endParaRPr lang="en-US" sz="1500" dirty="0"/>
          </a:p>
        </p:txBody>
      </p:sp>
      <p:sp>
        <p:nvSpPr>
          <p:cNvPr id="12" name="Shape 10"/>
          <p:cNvSpPr/>
          <p:nvPr/>
        </p:nvSpPr>
        <p:spPr>
          <a:xfrm>
            <a:off x="502920" y="5260848"/>
            <a:ext cx="5387188" cy="765048"/>
          </a:xfrm>
          <a:prstGeom prst="roundRect">
            <a:avLst>
              <a:gd name="adj" fmla="val 7171"/>
            </a:avLst>
          </a:prstGeom>
          <a:solidFill>
            <a:srgbClr val="F1F4F7"/>
          </a:solidFill>
          <a:ln w="12700">
            <a:solidFill>
              <a:srgbClr val="F1F4F7"/>
            </a:solidFill>
            <a:prstDash val="solid"/>
          </a:ln>
        </p:spPr>
      </p:sp>
      <p:sp>
        <p:nvSpPr>
          <p:cNvPr id="13" name="Text 11"/>
          <p:cNvSpPr txBox="1"/>
          <p:nvPr/>
        </p:nvSpPr>
        <p:spPr>
          <a:xfrm>
            <a:off x="685800" y="5388864"/>
            <a:ext cx="5021428" cy="5364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400,000 if it worked. In practice it crashes or hangs, and that is the next problem.</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threads, one queue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situation</a:t>
            </a:r>
            <a:endParaRPr lang="en-US" sz="1800" dirty="0"/>
          </a:p>
        </p:txBody>
      </p:sp>
      <p:sp>
        <p:nvSpPr>
          <p:cNvPr id="5" name="Text 3"/>
          <p:cNvSpPr txBox="1"/>
          <p:nvPr/>
        </p:nvSpPr>
        <p:spPr>
          <a:xfrm>
            <a:off x="502920" y="1764792"/>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Now four producers push into the same queue at the same time. With 1,000 items each the result looked fine. With 100,000 each the program crashed or hung on every run. Something inside push() cannot cope with two threads at once.</a:t>
            </a:r>
            <a:endParaRPr lang="en-US" sz="1500" dirty="0"/>
          </a:p>
        </p:txBody>
      </p:sp>
      <p:sp>
        <p:nvSpPr>
          <p:cNvPr id="6" name="Shape 4"/>
          <p:cNvSpPr/>
          <p:nvPr/>
        </p:nvSpPr>
        <p:spPr>
          <a:xfrm>
            <a:off x="502920" y="3081528"/>
            <a:ext cx="5387188" cy="1248410"/>
          </a:xfrm>
          <a:prstGeom prst="roundRect">
            <a:avLst>
              <a:gd name="adj" fmla="val 4395"/>
            </a:avLst>
          </a:prstGeom>
          <a:solidFill>
            <a:srgbClr val="F1F4F7"/>
          </a:solidFill>
          <a:ln w="12700">
            <a:solidFill>
              <a:srgbClr val="F1F4F7"/>
            </a:solidFill>
            <a:prstDash val="solid"/>
          </a:ln>
        </p:spPr>
      </p:sp>
      <p:sp>
        <p:nvSpPr>
          <p:cNvPr id="7" name="Text 5"/>
          <p:cNvSpPr txBox="1"/>
          <p:nvPr/>
        </p:nvSpPr>
        <p:spPr>
          <a:xfrm>
            <a:off x="685800" y="3218688"/>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shared queue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[ 10 | 20 | 30 | ...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producer T1   producer T2</a:t>
            </a:r>
            <a:endParaRPr lang="en-US" sz="1300" dirty="0"/>
          </a:p>
        </p:txBody>
      </p:sp>
      <p:sp>
        <p:nvSpPr>
          <p:cNvPr id="8" name="Text 6"/>
          <p:cNvSpPr txBox="1"/>
          <p:nvPr/>
        </p:nvSpPr>
        <p:spPr>
          <a:xfrm>
            <a:off x="502920" y="4476242"/>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std::queue is too large to reason about, so shrink the problem to one line that two threads both run a million times.</a:t>
            </a:r>
            <a:endParaRPr lang="en-US" sz="1500" dirty="0"/>
          </a:p>
        </p:txBody>
      </p:sp>
      <p:sp>
        <p:nvSpPr>
          <p:cNvPr id="9" name="Shape 7"/>
          <p:cNvSpPr/>
          <p:nvPr/>
        </p:nvSpPr>
        <p:spPr>
          <a:xfrm>
            <a:off x="6301588" y="1234440"/>
            <a:ext cx="5387188" cy="2222500"/>
          </a:xfrm>
          <a:prstGeom prst="roundRect">
            <a:avLst>
              <a:gd name="adj" fmla="val 2469"/>
            </a:avLst>
          </a:prstGeom>
          <a:solidFill>
            <a:srgbClr val="1E2230"/>
          </a:solidFill>
          <a:ln w="12700">
            <a:solidFill>
              <a:srgbClr val="1E2230"/>
            </a:solidFill>
            <a:prstDash val="solid"/>
          </a:ln>
        </p:spPr>
      </p:sp>
      <p:sp>
        <p:nvSpPr>
          <p:cNvPr id="10" name="Text 8"/>
          <p:cNvSpPr txBox="1"/>
          <p:nvPr/>
        </p:nvSpPr>
        <p:spPr>
          <a:xfrm>
            <a:off x="6484468" y="1371600"/>
            <a:ext cx="5021428" cy="1948180"/>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counter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inc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1'000'000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counter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inc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t2</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inc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t2</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counter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11" name="Text 9"/>
          <p:cNvSpPr txBox="1"/>
          <p:nvPr/>
        </p:nvSpPr>
        <p:spPr>
          <a:xfrm>
            <a:off x="6301588" y="3603244"/>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answer should be 2,000,000. It is not, and it changes every run:</a:t>
            </a:r>
            <a:endParaRPr lang="en-US" sz="1500" dirty="0"/>
          </a:p>
        </p:txBody>
      </p:sp>
      <p:sp>
        <p:nvSpPr>
          <p:cNvPr id="12" name="Shape 10"/>
          <p:cNvSpPr/>
          <p:nvPr/>
        </p:nvSpPr>
        <p:spPr>
          <a:xfrm>
            <a:off x="6301588" y="4234180"/>
            <a:ext cx="5387188" cy="1443228"/>
          </a:xfrm>
          <a:prstGeom prst="roundRect">
            <a:avLst>
              <a:gd name="adj" fmla="val 3801"/>
            </a:avLst>
          </a:prstGeom>
          <a:solidFill>
            <a:srgbClr val="0F1419"/>
          </a:solidFill>
          <a:ln w="12700">
            <a:solidFill>
              <a:srgbClr val="0F1419"/>
            </a:solidFill>
            <a:prstDash val="solid"/>
          </a:ln>
        </p:spPr>
      </p:sp>
      <p:sp>
        <p:nvSpPr>
          <p:cNvPr id="13" name="Text 11"/>
          <p:cNvSpPr txBox="1"/>
          <p:nvPr/>
        </p:nvSpPr>
        <p:spPr>
          <a:xfrm>
            <a:off x="6484468" y="4371340"/>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v2 tiny        (five runs)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race: 1556397</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race: 1114575</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race: 1363955</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race: 1099554</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race: 1074728</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threads, one queue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What ++counter really does</a:t>
            </a:r>
            <a:endParaRPr lang="en-US" sz="1800" dirty="0"/>
          </a:p>
        </p:txBody>
      </p:sp>
      <p:sp>
        <p:nvSpPr>
          <p:cNvPr id="5" name="Text 3"/>
          <p:cNvSpPr txBox="1"/>
          <p:nvPr/>
        </p:nvSpPr>
        <p:spPr>
          <a:xfrm>
            <a:off x="502920" y="1764792"/>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++counter looks like one step, but the CPU does three: it reads the value from memory into a register, adds one in the register, and writes the result back. Both threads start at the same moment and run on two cores, so their three steps happen side by side, and nothing stops one thread from reading the value while the other is still holding its new value in a register. Follow one unlucky moment, step by step.</a:t>
            </a:r>
            <a:endParaRPr lang="en-US" sz="1500" dirty="0"/>
          </a:p>
        </p:txBody>
      </p:sp>
      <p:sp>
        <p:nvSpPr>
          <p:cNvPr id="6" name="Shape 4"/>
          <p:cNvSpPr/>
          <p:nvPr/>
        </p:nvSpPr>
        <p:spPr>
          <a:xfrm>
            <a:off x="502920" y="3767328"/>
            <a:ext cx="5387188" cy="2027682"/>
          </a:xfrm>
          <a:prstGeom prst="roundRect">
            <a:avLst>
              <a:gd name="adj" fmla="val 2706"/>
            </a:avLst>
          </a:prstGeom>
          <a:solidFill>
            <a:srgbClr val="F1F4F7"/>
          </a:solidFill>
          <a:ln w="12700">
            <a:solidFill>
              <a:srgbClr val="F1F4F7"/>
            </a:solidFill>
            <a:prstDash val="solid"/>
          </a:ln>
        </p:spPr>
      </p:sp>
      <p:sp>
        <p:nvSpPr>
          <p:cNvPr id="7" name="Text 5"/>
          <p:cNvSpPr txBox="1"/>
          <p:nvPr/>
        </p:nvSpPr>
        <p:spPr>
          <a:xfrm>
            <a:off x="685800" y="3904488"/>
            <a:ext cx="5021428" cy="175336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T1                       T2</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read counter -&gt; 0</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read counter -&gt; 0</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add 1        -&gt; 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write 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add 1        -&gt; 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write 1</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two increments happened, counter is 1</a:t>
            </a:r>
            <a:endParaRPr lang="en-US" sz="1300" dirty="0"/>
          </a:p>
        </p:txBody>
      </p:sp>
      <p:sp>
        <p:nvSpPr>
          <p:cNvPr id="8" name="Text 6"/>
          <p:cNvSpPr txBox="1"/>
          <p:nvPr/>
        </p:nvSpPr>
        <p:spPr>
          <a:xfrm>
            <a:off x="6301588"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Nothing crashed here. One update was simply lost. Inside std::queue the same kind of interleaving happens to internal pointers, and a lost pointer update corrupts memory. That was the crash we saw.</a:t>
            </a:r>
            <a:endParaRPr lang="en-US" sz="1500" dirty="0"/>
          </a:p>
        </p:txBody>
      </p:sp>
      <p:sp>
        <p:nvSpPr>
          <p:cNvPr id="9" name="Text 7"/>
          <p:cNvSpPr txBox="1"/>
          <p:nvPr/>
        </p:nvSpPr>
        <p:spPr>
          <a:xfrm>
            <a:off x="6301588" y="232257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is called a data race: two threads access the same memory, at least one of them writes, and nothing orders the accesses. In C++ a data race is undefined behaviour, so the compiler is allowed to produce anything at all.</a:t>
            </a:r>
            <a:endParaRPr lang="en-US" sz="1500" dirty="0"/>
          </a:p>
        </p:txBody>
      </p:sp>
      <p:sp>
        <p:nvSpPr>
          <p:cNvPr id="10" name="Text 8"/>
          <p:cNvSpPr txBox="1"/>
          <p:nvPr/>
        </p:nvSpPr>
        <p:spPr>
          <a:xfrm>
            <a:off x="6301588" y="3694176"/>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What we actually need</a:t>
            </a:r>
            <a:endParaRPr lang="en-US" sz="1800" dirty="0"/>
          </a:p>
        </p:txBody>
      </p:sp>
      <p:sp>
        <p:nvSpPr>
          <p:cNvPr id="11" name="Text 9"/>
          <p:cNvSpPr txBox="1"/>
          <p:nvPr/>
        </p:nvSpPr>
        <p:spPr>
          <a:xfrm>
            <a:off x="6301588" y="4169664"/>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If one thread is in the middle of changing the queue, every other thread has to wait until it is finished. That property is called mutual exclusion, and std::mutex provides it. Only one thread can hold the mutex at a time.</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threads, one queue</a:t>
            </a:r>
            <a:endParaRPr lang="en-US" sz="2600" dirty="0"/>
          </a:p>
        </p:txBody>
      </p:sp>
      <p:sp>
        <p:nvSpPr>
          <p:cNvPr id="4" name="Shape 2"/>
          <p:cNvSpPr/>
          <p:nvPr/>
        </p:nvSpPr>
        <p:spPr>
          <a:xfrm>
            <a:off x="502920" y="1234440"/>
            <a:ext cx="5387188" cy="2222500"/>
          </a:xfrm>
          <a:prstGeom prst="roundRect">
            <a:avLst>
              <a:gd name="adj" fmla="val 2469"/>
            </a:avLst>
          </a:prstGeom>
          <a:solidFill>
            <a:srgbClr val="1E2230"/>
          </a:solidFill>
          <a:ln w="12700">
            <a:solidFill>
              <a:srgbClr val="1E2230"/>
            </a:solidFill>
            <a:prstDash val="solid"/>
          </a:ln>
        </p:spPr>
      </p:sp>
      <p:sp>
        <p:nvSpPr>
          <p:cNvPr id="5" name="Text 3"/>
          <p:cNvSpPr txBox="1"/>
          <p:nvPr/>
        </p:nvSpPr>
        <p:spPr>
          <a:xfrm>
            <a:off x="685800" y="1371600"/>
            <a:ext cx="5021428" cy="1948180"/>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guarded by m</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unlock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6" name="Text 4"/>
          <p:cNvSpPr txBox="1"/>
          <p:nvPr/>
        </p:nvSpPr>
        <p:spPr>
          <a:xfrm>
            <a:off x="502920" y="3603244"/>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code between lock() and unlock() is the critical section. The rule that makes it work is strict: every access to q, including reads like size() and empty(), must go through the same mutex. A mutex protects data, not a function. If size() reads q while push() is changing it, that read is a data race too.</a:t>
            </a:r>
            <a:endParaRPr lang="en-US" sz="1500" dirty="0"/>
          </a:p>
        </p:txBody>
      </p:sp>
      <p:sp>
        <p:nvSpPr>
          <p:cNvPr id="7" name="Text 5"/>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8" name="Text 6"/>
          <p:cNvSpPr txBox="1"/>
          <p:nvPr/>
        </p:nvSpPr>
        <p:spPr>
          <a:xfrm>
            <a:off x="6301588"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Pushing costs 44 ns on one thread and 141 ns per push with four threads. Why is it slower?</a:t>
            </a:r>
            <a:endParaRPr lang="en-US" sz="1500" dirty="0"/>
          </a:p>
        </p:txBody>
      </p:sp>
      <p:sp>
        <p:nvSpPr>
          <p:cNvPr id="9" name="Shape 7"/>
          <p:cNvSpPr/>
          <p:nvPr/>
        </p:nvSpPr>
        <p:spPr>
          <a:xfrm>
            <a:off x="6301588" y="2322576"/>
            <a:ext cx="5387188" cy="978408"/>
          </a:xfrm>
          <a:prstGeom prst="roundRect">
            <a:avLst>
              <a:gd name="adj" fmla="val 5607"/>
            </a:avLst>
          </a:prstGeom>
          <a:solidFill>
            <a:srgbClr val="F1F4F7"/>
          </a:solidFill>
          <a:ln w="12700">
            <a:solidFill>
              <a:srgbClr val="F1F4F7"/>
            </a:solidFill>
            <a:prstDash val="solid"/>
          </a:ln>
        </p:spPr>
      </p:sp>
      <p:sp>
        <p:nvSpPr>
          <p:cNvPr id="10" name="Text 8"/>
          <p:cNvSpPr txBox="1"/>
          <p:nvPr/>
        </p:nvSpPr>
        <p:spPr>
          <a:xfrm>
            <a:off x="6484468" y="2450592"/>
            <a:ext cx="5021428" cy="74980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four threads queue up for one mutex, and handing a lock from one core to another costs more than the push itself.</a:t>
            </a:r>
            <a:endParaRPr lang="en-US" sz="1400" dirty="0"/>
          </a:p>
        </p:txBody>
      </p:sp>
      <p:sp>
        <p:nvSpPr>
          <p:cNvPr id="11" name="Text 9"/>
          <p:cNvSpPr txBox="1"/>
          <p:nvPr/>
        </p:nvSpPr>
        <p:spPr>
          <a:xfrm>
            <a:off x="6301588" y="3447288"/>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m.lock(); foo(); m.unlock(); What happens if foo() throws?</a:t>
            </a:r>
            <a:endParaRPr lang="en-US" sz="1500" dirty="0"/>
          </a:p>
        </p:txBody>
      </p:sp>
      <p:sp>
        <p:nvSpPr>
          <p:cNvPr id="12" name="Shape 10"/>
          <p:cNvSpPr/>
          <p:nvPr/>
        </p:nvSpPr>
        <p:spPr>
          <a:xfrm>
            <a:off x="6301588" y="4005072"/>
            <a:ext cx="5387188" cy="765048"/>
          </a:xfrm>
          <a:prstGeom prst="roundRect">
            <a:avLst>
              <a:gd name="adj" fmla="val 7171"/>
            </a:avLst>
          </a:prstGeom>
          <a:solidFill>
            <a:srgbClr val="F1F4F7"/>
          </a:solidFill>
          <a:ln w="12700">
            <a:solidFill>
              <a:srgbClr val="F1F4F7"/>
            </a:solidFill>
            <a:prstDash val="solid"/>
          </a:ln>
        </p:spPr>
      </p:sp>
      <p:sp>
        <p:nvSpPr>
          <p:cNvPr id="13" name="Text 11"/>
          <p:cNvSpPr txBox="1"/>
          <p:nvPr/>
        </p:nvSpPr>
        <p:spPr>
          <a:xfrm>
            <a:off x="6484468" y="4133088"/>
            <a:ext cx="5021428" cy="5364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unlock() never runs. The mutex stays locked and the next thread that calls lock() waits forever.</a:t>
            </a:r>
            <a:endParaRPr lang="en-US" sz="1400" dirty="0"/>
          </a:p>
        </p:txBody>
      </p:sp>
      <p:sp>
        <p:nvSpPr>
          <p:cNvPr id="14" name="Text 12"/>
          <p:cNvSpPr txBox="1"/>
          <p:nvPr/>
        </p:nvSpPr>
        <p:spPr>
          <a:xfrm>
            <a:off x="6301588" y="4916424"/>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Thread A calls q.size() while thread B calls q.push(100). Is the read safe without a lock?</a:t>
            </a:r>
            <a:endParaRPr lang="en-US" sz="1500" dirty="0"/>
          </a:p>
        </p:txBody>
      </p:sp>
      <p:sp>
        <p:nvSpPr>
          <p:cNvPr id="15" name="Shape 13"/>
          <p:cNvSpPr/>
          <p:nvPr/>
        </p:nvSpPr>
        <p:spPr>
          <a:xfrm>
            <a:off x="6301588" y="5474208"/>
            <a:ext cx="5387188" cy="765048"/>
          </a:xfrm>
          <a:prstGeom prst="roundRect">
            <a:avLst>
              <a:gd name="adj" fmla="val 7171"/>
            </a:avLst>
          </a:prstGeom>
          <a:solidFill>
            <a:srgbClr val="F1F4F7"/>
          </a:solidFill>
          <a:ln w="12700">
            <a:solidFill>
              <a:srgbClr val="F1F4F7"/>
            </a:solidFill>
            <a:prstDash val="solid"/>
          </a:ln>
        </p:spPr>
      </p:sp>
      <p:sp>
        <p:nvSpPr>
          <p:cNvPr id="16" name="Text 14"/>
          <p:cNvSpPr txBox="1"/>
          <p:nvPr/>
        </p:nvSpPr>
        <p:spPr>
          <a:xfrm>
            <a:off x="6484468" y="5602224"/>
            <a:ext cx="5021428" cy="5364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No. A reads memory that B is writing. Read-only code still needs the lock when someone else writes.</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lock that never unlocks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consumer that arrives too early</a:t>
            </a:r>
            <a:endParaRPr lang="en-US" sz="1800" dirty="0"/>
          </a:p>
        </p:txBody>
      </p:sp>
      <p:sp>
        <p:nvSpPr>
          <p:cNvPr id="5" name="Text 3"/>
          <p:cNvSpPr txBox="1"/>
          <p:nvPr/>
        </p:nvSpPr>
        <p:spPr>
          <a:xfrm>
            <a:off x="502920" y="1764792"/>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 v2 pop() throws when the queue is empty, and it locks and unlocks by hand.</a:t>
            </a:r>
            <a:endParaRPr lang="en-US" sz="1500" dirty="0"/>
          </a:p>
        </p:txBody>
      </p:sp>
      <p:sp>
        <p:nvSpPr>
          <p:cNvPr id="6" name="Shape 4"/>
          <p:cNvSpPr/>
          <p:nvPr/>
        </p:nvSpPr>
        <p:spPr>
          <a:xfrm>
            <a:off x="502920" y="2395728"/>
            <a:ext cx="5387188" cy="2027682"/>
          </a:xfrm>
          <a:prstGeom prst="roundRect">
            <a:avLst>
              <a:gd name="adj" fmla="val 2706"/>
            </a:avLst>
          </a:prstGeom>
          <a:solidFill>
            <a:srgbClr val="1E2230"/>
          </a:solidFill>
          <a:ln w="12700">
            <a:solidFill>
              <a:srgbClr val="1E2230"/>
            </a:solidFill>
            <a:prstDash val="solid"/>
          </a:ln>
        </p:spPr>
      </p:sp>
      <p:sp>
        <p:nvSpPr>
          <p:cNvPr id="7" name="Text 5"/>
          <p:cNvSpPr txBox="1"/>
          <p:nvPr/>
        </p:nvSpPr>
        <p:spPr>
          <a:xfrm>
            <a:off x="685800" y="2532888"/>
            <a:ext cx="5021428" cy="1753362"/>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throw</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std::runtime_error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unlock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Text 6"/>
          <p:cNvSpPr txBox="1"/>
          <p:nvPr/>
        </p:nvSpPr>
        <p:spPr>
          <a:xfrm>
            <a:off x="502920" y="4569714"/>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Follow a consumer that calls pop() before anything has been pushed. It takes the lock, finds the queue empty and throws. The exception leaves the function immediately, so the line with unlock() is never reached.</a:t>
            </a:r>
            <a:endParaRPr lang="en-US" sz="1500" dirty="0"/>
          </a:p>
        </p:txBody>
      </p:sp>
      <p:sp>
        <p:nvSpPr>
          <p:cNvPr id="9" name="Shape 7"/>
          <p:cNvSpPr/>
          <p:nvPr/>
        </p:nvSpPr>
        <p:spPr>
          <a:xfrm>
            <a:off x="6301588" y="1234440"/>
            <a:ext cx="5387188" cy="1443228"/>
          </a:xfrm>
          <a:prstGeom prst="roundRect">
            <a:avLst>
              <a:gd name="adj" fmla="val 3801"/>
            </a:avLst>
          </a:prstGeom>
          <a:solidFill>
            <a:srgbClr val="F1F4F7"/>
          </a:solidFill>
          <a:ln w="12700">
            <a:solidFill>
              <a:srgbClr val="F1F4F7"/>
            </a:solidFill>
            <a:prstDash val="solid"/>
          </a:ln>
        </p:spPr>
      </p:sp>
      <p:sp>
        <p:nvSpPr>
          <p:cNvPr id="10" name="Text 8"/>
          <p:cNvSpPr txBox="1"/>
          <p:nvPr/>
        </p:nvSpPr>
        <p:spPr>
          <a:xfrm>
            <a:off x="6484468" y="1371600"/>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                    producer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m.lock()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queue empty -&gt; throw</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leaves pop(), m still locked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push(42): m.lock()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...waits forever</a:t>
            </a:r>
            <a:endParaRPr lang="en-US" sz="1300" dirty="0"/>
          </a:p>
        </p:txBody>
      </p:sp>
      <p:sp>
        <p:nvSpPr>
          <p:cNvPr id="11" name="Shape 9"/>
          <p:cNvSpPr/>
          <p:nvPr/>
        </p:nvSpPr>
        <p:spPr>
          <a:xfrm>
            <a:off x="6301588" y="2823972"/>
            <a:ext cx="5387188" cy="663956"/>
          </a:xfrm>
          <a:prstGeom prst="roundRect">
            <a:avLst>
              <a:gd name="adj" fmla="val 8263"/>
            </a:avLst>
          </a:prstGeom>
          <a:solidFill>
            <a:srgbClr val="0F1419"/>
          </a:solidFill>
          <a:ln w="12700">
            <a:solidFill>
              <a:srgbClr val="0F1419"/>
            </a:solidFill>
            <a:prstDash val="solid"/>
          </a:ln>
        </p:spPr>
      </p:sp>
      <p:sp>
        <p:nvSpPr>
          <p:cNvPr id="12" name="Text 10"/>
          <p:cNvSpPr txBox="1"/>
          <p:nvPr/>
        </p:nvSpPr>
        <p:spPr>
          <a:xfrm>
            <a:off x="6484468" y="2961132"/>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v3 tiny_raii</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try_lock after the exception: 0</a:t>
            </a:r>
            <a:endParaRPr lang="en-US" sz="1300" dirty="0"/>
          </a:p>
        </p:txBody>
      </p:sp>
      <p:sp>
        <p:nvSpPr>
          <p:cNvPr id="13" name="Text 11"/>
          <p:cNvSpPr txBox="1"/>
          <p:nvPr/>
        </p:nvSpPr>
        <p:spPr>
          <a:xfrm>
            <a:off x="6301588" y="363423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try_lock returning 0 means the mutex is still held by nobody who will ever release it. One exception, one skipped line, and every thread that touches the queue freezes.</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lock that never unlocks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We have seen this shape before</a:t>
            </a:r>
            <a:endParaRPr lang="en-US" sz="1800" dirty="0"/>
          </a:p>
        </p:txBody>
      </p:sp>
      <p:sp>
        <p:nvSpPr>
          <p:cNvPr id="5" name="Text 3"/>
          <p:cNvSpPr txBox="1"/>
          <p:nvPr/>
        </p:nvSpPr>
        <p:spPr>
          <a:xfrm>
            <a:off x="502920" y="1764792"/>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 v1 we had something that had to happen on every way out of a scope, and we used a destructor. When an exception unwinds the stack, the destructors of all local objects still run. So we tie the lock to an object.</a:t>
            </a:r>
            <a:endParaRPr lang="en-US" sz="1500" dirty="0"/>
          </a:p>
        </p:txBody>
      </p:sp>
      <p:sp>
        <p:nvSpPr>
          <p:cNvPr id="6" name="Shape 4"/>
          <p:cNvSpPr/>
          <p:nvPr/>
        </p:nvSpPr>
        <p:spPr>
          <a:xfrm>
            <a:off x="502920" y="3081528"/>
            <a:ext cx="5387188" cy="1053592"/>
          </a:xfrm>
          <a:prstGeom prst="roundRect">
            <a:avLst>
              <a:gd name="adj" fmla="val 5207"/>
            </a:avLst>
          </a:prstGeom>
          <a:solidFill>
            <a:srgbClr val="F1F4F7"/>
          </a:solidFill>
          <a:ln w="12700">
            <a:solidFill>
              <a:srgbClr val="F1F4F7"/>
            </a:solidFill>
            <a:prstDash val="solid"/>
          </a:ln>
        </p:spPr>
      </p:sp>
      <p:sp>
        <p:nvSpPr>
          <p:cNvPr id="7" name="Text 5"/>
          <p:cNvSpPr txBox="1"/>
          <p:nvPr/>
        </p:nvSpPr>
        <p:spPr>
          <a:xfrm>
            <a:off x="685800" y="3218688"/>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object lifetime  ------------------------------&gt;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constructor                           destructor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lock mutex                            unlock mutex</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critical section ----------|</a:t>
            </a:r>
            <a:endParaRPr lang="en-US" sz="1300" dirty="0"/>
          </a:p>
        </p:txBody>
      </p:sp>
      <p:sp>
        <p:nvSpPr>
          <p:cNvPr id="8" name="Shape 6"/>
          <p:cNvSpPr/>
          <p:nvPr/>
        </p:nvSpPr>
        <p:spPr>
          <a:xfrm>
            <a:off x="502920" y="4281424"/>
            <a:ext cx="5387188" cy="1832864"/>
          </a:xfrm>
          <a:prstGeom prst="roundRect">
            <a:avLst>
              <a:gd name="adj" fmla="val 2993"/>
            </a:avLst>
          </a:prstGeom>
          <a:solidFill>
            <a:srgbClr val="1E2230"/>
          </a:solidFill>
          <a:ln w="12700">
            <a:solidFill>
              <a:srgbClr val="1E2230"/>
            </a:solidFill>
            <a:prstDash val="solid"/>
          </a:ln>
        </p:spPr>
      </p:sp>
      <p:sp>
        <p:nvSpPr>
          <p:cNvPr id="9" name="Text 7"/>
          <p:cNvSpPr txBox="1"/>
          <p:nvPr/>
        </p:nvSpPr>
        <p:spPr>
          <a:xfrm>
            <a:off x="685800" y="4418584"/>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throw</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std::runtime_error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lock is destroyed here, m is unlocked</a:t>
            </a:r>
            <a:endParaRPr lang="en-US" sz="1300" dirty="0"/>
          </a:p>
        </p:txBody>
      </p:sp>
      <p:sp>
        <p:nvSpPr>
          <p:cNvPr id="10" name="Text 8"/>
          <p:cNvSpPr txBox="1"/>
          <p:nvPr/>
        </p:nvSpPr>
        <p:spPr>
          <a:xfrm>
            <a:off x="6301588"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idea is called RAII: a resource is acquired in a constructor and released in a destructor. Return early, throw, break out of a loop, and the mutex is still released. You stop calling unlock() yourself, so you can no longer forget it.</a:t>
            </a:r>
            <a:endParaRPr lang="en-US" sz="1500" dirty="0"/>
          </a:p>
        </p:txBody>
      </p:sp>
      <p:sp>
        <p:nvSpPr>
          <p:cNvPr id="11" name="Text 9"/>
          <p:cNvSpPr txBox="1"/>
          <p:nvPr/>
        </p:nvSpPr>
        <p:spPr>
          <a:xfrm>
            <a:off x="6301588" y="255117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One trap is worth knowing. Writing std::lock_guard&lt;std::mutex&gt;(m); without a variable name creates a temporary that is destroyed at the semicolon, so the lock is released before the next line runs. Always give the guard a name.</a:t>
            </a:r>
            <a:endParaRPr lang="en-US" sz="1500" dirty="0"/>
          </a:p>
        </p:txBody>
      </p:sp>
      <p:sp>
        <p:nvSpPr>
          <p:cNvPr id="12" name="Text 10"/>
          <p:cNvSpPr txBox="1"/>
          <p:nvPr/>
        </p:nvSpPr>
        <p:spPr>
          <a:xfrm>
            <a:off x="6301588" y="3922776"/>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13" name="Text 11"/>
          <p:cNvSpPr txBox="1"/>
          <p:nvPr/>
        </p:nvSpPr>
        <p:spPr>
          <a:xfrm>
            <a:off x="6301588" y="4398264"/>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function has four return statements and one throw. How many unlock() calls does it need with lock_guard?</a:t>
            </a:r>
            <a:endParaRPr lang="en-US" sz="1500" dirty="0"/>
          </a:p>
        </p:txBody>
      </p:sp>
      <p:sp>
        <p:nvSpPr>
          <p:cNvPr id="14" name="Shape 12"/>
          <p:cNvSpPr/>
          <p:nvPr/>
        </p:nvSpPr>
        <p:spPr>
          <a:xfrm>
            <a:off x="6301588" y="4956048"/>
            <a:ext cx="5387188" cy="551688"/>
          </a:xfrm>
          <a:prstGeom prst="roundRect">
            <a:avLst>
              <a:gd name="adj" fmla="val 9945"/>
            </a:avLst>
          </a:prstGeom>
          <a:solidFill>
            <a:srgbClr val="F1F4F7"/>
          </a:solidFill>
          <a:ln w="12700">
            <a:solidFill>
              <a:srgbClr val="F1F4F7"/>
            </a:solidFill>
            <a:prstDash val="solid"/>
          </a:ln>
        </p:spPr>
      </p:sp>
      <p:sp>
        <p:nvSpPr>
          <p:cNvPr id="15" name="Text 13"/>
          <p:cNvSpPr txBox="1"/>
          <p:nvPr/>
        </p:nvSpPr>
        <p:spPr>
          <a:xfrm>
            <a:off x="6484468" y="5084064"/>
            <a:ext cx="5021428" cy="3230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None. The destructor runs on all five exits.</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lock that never unlocks</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std::lock_guard&lt;std::mutex&gt;(m); ++counter; Is counter protected?</a:t>
            </a:r>
            <a:endParaRPr lang="en-US" sz="1500" dirty="0"/>
          </a:p>
        </p:txBody>
      </p:sp>
      <p:sp>
        <p:nvSpPr>
          <p:cNvPr id="5" name="Shape 3"/>
          <p:cNvSpPr/>
          <p:nvPr/>
        </p:nvSpPr>
        <p:spPr>
          <a:xfrm>
            <a:off x="502920" y="1792224"/>
            <a:ext cx="5387188" cy="765048"/>
          </a:xfrm>
          <a:prstGeom prst="roundRect">
            <a:avLst>
              <a:gd name="adj" fmla="val 7171"/>
            </a:avLst>
          </a:prstGeom>
          <a:solidFill>
            <a:srgbClr val="F1F4F7"/>
          </a:solidFill>
          <a:ln w="12700">
            <a:solidFill>
              <a:srgbClr val="F1F4F7"/>
            </a:solidFill>
            <a:prstDash val="solid"/>
          </a:ln>
        </p:spPr>
      </p:sp>
      <p:sp>
        <p:nvSpPr>
          <p:cNvPr id="6" name="Text 4"/>
          <p:cNvSpPr txBox="1"/>
          <p:nvPr/>
        </p:nvSpPr>
        <p:spPr>
          <a:xfrm>
            <a:off x="685800" y="1920240"/>
            <a:ext cx="5021428" cy="5364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No. The unnamed guard unlocks at the end of its own statement.</a:t>
            </a:r>
            <a:endParaRPr lang="en-US" sz="1400" dirty="0"/>
          </a:p>
        </p:txBody>
      </p:sp>
      <p:sp>
        <p:nvSpPr>
          <p:cNvPr id="7" name="Text 5"/>
          <p:cNvSpPr txBox="1"/>
          <p:nvPr/>
        </p:nvSpPr>
        <p:spPr>
          <a:xfrm>
            <a:off x="502920" y="270357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You need to release the lock before some slow logging at the end of a function. Which lock type helps?</a:t>
            </a:r>
            <a:endParaRPr lang="en-US" sz="1500" dirty="0"/>
          </a:p>
        </p:txBody>
      </p:sp>
      <p:sp>
        <p:nvSpPr>
          <p:cNvPr id="8" name="Shape 6"/>
          <p:cNvSpPr/>
          <p:nvPr/>
        </p:nvSpPr>
        <p:spPr>
          <a:xfrm>
            <a:off x="502920" y="3261360"/>
            <a:ext cx="5387188" cy="551688"/>
          </a:xfrm>
          <a:prstGeom prst="roundRect">
            <a:avLst>
              <a:gd name="adj" fmla="val 9945"/>
            </a:avLst>
          </a:prstGeom>
          <a:solidFill>
            <a:srgbClr val="F1F4F7"/>
          </a:solidFill>
          <a:ln w="12700">
            <a:solidFill>
              <a:srgbClr val="F1F4F7"/>
            </a:solidFill>
            <a:prstDash val="solid"/>
          </a:ln>
        </p:spPr>
      </p:sp>
      <p:sp>
        <p:nvSpPr>
          <p:cNvPr id="9" name="Text 7"/>
          <p:cNvSpPr txBox="1"/>
          <p:nvPr/>
        </p:nvSpPr>
        <p:spPr>
          <a:xfrm>
            <a:off x="685800" y="3389376"/>
            <a:ext cx="5021428" cy="3230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std::unique_lock, which lets you call unlock() early.</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Every call is safe, the program is not</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Checking before taking</a:t>
            </a:r>
            <a:endParaRPr lang="en-US" sz="1800" dirty="0"/>
          </a:p>
        </p:txBody>
      </p:sp>
      <p:sp>
        <p:nvSpPr>
          <p:cNvPr id="5" name="Text 3"/>
          <p:cNvSpPr txBox="1"/>
          <p:nvPr/>
        </p:nvSpPr>
        <p:spPr>
          <a:xfrm>
            <a:off x="502920" y="1764792"/>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To avoid the exception, consumers now check first. empty() takes the lock and pop() takes the lock, so every single call is protected.</a:t>
            </a:r>
            <a:endParaRPr lang="en-US" sz="1500" dirty="0"/>
          </a:p>
        </p:txBody>
      </p:sp>
      <p:sp>
        <p:nvSpPr>
          <p:cNvPr id="6" name="Shape 4"/>
          <p:cNvSpPr/>
          <p:nvPr/>
        </p:nvSpPr>
        <p:spPr>
          <a:xfrm>
            <a:off x="502920" y="2624328"/>
            <a:ext cx="5387188" cy="663956"/>
          </a:xfrm>
          <a:prstGeom prst="roundRect">
            <a:avLst>
              <a:gd name="adj" fmla="val 8263"/>
            </a:avLst>
          </a:prstGeom>
          <a:solidFill>
            <a:srgbClr val="1E2230"/>
          </a:solidFill>
          <a:ln w="12700">
            <a:solidFill>
              <a:srgbClr val="1E2230"/>
            </a:solidFill>
            <a:prstDash val="solid"/>
          </a:ln>
        </p:spPr>
      </p:sp>
      <p:sp>
        <p:nvSpPr>
          <p:cNvPr id="7" name="Text 5"/>
          <p:cNvSpPr txBox="1"/>
          <p:nvPr/>
        </p:nvSpPr>
        <p:spPr>
          <a:xfrm>
            <a:off x="685800" y="2761488"/>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Text 6"/>
          <p:cNvSpPr txBox="1"/>
          <p:nvPr/>
        </p:nvSpPr>
        <p:spPr>
          <a:xfrm>
            <a:off x="502920" y="3434588"/>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Put one item in the queue and let two consumers run this at the same time. It still fails:</a:t>
            </a:r>
            <a:endParaRPr lang="en-US" sz="1500" dirty="0"/>
          </a:p>
        </p:txBody>
      </p:sp>
      <p:sp>
        <p:nvSpPr>
          <p:cNvPr id="9" name="Shape 7"/>
          <p:cNvSpPr/>
          <p:nvPr/>
        </p:nvSpPr>
        <p:spPr>
          <a:xfrm>
            <a:off x="502920" y="4065524"/>
            <a:ext cx="5387188" cy="1585595"/>
          </a:xfrm>
          <a:prstGeom prst="roundRect">
            <a:avLst>
              <a:gd name="adj" fmla="val 3460"/>
            </a:avLst>
          </a:prstGeom>
          <a:solidFill>
            <a:srgbClr val="F1F4F7"/>
          </a:solidFill>
          <a:ln w="12700">
            <a:solidFill>
              <a:srgbClr val="F1F4F7"/>
            </a:solidFill>
            <a:prstDash val="solid"/>
          </a:ln>
        </p:spPr>
      </p:sp>
      <p:sp>
        <p:nvSpPr>
          <p:cNvPr id="10" name="Text 8"/>
          <p:cNvSpPr txBox="1"/>
          <p:nvPr/>
        </p:nvSpPr>
        <p:spPr>
          <a:xfrm>
            <a:off x="685800" y="4202684"/>
            <a:ext cx="5021428" cy="1311275"/>
          </a:xfrm>
          <a:prstGeom prst="rect">
            <a:avLst/>
          </a:prstGeom>
          <a:noFill/>
          <a:ln/>
        </p:spPr>
        <p:txBody>
          <a:bodyPr wrap="square" lIns="0" tIns="0" rIns="0" bIns="0" rtlCol="0" anchor="t"/>
          <a:lstStyle/>
          <a:p>
            <a:pPr indent="0" marL="0">
              <a:lnSpc>
                <a:spcPct val="100000"/>
              </a:lnSpc>
              <a:buNone/>
            </a:pPr>
            <a:r>
              <a:rPr lang="en-US" sz="1250" dirty="0">
                <a:solidFill>
                  <a:srgbClr val="1C2430"/>
                </a:solidFill>
                <a:latin typeface="Consolas" pitchFamily="34" charset="0"/>
                <a:ea typeface="Consolas" pitchFamily="34" charset="-122"/>
                <a:cs typeface="Consolas" pitchFamily="34" charset="-120"/>
              </a:rPr>
              <a:t>queue: [ 42 ]</a:t>
            </a:r>
            <a:endParaRPr lang="en-US" sz="1250" dirty="0"/>
          </a:p>
          <a:p>
            <a:pPr indent="0" marL="0">
              <a:lnSpc>
                <a:spcPct val="100000"/>
              </a:lnSpc>
              <a:buNone/>
            </a:pPr>
            <a:endParaRPr lang="en-US" sz="1250" dirty="0"/>
          </a:p>
          <a:p>
            <a:pPr indent="0" marL="0">
              <a:lnSpc>
                <a:spcPct val="100000"/>
              </a:lnSpc>
              <a:buNone/>
            </a:pPr>
            <a:r>
              <a:rPr lang="en-US" sz="1250" dirty="0">
                <a:solidFill>
                  <a:srgbClr val="1C2430"/>
                </a:solidFill>
                <a:latin typeface="Consolas" pitchFamily="34" charset="0"/>
                <a:ea typeface="Consolas" pitchFamily="34" charset="-122"/>
                <a:cs typeface="Consolas" pitchFamily="34" charset="-120"/>
              </a:rPr>
              <a:t>consumer A               consumer B</a:t>
            </a:r>
            <a:endParaRPr lang="en-US" sz="1250" dirty="0"/>
          </a:p>
          <a:p>
            <a:pPr indent="0" marL="0">
              <a:lnSpc>
                <a:spcPct val="100000"/>
              </a:lnSpc>
              <a:buNone/>
            </a:pPr>
            <a:r>
              <a:rPr lang="en-US" sz="1250" dirty="0">
                <a:solidFill>
                  <a:srgbClr val="1C2430"/>
                </a:solidFill>
                <a:latin typeface="Consolas" pitchFamily="34" charset="0"/>
                <a:ea typeface="Consolas" pitchFamily="34" charset="-122"/>
                <a:cs typeface="Consolas" pitchFamily="34" charset="-120"/>
              </a:rPr>
              <a:t>empty() -&gt; false</a:t>
            </a:r>
            <a:endParaRPr lang="en-US" sz="1250" dirty="0"/>
          </a:p>
          <a:p>
            <a:pPr indent="0" marL="0">
              <a:lnSpc>
                <a:spcPct val="100000"/>
              </a:lnSpc>
              <a:buNone/>
            </a:pPr>
            <a:r>
              <a:rPr lang="en-US" sz="1250" dirty="0">
                <a:solidFill>
                  <a:srgbClr val="1C2430"/>
                </a:solidFill>
                <a:latin typeface="Consolas" pitchFamily="34" charset="0"/>
                <a:ea typeface="Consolas" pitchFamily="34" charset="-122"/>
                <a:cs typeface="Consolas" pitchFamily="34" charset="-120"/>
              </a:rPr>
              <a:t>                         empty() -&gt; false</a:t>
            </a:r>
            <a:endParaRPr lang="en-US" sz="1250" dirty="0"/>
          </a:p>
          <a:p>
            <a:pPr indent="0" marL="0">
              <a:lnSpc>
                <a:spcPct val="100000"/>
              </a:lnSpc>
              <a:buNone/>
            </a:pPr>
            <a:r>
              <a:rPr lang="en-US" sz="1250" dirty="0">
                <a:solidFill>
                  <a:srgbClr val="1C2430"/>
                </a:solidFill>
                <a:latin typeface="Consolas" pitchFamily="34" charset="0"/>
                <a:ea typeface="Consolas" pitchFamily="34" charset="-122"/>
                <a:cs typeface="Consolas" pitchFamily="34" charset="-120"/>
              </a:rPr>
              <a:t>pop()   -&gt; 42</a:t>
            </a:r>
            <a:endParaRPr lang="en-US" sz="1250" dirty="0"/>
          </a:p>
          <a:p>
            <a:pPr indent="0" marL="0">
              <a:lnSpc>
                <a:spcPct val="100000"/>
              </a:lnSpc>
              <a:buNone/>
            </a:pPr>
            <a:r>
              <a:rPr lang="en-US" sz="1250" dirty="0">
                <a:solidFill>
                  <a:srgbClr val="1C2430"/>
                </a:solidFill>
                <a:latin typeface="Consolas" pitchFamily="34" charset="0"/>
                <a:ea typeface="Consolas" pitchFamily="34" charset="-122"/>
                <a:cs typeface="Consolas" pitchFamily="34" charset="-120"/>
              </a:rPr>
              <a:t>                         pop() -&gt; queue is empty, throws</a:t>
            </a:r>
            <a:endParaRPr lang="en-US" sz="1250" dirty="0"/>
          </a:p>
        </p:txBody>
      </p:sp>
      <p:sp>
        <p:nvSpPr>
          <p:cNvPr id="11" name="Shape 9"/>
          <p:cNvSpPr/>
          <p:nvPr/>
        </p:nvSpPr>
        <p:spPr>
          <a:xfrm>
            <a:off x="6301588" y="1234440"/>
            <a:ext cx="5387188" cy="663956"/>
          </a:xfrm>
          <a:prstGeom prst="roundRect">
            <a:avLst>
              <a:gd name="adj" fmla="val 8263"/>
            </a:avLst>
          </a:prstGeom>
          <a:solidFill>
            <a:srgbClr val="0F1419"/>
          </a:solidFill>
          <a:ln w="12700">
            <a:solidFill>
              <a:srgbClr val="0F1419"/>
            </a:solidFill>
            <a:prstDash val="solid"/>
          </a:ln>
        </p:spPr>
      </p:sp>
      <p:sp>
        <p:nvSpPr>
          <p:cNvPr id="12" name="Text 10"/>
          <p:cNvSpPr txBox="1"/>
          <p:nvPr/>
        </p:nvSpPr>
        <p:spPr>
          <a:xfrm>
            <a:off x="6484468" y="1371600"/>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v3 tiny_interface</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top() hit an empty stack in 186 of 200 rounds</a:t>
            </a:r>
            <a:endParaRPr lang="en-US" sz="1300" dirty="0"/>
          </a:p>
        </p:txBody>
      </p:sp>
      <p:sp>
        <p:nvSpPr>
          <p:cNvPr id="13" name="Text 11"/>
          <p:cNvSpPr txBox="1"/>
          <p:nvPr/>
        </p:nvSpPr>
        <p:spPr>
          <a:xfrm>
            <a:off x="6301588" y="204470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Both consumers saw false, which was true at the moment each of them asked. Between A's check and A's pop, B asked the same question. Each call was safe on its own. The pair of calls was not.</a:t>
            </a:r>
            <a:endParaRPr lang="en-US" sz="1500" dirty="0"/>
          </a:p>
        </p:txBody>
      </p:sp>
      <p:sp>
        <p:nvSpPr>
          <p:cNvPr id="14" name="Text 12"/>
          <p:cNvSpPr txBox="1"/>
          <p:nvPr/>
        </p:nvSpPr>
        <p:spPr>
          <a:xfrm>
            <a:off x="6301588" y="313283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is a race condition without a data race. No memory was touched without a lock, so ThreadSanitizer reports nothing. The bug lives in the design of the interface, because it forces the caller to check in one call and act in another.</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Every call is safe, the program is not</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Make the whole operation one call</a:t>
            </a:r>
            <a:endParaRPr lang="en-US" sz="1800" dirty="0"/>
          </a:p>
        </p:txBody>
      </p:sp>
      <p:sp>
        <p:nvSpPr>
          <p:cNvPr id="5" name="Shape 3"/>
          <p:cNvSpPr/>
          <p:nvPr/>
        </p:nvSpPr>
        <p:spPr>
          <a:xfrm>
            <a:off x="502920" y="1764792"/>
            <a:ext cx="5387188" cy="1832864"/>
          </a:xfrm>
          <a:prstGeom prst="roundRect">
            <a:avLst>
              <a:gd name="adj" fmla="val 2993"/>
            </a:avLst>
          </a:prstGeom>
          <a:solidFill>
            <a:srgbClr val="1E2230"/>
          </a:solidFill>
          <a:ln w="12700">
            <a:solidFill>
              <a:srgbClr val="1E2230"/>
            </a:solidFill>
            <a:prstDash val="solid"/>
          </a:ln>
        </p:spPr>
      </p:sp>
      <p:sp>
        <p:nvSpPr>
          <p:cNvPr id="6" name="Text 4"/>
          <p:cNvSpPr txBox="1"/>
          <p:nvPr/>
        </p:nvSpPr>
        <p:spPr>
          <a:xfrm>
            <a:off x="685800" y="1901952"/>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try_pop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7" name="Text 5"/>
          <p:cNvSpPr txBox="1"/>
          <p:nvPr/>
        </p:nvSpPr>
        <p:spPr>
          <a:xfrm>
            <a:off x="502920" y="374396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check, the read and the removal now happen under a single lock, so no other thread can slip in between. try_pop never throws. It simply reports that there was nothing to take.</a:t>
            </a:r>
            <a:endParaRPr lang="en-US" sz="1500" dirty="0"/>
          </a:p>
        </p:txBody>
      </p:sp>
      <p:sp>
        <p:nvSpPr>
          <p:cNvPr id="8" name="Text 6"/>
          <p:cNvSpPr txBox="1"/>
          <p:nvPr/>
        </p:nvSpPr>
        <p:spPr>
          <a:xfrm>
            <a:off x="502920" y="483209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empty() can stay, but its meaning has changed. It can only tell you that the queue was empty at some moment during the call. By the time you act on the answer it may be wrong, so it is fine for logging and useless for decisions.</a:t>
            </a:r>
            <a:endParaRPr lang="en-US" sz="1500" dirty="0"/>
          </a:p>
        </p:txBody>
      </p:sp>
      <p:sp>
        <p:nvSpPr>
          <p:cNvPr id="9" name="Text 7"/>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10" name="Text 8"/>
          <p:cNvSpPr txBox="1"/>
          <p:nvPr/>
        </p:nvSpPr>
        <p:spPr>
          <a:xfrm>
            <a:off x="6301588" y="1764792"/>
            <a:ext cx="5387188" cy="7132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map offers locked contains() and insert(). Two threads both want to insert key 7 if it is missing. Trace it.</a:t>
            </a:r>
            <a:endParaRPr lang="en-US" sz="1500" dirty="0"/>
          </a:p>
        </p:txBody>
      </p:sp>
      <p:sp>
        <p:nvSpPr>
          <p:cNvPr id="11" name="Shape 9"/>
          <p:cNvSpPr/>
          <p:nvPr/>
        </p:nvSpPr>
        <p:spPr>
          <a:xfrm>
            <a:off x="6301588" y="2551176"/>
            <a:ext cx="5387188" cy="765048"/>
          </a:xfrm>
          <a:prstGeom prst="roundRect">
            <a:avLst>
              <a:gd name="adj" fmla="val 7171"/>
            </a:avLst>
          </a:prstGeom>
          <a:solidFill>
            <a:srgbClr val="F1F4F7"/>
          </a:solidFill>
          <a:ln w="12700">
            <a:solidFill>
              <a:srgbClr val="F1F4F7"/>
            </a:solidFill>
            <a:prstDash val="solid"/>
          </a:ln>
        </p:spPr>
      </p:sp>
      <p:sp>
        <p:nvSpPr>
          <p:cNvPr id="12" name="Text 10"/>
          <p:cNvSpPr txBox="1"/>
          <p:nvPr/>
        </p:nvSpPr>
        <p:spPr>
          <a:xfrm>
            <a:off x="6484468" y="2679192"/>
            <a:ext cx="5021428" cy="5364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Both see contains(7) == false and both insert. The second insert overwrites the first or fails.</a:t>
            </a:r>
            <a:endParaRPr lang="en-US" sz="1400" dirty="0"/>
          </a:p>
        </p:txBody>
      </p:sp>
      <p:sp>
        <p:nvSpPr>
          <p:cNvPr id="13" name="Text 11"/>
          <p:cNvSpPr txBox="1"/>
          <p:nvPr/>
        </p:nvSpPr>
        <p:spPr>
          <a:xfrm>
            <a:off x="6301588" y="3462528"/>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How would you design the map's interface so this cannot happen?</a:t>
            </a:r>
            <a:endParaRPr lang="en-US" sz="1500" dirty="0"/>
          </a:p>
        </p:txBody>
      </p:sp>
      <p:sp>
        <p:nvSpPr>
          <p:cNvPr id="14" name="Shape 12"/>
          <p:cNvSpPr/>
          <p:nvPr/>
        </p:nvSpPr>
        <p:spPr>
          <a:xfrm>
            <a:off x="6301588" y="4020312"/>
            <a:ext cx="5387188" cy="765048"/>
          </a:xfrm>
          <a:prstGeom prst="roundRect">
            <a:avLst>
              <a:gd name="adj" fmla="val 7171"/>
            </a:avLst>
          </a:prstGeom>
          <a:solidFill>
            <a:srgbClr val="F1F4F7"/>
          </a:solidFill>
          <a:ln w="12700">
            <a:solidFill>
              <a:srgbClr val="F1F4F7"/>
            </a:solidFill>
            <a:prstDash val="solid"/>
          </a:ln>
        </p:spPr>
      </p:sp>
      <p:sp>
        <p:nvSpPr>
          <p:cNvPr id="15" name="Text 13"/>
          <p:cNvSpPr txBox="1"/>
          <p:nvPr/>
        </p:nvSpPr>
        <p:spPr>
          <a:xfrm>
            <a:off x="6484468" y="4148328"/>
            <a:ext cx="5021428" cy="5364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Offer insert_if_absent(key, value), which checks and inserts under one lock.</a:t>
            </a:r>
            <a:endParaRPr lang="en-US" sz="1400" dirty="0"/>
          </a:p>
        </p:txBody>
      </p:sp>
      <p:sp>
        <p:nvSpPr>
          <p:cNvPr id="16" name="Text 14"/>
          <p:cNvSpPr txBox="1"/>
          <p:nvPr/>
        </p:nvSpPr>
        <p:spPr>
          <a:xfrm>
            <a:off x="6301588" y="4931664"/>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Why does std::queue::pop() return void instead of the value?</a:t>
            </a:r>
            <a:endParaRPr lang="en-US" sz="1500" dirty="0"/>
          </a:p>
        </p:txBody>
      </p:sp>
      <p:sp>
        <p:nvSpPr>
          <p:cNvPr id="17" name="Shape 15"/>
          <p:cNvSpPr/>
          <p:nvPr/>
        </p:nvSpPr>
        <p:spPr>
          <a:xfrm>
            <a:off x="6301588" y="5489448"/>
            <a:ext cx="5387188" cy="765048"/>
          </a:xfrm>
          <a:prstGeom prst="roundRect">
            <a:avLst>
              <a:gd name="adj" fmla="val 7171"/>
            </a:avLst>
          </a:prstGeom>
          <a:solidFill>
            <a:srgbClr val="F1F4F7"/>
          </a:solidFill>
          <a:ln w="12700">
            <a:solidFill>
              <a:srgbClr val="F1F4F7"/>
            </a:solidFill>
            <a:prstDash val="solid"/>
          </a:ln>
        </p:spPr>
      </p:sp>
      <p:sp>
        <p:nvSpPr>
          <p:cNvPr id="18" name="Text 16"/>
          <p:cNvSpPr txBox="1"/>
          <p:nvPr/>
        </p:nvSpPr>
        <p:spPr>
          <a:xfrm>
            <a:off x="6484468" y="5617464"/>
            <a:ext cx="5021428" cy="5364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If copying the returned value threw after the element was removed, the element would be lost.</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Waiting without burning a core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consumer is wasting a CPU</a:t>
            </a:r>
            <a:endParaRPr lang="en-US" sz="1800" dirty="0"/>
          </a:p>
        </p:txBody>
      </p:sp>
      <p:sp>
        <p:nvSpPr>
          <p:cNvPr id="5" name="Text 3"/>
          <p:cNvSpPr txBox="1"/>
          <p:nvPr/>
        </p:nvSpPr>
        <p:spPr>
          <a:xfrm>
            <a:off x="502920" y="1764792"/>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With try_pop a consumer that finds nothing simply tries again.</a:t>
            </a:r>
            <a:endParaRPr lang="en-US" sz="1500" dirty="0"/>
          </a:p>
        </p:txBody>
      </p:sp>
      <p:sp>
        <p:nvSpPr>
          <p:cNvPr id="6" name="Shape 4"/>
          <p:cNvSpPr/>
          <p:nvPr/>
        </p:nvSpPr>
        <p:spPr>
          <a:xfrm>
            <a:off x="502920" y="2395728"/>
            <a:ext cx="5387188" cy="1053592"/>
          </a:xfrm>
          <a:prstGeom prst="roundRect">
            <a:avLst>
              <a:gd name="adj" fmla="val 5207"/>
            </a:avLst>
          </a:prstGeom>
          <a:solidFill>
            <a:srgbClr val="1E2230"/>
          </a:solidFill>
          <a:ln w="12700">
            <a:solidFill>
              <a:srgbClr val="1E2230"/>
            </a:solidFill>
            <a:prstDash val="solid"/>
          </a:ln>
        </p:spPr>
      </p:sp>
      <p:sp>
        <p:nvSpPr>
          <p:cNvPr id="7" name="Text 5"/>
          <p:cNvSpPr txBox="1"/>
          <p:nvPr/>
        </p:nvSpPr>
        <p:spPr>
          <a:xfrm>
            <a:off x="685800" y="2532888"/>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try_pop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try again</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Shape 6"/>
          <p:cNvSpPr/>
          <p:nvPr/>
        </p:nvSpPr>
        <p:spPr>
          <a:xfrm>
            <a:off x="502920" y="3595624"/>
            <a:ext cx="5387188" cy="663956"/>
          </a:xfrm>
          <a:prstGeom prst="roundRect">
            <a:avLst>
              <a:gd name="adj" fmla="val 8263"/>
            </a:avLst>
          </a:prstGeom>
          <a:solidFill>
            <a:srgbClr val="0F1419"/>
          </a:solidFill>
          <a:ln w="12700">
            <a:solidFill>
              <a:srgbClr val="0F1419"/>
            </a:solidFill>
            <a:prstDash val="solid"/>
          </a:ln>
        </p:spPr>
      </p:sp>
      <p:sp>
        <p:nvSpPr>
          <p:cNvPr id="9" name="Text 7"/>
          <p:cNvSpPr txBox="1"/>
          <p:nvPr/>
        </p:nvSpPr>
        <p:spPr>
          <a:xfrm>
            <a:off x="685800" y="3732784"/>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v3 next_bug</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checked an empty queue 12301046 times in 1 s</a:t>
            </a:r>
            <a:endParaRPr lang="en-US" sz="1300" dirty="0"/>
          </a:p>
        </p:txBody>
      </p:sp>
      <p:sp>
        <p:nvSpPr>
          <p:cNvPr id="10" name="Text 8"/>
          <p:cNvSpPr txBox="1"/>
          <p:nvPr/>
        </p:nvSpPr>
        <p:spPr>
          <a:xfrm>
            <a:off x="502920" y="4405884"/>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Twelve million times a second the consumer asks whether an empty queue is still empty. None of that is useful work, and it keeps a whole core at 100%. What we want is for the consumer to sleep while the queue is empty and be woken when a producer adds something.</a:t>
            </a:r>
            <a:endParaRPr lang="en-US" sz="1500" dirty="0"/>
          </a:p>
        </p:txBody>
      </p:sp>
      <p:sp>
        <p:nvSpPr>
          <p:cNvPr id="11" name="Text 9"/>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First attempt: unlock and nap</a:t>
            </a:r>
            <a:endParaRPr lang="en-US" sz="1800" dirty="0"/>
          </a:p>
        </p:txBody>
      </p:sp>
      <p:sp>
        <p:nvSpPr>
          <p:cNvPr id="12" name="Shape 10"/>
          <p:cNvSpPr/>
          <p:nvPr/>
        </p:nvSpPr>
        <p:spPr>
          <a:xfrm>
            <a:off x="6301588" y="1764792"/>
            <a:ext cx="5387188" cy="1443228"/>
          </a:xfrm>
          <a:prstGeom prst="roundRect">
            <a:avLst>
              <a:gd name="adj" fmla="val 3801"/>
            </a:avLst>
          </a:prstGeom>
          <a:solidFill>
            <a:srgbClr val="1E2230"/>
          </a:solidFill>
          <a:ln w="12700">
            <a:solidFill>
              <a:srgbClr val="1E2230"/>
            </a:solidFill>
            <a:prstDash val="solid"/>
          </a:ln>
        </p:spPr>
      </p:sp>
      <p:sp>
        <p:nvSpPr>
          <p:cNvPr id="13" name="Text 11"/>
          <p:cNvSpPr txBox="1"/>
          <p:nvPr/>
        </p:nvSpPr>
        <p:spPr>
          <a:xfrm>
            <a:off x="6484468" y="1901952"/>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unlock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sleep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value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14" name="Text 12"/>
          <p:cNvSpPr txBox="1"/>
          <p:nvPr/>
        </p:nvSpPr>
        <p:spPr>
          <a:xfrm>
            <a:off x="6301588" y="3354324"/>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uses no CPU, but put it on a clock. At t = 0 the consumer finds the queue empty and goes to sleep for a second. At t = 1 ms the producer pushes an item. The item then sits in the queue for 999 ms while the consumer sleeps. Shorten the nap and you are back to burning CPU. There is no good number.</a:t>
            </a:r>
            <a:endParaRPr lang="en-US" sz="1500" dirty="0"/>
          </a:p>
        </p:txBody>
      </p:sp>
      <p:sp>
        <p:nvSpPr>
          <p:cNvPr id="15" name="Shape 13"/>
          <p:cNvSpPr/>
          <p:nvPr/>
        </p:nvSpPr>
        <p:spPr>
          <a:xfrm>
            <a:off x="6301588" y="4899660"/>
            <a:ext cx="5387188" cy="1443228"/>
          </a:xfrm>
          <a:prstGeom prst="roundRect">
            <a:avLst>
              <a:gd name="adj" fmla="val 3801"/>
            </a:avLst>
          </a:prstGeom>
          <a:solidFill>
            <a:srgbClr val="F1F4F7"/>
          </a:solidFill>
          <a:ln w="12700">
            <a:solidFill>
              <a:srgbClr val="F1F4F7"/>
            </a:solidFill>
            <a:prstDash val="solid"/>
          </a:ln>
        </p:spPr>
      </p:sp>
      <p:sp>
        <p:nvSpPr>
          <p:cNvPr id="16" name="Text 14"/>
          <p:cNvSpPr txBox="1"/>
          <p:nvPr/>
        </p:nvSpPr>
        <p:spPr>
          <a:xfrm>
            <a:off x="6484468" y="5036820"/>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                  producer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lock, q.empty() -&gt; yes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unlock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lock, push(42), unlock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sleep(1)    item is already there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wake up, lock, pop 42</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Waiting without burning a core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Second attempt: wait for a signal</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So replace the fixed sleep with a notification. The producer signals after pushing and the consumer wakes up. Now look at the gap between unlocking and starting to wait.</a:t>
            </a:r>
            <a:endParaRPr lang="en-US" sz="1500" dirty="0"/>
          </a:p>
        </p:txBody>
      </p:sp>
      <p:sp>
        <p:nvSpPr>
          <p:cNvPr id="6" name="Shape 4"/>
          <p:cNvSpPr/>
          <p:nvPr/>
        </p:nvSpPr>
        <p:spPr>
          <a:xfrm>
            <a:off x="502920" y="2852928"/>
            <a:ext cx="5387188" cy="1832864"/>
          </a:xfrm>
          <a:prstGeom prst="roundRect">
            <a:avLst>
              <a:gd name="adj" fmla="val 2993"/>
            </a:avLst>
          </a:prstGeom>
          <a:solidFill>
            <a:srgbClr val="F1F4F7"/>
          </a:solidFill>
          <a:ln w="12700">
            <a:solidFill>
              <a:srgbClr val="F1F4F7"/>
            </a:solidFill>
            <a:prstDash val="solid"/>
          </a:ln>
        </p:spPr>
      </p:sp>
      <p:sp>
        <p:nvSpPr>
          <p:cNvPr id="7" name="Text 5"/>
          <p:cNvSpPr txBox="1"/>
          <p:nvPr/>
        </p:nvSpPr>
        <p:spPr>
          <a:xfrm>
            <a:off x="685800" y="2990088"/>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                  producer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"queue empty"</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unlock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&lt;- scheduling gap -&gt;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push item</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notify  (nobody waiting yet)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start waiting</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sleeps forever, item still in the queue</a:t>
            </a:r>
            <a:endParaRPr lang="en-US" sz="1300" dirty="0"/>
          </a:p>
        </p:txBody>
      </p:sp>
      <p:sp>
        <p:nvSpPr>
          <p:cNvPr id="8" name="Text 6"/>
          <p:cNvSpPr txBox="1"/>
          <p:nvPr/>
        </p:nvSpPr>
        <p:spPr>
          <a:xfrm>
            <a:off x="502920" y="483209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signal arrived before the consumer was listening, so it was lost. This is the lost wake-up problem, and it is the real reason condition variables exist. The problem is the gap between releasing the mutex and going to sleep.</a:t>
            </a:r>
            <a:endParaRPr lang="en-US" sz="1500" dirty="0"/>
          </a:p>
        </p:txBody>
      </p:sp>
      <p:sp>
        <p:nvSpPr>
          <p:cNvPr id="9" name="Text 7"/>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What std::condition_variable gives us</a:t>
            </a:r>
            <a:endParaRPr lang="en-US" sz="1800" dirty="0"/>
          </a:p>
        </p:txBody>
      </p:sp>
      <p:sp>
        <p:nvSpPr>
          <p:cNvPr id="10" name="Text 8"/>
          <p:cNvSpPr txBox="1"/>
          <p:nvPr/>
        </p:nvSpPr>
        <p:spPr>
          <a:xfrm>
            <a:off x="6301588" y="1764792"/>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We need one operation that releases the mutex and starts waiting as a single step, with no gap a producer could fall into. That is cv.wait().</a:t>
            </a:r>
            <a:endParaRPr lang="en-US" sz="1500" dirty="0"/>
          </a:p>
        </p:txBody>
      </p:sp>
      <p:sp>
        <p:nvSpPr>
          <p:cNvPr id="11" name="Shape 9"/>
          <p:cNvSpPr/>
          <p:nvPr/>
        </p:nvSpPr>
        <p:spPr>
          <a:xfrm>
            <a:off x="6301588" y="2624328"/>
            <a:ext cx="5387188" cy="2612136"/>
          </a:xfrm>
          <a:prstGeom prst="roundRect">
            <a:avLst>
              <a:gd name="adj" fmla="val 2100"/>
            </a:avLst>
          </a:prstGeom>
          <a:solidFill>
            <a:srgbClr val="F1F4F7"/>
          </a:solidFill>
          <a:ln w="12700">
            <a:solidFill>
              <a:srgbClr val="F1F4F7"/>
            </a:solidFill>
            <a:prstDash val="solid"/>
          </a:ln>
        </p:spPr>
      </p:sp>
      <p:sp>
        <p:nvSpPr>
          <p:cNvPr id="12" name="Text 10"/>
          <p:cNvSpPr txBox="1"/>
          <p:nvPr/>
        </p:nvSpPr>
        <p:spPr>
          <a:xfrm>
            <a:off x="6484468" y="2761488"/>
            <a:ext cx="5021428" cy="2337816"/>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                       producer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lock mutex</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queue empty? yes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release mutex + sleep  (one step)</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lock mutex</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push item</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unlock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notify_one()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wake up</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lock mutex again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check: !q.empty() is true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pop item</a:t>
            </a:r>
            <a:endParaRPr lang="en-US" sz="1300" dirty="0"/>
          </a:p>
        </p:txBody>
      </p:sp>
      <p:sp>
        <p:nvSpPr>
          <p:cNvPr id="13" name="Text 11"/>
          <p:cNvSpPr txBox="1"/>
          <p:nvPr/>
        </p:nvSpPr>
        <p:spPr>
          <a:xfrm>
            <a:off x="6301588" y="5382768"/>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Before wait() the consumer owns the mutex. While it sleeps nobody does, which is why the producer can push. When wait() returns, the consumer owns the mutex again.</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Waiting without burning a core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Always check again after waking</a:t>
            </a:r>
            <a:endParaRPr lang="en-US" sz="1800" dirty="0"/>
          </a:p>
        </p:txBody>
      </p:sp>
      <p:sp>
        <p:nvSpPr>
          <p:cNvPr id="5" name="Text 3"/>
          <p:cNvSpPr txBox="1"/>
          <p:nvPr/>
        </p:nvSpPr>
        <p:spPr>
          <a:xfrm>
            <a:off x="502920"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woken thread cannot assume the item is there. Another consumer may have taken it first, and threads can occasionally wake for no reason at all (a spurious wake-up). The right mental model is a loop, while (!condition) sleep, not an if. Passing the condition to wait() as a predicate gives you exactly that loop.</a:t>
            </a:r>
            <a:endParaRPr lang="en-US" sz="1500" dirty="0"/>
          </a:p>
        </p:txBody>
      </p:sp>
      <p:sp>
        <p:nvSpPr>
          <p:cNvPr id="6" name="Shape 4"/>
          <p:cNvSpPr/>
          <p:nvPr/>
        </p:nvSpPr>
        <p:spPr>
          <a:xfrm>
            <a:off x="6301588" y="1234440"/>
            <a:ext cx="5387188" cy="3586226"/>
          </a:xfrm>
          <a:prstGeom prst="roundRect">
            <a:avLst>
              <a:gd name="adj" fmla="val 1530"/>
            </a:avLst>
          </a:prstGeom>
          <a:solidFill>
            <a:srgbClr val="1E2230"/>
          </a:solidFill>
          <a:ln w="12700">
            <a:solidFill>
              <a:srgbClr val="1E2230"/>
            </a:solidFill>
            <a:prstDash val="solid"/>
          </a:ln>
        </p:spPr>
      </p:sp>
      <p:sp>
        <p:nvSpPr>
          <p:cNvPr id="7" name="Text 5"/>
          <p:cNvSpPr txBox="1"/>
          <p:nvPr/>
        </p:nvSpPr>
        <p:spPr>
          <a:xfrm>
            <a:off x="6484468" y="1371600"/>
            <a:ext cx="5021428" cy="3311906"/>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std::condition_variable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notify_one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std::unique_lock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Text 6"/>
          <p:cNvSpPr txBox="1"/>
          <p:nvPr/>
        </p:nvSpPr>
        <p:spPr>
          <a:xfrm>
            <a:off x="6301588" y="496697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wait() needs a std::unique_lock rather than a lock_guard because it must unlock the mutex while sleeping and lock it again before returning. A lock_guard cannot be unlocked.</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Waiting without burning a core</a:t>
            </a:r>
            <a:endParaRPr lang="en-US" sz="2600" dirty="0"/>
          </a:p>
        </p:txBody>
      </p:sp>
      <p:sp>
        <p:nvSpPr>
          <p:cNvPr id="4" name="Shape 2"/>
          <p:cNvSpPr/>
          <p:nvPr/>
        </p:nvSpPr>
        <p:spPr>
          <a:xfrm>
            <a:off x="502920" y="1234440"/>
            <a:ext cx="5387188" cy="1053592"/>
          </a:xfrm>
          <a:prstGeom prst="roundRect">
            <a:avLst>
              <a:gd name="adj" fmla="val 5207"/>
            </a:avLst>
          </a:prstGeom>
          <a:solidFill>
            <a:srgbClr val="F1F4F7"/>
          </a:solidFill>
          <a:ln w="12700">
            <a:solidFill>
              <a:srgbClr val="F1F4F7"/>
            </a:solidFill>
            <a:prstDash val="solid"/>
          </a:ln>
        </p:spPr>
      </p:sp>
      <p:sp>
        <p:nvSpPr>
          <p:cNvPr id="5" name="Text 3"/>
          <p:cNvSpPr txBox="1"/>
          <p:nvPr/>
        </p:nvSpPr>
        <p:spPr>
          <a:xfrm>
            <a:off x="685800" y="1371600"/>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v0  std::queue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v2  std::queue + std::mutex               safe access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v4  std::queue + std::mutex</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std::condition_variable  waiting</a:t>
            </a:r>
            <a:endParaRPr lang="en-US" sz="1300" dirty="0"/>
          </a:p>
        </p:txBody>
      </p:sp>
      <p:sp>
        <p:nvSpPr>
          <p:cNvPr id="6" name="Text 4"/>
          <p:cNvSpPr txBox="1"/>
          <p:nvPr/>
        </p:nvSpPr>
        <p:spPr>
          <a:xfrm>
            <a:off x="502920" y="248920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7" name="Text 5"/>
          <p:cNvSpPr txBox="1"/>
          <p:nvPr/>
        </p:nvSpPr>
        <p:spPr>
          <a:xfrm>
            <a:off x="502920" y="2964688"/>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With wait_and_pop, how much CPU does a consumer use while the queue stays empty?</a:t>
            </a:r>
            <a:endParaRPr lang="en-US" sz="1500" dirty="0"/>
          </a:p>
        </p:txBody>
      </p:sp>
      <p:sp>
        <p:nvSpPr>
          <p:cNvPr id="8" name="Shape 6"/>
          <p:cNvSpPr/>
          <p:nvPr/>
        </p:nvSpPr>
        <p:spPr>
          <a:xfrm>
            <a:off x="502920" y="3522472"/>
            <a:ext cx="5387188" cy="551688"/>
          </a:xfrm>
          <a:prstGeom prst="roundRect">
            <a:avLst>
              <a:gd name="adj" fmla="val 9945"/>
            </a:avLst>
          </a:prstGeom>
          <a:solidFill>
            <a:srgbClr val="F1F4F7"/>
          </a:solidFill>
          <a:ln w="12700">
            <a:solidFill>
              <a:srgbClr val="F1F4F7"/>
            </a:solidFill>
            <a:prstDash val="solid"/>
          </a:ln>
        </p:spPr>
      </p:sp>
      <p:sp>
        <p:nvSpPr>
          <p:cNvPr id="9" name="Text 7"/>
          <p:cNvSpPr txBox="1"/>
          <p:nvPr/>
        </p:nvSpPr>
        <p:spPr>
          <a:xfrm>
            <a:off x="685800" y="3650488"/>
            <a:ext cx="5021428" cy="3230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Close to 0%. It is asleep inside wait().</a:t>
            </a:r>
            <a:endParaRPr lang="en-US" sz="1400" dirty="0"/>
          </a:p>
        </p:txBody>
      </p:sp>
      <p:sp>
        <p:nvSpPr>
          <p:cNvPr id="10" name="Text 8"/>
          <p:cNvSpPr txBox="1"/>
          <p:nvPr/>
        </p:nvSpPr>
        <p:spPr>
          <a:xfrm>
            <a:off x="502920" y="4220464"/>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Remove the predicate and let the producer push and notify before the consumer calls wait(). What happens?</a:t>
            </a:r>
            <a:endParaRPr lang="en-US" sz="1500" dirty="0"/>
          </a:p>
        </p:txBody>
      </p:sp>
      <p:sp>
        <p:nvSpPr>
          <p:cNvPr id="11" name="Shape 9"/>
          <p:cNvSpPr/>
          <p:nvPr/>
        </p:nvSpPr>
        <p:spPr>
          <a:xfrm>
            <a:off x="502920" y="4778248"/>
            <a:ext cx="5387188" cy="765048"/>
          </a:xfrm>
          <a:prstGeom prst="roundRect">
            <a:avLst>
              <a:gd name="adj" fmla="val 7171"/>
            </a:avLst>
          </a:prstGeom>
          <a:solidFill>
            <a:srgbClr val="F1F4F7"/>
          </a:solidFill>
          <a:ln w="12700">
            <a:solidFill>
              <a:srgbClr val="F1F4F7"/>
            </a:solidFill>
            <a:prstDash val="solid"/>
          </a:ln>
        </p:spPr>
      </p:sp>
      <p:sp>
        <p:nvSpPr>
          <p:cNvPr id="12" name="Text 10"/>
          <p:cNvSpPr txBox="1"/>
          <p:nvPr/>
        </p:nvSpPr>
        <p:spPr>
          <a:xfrm>
            <a:off x="685800" y="4906264"/>
            <a:ext cx="5021428" cy="5364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notification is lost and the consumer sleeps forever, even though an item is waiting.</a:t>
            </a:r>
            <a:endParaRPr lang="en-US" sz="1400" dirty="0"/>
          </a:p>
        </p:txBody>
      </p:sp>
      <p:sp>
        <p:nvSpPr>
          <p:cNvPr id="13" name="Text 11"/>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One push makes one item available. notify_one or notify_all?</a:t>
            </a:r>
            <a:endParaRPr lang="en-US" sz="1500" dirty="0"/>
          </a:p>
        </p:txBody>
      </p:sp>
      <p:sp>
        <p:nvSpPr>
          <p:cNvPr id="14" name="Shape 12"/>
          <p:cNvSpPr/>
          <p:nvPr/>
        </p:nvSpPr>
        <p:spPr>
          <a:xfrm>
            <a:off x="6301588" y="1792224"/>
            <a:ext cx="5387188" cy="978408"/>
          </a:xfrm>
          <a:prstGeom prst="roundRect">
            <a:avLst>
              <a:gd name="adj" fmla="val 5607"/>
            </a:avLst>
          </a:prstGeom>
          <a:solidFill>
            <a:srgbClr val="F1F4F7"/>
          </a:solidFill>
          <a:ln w="12700">
            <a:solidFill>
              <a:srgbClr val="F1F4F7"/>
            </a:solidFill>
            <a:prstDash val="solid"/>
          </a:ln>
        </p:spPr>
      </p:sp>
      <p:sp>
        <p:nvSpPr>
          <p:cNvPr id="15" name="Text 13"/>
          <p:cNvSpPr txBox="1"/>
          <p:nvPr/>
        </p:nvSpPr>
        <p:spPr>
          <a:xfrm>
            <a:off x="6484468" y="1920240"/>
            <a:ext cx="5021428" cy="74980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notify_one. One item can satisfy one consumer. notify_all is for news everyone must hear, like shutdown.</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Does it hold up under load?</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One correct run proves very little</a:t>
            </a:r>
            <a:endParaRPr lang="en-US" sz="1800" dirty="0"/>
          </a:p>
        </p:txBody>
      </p:sp>
      <p:sp>
        <p:nvSpPr>
          <p:cNvPr id="5" name="Text 3"/>
          <p:cNvSpPr txBox="1"/>
          <p:nvPr/>
        </p:nvSpPr>
        <p:spPr>
          <a:xfrm>
            <a:off x="502920" y="1764792"/>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One producer and one consumer work. Real systems have several of each, millions of items, and producers or consumers that are sometimes slow. Concurrency bugs depend on timing, so a single run that prints the right number tells you almost nothing.</a:t>
            </a:r>
            <a:endParaRPr lang="en-US" sz="1500" dirty="0"/>
          </a:p>
        </p:txBody>
      </p:sp>
      <p:sp>
        <p:nvSpPr>
          <p:cNvPr id="6" name="Shape 4"/>
          <p:cNvSpPr/>
          <p:nvPr/>
        </p:nvSpPr>
        <p:spPr>
          <a:xfrm>
            <a:off x="502920" y="3081528"/>
            <a:ext cx="5387188" cy="1053592"/>
          </a:xfrm>
          <a:prstGeom prst="roundRect">
            <a:avLst>
              <a:gd name="adj" fmla="val 5207"/>
            </a:avLst>
          </a:prstGeom>
          <a:solidFill>
            <a:srgbClr val="F1F4F7"/>
          </a:solidFill>
          <a:ln w="12700">
            <a:solidFill>
              <a:srgbClr val="F1F4F7"/>
            </a:solidFill>
            <a:prstDash val="solid"/>
          </a:ln>
        </p:spPr>
      </p:sp>
      <p:sp>
        <p:nvSpPr>
          <p:cNvPr id="7" name="Text 5"/>
          <p:cNvSpPr txBox="1"/>
          <p:nvPr/>
        </p:nvSpPr>
        <p:spPr>
          <a:xfrm>
            <a:off x="685800" y="3218688"/>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P1 -+                 +-&gt; C1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P2 -+    +--------+   +-&gt; C2</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P3 -+--&gt; | queue  | --+-&gt; C3</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P4 -+    +--------+   +-&gt; C4</a:t>
            </a:r>
            <a:endParaRPr lang="en-US" sz="1300" dirty="0"/>
          </a:p>
        </p:txBody>
      </p:sp>
      <p:sp>
        <p:nvSpPr>
          <p:cNvPr id="8" name="Text 6"/>
          <p:cNvSpPr txBox="1"/>
          <p:nvPr/>
        </p:nvSpPr>
        <p:spPr>
          <a:xfrm>
            <a:off x="502920" y="4281424"/>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Remember that 1,000 items per producer hid the crash in v1. Each thread finished before the next one had even started, so they never overlapped. Race tests need enough work to make threads collide: use 100,000 items per thread.</a:t>
            </a:r>
            <a:endParaRPr lang="en-US" sz="1500" dirty="0"/>
          </a:p>
        </p:txBody>
      </p:sp>
      <p:sp>
        <p:nvSpPr>
          <p:cNvPr id="9" name="Text 7"/>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test matrix</a:t>
            </a:r>
            <a:endParaRPr lang="en-US" sz="1800" dirty="0"/>
          </a:p>
        </p:txBody>
      </p:sp>
      <p:sp>
        <p:nvSpPr>
          <p:cNvPr id="10" name="Text 8"/>
          <p:cNvSpPr txBox="1"/>
          <p:nvPr/>
        </p:nvSpPr>
        <p:spPr>
          <a:xfrm>
            <a:off x="6301588"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We run every combination we can think of: 1x1, 4x1, 1x4 and 4x4 threads, tiny and huge item counts, slow producers and slow consumers. Each run checks three things.</a:t>
            </a:r>
            <a:endParaRPr lang="en-US" sz="1500" dirty="0"/>
          </a:p>
        </p:txBody>
      </p:sp>
      <p:sp>
        <p:nvSpPr>
          <p:cNvPr id="11" name="Shape 9"/>
          <p:cNvSpPr/>
          <p:nvPr/>
        </p:nvSpPr>
        <p:spPr>
          <a:xfrm>
            <a:off x="6301588" y="2852928"/>
            <a:ext cx="5387188" cy="1248410"/>
          </a:xfrm>
          <a:prstGeom prst="roundRect">
            <a:avLst>
              <a:gd name="adj" fmla="val 4395"/>
            </a:avLst>
          </a:prstGeom>
          <a:solidFill>
            <a:srgbClr val="F1F4F7"/>
          </a:solidFill>
          <a:ln w="12700">
            <a:solidFill>
              <a:srgbClr val="F1F4F7"/>
            </a:solidFill>
            <a:prstDash val="solid"/>
          </a:ln>
        </p:spPr>
      </p:sp>
      <p:sp>
        <p:nvSpPr>
          <p:cNvPr id="12" name="Text 10"/>
          <p:cNvSpPr txBox="1"/>
          <p:nvPr/>
        </p:nvSpPr>
        <p:spPr>
          <a:xfrm>
            <a:off x="6484468" y="2990088"/>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count  every item arrived           (nothing lost)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sum    the values add up correctly   (a loss and a</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duplicate can't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cancel out)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time   no hang, idle threads near 0% CPU</a:t>
            </a:r>
            <a:endParaRPr lang="en-US" sz="1300" dirty="0"/>
          </a:p>
        </p:txBody>
      </p:sp>
      <p:sp>
        <p:nvSpPr>
          <p:cNvPr id="13" name="Text 11"/>
          <p:cNvSpPr txBox="1"/>
          <p:nvPr/>
        </p:nvSpPr>
        <p:spPr>
          <a:xfrm>
            <a:off x="6301588" y="4247642"/>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count alone is not enough. If one item is lost and another is delivered twice, the count is still right. With distinct values the sum catches it.</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Does it hold up under load?</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What the matrix shows: contention</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tests pass, but they also show a cost. Four threads add a million numbers each to one shared total, first locking for every item and then locking once at the end.</a:t>
            </a:r>
            <a:endParaRPr lang="en-US" sz="1500" dirty="0"/>
          </a:p>
        </p:txBody>
      </p:sp>
      <p:sp>
        <p:nvSpPr>
          <p:cNvPr id="6" name="Shape 4"/>
          <p:cNvSpPr/>
          <p:nvPr/>
        </p:nvSpPr>
        <p:spPr>
          <a:xfrm>
            <a:off x="502920" y="2852928"/>
            <a:ext cx="5387188" cy="2417318"/>
          </a:xfrm>
          <a:prstGeom prst="roundRect">
            <a:avLst>
              <a:gd name="adj" fmla="val 2270"/>
            </a:avLst>
          </a:prstGeom>
          <a:solidFill>
            <a:srgbClr val="1E2230"/>
          </a:solidFill>
          <a:ln w="12700">
            <a:solidFill>
              <a:srgbClr val="1E2230"/>
            </a:solidFill>
            <a:prstDash val="solid"/>
          </a:ln>
        </p:spPr>
      </p:sp>
      <p:sp>
        <p:nvSpPr>
          <p:cNvPr id="7" name="Text 5"/>
          <p:cNvSpPr txBox="1"/>
          <p:nvPr/>
        </p:nvSpPr>
        <p:spPr>
          <a:xfrm>
            <a:off x="685800" y="2990088"/>
            <a:ext cx="5021428" cy="2142998"/>
          </a:xfrm>
          <a:prstGeom prst="rect">
            <a:avLst/>
          </a:prstGeom>
          <a:noFill/>
          <a:ln/>
        </p:spPr>
        <p:txBody>
          <a:bodyPr wrap="square" lIns="0" tIns="0" rIns="0" bIns="0" rtlCol="0" anchor="t"/>
          <a:lstStyle/>
          <a:p>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A: lock for every item</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total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B: add locally, lock once</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total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Shape 6"/>
          <p:cNvSpPr/>
          <p:nvPr/>
        </p:nvSpPr>
        <p:spPr>
          <a:xfrm>
            <a:off x="502920" y="5416550"/>
            <a:ext cx="5387188" cy="858774"/>
          </a:xfrm>
          <a:prstGeom prst="roundRect">
            <a:avLst>
              <a:gd name="adj" fmla="val 6389"/>
            </a:avLst>
          </a:prstGeom>
          <a:solidFill>
            <a:srgbClr val="0F1419"/>
          </a:solidFill>
          <a:ln w="12700">
            <a:solidFill>
              <a:srgbClr val="0F1419"/>
            </a:solidFill>
            <a:prstDash val="solid"/>
          </a:ln>
        </p:spPr>
      </p:sp>
      <p:sp>
        <p:nvSpPr>
          <p:cNvPr id="9" name="Text 7"/>
          <p:cNvSpPr txBox="1"/>
          <p:nvPr/>
        </p:nvSpPr>
        <p:spPr>
          <a:xfrm>
            <a:off x="685800" y="5553710"/>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./run.sh v5 tiny_contention</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A lock per item: 413 ms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B lock once:     3 ms</a:t>
            </a:r>
            <a:endParaRPr lang="en-US" sz="1300" dirty="0"/>
          </a:p>
        </p:txBody>
      </p:sp>
      <p:sp>
        <p:nvSpPr>
          <p:cNvPr id="10" name="Text 8"/>
          <p:cNvSpPr txBox="1"/>
          <p:nvPr/>
        </p:nvSpPr>
        <p:spPr>
          <a:xfrm>
            <a:off x="6301588" y="123444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Both versions give the same answer, and B is over a hundred times faster. In A the threads spend almost all their time queuing for the mutex, and passing a lock between cores costs far more than one addition. This is contention. The cure is to share less: do the work locally and touch shared state as rarely as possible.</a:t>
            </a:r>
            <a:endParaRPr lang="en-US" sz="1500" dirty="0"/>
          </a:p>
        </p:txBody>
      </p:sp>
      <p:sp>
        <p:nvSpPr>
          <p:cNvPr id="11" name="Shape 9"/>
          <p:cNvSpPr/>
          <p:nvPr/>
        </p:nvSpPr>
        <p:spPr>
          <a:xfrm>
            <a:off x="6301588" y="2779776"/>
            <a:ext cx="5387188" cy="858774"/>
          </a:xfrm>
          <a:prstGeom prst="roundRect">
            <a:avLst>
              <a:gd name="adj" fmla="val 6389"/>
            </a:avLst>
          </a:prstGeom>
          <a:solidFill>
            <a:srgbClr val="F1F4F7"/>
          </a:solidFill>
          <a:ln w="12700">
            <a:solidFill>
              <a:srgbClr val="F1F4F7"/>
            </a:solidFill>
            <a:prstDash val="solid"/>
          </a:ln>
        </p:spPr>
      </p:sp>
      <p:sp>
        <p:nvSpPr>
          <p:cNvPr id="12" name="Text 10"/>
          <p:cNvSpPr txBox="1"/>
          <p:nvPr/>
        </p:nvSpPr>
        <p:spPr>
          <a:xfrm>
            <a:off x="6484468" y="2916936"/>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T1  ## lock ## ......... ## lock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T2  ... waiting ... ## lock ##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T3  ....... waiting ....... ## lock ##</a:t>
            </a:r>
            <a:endParaRPr lang="en-US" sz="1300" dirty="0"/>
          </a:p>
        </p:txBody>
      </p:sp>
      <p:sp>
        <p:nvSpPr>
          <p:cNvPr id="13" name="Text 11"/>
          <p:cNvSpPr txBox="1"/>
          <p:nvPr/>
        </p:nvSpPr>
        <p:spPr>
          <a:xfrm>
            <a:off x="6301588" y="3784854"/>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queue gets the same treatment. push_all() takes the lock once for a whole batch instead of once per item, which made batches about four times faster than single pushes in the tests.</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Does it hold up under load?</a:t>
            </a:r>
            <a:endParaRPr lang="en-US" sz="2600" dirty="0"/>
          </a:p>
        </p:txBody>
      </p:sp>
      <p:sp>
        <p:nvSpPr>
          <p:cNvPr id="4" name="Shape 2"/>
          <p:cNvSpPr/>
          <p:nvPr/>
        </p:nvSpPr>
        <p:spPr>
          <a:xfrm>
            <a:off x="502920" y="1234440"/>
            <a:ext cx="5387188" cy="1638046"/>
          </a:xfrm>
          <a:prstGeom prst="roundRect">
            <a:avLst>
              <a:gd name="adj" fmla="val 3349"/>
            </a:avLst>
          </a:prstGeom>
          <a:solidFill>
            <a:srgbClr val="1E2230"/>
          </a:solidFill>
          <a:ln w="12700">
            <a:solidFill>
              <a:srgbClr val="1E2230"/>
            </a:solidFill>
            <a:prstDash val="solid"/>
          </a:ln>
        </p:spPr>
      </p:sp>
      <p:sp>
        <p:nvSpPr>
          <p:cNvPr id="5" name="Text 3"/>
          <p:cNvSpPr txBox="1"/>
          <p:nvPr/>
        </p:nvSpPr>
        <p:spPr>
          <a:xfrm>
            <a:off x="685800" y="1371600"/>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push_all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std::vector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push_locked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notify_all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6" name="Text 4"/>
          <p:cNvSpPr txBox="1"/>
          <p:nvPr/>
        </p:nvSpPr>
        <p:spPr>
          <a:xfrm>
            <a:off x="502920" y="307365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7" name="Text 5"/>
          <p:cNvSpPr txBox="1"/>
          <p:nvPr/>
        </p:nvSpPr>
        <p:spPr>
          <a:xfrm>
            <a:off x="502920" y="354914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Four producers push the values 0 to 99,999 each. What sum must the consumers see?</a:t>
            </a:r>
            <a:endParaRPr lang="en-US" sz="1500" dirty="0"/>
          </a:p>
        </p:txBody>
      </p:sp>
      <p:sp>
        <p:nvSpPr>
          <p:cNvPr id="8" name="Shape 6"/>
          <p:cNvSpPr/>
          <p:nvPr/>
        </p:nvSpPr>
        <p:spPr>
          <a:xfrm>
            <a:off x="502920" y="4106926"/>
            <a:ext cx="5387188" cy="551688"/>
          </a:xfrm>
          <a:prstGeom prst="roundRect">
            <a:avLst>
              <a:gd name="adj" fmla="val 9945"/>
            </a:avLst>
          </a:prstGeom>
          <a:solidFill>
            <a:srgbClr val="F1F4F7"/>
          </a:solidFill>
          <a:ln w="12700">
            <a:solidFill>
              <a:srgbClr val="F1F4F7"/>
            </a:solidFill>
            <a:prstDash val="solid"/>
          </a:ln>
        </p:spPr>
      </p:sp>
      <p:sp>
        <p:nvSpPr>
          <p:cNvPr id="9" name="Text 7"/>
          <p:cNvSpPr txBox="1"/>
          <p:nvPr/>
        </p:nvSpPr>
        <p:spPr>
          <a:xfrm>
            <a:off x="685800" y="4234942"/>
            <a:ext cx="5021428" cy="3230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4 x (99,999 x 100,000 / 2) = 19,999,800,000.</a:t>
            </a:r>
            <a:endParaRPr lang="en-US" sz="1400" dirty="0"/>
          </a:p>
        </p:txBody>
      </p:sp>
      <p:sp>
        <p:nvSpPr>
          <p:cNvPr id="10" name="Text 8"/>
          <p:cNvSpPr txBox="1"/>
          <p:nvPr/>
        </p:nvSpPr>
        <p:spPr>
          <a:xfrm>
            <a:off x="502920" y="4804918"/>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Item 5 is lost and item 7 is delivered twice. Does the count catch it? The sum?</a:t>
            </a:r>
            <a:endParaRPr lang="en-US" sz="1500" dirty="0"/>
          </a:p>
        </p:txBody>
      </p:sp>
      <p:sp>
        <p:nvSpPr>
          <p:cNvPr id="11" name="Shape 9"/>
          <p:cNvSpPr/>
          <p:nvPr/>
        </p:nvSpPr>
        <p:spPr>
          <a:xfrm>
            <a:off x="502920" y="5362702"/>
            <a:ext cx="5387188" cy="765048"/>
          </a:xfrm>
          <a:prstGeom prst="roundRect">
            <a:avLst>
              <a:gd name="adj" fmla="val 7171"/>
            </a:avLst>
          </a:prstGeom>
          <a:solidFill>
            <a:srgbClr val="F1F4F7"/>
          </a:solidFill>
          <a:ln w="12700">
            <a:solidFill>
              <a:srgbClr val="F1F4F7"/>
            </a:solidFill>
            <a:prstDash val="solid"/>
          </a:ln>
        </p:spPr>
      </p:sp>
      <p:sp>
        <p:nvSpPr>
          <p:cNvPr id="12" name="Text 10"/>
          <p:cNvSpPr txBox="1"/>
          <p:nvPr/>
        </p:nvSpPr>
        <p:spPr>
          <a:xfrm>
            <a:off x="685800" y="5490718"/>
            <a:ext cx="5021428" cy="5364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count does not, it is unchanged. The sum is off by 2, so it does.</a:t>
            </a:r>
            <a:endParaRPr lang="en-US" sz="1400" dirty="0"/>
          </a:p>
        </p:txBody>
      </p:sp>
      <p:sp>
        <p:nvSpPr>
          <p:cNvPr id="13" name="Text 11"/>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Producers send bursts of 1,000 items. How do you cut the locking cost?</a:t>
            </a:r>
            <a:endParaRPr lang="en-US" sz="1500" dirty="0"/>
          </a:p>
        </p:txBody>
      </p:sp>
      <p:sp>
        <p:nvSpPr>
          <p:cNvPr id="14" name="Shape 12"/>
          <p:cNvSpPr/>
          <p:nvPr/>
        </p:nvSpPr>
        <p:spPr>
          <a:xfrm>
            <a:off x="6301588" y="1792224"/>
            <a:ext cx="5387188" cy="765048"/>
          </a:xfrm>
          <a:prstGeom prst="roundRect">
            <a:avLst>
              <a:gd name="adj" fmla="val 7171"/>
            </a:avLst>
          </a:prstGeom>
          <a:solidFill>
            <a:srgbClr val="F1F4F7"/>
          </a:solidFill>
          <a:ln w="12700">
            <a:solidFill>
              <a:srgbClr val="F1F4F7"/>
            </a:solidFill>
            <a:prstDash val="solid"/>
          </a:ln>
        </p:spPr>
      </p:sp>
      <p:sp>
        <p:nvSpPr>
          <p:cNvPr id="15" name="Text 13"/>
          <p:cNvSpPr txBox="1"/>
          <p:nvPr/>
        </p:nvSpPr>
        <p:spPr>
          <a:xfrm>
            <a:off x="6484468" y="1920240"/>
            <a:ext cx="5021428" cy="5364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Push each burst with push_all, which locks once and notifies once.</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queues, two locks, frozen</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Rebalancing work</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With many consumers one queue can pile up while another runs dry, so we add move_all_to(other), which moves every item from one queue to another. It has to hold both queues' locks at once.</a:t>
            </a:r>
            <a:endParaRPr lang="en-US" sz="1500" dirty="0"/>
          </a:p>
        </p:txBody>
      </p:sp>
      <p:sp>
        <p:nvSpPr>
          <p:cNvPr id="6" name="Shape 4"/>
          <p:cNvSpPr/>
          <p:nvPr/>
        </p:nvSpPr>
        <p:spPr>
          <a:xfrm>
            <a:off x="502920" y="2852928"/>
            <a:ext cx="5387188" cy="1832864"/>
          </a:xfrm>
          <a:prstGeom prst="roundRect">
            <a:avLst>
              <a:gd name="adj" fmla="val 2993"/>
            </a:avLst>
          </a:prstGeom>
          <a:solidFill>
            <a:srgbClr val="1E2230"/>
          </a:solidFill>
          <a:ln w="12700">
            <a:solidFill>
              <a:srgbClr val="1E2230"/>
            </a:solidFill>
            <a:prstDash val="solid"/>
          </a:ln>
        </p:spPr>
      </p:sp>
      <p:sp>
        <p:nvSpPr>
          <p:cNvPr id="7" name="Text 5"/>
          <p:cNvSpPr txBox="1"/>
          <p:nvPr/>
        </p:nvSpPr>
        <p:spPr>
          <a:xfrm>
            <a:off x="685800" y="2990088"/>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move_all_to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b</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Text 6"/>
          <p:cNvSpPr txBox="1"/>
          <p:nvPr/>
        </p:nvSpPr>
        <p:spPr>
          <a:xfrm>
            <a:off x="502920" y="4832096"/>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Now thread 1 calls q1.move_all_to(q2) while thread 2 calls q2.move_all_to(q1). Both start at the same moment. In the first microsecond each one takes the lock it asks for first, and that is already the end of the story: each now needs the lock the other one is holding.</a:t>
            </a:r>
            <a:endParaRPr lang="en-US" sz="1500" dirty="0"/>
          </a:p>
        </p:txBody>
      </p:sp>
      <p:sp>
        <p:nvSpPr>
          <p:cNvPr id="9" name="Shape 7"/>
          <p:cNvSpPr/>
          <p:nvPr/>
        </p:nvSpPr>
        <p:spPr>
          <a:xfrm>
            <a:off x="6301588" y="1234440"/>
            <a:ext cx="5387188" cy="1443228"/>
          </a:xfrm>
          <a:prstGeom prst="roundRect">
            <a:avLst>
              <a:gd name="adj" fmla="val 3801"/>
            </a:avLst>
          </a:prstGeom>
          <a:solidFill>
            <a:srgbClr val="F1F4F7"/>
          </a:solidFill>
          <a:ln w="12700">
            <a:solidFill>
              <a:srgbClr val="F1F4F7"/>
            </a:solidFill>
            <a:prstDash val="solid"/>
          </a:ln>
        </p:spPr>
      </p:sp>
      <p:sp>
        <p:nvSpPr>
          <p:cNvPr id="10" name="Text 8"/>
          <p:cNvSpPr txBox="1"/>
          <p:nvPr/>
        </p:nvSpPr>
        <p:spPr>
          <a:xfrm>
            <a:off x="6484468" y="1371600"/>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T1: q1.move_all_to(q2)        T2: q2.move_all_to(q1)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lock q1.m</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lock q2.m</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want q2.m ... waits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want q1.m ... waits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both wait forever</a:t>
            </a:r>
            <a:endParaRPr lang="en-US" sz="1300" dirty="0"/>
          </a:p>
        </p:txBody>
      </p:sp>
      <p:sp>
        <p:nvSpPr>
          <p:cNvPr id="11" name="Shape 9"/>
          <p:cNvSpPr/>
          <p:nvPr/>
        </p:nvSpPr>
        <p:spPr>
          <a:xfrm>
            <a:off x="6301588" y="2823972"/>
            <a:ext cx="5387188" cy="663956"/>
          </a:xfrm>
          <a:prstGeom prst="roundRect">
            <a:avLst>
              <a:gd name="adj" fmla="val 8263"/>
            </a:avLst>
          </a:prstGeom>
          <a:solidFill>
            <a:srgbClr val="0F1419"/>
          </a:solidFill>
          <a:ln w="12700">
            <a:solidFill>
              <a:srgbClr val="0F1419"/>
            </a:solidFill>
            <a:prstDash val="solid"/>
          </a:ln>
        </p:spPr>
      </p:sp>
      <p:sp>
        <p:nvSpPr>
          <p:cNvPr id="12" name="Text 10"/>
          <p:cNvSpPr txBox="1"/>
          <p:nvPr/>
        </p:nvSpPr>
        <p:spPr>
          <a:xfrm>
            <a:off x="6484468" y="2961132"/>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v5 tiny_deadlock</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(frozen, stopped after 10 s)</a:t>
            </a:r>
            <a:endParaRPr lang="en-US" sz="1300" dirty="0"/>
          </a:p>
        </p:txBody>
      </p:sp>
      <p:sp>
        <p:nvSpPr>
          <p:cNvPr id="13" name="Text 11"/>
          <p:cNvSpPr txBox="1"/>
          <p:nvPr/>
        </p:nvSpPr>
        <p:spPr>
          <a:xfrm>
            <a:off x="6301588" y="3634232"/>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 the tests this froze three runs out of three. In production, with less helpful timing, it might freeze once a week, which is much worse.</a:t>
            </a:r>
            <a:endParaRPr lang="en-US" sz="1500" dirty="0"/>
          </a:p>
        </p:txBody>
      </p:sp>
      <p:sp>
        <p:nvSpPr>
          <p:cNvPr id="14" name="Text 12"/>
          <p:cNvSpPr txBox="1"/>
          <p:nvPr/>
        </p:nvSpPr>
        <p:spPr>
          <a:xfrm>
            <a:off x="6301588" y="4548632"/>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Draw who waits for whom</a:t>
            </a:r>
            <a:endParaRPr lang="en-US" sz="1800" dirty="0"/>
          </a:p>
        </p:txBody>
      </p:sp>
      <p:sp>
        <p:nvSpPr>
          <p:cNvPr id="15" name="Shape 13"/>
          <p:cNvSpPr/>
          <p:nvPr/>
        </p:nvSpPr>
        <p:spPr>
          <a:xfrm>
            <a:off x="6301588" y="5024120"/>
            <a:ext cx="5387188" cy="1053592"/>
          </a:xfrm>
          <a:prstGeom prst="roundRect">
            <a:avLst>
              <a:gd name="adj" fmla="val 5207"/>
            </a:avLst>
          </a:prstGeom>
          <a:solidFill>
            <a:srgbClr val="F1F4F7"/>
          </a:solidFill>
          <a:ln w="12700">
            <a:solidFill>
              <a:srgbClr val="F1F4F7"/>
            </a:solidFill>
            <a:prstDash val="solid"/>
          </a:ln>
        </p:spPr>
      </p:sp>
      <p:sp>
        <p:nvSpPr>
          <p:cNvPr id="16" name="Text 14"/>
          <p:cNvSpPr txBox="1"/>
          <p:nvPr/>
        </p:nvSpPr>
        <p:spPr>
          <a:xfrm>
            <a:off x="6484468" y="5161280"/>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T1 holds q1.m  --waits for--&gt;  q2.m</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v</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q1.m  &lt;--waits for--  T2 holds q2.m</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queues, two locks, frozen</a:t>
            </a:r>
            <a:endParaRPr lang="en-US" sz="2600" dirty="0"/>
          </a:p>
        </p:txBody>
      </p:sp>
      <p:sp>
        <p:nvSpPr>
          <p:cNvPr id="4" name="Text 2"/>
          <p:cNvSpPr txBox="1"/>
          <p:nvPr/>
        </p:nvSpPr>
        <p:spPr>
          <a:xfrm>
            <a:off x="502920"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Each thread holds something the other needs, and the arrows form a cycle. A cycle in this wait-for graph is a deadlock. Break the cycle and the deadlock cannot happen. There are two standard ways.</a:t>
            </a:r>
            <a:endParaRPr lang="en-US" sz="1500" dirty="0"/>
          </a:p>
        </p:txBody>
      </p:sp>
      <p:sp>
        <p:nvSpPr>
          <p:cNvPr id="5" name="Text 3"/>
          <p:cNvSpPr txBox="1"/>
          <p:nvPr/>
        </p:nvSpPr>
        <p:spPr>
          <a:xfrm>
            <a:off x="502920" y="2322576"/>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first is to take both locks together. std::scoped_lock locks several mutexes using an algorithm that never deadlocks. The second is to always take locks in one fixed global order, for example lower address first. Either way, check for this == &amp;other first, because locking the same mutex twice is undefined behaviour.</a:t>
            </a:r>
            <a:endParaRPr lang="en-US" sz="1500" dirty="0"/>
          </a:p>
        </p:txBody>
      </p:sp>
      <p:sp>
        <p:nvSpPr>
          <p:cNvPr id="6" name="Shape 4"/>
          <p:cNvSpPr/>
          <p:nvPr/>
        </p:nvSpPr>
        <p:spPr>
          <a:xfrm>
            <a:off x="502920" y="4096512"/>
            <a:ext cx="5387188" cy="1832864"/>
          </a:xfrm>
          <a:prstGeom prst="roundRect">
            <a:avLst>
              <a:gd name="adj" fmla="val 2993"/>
            </a:avLst>
          </a:prstGeom>
          <a:solidFill>
            <a:srgbClr val="1E2230"/>
          </a:solidFill>
          <a:ln w="12700">
            <a:solidFill>
              <a:srgbClr val="1E2230"/>
            </a:solidFill>
            <a:prstDash val="solid"/>
          </a:ln>
        </p:spPr>
      </p:sp>
      <p:sp>
        <p:nvSpPr>
          <p:cNvPr id="7" name="Text 5"/>
          <p:cNvSpPr txBox="1"/>
          <p:nvPr/>
        </p:nvSpPr>
        <p:spPr>
          <a:xfrm>
            <a:off x="685800" y="4233672"/>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move_all_to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this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std::scoped_lock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Text 6"/>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Locking yourself out</a:t>
            </a:r>
            <a:endParaRPr lang="en-US" sz="1800" dirty="0"/>
          </a:p>
        </p:txBody>
      </p:sp>
      <p:sp>
        <p:nvSpPr>
          <p:cNvPr id="9" name="Text 7"/>
          <p:cNvSpPr txBox="1"/>
          <p:nvPr/>
        </p:nvSpPr>
        <p:spPr>
          <a:xfrm>
            <a:off x="6301588" y="1764792"/>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There is a second way to deadlock with only one mutex. If push_all() takes the lock and then calls the public push(), push() tries to take the same lock again and the thread waits for itself. The clean fix is a convention: public functions take the lock, and private helpers like push_locked() assume the caller already holds it. Reaching for std::recursive_mutex usually means the lock boundaries do not match the operations.</a:t>
            </a:r>
            <a:endParaRPr lang="en-US" sz="1500" dirty="0"/>
          </a:p>
        </p:txBody>
      </p:sp>
      <p:sp>
        <p:nvSpPr>
          <p:cNvPr id="10" name="Text 8"/>
          <p:cNvSpPr txBox="1"/>
          <p:nvPr/>
        </p:nvSpPr>
        <p:spPr>
          <a:xfrm>
            <a:off x="6301588" y="3822192"/>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11" name="Text 9"/>
          <p:cNvSpPr txBox="1"/>
          <p:nvPr/>
        </p:nvSpPr>
        <p:spPr>
          <a:xfrm>
            <a:off x="6301588" y="429768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Three threads each lock two of three mutexes, always lowest address first. Can they deadlock?</a:t>
            </a:r>
            <a:endParaRPr lang="en-US" sz="1500" dirty="0"/>
          </a:p>
        </p:txBody>
      </p:sp>
      <p:sp>
        <p:nvSpPr>
          <p:cNvPr id="12" name="Shape 10"/>
          <p:cNvSpPr/>
          <p:nvPr/>
        </p:nvSpPr>
        <p:spPr>
          <a:xfrm>
            <a:off x="6301588" y="4855464"/>
            <a:ext cx="5387188" cy="765048"/>
          </a:xfrm>
          <a:prstGeom prst="roundRect">
            <a:avLst>
              <a:gd name="adj" fmla="val 7171"/>
            </a:avLst>
          </a:prstGeom>
          <a:solidFill>
            <a:srgbClr val="F1F4F7"/>
          </a:solidFill>
          <a:ln w="12700">
            <a:solidFill>
              <a:srgbClr val="F1F4F7"/>
            </a:solidFill>
            <a:prstDash val="solid"/>
          </a:ln>
        </p:spPr>
      </p:sp>
      <p:sp>
        <p:nvSpPr>
          <p:cNvPr id="13" name="Text 11"/>
          <p:cNvSpPr txBox="1"/>
          <p:nvPr/>
        </p:nvSpPr>
        <p:spPr>
          <a:xfrm>
            <a:off x="6484468" y="4983480"/>
            <a:ext cx="5021428" cy="5364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No. With one global order the wait-for graph can never form a cycle.</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queues, two locks, frozen</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push_all() locks m and then calls push(), which also locks m. Trace it.</a:t>
            </a:r>
            <a:endParaRPr lang="en-US" sz="1500" dirty="0"/>
          </a:p>
        </p:txBody>
      </p:sp>
      <p:sp>
        <p:nvSpPr>
          <p:cNvPr id="5" name="Shape 3"/>
          <p:cNvSpPr/>
          <p:nvPr/>
        </p:nvSpPr>
        <p:spPr>
          <a:xfrm>
            <a:off x="502920" y="1792224"/>
            <a:ext cx="5387188" cy="978408"/>
          </a:xfrm>
          <a:prstGeom prst="roundRect">
            <a:avLst>
              <a:gd name="adj" fmla="val 5607"/>
            </a:avLst>
          </a:prstGeom>
          <a:solidFill>
            <a:srgbClr val="F1F4F7"/>
          </a:solidFill>
          <a:ln w="12700">
            <a:solidFill>
              <a:srgbClr val="F1F4F7"/>
            </a:solidFill>
            <a:prstDash val="solid"/>
          </a:ln>
        </p:spPr>
      </p:sp>
      <p:sp>
        <p:nvSpPr>
          <p:cNvPr id="6" name="Text 4"/>
          <p:cNvSpPr txBox="1"/>
          <p:nvPr/>
        </p:nvSpPr>
        <p:spPr>
          <a:xfrm>
            <a:off x="685800" y="1920240"/>
            <a:ext cx="5021428" cy="74980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thread blocks waiting for a lock it already holds. With std::mutex that is undefined behaviour and in practice a hang.</a:t>
            </a:r>
            <a:endParaRPr lang="en-US" sz="1400" dirty="0"/>
          </a:p>
        </p:txBody>
      </p:sp>
      <p:sp>
        <p:nvSpPr>
          <p:cNvPr id="7" name="Text 5"/>
          <p:cNvSpPr txBox="1"/>
          <p:nvPr/>
        </p:nvSpPr>
        <p:spPr>
          <a:xfrm>
            <a:off x="502920" y="291693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Design transfer(a, b, amount) between two bank accounts.</a:t>
            </a:r>
            <a:endParaRPr lang="en-US" sz="1500" dirty="0"/>
          </a:p>
        </p:txBody>
      </p:sp>
      <p:sp>
        <p:nvSpPr>
          <p:cNvPr id="8" name="Shape 6"/>
          <p:cNvSpPr/>
          <p:nvPr/>
        </p:nvSpPr>
        <p:spPr>
          <a:xfrm>
            <a:off x="502920" y="3474720"/>
            <a:ext cx="5387188" cy="765048"/>
          </a:xfrm>
          <a:prstGeom prst="roundRect">
            <a:avLst>
              <a:gd name="adj" fmla="val 7171"/>
            </a:avLst>
          </a:prstGeom>
          <a:solidFill>
            <a:srgbClr val="F1F4F7"/>
          </a:solidFill>
          <a:ln w="12700">
            <a:solidFill>
              <a:srgbClr val="F1F4F7"/>
            </a:solidFill>
            <a:prstDash val="solid"/>
          </a:ln>
        </p:spPr>
      </p:sp>
      <p:sp>
        <p:nvSpPr>
          <p:cNvPr id="9" name="Text 7"/>
          <p:cNvSpPr txBox="1"/>
          <p:nvPr/>
        </p:nvSpPr>
        <p:spPr>
          <a:xfrm>
            <a:off x="685800" y="3602736"/>
            <a:ext cx="5021428" cy="5364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Return early if a and b are the same account, then std::scoped_lock(a.m, b.m) and move the amount.</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v6</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producers are done, the program never exits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Consumers that never stop</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Until now consumers knew exactly how many items to expect. Real consumers do not. They loop on wait_and_pop() until there is no more work. The trouble is that nothing ever tells them there is no more work.</a:t>
            </a:r>
            <a:endParaRPr lang="en-US" sz="1500" dirty="0"/>
          </a:p>
        </p:txBody>
      </p:sp>
      <p:sp>
        <p:nvSpPr>
          <p:cNvPr id="6" name="Shape 4"/>
          <p:cNvSpPr/>
          <p:nvPr/>
        </p:nvSpPr>
        <p:spPr>
          <a:xfrm>
            <a:off x="502920" y="2852928"/>
            <a:ext cx="5387188" cy="858774"/>
          </a:xfrm>
          <a:prstGeom prst="roundRect">
            <a:avLst>
              <a:gd name="adj" fmla="val 6389"/>
            </a:avLst>
          </a:prstGeom>
          <a:solidFill>
            <a:srgbClr val="F1F4F7"/>
          </a:solidFill>
          <a:ln w="12700">
            <a:solidFill>
              <a:srgbClr val="F1F4F7"/>
            </a:solidFill>
            <a:prstDash val="solid"/>
          </a:ln>
        </p:spPr>
      </p:sp>
      <p:sp>
        <p:nvSpPr>
          <p:cNvPr id="7" name="Text 5"/>
          <p:cNvSpPr txBox="1"/>
          <p:nvPr/>
        </p:nvSpPr>
        <p:spPr>
          <a:xfrm>
            <a:off x="685800" y="2990088"/>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producers   push ... push ... return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consumers   pop ... pop ... wait_and_pop()  asleep</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join consumers ... waiting forever</a:t>
            </a:r>
            <a:endParaRPr lang="en-US" sz="1300" dirty="0"/>
          </a:p>
        </p:txBody>
      </p:sp>
      <p:sp>
        <p:nvSpPr>
          <p:cNvPr id="8" name="Text 6"/>
          <p:cNvSpPr txBox="1"/>
          <p:nvPr/>
        </p:nvSpPr>
        <p:spPr>
          <a:xfrm>
            <a:off x="502920" y="3858006"/>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queue needs a way to say "nothing more is coming", and every sleeping consumer has to hear it.</a:t>
            </a:r>
            <a:endParaRPr lang="en-US" sz="1500" dirty="0"/>
          </a:p>
        </p:txBody>
      </p:sp>
      <p:sp>
        <p:nvSpPr>
          <p:cNvPr id="9" name="Text 7"/>
          <p:cNvSpPr txBox="1"/>
          <p:nvPr/>
        </p:nvSpPr>
        <p:spPr>
          <a:xfrm>
            <a:off x="502920" y="4543806"/>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first try</a:t>
            </a:r>
            <a:endParaRPr lang="en-US" sz="1800" dirty="0"/>
          </a:p>
        </p:txBody>
      </p:sp>
      <p:sp>
        <p:nvSpPr>
          <p:cNvPr id="10" name="Shape 8"/>
          <p:cNvSpPr/>
          <p:nvPr/>
        </p:nvSpPr>
        <p:spPr>
          <a:xfrm>
            <a:off x="502920" y="5019294"/>
            <a:ext cx="5387188" cy="1248410"/>
          </a:xfrm>
          <a:prstGeom prst="roundRect">
            <a:avLst>
              <a:gd name="adj" fmla="val 4395"/>
            </a:avLst>
          </a:prstGeom>
          <a:solidFill>
            <a:srgbClr val="1E2230"/>
          </a:solidFill>
          <a:ln w="12700">
            <a:solidFill>
              <a:srgbClr val="1E2230"/>
            </a:solidFill>
            <a:prstDash val="solid"/>
          </a:ln>
        </p:spPr>
      </p:sp>
      <p:sp>
        <p:nvSpPr>
          <p:cNvPr id="11" name="Text 9"/>
          <p:cNvSpPr txBox="1"/>
          <p:nvPr/>
        </p:nvSpPr>
        <p:spPr>
          <a:xfrm>
            <a:off x="685800" y="5156454"/>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notify_one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12" name="Text 10"/>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Two consumers are asleep in wait() when main calls shutdown(). Only one of them leaves:</a:t>
            </a:r>
            <a:endParaRPr lang="en-US" sz="1500" dirty="0"/>
          </a:p>
        </p:txBody>
      </p:sp>
      <p:sp>
        <p:nvSpPr>
          <p:cNvPr id="13" name="Shape 11"/>
          <p:cNvSpPr/>
          <p:nvPr/>
        </p:nvSpPr>
        <p:spPr>
          <a:xfrm>
            <a:off x="6301588" y="1865376"/>
            <a:ext cx="5387188" cy="858774"/>
          </a:xfrm>
          <a:prstGeom prst="roundRect">
            <a:avLst>
              <a:gd name="adj" fmla="val 6389"/>
            </a:avLst>
          </a:prstGeom>
          <a:solidFill>
            <a:srgbClr val="0F1419"/>
          </a:solidFill>
          <a:ln w="12700">
            <a:solidFill>
              <a:srgbClr val="0F1419"/>
            </a:solidFill>
            <a:prstDash val="solid"/>
          </a:ln>
        </p:spPr>
      </p:sp>
      <p:sp>
        <p:nvSpPr>
          <p:cNvPr id="14" name="Text 12"/>
          <p:cNvSpPr txBox="1"/>
          <p:nvPr/>
        </p:nvSpPr>
        <p:spPr>
          <a:xfrm>
            <a:off x="6484468" y="2002536"/>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v6 tiny</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woke up</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(frozen, stopped after 10 s)</a:t>
            </a:r>
            <a:endParaRPr lang="en-US" sz="1300" dirty="0"/>
          </a:p>
        </p:txBody>
      </p:sp>
      <p:sp>
        <p:nvSpPr>
          <p:cNvPr id="15" name="Shape 13"/>
          <p:cNvSpPr/>
          <p:nvPr/>
        </p:nvSpPr>
        <p:spPr>
          <a:xfrm>
            <a:off x="6301588" y="2870454"/>
            <a:ext cx="5387188" cy="1248410"/>
          </a:xfrm>
          <a:prstGeom prst="roundRect">
            <a:avLst>
              <a:gd name="adj" fmla="val 4395"/>
            </a:avLst>
          </a:prstGeom>
          <a:solidFill>
            <a:srgbClr val="F1F4F7"/>
          </a:solidFill>
          <a:ln w="12700">
            <a:solidFill>
              <a:srgbClr val="F1F4F7"/>
            </a:solidFill>
            <a:prstDash val="solid"/>
          </a:ln>
        </p:spPr>
      </p:sp>
      <p:sp>
        <p:nvSpPr>
          <p:cNvPr id="16" name="Text 14"/>
          <p:cNvSpPr txBox="1"/>
          <p:nvPr/>
        </p:nvSpPr>
        <p:spPr>
          <a:xfrm>
            <a:off x="6484468" y="3007614"/>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time   0          1s: shutdown()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C1     asleep ... woken, sees closed, returns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C2     asleep ............................ forever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        notify_one(), join C1 ok,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join C2 waits forever</a:t>
            </a:r>
            <a:endParaRPr lang="en-US" sz="1300" dirty="0"/>
          </a:p>
        </p:txBody>
      </p:sp>
      <p:sp>
        <p:nvSpPr>
          <p:cNvPr id="17" name="Text 15"/>
          <p:cNvSpPr txBox="1"/>
          <p:nvPr/>
        </p:nvSpPr>
        <p:spPr>
          <a:xfrm>
            <a:off x="6301588" y="4265168"/>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notify_one wakes a single waiter, which sees closed and returns. The other keeps sleeping, and main waits for it forever in join(). Changing that one word to notify_all fixes it.</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v6</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producers are done, the program never exits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Shutdown is a protocol</a:t>
            </a:r>
            <a:endParaRPr lang="en-US" sz="1800" dirty="0"/>
          </a:p>
        </p:txBody>
      </p:sp>
      <p:sp>
        <p:nvSpPr>
          <p:cNvPr id="5" name="Shape 3"/>
          <p:cNvSpPr/>
          <p:nvPr/>
        </p:nvSpPr>
        <p:spPr>
          <a:xfrm>
            <a:off x="502920" y="1764792"/>
            <a:ext cx="5387188" cy="1638046"/>
          </a:xfrm>
          <a:prstGeom prst="roundRect">
            <a:avLst>
              <a:gd name="adj" fmla="val 3349"/>
            </a:avLst>
          </a:prstGeom>
          <a:solidFill>
            <a:srgbClr val="F1F4F7"/>
          </a:solidFill>
          <a:ln w="12700">
            <a:solidFill>
              <a:srgbClr val="F1F4F7"/>
            </a:solidFill>
            <a:prstDash val="solid"/>
          </a:ln>
        </p:spPr>
      </p:sp>
      <p:sp>
        <p:nvSpPr>
          <p:cNvPr id="6" name="Text 4"/>
          <p:cNvSpPr txBox="1"/>
          <p:nvPr/>
        </p:nvSpPr>
        <p:spPr>
          <a:xfrm>
            <a:off x="685800" y="1901952"/>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RUNNING   push works, pop waits for items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shutdown()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CLOSED    push refused, every waiter woken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remaining items are consumed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DRAINED   wait_and_pop() returns "nothing"</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consumers return, threads are joined</a:t>
            </a:r>
            <a:endParaRPr lang="en-US" sz="1300" dirty="0"/>
          </a:p>
        </p:txBody>
      </p:sp>
      <p:sp>
        <p:nvSpPr>
          <p:cNvPr id="7" name="Text 5"/>
          <p:cNvSpPr txBox="1"/>
          <p:nvPr/>
        </p:nvSpPr>
        <p:spPr>
          <a:xfrm>
            <a:off x="502920" y="3549142"/>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Three rules make it work. Set closed while holding the lock, otherwise the change can fall into the same gap as v4's lost wake-up. Wake every waiter with notify_all. And let each consumer see the new state through its predicate.</a:t>
            </a:r>
            <a:endParaRPr lang="en-US" sz="1500" dirty="0"/>
          </a:p>
        </p:txBody>
      </p:sp>
      <p:sp>
        <p:nvSpPr>
          <p:cNvPr id="8" name="Text 6"/>
          <p:cNvSpPr txBox="1"/>
          <p:nvPr/>
        </p:nvSpPr>
        <p:spPr>
          <a:xfrm>
            <a:off x="502920" y="4865878"/>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One more problem: how does wait_and_pop() say "nothing"? No int value can mean that, because every int could be a real item. So it returns std::optional&lt;int&gt;, which is either a value or empty.</a:t>
            </a:r>
            <a:endParaRPr lang="en-US" sz="1500" dirty="0"/>
          </a:p>
        </p:txBody>
      </p:sp>
      <p:sp>
        <p:nvSpPr>
          <p:cNvPr id="9" name="Shape 7"/>
          <p:cNvSpPr/>
          <p:nvPr/>
        </p:nvSpPr>
        <p:spPr>
          <a:xfrm>
            <a:off x="6301588" y="1234440"/>
            <a:ext cx="5387188" cy="4365498"/>
          </a:xfrm>
          <a:prstGeom prst="roundRect">
            <a:avLst>
              <a:gd name="adj" fmla="val 1257"/>
            </a:avLst>
          </a:prstGeom>
          <a:solidFill>
            <a:srgbClr val="1E2230"/>
          </a:solidFill>
          <a:ln w="12700">
            <a:solidFill>
              <a:srgbClr val="1E2230"/>
            </a:solidFill>
            <a:prstDash val="solid"/>
          </a:ln>
        </p:spPr>
      </p:sp>
      <p:sp>
        <p:nvSpPr>
          <p:cNvPr id="10" name="Text 8"/>
          <p:cNvSpPr txBox="1"/>
          <p:nvPr/>
        </p:nvSpPr>
        <p:spPr>
          <a:xfrm>
            <a:off x="6484468" y="1371600"/>
            <a:ext cx="5021428" cy="4091178"/>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guarded by m</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std::optional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std::unique_lock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std::nullopt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closed and drained</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notify_all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v6</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producers are done, the program never exits</a:t>
            </a:r>
            <a:endParaRPr lang="en-US" sz="2600" dirty="0"/>
          </a:p>
        </p:txBody>
      </p:sp>
      <p:sp>
        <p:nvSpPr>
          <p:cNvPr id="4" name="Text 2"/>
          <p:cNvSpPr txBox="1"/>
          <p:nvPr/>
        </p:nvSpPr>
        <p:spPr>
          <a:xfrm>
            <a:off x="502920"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Items already in the queue are still delivered, because wait_and_pop() only returns nothing when the queue is closed and empty. push() checks closed and returns false after shutdown.</a:t>
            </a:r>
            <a:endParaRPr lang="en-US" sz="1500" dirty="0"/>
          </a:p>
        </p:txBody>
      </p:sp>
      <p:sp>
        <p:nvSpPr>
          <p:cNvPr id="5" name="Text 3"/>
          <p:cNvSpPr txBox="1"/>
          <p:nvPr/>
        </p:nvSpPr>
        <p:spPr>
          <a:xfrm>
            <a:off x="502920" y="23774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6" name="Text 4"/>
          <p:cNvSpPr txBox="1"/>
          <p:nvPr/>
        </p:nvSpPr>
        <p:spPr>
          <a:xfrm>
            <a:off x="502920" y="2852928"/>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1,000 items are queued and then shutdown() is called. How many do consumers still receive?</a:t>
            </a:r>
            <a:endParaRPr lang="en-US" sz="1500" dirty="0"/>
          </a:p>
        </p:txBody>
      </p:sp>
      <p:sp>
        <p:nvSpPr>
          <p:cNvPr id="7" name="Shape 5"/>
          <p:cNvSpPr/>
          <p:nvPr/>
        </p:nvSpPr>
        <p:spPr>
          <a:xfrm>
            <a:off x="502920" y="3410712"/>
            <a:ext cx="5387188" cy="765048"/>
          </a:xfrm>
          <a:prstGeom prst="roundRect">
            <a:avLst>
              <a:gd name="adj" fmla="val 7171"/>
            </a:avLst>
          </a:prstGeom>
          <a:solidFill>
            <a:srgbClr val="F1F4F7"/>
          </a:solidFill>
          <a:ln w="12700">
            <a:solidFill>
              <a:srgbClr val="F1F4F7"/>
            </a:solidFill>
            <a:prstDash val="solid"/>
          </a:ln>
        </p:spPr>
      </p:sp>
      <p:sp>
        <p:nvSpPr>
          <p:cNvPr id="8" name="Text 6"/>
          <p:cNvSpPr txBox="1"/>
          <p:nvPr/>
        </p:nvSpPr>
        <p:spPr>
          <a:xfrm>
            <a:off x="685800" y="3538728"/>
            <a:ext cx="5021428" cy="5364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All 1,000. nullopt only comes once the queue is closed and empty.</a:t>
            </a:r>
            <a:endParaRPr lang="en-US" sz="1400" dirty="0"/>
          </a:p>
        </p:txBody>
      </p:sp>
      <p:sp>
        <p:nvSpPr>
          <p:cNvPr id="9" name="Text 7"/>
          <p:cNvSpPr txBox="1"/>
          <p:nvPr/>
        </p:nvSpPr>
        <p:spPr>
          <a:xfrm>
            <a:off x="502920" y="4322064"/>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closed = true is set without holding the lock. Trace a lost wake-up.</a:t>
            </a:r>
            <a:endParaRPr lang="en-US" sz="1500" dirty="0"/>
          </a:p>
        </p:txBody>
      </p:sp>
      <p:sp>
        <p:nvSpPr>
          <p:cNvPr id="10" name="Shape 8"/>
          <p:cNvSpPr/>
          <p:nvPr/>
        </p:nvSpPr>
        <p:spPr>
          <a:xfrm>
            <a:off x="502920" y="4879848"/>
            <a:ext cx="5387188" cy="978408"/>
          </a:xfrm>
          <a:prstGeom prst="roundRect">
            <a:avLst>
              <a:gd name="adj" fmla="val 5607"/>
            </a:avLst>
          </a:prstGeom>
          <a:solidFill>
            <a:srgbClr val="F1F4F7"/>
          </a:solidFill>
          <a:ln w="12700">
            <a:solidFill>
              <a:srgbClr val="F1F4F7"/>
            </a:solidFill>
            <a:prstDash val="solid"/>
          </a:ln>
        </p:spPr>
      </p:sp>
      <p:sp>
        <p:nvSpPr>
          <p:cNvPr id="11" name="Text 9"/>
          <p:cNvSpPr txBox="1"/>
          <p:nvPr/>
        </p:nvSpPr>
        <p:spPr>
          <a:xfrm>
            <a:off x="685800" y="5007864"/>
            <a:ext cx="5021428" cy="74980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A consumer checks and sees closed is false, main sets closed and notifies, then the consumer starts waiting and never wakes.</a:t>
            </a:r>
            <a:endParaRPr lang="en-US" sz="1400" dirty="0"/>
          </a:p>
        </p:txBody>
      </p:sp>
      <p:sp>
        <p:nvSpPr>
          <p:cNvPr id="12" name="Text 10"/>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In a bounded queue producers wait while it is full. What else must shutdown() do?</a:t>
            </a:r>
            <a:endParaRPr lang="en-US" sz="1500" dirty="0"/>
          </a:p>
        </p:txBody>
      </p:sp>
      <p:sp>
        <p:nvSpPr>
          <p:cNvPr id="13" name="Shape 11"/>
          <p:cNvSpPr/>
          <p:nvPr/>
        </p:nvSpPr>
        <p:spPr>
          <a:xfrm>
            <a:off x="6301588" y="1792224"/>
            <a:ext cx="5387188" cy="765048"/>
          </a:xfrm>
          <a:prstGeom prst="roundRect">
            <a:avLst>
              <a:gd name="adj" fmla="val 7171"/>
            </a:avLst>
          </a:prstGeom>
          <a:solidFill>
            <a:srgbClr val="F1F4F7"/>
          </a:solidFill>
          <a:ln w="12700">
            <a:solidFill>
              <a:srgbClr val="F1F4F7"/>
            </a:solidFill>
            <a:prstDash val="solid"/>
          </a:ln>
        </p:spPr>
      </p:sp>
      <p:sp>
        <p:nvSpPr>
          <p:cNvPr id="14" name="Text 12"/>
          <p:cNvSpPr txBox="1"/>
          <p:nvPr/>
        </p:nvSpPr>
        <p:spPr>
          <a:xfrm>
            <a:off x="6484468" y="1920240"/>
            <a:ext cx="5021428" cy="5364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Wake the waiting producers too and make push() return false, or they sleep forever.</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v7</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queue of anything</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Why int is no longer enough</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 Part 2 the queue will carry work, not numbers. Some values are large, and some cannot be copied at all. A std::unique_ptr owns its object, so copying it would mean two owners, and the language forbids it.</a:t>
            </a:r>
            <a:endParaRPr lang="en-US" sz="1500" dirty="0"/>
          </a:p>
        </p:txBody>
      </p:sp>
      <p:sp>
        <p:nvSpPr>
          <p:cNvPr id="6" name="Shape 4"/>
          <p:cNvSpPr/>
          <p:nvPr/>
        </p:nvSpPr>
        <p:spPr>
          <a:xfrm>
            <a:off x="502920" y="2852928"/>
            <a:ext cx="5387188" cy="858774"/>
          </a:xfrm>
          <a:prstGeom prst="roundRect">
            <a:avLst>
              <a:gd name="adj" fmla="val 6389"/>
            </a:avLst>
          </a:prstGeom>
          <a:solidFill>
            <a:srgbClr val="0F1419"/>
          </a:solidFill>
          <a:ln w="12700">
            <a:solidFill>
              <a:srgbClr val="0F1419"/>
            </a:solidFill>
            <a:prstDash val="solid"/>
          </a:ln>
        </p:spPr>
      </p:sp>
      <p:sp>
        <p:nvSpPr>
          <p:cNvPr id="7" name="Text 5"/>
          <p:cNvSpPr txBox="1"/>
          <p:nvPr/>
        </p:nvSpPr>
        <p:spPr>
          <a:xfrm>
            <a:off x="685800" y="2990088"/>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cd master/v6</a:t>
            </a:r>
            <a:endParaRPr lang="en-US" sz="1300" dirty="0"/>
          </a:p>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g++ -std=c++20 -DSHOW_BUG next_bug.cpp</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error: cannot convert 'unique_ptr&lt;int&gt;' to 'int'</a:t>
            </a:r>
            <a:endParaRPr lang="en-US" sz="1300" dirty="0"/>
          </a:p>
        </p:txBody>
      </p:sp>
      <p:sp>
        <p:nvSpPr>
          <p:cNvPr id="8" name="Text 6"/>
          <p:cNvSpPr txBox="1"/>
          <p:nvPr/>
        </p:nvSpPr>
        <p:spPr>
          <a:xfrm>
            <a:off x="502920" y="3858006"/>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So the queue becomes a template, and it has to move values in and out instead of copying them.</a:t>
            </a:r>
            <a:endParaRPr lang="en-US" sz="1500" dirty="0"/>
          </a:p>
        </p:txBody>
      </p:sp>
      <p:sp>
        <p:nvSpPr>
          <p:cNvPr id="9" name="Text 7"/>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trap in returning a value</a:t>
            </a:r>
            <a:endParaRPr lang="en-US" sz="1800" dirty="0"/>
          </a:p>
        </p:txBody>
      </p:sp>
      <p:sp>
        <p:nvSpPr>
          <p:cNvPr id="10" name="Shape 8"/>
          <p:cNvSpPr/>
          <p:nvPr/>
        </p:nvSpPr>
        <p:spPr>
          <a:xfrm>
            <a:off x="6301588" y="1764792"/>
            <a:ext cx="5387188" cy="1638046"/>
          </a:xfrm>
          <a:prstGeom prst="roundRect">
            <a:avLst>
              <a:gd name="adj" fmla="val 3349"/>
            </a:avLst>
          </a:prstGeom>
          <a:solidFill>
            <a:srgbClr val="1E2230"/>
          </a:solidFill>
          <a:ln w="12700">
            <a:solidFill>
              <a:srgbClr val="1E2230"/>
            </a:solidFill>
            <a:prstDash val="solid"/>
          </a:ln>
        </p:spPr>
      </p:sp>
      <p:sp>
        <p:nvSpPr>
          <p:cNvPr id="11" name="Text 9"/>
          <p:cNvSpPr txBox="1"/>
          <p:nvPr/>
        </p:nvSpPr>
        <p:spPr>
          <a:xfrm>
            <a:off x="6484468" y="1901952"/>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item is removed here</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suppose this assignment throws</a:t>
            </a:r>
            <a:endParaRPr lang="en-US" sz="1300" dirty="0"/>
          </a:p>
        </p:txBody>
      </p:sp>
      <p:sp>
        <p:nvSpPr>
          <p:cNvPr id="12" name="Text 10"/>
          <p:cNvSpPr txBox="1"/>
          <p:nvPr/>
        </p:nvSpPr>
        <p:spPr>
          <a:xfrm>
            <a:off x="6301588" y="354914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If the caller's assignment throws, the item has already been removed from the queue and was never stored anywhere. It is simply gone. This is the reason std::queue::pop() returns void. Our wait_and_pop() avoids the problem by returning std::optional&lt;T&gt; built by moving, and moving standard types does not throw.</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v7</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queue of anything</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generic queue</a:t>
            </a:r>
            <a:endParaRPr lang="en-US" sz="1800" dirty="0"/>
          </a:p>
        </p:txBody>
      </p:sp>
      <p:sp>
        <p:nvSpPr>
          <p:cNvPr id="5" name="Shape 3"/>
          <p:cNvSpPr/>
          <p:nvPr/>
        </p:nvSpPr>
        <p:spPr>
          <a:xfrm>
            <a:off x="502920" y="1764792"/>
            <a:ext cx="5387188" cy="3781044"/>
          </a:xfrm>
          <a:prstGeom prst="roundRect">
            <a:avLst>
              <a:gd name="adj" fmla="val 1451"/>
            </a:avLst>
          </a:prstGeom>
          <a:solidFill>
            <a:srgbClr val="1E2230"/>
          </a:solidFill>
          <a:ln w="12700">
            <a:solidFill>
              <a:srgbClr val="1E2230"/>
            </a:solidFill>
            <a:prstDash val="solid"/>
          </a:ln>
        </p:spPr>
      </p:sp>
      <p:sp>
        <p:nvSpPr>
          <p:cNvPr id="6" name="Text 4"/>
          <p:cNvSpPr txBox="1"/>
          <p:nvPr/>
        </p:nvSpPr>
        <p:spPr>
          <a:xfrm>
            <a:off x="685800" y="1901952"/>
            <a:ext cx="5021428" cy="350672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template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ThreadSafeQueue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guarded by m</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mutable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std::condition_variable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notify_one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wait_and_pop() comes next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7" name="Shape 5"/>
          <p:cNvSpPr/>
          <p:nvPr/>
        </p:nvSpPr>
        <p:spPr>
          <a:xfrm>
            <a:off x="6301588" y="1234440"/>
            <a:ext cx="5387188" cy="2612136"/>
          </a:xfrm>
          <a:prstGeom prst="roundRect">
            <a:avLst>
              <a:gd name="adj" fmla="val 2100"/>
            </a:avLst>
          </a:prstGeom>
          <a:solidFill>
            <a:srgbClr val="1E2230"/>
          </a:solidFill>
          <a:ln w="12700">
            <a:solidFill>
              <a:srgbClr val="1E2230"/>
            </a:solidFill>
            <a:prstDash val="solid"/>
          </a:ln>
        </p:spPr>
      </p:sp>
      <p:sp>
        <p:nvSpPr>
          <p:cNvPr id="8" name="Text 6"/>
          <p:cNvSpPr txBox="1"/>
          <p:nvPr/>
        </p:nvSpPr>
        <p:spPr>
          <a:xfrm>
            <a:off x="6484468" y="1371600"/>
            <a:ext cx="5021428" cy="2337816"/>
          </a:xfrm>
          <a:prstGeom prst="rect">
            <a:avLst/>
          </a:prstGeom>
          <a:noFill/>
          <a:ln/>
        </p:spPr>
        <p:txBody>
          <a:bodyPr wrap="square" lIns="0" tIns="0" rIns="0" bIns="0" rtlCol="0" anchor="t"/>
          <a:lstStyle/>
          <a:p>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inside ThreadSafeQueue&lt;T&gt;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std::optional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std::unique_lock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std::nullopt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9" name="Text 7"/>
          <p:cNvSpPr txBox="1"/>
          <p:nvPr/>
        </p:nvSpPr>
        <p:spPr>
          <a:xfrm>
            <a:off x="6301588" y="399288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push() takes its argument by value and moves it in, so it works for copyable types and move-only types alike. Values are moved out on the way back. The queue itself cannot be copied, because a mutex and a condition variable cannot be copied, and copying a queue that other threads are using would make no sense anyway.</a:t>
            </a:r>
            <a:endParaRPr lang="en-US" sz="1500" dirty="0"/>
          </a:p>
        </p:txBody>
      </p:sp>
      <p:sp>
        <p:nvSpPr>
          <p:cNvPr id="10" name="Text 8"/>
          <p:cNvSpPr txBox="1"/>
          <p:nvPr/>
        </p:nvSpPr>
        <p:spPr>
          <a:xfrm>
            <a:off x="6301588" y="5538216"/>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is the end of Part 1. Before going on, run every earlier test against ThreadSafeQueue&lt;int&gt;, and also try it with std::string and std::unique_ptr&lt;int&gt;.</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v7</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queue of anything</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Pushing a 1 MB std::string by copy and by move. How many bytes are copied each time?</a:t>
            </a:r>
            <a:endParaRPr lang="en-US" sz="1500" dirty="0"/>
          </a:p>
        </p:txBody>
      </p:sp>
      <p:sp>
        <p:nvSpPr>
          <p:cNvPr id="6" name="Shape 4"/>
          <p:cNvSpPr/>
          <p:nvPr/>
        </p:nvSpPr>
        <p:spPr>
          <a:xfrm>
            <a:off x="502920" y="2322576"/>
            <a:ext cx="5387188" cy="551688"/>
          </a:xfrm>
          <a:prstGeom prst="roundRect">
            <a:avLst>
              <a:gd name="adj" fmla="val 9945"/>
            </a:avLst>
          </a:prstGeom>
          <a:solidFill>
            <a:srgbClr val="F1F4F7"/>
          </a:solidFill>
          <a:ln w="12700">
            <a:solidFill>
              <a:srgbClr val="F1F4F7"/>
            </a:solidFill>
            <a:prstDash val="solid"/>
          </a:ln>
        </p:spPr>
      </p:sp>
      <p:sp>
        <p:nvSpPr>
          <p:cNvPr id="7" name="Text 5"/>
          <p:cNvSpPr txBox="1"/>
          <p:nvPr/>
        </p:nvSpPr>
        <p:spPr>
          <a:xfrm>
            <a:off x="685800" y="2450592"/>
            <a:ext cx="5021428" cy="3230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By copy, the whole megabyte. By move, a few pointers.</a:t>
            </a:r>
            <a:endParaRPr lang="en-US" sz="1400" dirty="0"/>
          </a:p>
        </p:txBody>
      </p:sp>
      <p:sp>
        <p:nvSpPr>
          <p:cNvPr id="8" name="Text 6"/>
          <p:cNvSpPr txBox="1"/>
          <p:nvPr/>
        </p:nvSpPr>
        <p:spPr>
          <a:xfrm>
            <a:off x="502920" y="3020568"/>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ThreadSafeQueue&lt;std::unique_ptr&lt;int&gt;&gt; q; q.push(p); Does it compile?</a:t>
            </a:r>
            <a:endParaRPr lang="en-US" sz="1500" dirty="0"/>
          </a:p>
        </p:txBody>
      </p:sp>
      <p:sp>
        <p:nvSpPr>
          <p:cNvPr id="9" name="Shape 7"/>
          <p:cNvSpPr/>
          <p:nvPr/>
        </p:nvSpPr>
        <p:spPr>
          <a:xfrm>
            <a:off x="502920" y="3578352"/>
            <a:ext cx="5387188" cy="765048"/>
          </a:xfrm>
          <a:prstGeom prst="roundRect">
            <a:avLst>
              <a:gd name="adj" fmla="val 7171"/>
            </a:avLst>
          </a:prstGeom>
          <a:solidFill>
            <a:srgbClr val="F1F4F7"/>
          </a:solidFill>
          <a:ln w="12700">
            <a:solidFill>
              <a:srgbClr val="F1F4F7"/>
            </a:solidFill>
            <a:prstDash val="solid"/>
          </a:ln>
        </p:spPr>
      </p:sp>
      <p:sp>
        <p:nvSpPr>
          <p:cNvPr id="10" name="Text 8"/>
          <p:cNvSpPr txBox="1"/>
          <p:nvPr/>
        </p:nvSpPr>
        <p:spPr>
          <a:xfrm>
            <a:off x="685800" y="3706368"/>
            <a:ext cx="5021428" cy="5364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No, p is an lvalue and cannot be copied. q.push(std::move(p)) compiles.</a:t>
            </a:r>
            <a:endParaRPr lang="en-US" sz="1400" dirty="0"/>
          </a:p>
        </p:txBody>
      </p:sp>
      <p:sp>
        <p:nvSpPr>
          <p:cNvPr id="11" name="Text 9"/>
          <p:cNvSpPr txBox="1"/>
          <p:nvPr/>
        </p:nvSpPr>
        <p:spPr>
          <a:xfrm>
            <a:off x="502920" y="4489704"/>
            <a:ext cx="5387188" cy="2560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List every rule your queue now follows.</a:t>
            </a:r>
            <a:endParaRPr lang="en-US" sz="1500" dirty="0"/>
          </a:p>
        </p:txBody>
      </p:sp>
      <p:sp>
        <p:nvSpPr>
          <p:cNvPr id="12" name="Shape 10"/>
          <p:cNvSpPr/>
          <p:nvPr/>
        </p:nvSpPr>
        <p:spPr>
          <a:xfrm>
            <a:off x="502920" y="4818888"/>
            <a:ext cx="5387188" cy="1191768"/>
          </a:xfrm>
          <a:prstGeom prst="roundRect">
            <a:avLst>
              <a:gd name="adj" fmla="val 4604"/>
            </a:avLst>
          </a:prstGeom>
          <a:solidFill>
            <a:srgbClr val="F1F4F7"/>
          </a:solidFill>
          <a:ln w="12700">
            <a:solidFill>
              <a:srgbClr val="F1F4F7"/>
            </a:solidFill>
            <a:prstDash val="solid"/>
          </a:ln>
        </p:spPr>
      </p:sp>
      <p:sp>
        <p:nvSpPr>
          <p:cNvPr id="13" name="Text 11"/>
          <p:cNvSpPr txBox="1"/>
          <p:nvPr/>
        </p:nvSpPr>
        <p:spPr>
          <a:xfrm>
            <a:off x="685800" y="4946904"/>
            <a:ext cx="5021428" cy="96316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Lock every access, use RAII guards, make check-and-act one call, wait with a predicate, notify after changing state, shut down with closed and notify_all, move values.</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02920" y="2011680"/>
            <a:ext cx="5486400" cy="320040"/>
          </a:xfrm>
          <a:prstGeom prst="rect">
            <a:avLst/>
          </a:prstGeom>
          <a:noFill/>
          <a:ln/>
        </p:spPr>
        <p:txBody>
          <a:bodyPr wrap="square" lIns="0" tIns="0" rIns="0" bIns="0" rtlCol="0" anchor="ctr"/>
          <a:lstStyle/>
          <a:p>
            <a:pPr indent="0" marL="0">
              <a:buNone/>
            </a:pPr>
            <a:r>
              <a:rPr lang="en-US" sz="1500" b="1" dirty="0">
                <a:solidFill>
                  <a:srgbClr val="E9B44C"/>
                </a:solidFill>
                <a:latin typeface="Calibri" pitchFamily="34" charset="0"/>
                <a:ea typeface="Calibri" pitchFamily="34" charset="-122"/>
                <a:cs typeface="Calibri" pitchFamily="34" charset="-120"/>
              </a:rPr>
              <a:t>Part 2  ·  v8 to v10</a:t>
            </a:r>
            <a:endParaRPr lang="en-US" sz="1500" dirty="0"/>
          </a:p>
        </p:txBody>
      </p:sp>
      <p:sp>
        <p:nvSpPr>
          <p:cNvPr id="3" name="Text 1"/>
          <p:cNvSpPr txBox="1"/>
          <p:nvPr/>
        </p:nvSpPr>
        <p:spPr>
          <a:xfrm>
            <a:off x="502920" y="2468880"/>
            <a:ext cx="5852160" cy="1645920"/>
          </a:xfrm>
          <a:prstGeom prst="rect">
            <a:avLst/>
          </a:prstGeom>
          <a:noFill/>
          <a:ln/>
        </p:spPr>
        <p:txBody>
          <a:bodyPr wrap="square" lIns="0" tIns="0" rIns="0" bIns="0" rtlCol="0" anchor="t"/>
          <a:lstStyle/>
          <a:p>
            <a:pPr indent="0" marL="0">
              <a:buNone/>
            </a:pPr>
            <a:r>
              <a:rPr lang="en-US" sz="4200" b="1" dirty="0">
                <a:solidFill>
                  <a:srgbClr val="FFFFFF"/>
                </a:solidFill>
                <a:latin typeface="Cambria" pitchFamily="34" charset="0"/>
                <a:ea typeface="Cambria" pitchFamily="34" charset="-122"/>
                <a:cs typeface="Cambria" pitchFamily="34" charset="-120"/>
              </a:rPr>
              <a:t>Growing it into a thread pool</a:t>
            </a:r>
            <a:endParaRPr lang="en-US" sz="4200" dirty="0"/>
          </a:p>
        </p:txBody>
      </p:sp>
      <p:sp>
        <p:nvSpPr>
          <p:cNvPr id="4" name="Text 2"/>
          <p:cNvSpPr txBox="1"/>
          <p:nvPr/>
        </p:nvSpPr>
        <p:spPr>
          <a:xfrm>
            <a:off x="6766560" y="2011680"/>
            <a:ext cx="4922215" cy="3840480"/>
          </a:xfrm>
          <a:prstGeom prst="rect">
            <a:avLst/>
          </a:prstGeom>
          <a:noFill/>
          <a:ln/>
        </p:spPr>
        <p:txBody>
          <a:bodyPr wrap="square" lIns="0" tIns="0" rIns="0" bIns="0" rtlCol="0" anchor="t"/>
          <a:lstStyle/>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v8    Putting work in the queue</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v9    One worker is not enough</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v9    Real workloads</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v10   Getting the result back</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v10   No function to wrap, or many readers</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v10   A task that never finishes</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v10   Tasks that wait for tasks</a:t>
            </a:r>
            <a:endParaRPr lang="en-US" sz="1600" dirty="0"/>
          </a:p>
        </p:txBody>
      </p:sp>
      <p:sp>
        <p:nvSpPr>
          <p:cNvPr id="5"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D5DEE7"/>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v8</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Putting work in the queue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From numbers to tasks</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Our queue can hold anything, so let it hold work. A task is any function with no arguments and no result, stored as std::function&lt;void()&gt;. One worker thread pops tasks and runs them.</a:t>
            </a:r>
            <a:endParaRPr lang="en-US" sz="1500" dirty="0"/>
          </a:p>
        </p:txBody>
      </p:sp>
      <p:sp>
        <p:nvSpPr>
          <p:cNvPr id="6" name="Shape 4"/>
          <p:cNvSpPr/>
          <p:nvPr/>
        </p:nvSpPr>
        <p:spPr>
          <a:xfrm>
            <a:off x="502920" y="2852928"/>
            <a:ext cx="5387188" cy="663956"/>
          </a:xfrm>
          <a:prstGeom prst="roundRect">
            <a:avLst>
              <a:gd name="adj" fmla="val 8263"/>
            </a:avLst>
          </a:prstGeom>
          <a:solidFill>
            <a:srgbClr val="F1F4F7"/>
          </a:solidFill>
          <a:ln w="12700">
            <a:solidFill>
              <a:srgbClr val="F1F4F7"/>
            </a:solidFill>
            <a:prstDash val="solid"/>
          </a:ln>
        </p:spPr>
      </p:sp>
      <p:sp>
        <p:nvSpPr>
          <p:cNvPr id="7" name="Text 5"/>
          <p:cNvSpPr txBox="1"/>
          <p:nvPr/>
        </p:nvSpPr>
        <p:spPr>
          <a:xfrm>
            <a:off x="685800" y="2990088"/>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thread                    worker thread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push(task) --&gt; [ task queue ] --&gt; pop, run task()</a:t>
            </a:r>
            <a:endParaRPr lang="en-US" sz="1300" dirty="0"/>
          </a:p>
        </p:txBody>
      </p:sp>
      <p:sp>
        <p:nvSpPr>
          <p:cNvPr id="8" name="Text 6"/>
          <p:cNvSpPr txBox="1"/>
          <p:nvPr/>
        </p:nvSpPr>
        <p:spPr>
          <a:xfrm>
            <a:off x="502920" y="3663188"/>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already raises two questions that did not exist with ints. Where does an exception go when a task fails? And what happens to the data a task refers to?</a:t>
            </a:r>
            <a:endParaRPr lang="en-US" sz="1500" dirty="0"/>
          </a:p>
        </p:txBody>
      </p:sp>
      <p:sp>
        <p:nvSpPr>
          <p:cNvPr id="9" name="Text 7"/>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Where does the exception go?</a:t>
            </a:r>
            <a:endParaRPr lang="en-US" sz="1800" dirty="0"/>
          </a:p>
        </p:txBody>
      </p:sp>
      <p:sp>
        <p:nvSpPr>
          <p:cNvPr id="10" name="Shape 8"/>
          <p:cNvSpPr/>
          <p:nvPr/>
        </p:nvSpPr>
        <p:spPr>
          <a:xfrm>
            <a:off x="6301588" y="1764792"/>
            <a:ext cx="5387188" cy="1638046"/>
          </a:xfrm>
          <a:prstGeom prst="roundRect">
            <a:avLst>
              <a:gd name="adj" fmla="val 3349"/>
            </a:avLst>
          </a:prstGeom>
          <a:solidFill>
            <a:srgbClr val="1E2230"/>
          </a:solidFill>
          <a:ln w="12700">
            <a:solidFill>
              <a:srgbClr val="1E2230"/>
            </a:solidFill>
            <a:prstDash val="solid"/>
          </a:ln>
        </p:spPr>
      </p:sp>
      <p:sp>
        <p:nvSpPr>
          <p:cNvPr id="11" name="Text 9"/>
          <p:cNvSpPr txBox="1"/>
          <p:nvPr/>
        </p:nvSpPr>
        <p:spPr>
          <a:xfrm>
            <a:off x="6484468" y="1901952"/>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throw</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std::runtime_error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"disk full"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catch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"caught in main\n"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12" name="Shape 10"/>
          <p:cNvSpPr/>
          <p:nvPr/>
        </p:nvSpPr>
        <p:spPr>
          <a:xfrm>
            <a:off x="6301588" y="3549142"/>
            <a:ext cx="5387188" cy="1053592"/>
          </a:xfrm>
          <a:prstGeom prst="roundRect">
            <a:avLst>
              <a:gd name="adj" fmla="val 5207"/>
            </a:avLst>
          </a:prstGeom>
          <a:solidFill>
            <a:srgbClr val="0F1419"/>
          </a:solidFill>
          <a:ln w="12700">
            <a:solidFill>
              <a:srgbClr val="0F1419"/>
            </a:solidFill>
            <a:prstDash val="solid"/>
          </a:ln>
        </p:spPr>
      </p:sp>
      <p:sp>
        <p:nvSpPr>
          <p:cNvPr id="13" name="Text 11"/>
          <p:cNvSpPr txBox="1"/>
          <p:nvPr/>
        </p:nvSpPr>
        <p:spPr>
          <a:xfrm>
            <a:off x="6484468" y="3686302"/>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v8 tiny terminate</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terminate called after throwing an instance</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of 'std::runtime_error'</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Aborted</a:t>
            </a:r>
            <a:endParaRPr lang="en-US" sz="1300" dirty="0"/>
          </a:p>
        </p:txBody>
      </p:sp>
      <p:sp>
        <p:nvSpPr>
          <p:cNvPr id="14" name="Text 12"/>
          <p:cNvSpPr txBox="1"/>
          <p:nvPr/>
        </p:nvSpPr>
        <p:spPr>
          <a:xfrm>
            <a:off x="6301588" y="4749038"/>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Put it on a clock. At t = 0 main pushes the task. push() only puts a std::function into the queue, which takes nanoseconds, and returns. main leaves the try block with nothing caught. Some time later the worker pops the task and runs it, and only then does the throw happen, on the worker thread, long after main's try block is gone.</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v8</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Putting work in the queue</a:t>
            </a:r>
            <a:endParaRPr lang="en-US" sz="2600" dirty="0"/>
          </a:p>
        </p:txBody>
      </p:sp>
      <p:sp>
        <p:nvSpPr>
          <p:cNvPr id="4" name="Text 2"/>
          <p:cNvSpPr txBox="1"/>
          <p:nvPr/>
        </p:nvSpPr>
        <p:spPr>
          <a:xfrm>
            <a:off x="502920" y="123444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main's catch block never runs. An exception travels up the call stack of the thread that threw it, and only that one. The task runs on the worker, so the exception unwinds the worker's stack. main's try block is on a different stack, and it finished long before the task even started.</a:t>
            </a:r>
            <a:endParaRPr lang="en-US" sz="1500" dirty="0"/>
          </a:p>
        </p:txBody>
      </p:sp>
      <p:sp>
        <p:nvSpPr>
          <p:cNvPr id="5" name="Shape 3"/>
          <p:cNvSpPr/>
          <p:nvPr/>
        </p:nvSpPr>
        <p:spPr>
          <a:xfrm>
            <a:off x="502920" y="2779776"/>
            <a:ext cx="5387188" cy="1638046"/>
          </a:xfrm>
          <a:prstGeom prst="roundRect">
            <a:avLst>
              <a:gd name="adj" fmla="val 3349"/>
            </a:avLst>
          </a:prstGeom>
          <a:solidFill>
            <a:srgbClr val="F1F4F7"/>
          </a:solidFill>
          <a:ln w="12700">
            <a:solidFill>
              <a:srgbClr val="F1F4F7"/>
            </a:solidFill>
            <a:prstDash val="solid"/>
          </a:ln>
        </p:spPr>
      </p:sp>
      <p:sp>
        <p:nvSpPr>
          <p:cNvPr id="6" name="Text 4"/>
          <p:cNvSpPr txBox="1"/>
          <p:nvPr/>
        </p:nvSpPr>
        <p:spPr>
          <a:xfrm>
            <a:off x="685800" y="2916936"/>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worker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try { push(task)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catch (...) { }   done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task() throws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unwinds the worker's stack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leaves the thread function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-&gt; std::terminate</a:t>
            </a:r>
            <a:endParaRPr lang="en-US" sz="1300" dirty="0"/>
          </a:p>
        </p:txBody>
      </p:sp>
      <p:sp>
        <p:nvSpPr>
          <p:cNvPr id="7" name="Text 5"/>
          <p:cNvSpPr txBox="1"/>
          <p:nvPr/>
        </p:nvSpPr>
        <p:spPr>
          <a:xfrm>
            <a:off x="502920" y="4564126"/>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An exception that escapes a thread function terminates the whole program. So the worker has to catch everything itself.</a:t>
            </a:r>
            <a:endParaRPr lang="en-US" sz="1500" dirty="0"/>
          </a:p>
        </p:txBody>
      </p:sp>
      <p:sp>
        <p:nvSpPr>
          <p:cNvPr id="8" name="Text 6"/>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What does the task point at?</a:t>
            </a:r>
            <a:endParaRPr lang="en-US" sz="1800" dirty="0"/>
          </a:p>
        </p:txBody>
      </p:sp>
      <p:sp>
        <p:nvSpPr>
          <p:cNvPr id="9" name="Text 7"/>
          <p:cNvSpPr txBox="1"/>
          <p:nvPr/>
        </p:nvSpPr>
        <p:spPr>
          <a:xfrm>
            <a:off x="6301588"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task runs later, at a time the submitter does not control. If it captured a local variable by reference, that variable may already be destroyed when the worker runs it. Tasks in a queue should capture by value.</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v8</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Putting work in the queue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task queue</a:t>
            </a:r>
            <a:endParaRPr lang="en-US" sz="1800" dirty="0"/>
          </a:p>
        </p:txBody>
      </p:sp>
      <p:sp>
        <p:nvSpPr>
          <p:cNvPr id="5" name="Shape 3"/>
          <p:cNvSpPr/>
          <p:nvPr/>
        </p:nvSpPr>
        <p:spPr>
          <a:xfrm>
            <a:off x="6301588" y="1234440"/>
            <a:ext cx="5387188" cy="4949952"/>
          </a:xfrm>
          <a:prstGeom prst="roundRect">
            <a:avLst>
              <a:gd name="adj" fmla="val 1108"/>
            </a:avLst>
          </a:prstGeom>
          <a:solidFill>
            <a:srgbClr val="1E2230"/>
          </a:solidFill>
          <a:ln w="12700">
            <a:solidFill>
              <a:srgbClr val="1E2230"/>
            </a:solidFill>
            <a:prstDash val="solid"/>
          </a:ln>
        </p:spPr>
      </p:sp>
      <p:sp>
        <p:nvSpPr>
          <p:cNvPr id="6" name="Text 4"/>
          <p:cNvSpPr txBox="1"/>
          <p:nvPr/>
        </p:nvSpPr>
        <p:spPr>
          <a:xfrm>
            <a:off x="6484468" y="1371600"/>
            <a:ext cx="5021428" cy="4675632"/>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using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std::function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ThreadSafeQueue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this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catch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on_error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std::current_exception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v8</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Putting work in the queue</a:t>
            </a:r>
            <a:endParaRPr lang="en-US" sz="2600" dirty="0"/>
          </a:p>
        </p:txBody>
      </p:sp>
      <p:sp>
        <p:nvSpPr>
          <p:cNvPr id="4" name="Text 2"/>
          <p:cNvSpPr txBox="1"/>
          <p:nvPr/>
        </p:nvSpPr>
        <p:spPr>
          <a:xfrm>
            <a:off x="502920"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worker loop is v6's consumer, running tasks instead of printing numbers. Catching keeps the program alive. Notice what is still missing though. The caller never finds out that its task failed, and it never gets a result back.</a:t>
            </a:r>
            <a:endParaRPr lang="en-US" sz="1500" dirty="0"/>
          </a:p>
        </p:txBody>
      </p:sp>
      <p:sp>
        <p:nvSpPr>
          <p:cNvPr id="5" name="Text 3"/>
          <p:cNvSpPr txBox="1"/>
          <p:nvPr/>
        </p:nvSpPr>
        <p:spPr>
          <a:xfrm>
            <a:off x="502920" y="26060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6" name="Text 4"/>
          <p:cNvSpPr txBox="1"/>
          <p:nvPr/>
        </p:nvSpPr>
        <p:spPr>
          <a:xfrm>
            <a:off x="502920" y="3081528"/>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million empty tasks take 180 ms. What does one task cost?</a:t>
            </a:r>
            <a:endParaRPr lang="en-US" sz="1500" dirty="0"/>
          </a:p>
        </p:txBody>
      </p:sp>
      <p:sp>
        <p:nvSpPr>
          <p:cNvPr id="7" name="Shape 5"/>
          <p:cNvSpPr/>
          <p:nvPr/>
        </p:nvSpPr>
        <p:spPr>
          <a:xfrm>
            <a:off x="502920" y="3639312"/>
            <a:ext cx="5387188" cy="765048"/>
          </a:xfrm>
          <a:prstGeom prst="roundRect">
            <a:avLst>
              <a:gd name="adj" fmla="val 7171"/>
            </a:avLst>
          </a:prstGeom>
          <a:solidFill>
            <a:srgbClr val="F1F4F7"/>
          </a:solidFill>
          <a:ln w="12700">
            <a:solidFill>
              <a:srgbClr val="F1F4F7"/>
            </a:solidFill>
            <a:prstDash val="solid"/>
          </a:ln>
        </p:spPr>
      </p:sp>
      <p:sp>
        <p:nvSpPr>
          <p:cNvPr id="8" name="Text 6"/>
          <p:cNvSpPr txBox="1"/>
          <p:nvPr/>
        </p:nvSpPr>
        <p:spPr>
          <a:xfrm>
            <a:off x="685800" y="3767328"/>
            <a:ext cx="5021428" cy="5364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About 180 ns, mostly the std::function call and the queue's push and pop.</a:t>
            </a:r>
            <a:endParaRPr lang="en-US" sz="1400" dirty="0"/>
          </a:p>
        </p:txBody>
      </p:sp>
      <p:sp>
        <p:nvSpPr>
          <p:cNvPr id="9" name="Text 7"/>
          <p:cNvSpPr txBox="1"/>
          <p:nvPr/>
        </p:nvSpPr>
        <p:spPr>
          <a:xfrm>
            <a:off x="502920" y="4550664"/>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void f() { int x = 1; tasks.push([&amp;] { print(x); }); } Trace what happens.</a:t>
            </a:r>
            <a:endParaRPr lang="en-US" sz="1500" dirty="0"/>
          </a:p>
        </p:txBody>
      </p:sp>
      <p:sp>
        <p:nvSpPr>
          <p:cNvPr id="10" name="Shape 8"/>
          <p:cNvSpPr/>
          <p:nvPr/>
        </p:nvSpPr>
        <p:spPr>
          <a:xfrm>
            <a:off x="502920" y="5108448"/>
            <a:ext cx="5387188" cy="978408"/>
          </a:xfrm>
          <a:prstGeom prst="roundRect">
            <a:avLst>
              <a:gd name="adj" fmla="val 5607"/>
            </a:avLst>
          </a:prstGeom>
          <a:solidFill>
            <a:srgbClr val="F1F4F7"/>
          </a:solidFill>
          <a:ln w="12700">
            <a:solidFill>
              <a:srgbClr val="F1F4F7"/>
            </a:solidFill>
            <a:prstDash val="solid"/>
          </a:ln>
        </p:spPr>
      </p:sp>
      <p:sp>
        <p:nvSpPr>
          <p:cNvPr id="11" name="Text 9"/>
          <p:cNvSpPr txBox="1"/>
          <p:nvPr/>
        </p:nvSpPr>
        <p:spPr>
          <a:xfrm>
            <a:off x="685800" y="5236464"/>
            <a:ext cx="5021428" cy="74980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f returns and x is destroyed. Later the worker reads x through a dangling reference, which is undefined behaviour.</a:t>
            </a:r>
            <a:endParaRPr lang="en-US" sz="1400" dirty="0"/>
          </a:p>
        </p:txBody>
      </p:sp>
      <p:sp>
        <p:nvSpPr>
          <p:cNvPr id="12" name="Text 10"/>
          <p:cNvSpPr txBox="1"/>
          <p:nvPr/>
        </p:nvSpPr>
        <p:spPr>
          <a:xfrm>
            <a:off x="6301588" y="1234440"/>
            <a:ext cx="5387188" cy="2560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How could the caller learn that its task failed?</a:t>
            </a:r>
            <a:endParaRPr lang="en-US" sz="1500" dirty="0"/>
          </a:p>
        </p:txBody>
      </p:sp>
      <p:sp>
        <p:nvSpPr>
          <p:cNvPr id="13" name="Shape 11"/>
          <p:cNvSpPr/>
          <p:nvPr/>
        </p:nvSpPr>
        <p:spPr>
          <a:xfrm>
            <a:off x="6301588" y="1563624"/>
            <a:ext cx="5387188" cy="978408"/>
          </a:xfrm>
          <a:prstGeom prst="roundRect">
            <a:avLst>
              <a:gd name="adj" fmla="val 5607"/>
            </a:avLst>
          </a:prstGeom>
          <a:solidFill>
            <a:srgbClr val="F1F4F7"/>
          </a:solidFill>
          <a:ln w="12700">
            <a:solidFill>
              <a:srgbClr val="F1F4F7"/>
            </a:solidFill>
            <a:prstDash val="solid"/>
          </a:ln>
        </p:spPr>
      </p:sp>
      <p:sp>
        <p:nvSpPr>
          <p:cNvPr id="14" name="Text 12"/>
          <p:cNvSpPr txBox="1"/>
          <p:nvPr/>
        </p:nvSpPr>
        <p:spPr>
          <a:xfrm>
            <a:off x="6484468" y="1691640"/>
            <a:ext cx="5021428" cy="74980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Store the exception in shared state with std::exception_ptr and rethrow it on the caller's side. That is what a future does in v10.</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One worker is not enough</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pool of workers</a:t>
            </a:r>
            <a:endParaRPr lang="en-US" sz="1800" dirty="0"/>
          </a:p>
        </p:txBody>
      </p:sp>
      <p:sp>
        <p:nvSpPr>
          <p:cNvPr id="5" name="Text 3"/>
          <p:cNvSpPr txBox="1"/>
          <p:nvPr/>
        </p:nvSpPr>
        <p:spPr>
          <a:xfrm>
            <a:off x="502920" y="1764792"/>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single worker runs tasks one after another. If we start N workers on the same queue we get a thread pool. Each worker runs the same loop as in v8.</a:t>
            </a:r>
            <a:endParaRPr lang="en-US" sz="1500" dirty="0"/>
          </a:p>
        </p:txBody>
      </p:sp>
      <p:sp>
        <p:nvSpPr>
          <p:cNvPr id="6" name="Shape 4"/>
          <p:cNvSpPr/>
          <p:nvPr/>
        </p:nvSpPr>
        <p:spPr>
          <a:xfrm>
            <a:off x="502920" y="2624328"/>
            <a:ext cx="5387188" cy="858774"/>
          </a:xfrm>
          <a:prstGeom prst="roundRect">
            <a:avLst>
              <a:gd name="adj" fmla="val 6389"/>
            </a:avLst>
          </a:prstGeom>
          <a:solidFill>
            <a:srgbClr val="F1F4F7"/>
          </a:solidFill>
          <a:ln w="12700">
            <a:solidFill>
              <a:srgbClr val="F1F4F7"/>
            </a:solidFill>
            <a:prstDash val="solid"/>
          </a:ln>
        </p:spPr>
      </p:sp>
      <p:sp>
        <p:nvSpPr>
          <p:cNvPr id="7" name="Text 5"/>
          <p:cNvSpPr txBox="1"/>
          <p:nvPr/>
        </p:nvSpPr>
        <p:spPr>
          <a:xfrm>
            <a:off x="685800" y="2761488"/>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submit(task) --&gt; [ task queue ] --&gt; worker 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--&gt; worker 2</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--&gt; worker N</a:t>
            </a:r>
            <a:endParaRPr lang="en-US" sz="1300" dirty="0"/>
          </a:p>
        </p:txBody>
      </p:sp>
      <p:sp>
        <p:nvSpPr>
          <p:cNvPr id="8" name="Text 6"/>
          <p:cNvSpPr txBox="1"/>
          <p:nvPr/>
        </p:nvSpPr>
        <p:spPr>
          <a:xfrm>
            <a:off x="502920" y="368427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How many workers?</a:t>
            </a:r>
            <a:endParaRPr lang="en-US" sz="1800" dirty="0"/>
          </a:p>
        </p:txBody>
      </p:sp>
      <p:sp>
        <p:nvSpPr>
          <p:cNvPr id="9" name="Text 7"/>
          <p:cNvSpPr txBox="1"/>
          <p:nvPr/>
        </p:nvSpPr>
        <p:spPr>
          <a:xfrm>
            <a:off x="502920" y="4159758"/>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Run 64 tasks that each sleep for 100 ms. With one worker they run one after another, 64 x 100 ms = 6.4 s. With 20 workers, 20 tasks sleep side by side, so the 64 tasks finish in about four rounds of 100 ms.</a:t>
            </a:r>
            <a:endParaRPr lang="en-US" sz="1500" dirty="0"/>
          </a:p>
        </p:txBody>
      </p:sp>
      <p:sp>
        <p:nvSpPr>
          <p:cNvPr id="10" name="Shape 8"/>
          <p:cNvSpPr/>
          <p:nvPr/>
        </p:nvSpPr>
        <p:spPr>
          <a:xfrm>
            <a:off x="502920" y="5247894"/>
            <a:ext cx="5387188" cy="648970"/>
          </a:xfrm>
          <a:prstGeom prst="roundRect">
            <a:avLst>
              <a:gd name="adj" fmla="val 8454"/>
            </a:avLst>
          </a:prstGeom>
          <a:solidFill>
            <a:srgbClr val="F1F4F7"/>
          </a:solidFill>
          <a:ln w="12700">
            <a:solidFill>
              <a:srgbClr val="F1F4F7"/>
            </a:solidFill>
            <a:prstDash val="solid"/>
          </a:ln>
        </p:spPr>
      </p:sp>
      <p:sp>
        <p:nvSpPr>
          <p:cNvPr id="11" name="Text 9"/>
          <p:cNvSpPr txBox="1"/>
          <p:nvPr/>
        </p:nvSpPr>
        <p:spPr>
          <a:xfrm>
            <a:off x="685800" y="5385054"/>
            <a:ext cx="5021428" cy="374650"/>
          </a:xfrm>
          <a:prstGeom prst="rect">
            <a:avLst/>
          </a:prstGeom>
          <a:noFill/>
          <a:ln/>
        </p:spPr>
        <p:txBody>
          <a:bodyPr wrap="square" lIns="0" tIns="0" rIns="0" bIns="0" rtlCol="0" anchor="t"/>
          <a:lstStyle/>
          <a:p>
            <a:pPr indent="0" marL="0">
              <a:lnSpc>
                <a:spcPct val="100000"/>
              </a:lnSpc>
              <a:buNone/>
            </a:pPr>
            <a:r>
              <a:rPr lang="en-US" sz="1250" dirty="0">
                <a:solidFill>
                  <a:srgbClr val="1C2430"/>
                </a:solidFill>
                <a:latin typeface="Consolas" pitchFamily="34" charset="0"/>
                <a:ea typeface="Consolas" pitchFamily="34" charset="-122"/>
                <a:cs typeface="Consolas" pitchFamily="34" charset="-120"/>
              </a:rPr>
              <a:t>1 worker    |t1|t2|t3|t4| ... |t64|            6.4 s</a:t>
            </a:r>
            <a:endParaRPr lang="en-US" sz="1250" dirty="0"/>
          </a:p>
          <a:p>
            <a:pPr indent="0" marL="0">
              <a:lnSpc>
                <a:spcPct val="100000"/>
              </a:lnSpc>
              <a:buNone/>
            </a:pPr>
            <a:r>
              <a:rPr lang="en-US" sz="1250" dirty="0">
                <a:solidFill>
                  <a:srgbClr val="1C2430"/>
                </a:solidFill>
                <a:latin typeface="Consolas" pitchFamily="34" charset="0"/>
                <a:ea typeface="Consolas" pitchFamily="34" charset="-122"/>
                <a:cs typeface="Consolas" pitchFamily="34" charset="-120"/>
              </a:rPr>
              <a:t>20 workers  |t1 ..t20|t21..t40|t41..t60|t61..t64|  ~0.4 s</a:t>
            </a:r>
            <a:endParaRPr lang="en-US" sz="1250" dirty="0"/>
          </a:p>
        </p:txBody>
      </p:sp>
      <p:sp>
        <p:nvSpPr>
          <p:cNvPr id="12" name="Shape 10"/>
          <p:cNvSpPr/>
          <p:nvPr/>
        </p:nvSpPr>
        <p:spPr>
          <a:xfrm>
            <a:off x="6301588" y="1234440"/>
            <a:ext cx="5387188" cy="858774"/>
          </a:xfrm>
          <a:prstGeom prst="roundRect">
            <a:avLst>
              <a:gd name="adj" fmla="val 6389"/>
            </a:avLst>
          </a:prstGeom>
          <a:solidFill>
            <a:srgbClr val="0F1419"/>
          </a:solidFill>
          <a:ln w="12700">
            <a:solidFill>
              <a:srgbClr val="0F1419"/>
            </a:solidFill>
            <a:prstDash val="solid"/>
          </a:ln>
        </p:spPr>
      </p:sp>
      <p:sp>
        <p:nvSpPr>
          <p:cNvPr id="13" name="Text 11"/>
          <p:cNvSpPr txBox="1"/>
          <p:nvPr/>
        </p:nvSpPr>
        <p:spPr>
          <a:xfrm>
            <a:off x="6484468" y="1371600"/>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./run.sh v9 tiny_workers       (64 sleepy tasks)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1 worker:   6.86 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20 workers: 0.44 s</a:t>
            </a:r>
            <a:endParaRPr lang="en-US" sz="1300" dirty="0"/>
          </a:p>
        </p:txBody>
      </p:sp>
      <p:sp>
        <p:nvSpPr>
          <p:cNvPr id="14" name="Text 12"/>
          <p:cNvSpPr txBox="1"/>
          <p:nvPr/>
        </p:nvSpPr>
        <p:spPr>
          <a:xfrm>
            <a:off x="6301588" y="2239518"/>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For sleepy tasks more workers keep helping, because waiting overlaps, just as in v0. For computing tasks the speed-up stops at about the number of cores. Beyond that the extra threads only take turns and add switching overhead.</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One worker is not enough</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order of destruction matters</a:t>
            </a:r>
            <a:endParaRPr lang="en-US" sz="1800" dirty="0"/>
          </a:p>
        </p:txBody>
      </p:sp>
      <p:sp>
        <p:nvSpPr>
          <p:cNvPr id="5" name="Shape 3"/>
          <p:cNvSpPr/>
          <p:nvPr/>
        </p:nvSpPr>
        <p:spPr>
          <a:xfrm>
            <a:off x="502920" y="1764792"/>
            <a:ext cx="5387188" cy="2417318"/>
          </a:xfrm>
          <a:prstGeom prst="roundRect">
            <a:avLst>
              <a:gd name="adj" fmla="val 2270"/>
            </a:avLst>
          </a:prstGeom>
          <a:solidFill>
            <a:srgbClr val="1E2230"/>
          </a:solidFill>
          <a:ln w="12700">
            <a:solidFill>
              <a:srgbClr val="1E2230"/>
            </a:solidFill>
            <a:prstDash val="solid"/>
          </a:ln>
        </p:spPr>
      </p:sp>
      <p:sp>
        <p:nvSpPr>
          <p:cNvPr id="6" name="Text 4"/>
          <p:cNvSpPr txBox="1"/>
          <p:nvPr/>
        </p:nvSpPr>
        <p:spPr>
          <a:xfrm>
            <a:off x="685800" y="1901952"/>
            <a:ext cx="5021428" cy="2142998"/>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ThreadSafeQueue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built first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workers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built second</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explicit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unsigned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unsigned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workers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this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7" name="Text 5"/>
          <p:cNvSpPr txBox="1"/>
          <p:nvPr/>
        </p:nvSpPr>
        <p:spPr>
          <a:xfrm>
            <a:off x="502920" y="4328414"/>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Members are destroyed in the reverse order of their declaration. When the pool is destroyed, the destructor body runs first and shuts the queue down, which wakes every sleeping worker. Then workers is destroyed, which joins all the threads. Only after that is tasks destroyed.</a:t>
            </a:r>
            <a:endParaRPr lang="en-US" sz="1500" dirty="0"/>
          </a:p>
        </p:txBody>
      </p:sp>
      <p:sp>
        <p:nvSpPr>
          <p:cNvPr id="8" name="Text 6"/>
          <p:cNvSpPr txBox="1"/>
          <p:nvPr/>
        </p:nvSpPr>
        <p:spPr>
          <a:xfrm>
            <a:off x="6301588"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If you swap the two members, the queue is destroyed while workers may still be using it. And if you forget the shutdown() call, the join waits forever, because the workers are asleep inside wait_and_pop() and nobody wakes them.</a:t>
            </a:r>
            <a:endParaRPr lang="en-US" sz="1500" dirty="0"/>
          </a:p>
        </p:txBody>
      </p:sp>
      <p:sp>
        <p:nvSpPr>
          <p:cNvPr id="9" name="Shape 7"/>
          <p:cNvSpPr/>
          <p:nvPr/>
        </p:nvSpPr>
        <p:spPr>
          <a:xfrm>
            <a:off x="6301588" y="2551176"/>
            <a:ext cx="5387188" cy="1248410"/>
          </a:xfrm>
          <a:prstGeom prst="roundRect">
            <a:avLst>
              <a:gd name="adj" fmla="val 4395"/>
            </a:avLst>
          </a:prstGeom>
          <a:solidFill>
            <a:srgbClr val="F1F4F7"/>
          </a:solidFill>
          <a:ln w="12700">
            <a:solidFill>
              <a:srgbClr val="F1F4F7"/>
            </a:solidFill>
            <a:prstDash val="solid"/>
          </a:ln>
        </p:spPr>
      </p:sp>
      <p:sp>
        <p:nvSpPr>
          <p:cNvPr id="10" name="Text 8"/>
          <p:cNvSpPr txBox="1"/>
          <p:nvPr/>
        </p:nvSpPr>
        <p:spPr>
          <a:xfrm>
            <a:off x="6484468" y="2688336"/>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~ThreadPool()</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1. destructor body: tasks.shutdown()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-&gt; workers wake, drain the queue, return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2. workers destroyed: every thread joined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3. tasks destroyed: nobody is using it now</a:t>
            </a:r>
            <a:endParaRPr lang="en-US" sz="1300" dirty="0"/>
          </a:p>
        </p:txBody>
      </p:sp>
      <p:sp>
        <p:nvSpPr>
          <p:cNvPr id="11" name="Text 9"/>
          <p:cNvSpPr txBox="1"/>
          <p:nvPr/>
        </p:nvSpPr>
        <p:spPr>
          <a:xfrm>
            <a:off x="6301588" y="400075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12" name="Text 10"/>
          <p:cNvSpPr txBox="1"/>
          <p:nvPr/>
        </p:nvSpPr>
        <p:spPr>
          <a:xfrm>
            <a:off x="6301588" y="447624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64 tasks compute for 100 ms each on 4 cores with 4 workers. Roughly how long?</a:t>
            </a:r>
            <a:endParaRPr lang="en-US" sz="1500" dirty="0"/>
          </a:p>
        </p:txBody>
      </p:sp>
      <p:sp>
        <p:nvSpPr>
          <p:cNvPr id="13" name="Shape 11"/>
          <p:cNvSpPr/>
          <p:nvPr/>
        </p:nvSpPr>
        <p:spPr>
          <a:xfrm>
            <a:off x="6301588" y="5034026"/>
            <a:ext cx="5387188" cy="551688"/>
          </a:xfrm>
          <a:prstGeom prst="roundRect">
            <a:avLst>
              <a:gd name="adj" fmla="val 9945"/>
            </a:avLst>
          </a:prstGeom>
          <a:solidFill>
            <a:srgbClr val="F1F4F7"/>
          </a:solidFill>
          <a:ln w="12700">
            <a:solidFill>
              <a:srgbClr val="F1F4F7"/>
            </a:solidFill>
            <a:prstDash val="solid"/>
          </a:ln>
        </p:spPr>
      </p:sp>
      <p:sp>
        <p:nvSpPr>
          <p:cNvPr id="14" name="Text 12"/>
          <p:cNvSpPr txBox="1"/>
          <p:nvPr/>
        </p:nvSpPr>
        <p:spPr>
          <a:xfrm>
            <a:off x="6484468" y="5162042"/>
            <a:ext cx="5021428" cy="3230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64 x 0.1 s / 4 = about 1.6 s.</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One worker is not enough</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The pool is destroyed with 1,000 tasks still queued. What happens to them?</a:t>
            </a:r>
            <a:endParaRPr lang="en-US" sz="1500" dirty="0"/>
          </a:p>
        </p:txBody>
      </p:sp>
      <p:sp>
        <p:nvSpPr>
          <p:cNvPr id="5" name="Shape 3"/>
          <p:cNvSpPr/>
          <p:nvPr/>
        </p:nvSpPr>
        <p:spPr>
          <a:xfrm>
            <a:off x="502920" y="1792224"/>
            <a:ext cx="5387188" cy="765048"/>
          </a:xfrm>
          <a:prstGeom prst="roundRect">
            <a:avLst>
              <a:gd name="adj" fmla="val 7171"/>
            </a:avLst>
          </a:prstGeom>
          <a:solidFill>
            <a:srgbClr val="F1F4F7"/>
          </a:solidFill>
          <a:ln w="12700">
            <a:solidFill>
              <a:srgbClr val="F1F4F7"/>
            </a:solidFill>
            <a:prstDash val="solid"/>
          </a:ln>
        </p:spPr>
      </p:sp>
      <p:sp>
        <p:nvSpPr>
          <p:cNvPr id="6" name="Text 4"/>
          <p:cNvSpPr txBox="1"/>
          <p:nvPr/>
        </p:nvSpPr>
        <p:spPr>
          <a:xfrm>
            <a:off x="685800" y="1920240"/>
            <a:ext cx="5021428" cy="5364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All 1,000 run before the workers exit, because the queue drains before wait_and_pop() returns nothing.</a:t>
            </a:r>
            <a:endParaRPr lang="en-US" sz="1400" dirty="0"/>
          </a:p>
        </p:txBody>
      </p:sp>
      <p:sp>
        <p:nvSpPr>
          <p:cNvPr id="7" name="Text 5"/>
          <p:cNvSpPr txBox="1"/>
          <p:nvPr/>
        </p:nvSpPr>
        <p:spPr>
          <a:xfrm>
            <a:off x="502920" y="270357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100,000 tiny tasks do not get faster with more workers. Why?</a:t>
            </a:r>
            <a:endParaRPr lang="en-US" sz="1500" dirty="0"/>
          </a:p>
        </p:txBody>
      </p:sp>
      <p:sp>
        <p:nvSpPr>
          <p:cNvPr id="8" name="Shape 6"/>
          <p:cNvSpPr/>
          <p:nvPr/>
        </p:nvSpPr>
        <p:spPr>
          <a:xfrm>
            <a:off x="502920" y="3261360"/>
            <a:ext cx="5387188" cy="765048"/>
          </a:xfrm>
          <a:prstGeom prst="roundRect">
            <a:avLst>
              <a:gd name="adj" fmla="val 7171"/>
            </a:avLst>
          </a:prstGeom>
          <a:solidFill>
            <a:srgbClr val="F1F4F7"/>
          </a:solidFill>
          <a:ln w="12700">
            <a:solidFill>
              <a:srgbClr val="F1F4F7"/>
            </a:solidFill>
            <a:prstDash val="solid"/>
          </a:ln>
        </p:spPr>
      </p:sp>
      <p:sp>
        <p:nvSpPr>
          <p:cNvPr id="9" name="Text 7"/>
          <p:cNvSpPr txBox="1"/>
          <p:nvPr/>
        </p:nvSpPr>
        <p:spPr>
          <a:xfrm>
            <a:off x="685800" y="3389376"/>
            <a:ext cx="5021428" cy="5364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All workers fight for the one queue mutex. It is the contention from v5 again.</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Real workloads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Eight workers, as slow as one</a:t>
            </a:r>
            <a:endParaRPr lang="en-US" sz="1800" dirty="0"/>
          </a:p>
        </p:txBody>
      </p:sp>
      <p:sp>
        <p:nvSpPr>
          <p:cNvPr id="5" name="Text 3"/>
          <p:cNvSpPr txBox="1"/>
          <p:nvPr/>
        </p:nvSpPr>
        <p:spPr>
          <a:xfrm>
            <a:off x="502920" y="1764792"/>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realistic job downloads a page, does some expensive work on it and stores the result in a shared vector. The first version takes the lock for the whole job.</a:t>
            </a:r>
            <a:endParaRPr lang="en-US" sz="1500" dirty="0"/>
          </a:p>
        </p:txBody>
      </p:sp>
      <p:sp>
        <p:nvSpPr>
          <p:cNvPr id="6" name="Shape 4"/>
          <p:cNvSpPr/>
          <p:nvPr/>
        </p:nvSpPr>
        <p:spPr>
          <a:xfrm>
            <a:off x="502920" y="2624328"/>
            <a:ext cx="5387188" cy="1443228"/>
          </a:xfrm>
          <a:prstGeom prst="roundRect">
            <a:avLst>
              <a:gd name="adj" fmla="val 3801"/>
            </a:avLst>
          </a:prstGeom>
          <a:solidFill>
            <a:srgbClr val="1E2230"/>
          </a:solidFill>
          <a:ln w="12700">
            <a:solidFill>
              <a:srgbClr val="1E2230"/>
            </a:solidFill>
            <a:prstDash val="solid"/>
          </a:ln>
        </p:spPr>
      </p:sp>
      <p:sp>
        <p:nvSpPr>
          <p:cNvPr id="7" name="Text 5"/>
          <p:cNvSpPr txBox="1"/>
          <p:nvPr/>
        </p:nvSpPr>
        <p:spPr>
          <a:xfrm>
            <a:off x="685800" y="2761488"/>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page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download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url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50 ms</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expensive_calc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page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results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push_back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Text 6"/>
          <p:cNvSpPr txBox="1"/>
          <p:nvPr/>
        </p:nvSpPr>
        <p:spPr>
          <a:xfrm>
            <a:off x="502920" y="421386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64 of these jobs on 8 workers take as long as on one worker. Look at each line and ask whether it touches shared data. download() and expensive_calc() only use locals. Only push_back() touches the shared vector.</a:t>
            </a:r>
            <a:endParaRPr lang="en-US" sz="1500" dirty="0"/>
          </a:p>
        </p:txBody>
      </p:sp>
      <p:sp>
        <p:nvSpPr>
          <p:cNvPr id="9" name="Shape 7"/>
          <p:cNvSpPr/>
          <p:nvPr/>
        </p:nvSpPr>
        <p:spPr>
          <a:xfrm>
            <a:off x="6301588" y="1234440"/>
            <a:ext cx="5387188" cy="2027682"/>
          </a:xfrm>
          <a:prstGeom prst="roundRect">
            <a:avLst>
              <a:gd name="adj" fmla="val 2706"/>
            </a:avLst>
          </a:prstGeom>
          <a:solidFill>
            <a:srgbClr val="F1F4F7"/>
          </a:solidFill>
          <a:ln w="12700">
            <a:solidFill>
              <a:srgbClr val="F1F4F7"/>
            </a:solidFill>
            <a:prstDash val="solid"/>
          </a:ln>
        </p:spPr>
      </p:sp>
      <p:sp>
        <p:nvSpPr>
          <p:cNvPr id="10" name="Text 8"/>
          <p:cNvSpPr txBox="1"/>
          <p:nvPr/>
        </p:nvSpPr>
        <p:spPr>
          <a:xfrm>
            <a:off x="6484468" y="1371600"/>
            <a:ext cx="5021428" cy="175336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lock around the whole task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w1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w2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w3                     ##########</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lock around push_back only</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w1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w2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w3 ########|      | = the one locked line</a:t>
            </a:r>
            <a:endParaRPr lang="en-US" sz="1300" dirty="0"/>
          </a:p>
        </p:txBody>
      </p:sp>
      <p:sp>
        <p:nvSpPr>
          <p:cNvPr id="11" name="Shape 9"/>
          <p:cNvSpPr/>
          <p:nvPr/>
        </p:nvSpPr>
        <p:spPr>
          <a:xfrm>
            <a:off x="6301588" y="3408426"/>
            <a:ext cx="5387188" cy="858774"/>
          </a:xfrm>
          <a:prstGeom prst="roundRect">
            <a:avLst>
              <a:gd name="adj" fmla="val 6389"/>
            </a:avLst>
          </a:prstGeom>
          <a:solidFill>
            <a:srgbClr val="0F1419"/>
          </a:solidFill>
          <a:ln w="12700">
            <a:solidFill>
              <a:srgbClr val="0F1419"/>
            </a:solidFill>
            <a:prstDash val="solid"/>
          </a:ln>
        </p:spPr>
      </p:sp>
      <p:sp>
        <p:nvSpPr>
          <p:cNvPr id="12" name="Text 10"/>
          <p:cNvSpPr txBox="1"/>
          <p:nvPr/>
        </p:nvSpPr>
        <p:spPr>
          <a:xfrm>
            <a:off x="6484468" y="3545586"/>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./run.sh v9 tiny_granularity</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lock everything: 3.2 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lock push_back:  0.4 s</a:t>
            </a:r>
            <a:endParaRPr lang="en-US" sz="1300" dirty="0"/>
          </a:p>
        </p:txBody>
      </p:sp>
      <p:sp>
        <p:nvSpPr>
          <p:cNvPr id="13" name="Text 11"/>
          <p:cNvSpPr txBox="1"/>
          <p:nvPr/>
        </p:nvSpPr>
        <p:spPr>
          <a:xfrm>
            <a:off x="6301588" y="4413504"/>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Same 64 results, eight times faster. Holding a lock for the whole task turned eight workers back into one. Lock the line that touches shared data, not the whole job.</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Real workloads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Many readers, one writer</a:t>
            </a:r>
            <a:endParaRPr lang="en-US" sz="1800" dirty="0"/>
          </a:p>
        </p:txBody>
      </p:sp>
      <p:sp>
        <p:nvSpPr>
          <p:cNvPr id="5" name="Text 3"/>
          <p:cNvSpPr txBox="1"/>
          <p:nvPr/>
        </p:nvSpPr>
        <p:spPr>
          <a:xfrm>
            <a:off x="502920"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Every job also looks up a host in a shared DNS cache, and the cache is updated only rarely. With a normal mutex the readers block each other even though reading in parallel is perfectly safe. std::shared_mutex lets many readers in together and gives a writer exclusive access.</a:t>
            </a:r>
            <a:endParaRPr lang="en-US" sz="1500" dirty="0"/>
          </a:p>
        </p:txBody>
      </p:sp>
      <p:sp>
        <p:nvSpPr>
          <p:cNvPr id="6" name="Shape 4"/>
          <p:cNvSpPr/>
          <p:nvPr/>
        </p:nvSpPr>
        <p:spPr>
          <a:xfrm>
            <a:off x="6301588" y="1234440"/>
            <a:ext cx="5387188" cy="3391408"/>
          </a:xfrm>
          <a:prstGeom prst="roundRect">
            <a:avLst>
              <a:gd name="adj" fmla="val 1618"/>
            </a:avLst>
          </a:prstGeom>
          <a:solidFill>
            <a:srgbClr val="1E2230"/>
          </a:solidFill>
          <a:ln w="12700">
            <a:solidFill>
              <a:srgbClr val="1E2230"/>
            </a:solidFill>
            <a:prstDash val="solid"/>
          </a:ln>
        </p:spPr>
      </p:sp>
      <p:sp>
        <p:nvSpPr>
          <p:cNvPr id="7" name="Text 5"/>
          <p:cNvSpPr txBox="1"/>
          <p:nvPr/>
        </p:nvSpPr>
        <p:spPr>
          <a:xfrm>
            <a:off x="6484468" y="1371600"/>
            <a:ext cx="5021428" cy="3117088"/>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DnsCache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std::map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std::string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std::string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entries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mutable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std::shared_mutex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std::optional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std::string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find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std::string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host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std::shared_lock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many readers</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entries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find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host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entries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end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second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update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std::string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host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std::string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std::unique_lock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one writer</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entries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host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Text 6"/>
          <p:cNvSpPr txBox="1"/>
          <p:nvPr/>
        </p:nvSpPr>
        <p:spPr>
          <a:xfrm>
            <a:off x="6301588" y="4772152"/>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Our queue cannot benefit from this, because every queue operation writes.</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Real workloads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Creating something exactly once</a:t>
            </a:r>
            <a:endParaRPr lang="en-US" sz="1800" dirty="0"/>
          </a:p>
        </p:txBody>
      </p:sp>
      <p:sp>
        <p:nvSpPr>
          <p:cNvPr id="5" name="Text 3"/>
          <p:cNvSpPr txBox="1"/>
          <p:nvPr/>
        </p:nvSpPr>
        <p:spPr>
          <a:xfrm>
            <a:off x="502920" y="1764792"/>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Many threads call default_pool() to get a shared pool. The tempting version is if (!pool) pool = new ThreadPool(4);. Two threads can both see null and both create a pool, and the unsynchronised read and write is a data race. A function-local static is guaranteed to be initialised exactly once, even when several threads arrive together.</a:t>
            </a:r>
            <a:endParaRPr lang="en-US" sz="1500" dirty="0"/>
          </a:p>
        </p:txBody>
      </p:sp>
      <p:sp>
        <p:nvSpPr>
          <p:cNvPr id="6" name="Shape 4"/>
          <p:cNvSpPr/>
          <p:nvPr/>
        </p:nvSpPr>
        <p:spPr>
          <a:xfrm>
            <a:off x="502920" y="3538728"/>
            <a:ext cx="5387188" cy="1053592"/>
          </a:xfrm>
          <a:prstGeom prst="roundRect">
            <a:avLst>
              <a:gd name="adj" fmla="val 5207"/>
            </a:avLst>
          </a:prstGeom>
          <a:solidFill>
            <a:srgbClr val="1E2230"/>
          </a:solidFill>
          <a:ln w="12700">
            <a:solidFill>
              <a:srgbClr val="1E2230"/>
            </a:solidFill>
            <a:prstDash val="solid"/>
          </a:ln>
        </p:spPr>
      </p:sp>
      <p:sp>
        <p:nvSpPr>
          <p:cNvPr id="7" name="Text 5"/>
          <p:cNvSpPr txBox="1"/>
          <p:nvPr/>
        </p:nvSpPr>
        <p:spPr>
          <a:xfrm>
            <a:off x="685800" y="3675888"/>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default_pool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static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4</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Text 6"/>
          <p:cNvSpPr txBox="1"/>
          <p:nvPr/>
        </p:nvSpPr>
        <p:spPr>
          <a:xfrm>
            <a:off x="502920" y="4793488"/>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9" name="Text 7"/>
          <p:cNvSpPr txBox="1"/>
          <p:nvPr/>
        </p:nvSpPr>
        <p:spPr>
          <a:xfrm>
            <a:off x="502920" y="526897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64 jobs of 50 ms on 8 workers, locking only push_back. Roughly how long?</a:t>
            </a:r>
            <a:endParaRPr lang="en-US" sz="1500" dirty="0"/>
          </a:p>
        </p:txBody>
      </p:sp>
      <p:sp>
        <p:nvSpPr>
          <p:cNvPr id="10" name="Shape 8"/>
          <p:cNvSpPr/>
          <p:nvPr/>
        </p:nvSpPr>
        <p:spPr>
          <a:xfrm>
            <a:off x="502920" y="5826760"/>
            <a:ext cx="5387188" cy="551688"/>
          </a:xfrm>
          <a:prstGeom prst="roundRect">
            <a:avLst>
              <a:gd name="adj" fmla="val 9945"/>
            </a:avLst>
          </a:prstGeom>
          <a:solidFill>
            <a:srgbClr val="F1F4F7"/>
          </a:solidFill>
          <a:ln w="12700">
            <a:solidFill>
              <a:srgbClr val="F1F4F7"/>
            </a:solidFill>
            <a:prstDash val="solid"/>
          </a:ln>
        </p:spPr>
      </p:sp>
      <p:sp>
        <p:nvSpPr>
          <p:cNvPr id="11" name="Text 9"/>
          <p:cNvSpPr txBox="1"/>
          <p:nvPr/>
        </p:nvSpPr>
        <p:spPr>
          <a:xfrm>
            <a:off x="685800" y="5954776"/>
            <a:ext cx="5021428" cy="3230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64 x 0.05 s / 8 = about 0.4 s.</a:t>
            </a:r>
            <a:endParaRPr lang="en-US" sz="1400" dirty="0"/>
          </a:p>
        </p:txBody>
      </p:sp>
      <p:sp>
        <p:nvSpPr>
          <p:cNvPr id="12" name="Text 10"/>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high score table is read 1,000 times a second and updated once a minute. Which lock?</a:t>
            </a:r>
            <a:endParaRPr lang="en-US" sz="1500" dirty="0"/>
          </a:p>
        </p:txBody>
      </p:sp>
      <p:sp>
        <p:nvSpPr>
          <p:cNvPr id="13" name="Shape 11"/>
          <p:cNvSpPr/>
          <p:nvPr/>
        </p:nvSpPr>
        <p:spPr>
          <a:xfrm>
            <a:off x="6301588" y="1792224"/>
            <a:ext cx="5387188" cy="765048"/>
          </a:xfrm>
          <a:prstGeom prst="roundRect">
            <a:avLst>
              <a:gd name="adj" fmla="val 7171"/>
            </a:avLst>
          </a:prstGeom>
          <a:solidFill>
            <a:srgbClr val="F1F4F7"/>
          </a:solidFill>
          <a:ln w="12700">
            <a:solidFill>
              <a:srgbClr val="F1F4F7"/>
            </a:solidFill>
            <a:prstDash val="solid"/>
          </a:ln>
        </p:spPr>
      </p:sp>
      <p:sp>
        <p:nvSpPr>
          <p:cNvPr id="14" name="Text 12"/>
          <p:cNvSpPr txBox="1"/>
          <p:nvPr/>
        </p:nvSpPr>
        <p:spPr>
          <a:xfrm>
            <a:off x="6484468" y="1920240"/>
            <a:ext cx="5021428" cy="5364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std::shared_mutex, with shared_lock for reading and unique_lock for updating.</a:t>
            </a:r>
            <a:endParaRPr lang="en-US" sz="1400" dirty="0"/>
          </a:p>
        </p:txBody>
      </p:sp>
      <p:sp>
        <p:nvSpPr>
          <p:cNvPr id="15" name="Text 13"/>
          <p:cNvSpPr txBox="1"/>
          <p:nvPr/>
        </p:nvSpPr>
        <p:spPr>
          <a:xfrm>
            <a:off x="6301588" y="270357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Name two things you should never do while holding a lock.</a:t>
            </a:r>
            <a:endParaRPr lang="en-US" sz="1500" dirty="0"/>
          </a:p>
        </p:txBody>
      </p:sp>
      <p:sp>
        <p:nvSpPr>
          <p:cNvPr id="16" name="Shape 14"/>
          <p:cNvSpPr/>
          <p:nvPr/>
        </p:nvSpPr>
        <p:spPr>
          <a:xfrm>
            <a:off x="6301588" y="3261360"/>
            <a:ext cx="5387188" cy="978408"/>
          </a:xfrm>
          <a:prstGeom prst="roundRect">
            <a:avLst>
              <a:gd name="adj" fmla="val 5607"/>
            </a:avLst>
          </a:prstGeom>
          <a:solidFill>
            <a:srgbClr val="F1F4F7"/>
          </a:solidFill>
          <a:ln w="12700">
            <a:solidFill>
              <a:srgbClr val="F1F4F7"/>
            </a:solidFill>
            <a:prstDash val="solid"/>
          </a:ln>
        </p:spPr>
      </p:sp>
      <p:sp>
        <p:nvSpPr>
          <p:cNvPr id="17" name="Text 15"/>
          <p:cNvSpPr txBox="1"/>
          <p:nvPr/>
        </p:nvSpPr>
        <p:spPr>
          <a:xfrm>
            <a:off x="6484468" y="3389376"/>
            <a:ext cx="5021428" cy="74980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Call code you do not control, such as callbacks or I/O, and hand out pointers or references to the guarded data.</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Getting the result back</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caller wants the answer</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pool runs work, but submit() returns nothing. If a task computes 42, main has no way to get it. If a task throws, the worker catches it and main never hears about it.</a:t>
            </a:r>
            <a:endParaRPr lang="en-US" sz="1500" dirty="0"/>
          </a:p>
        </p:txBody>
      </p:sp>
      <p:sp>
        <p:nvSpPr>
          <p:cNvPr id="6" name="Shape 4"/>
          <p:cNvSpPr/>
          <p:nvPr/>
        </p:nvSpPr>
        <p:spPr>
          <a:xfrm>
            <a:off x="502920" y="2852928"/>
            <a:ext cx="5387188" cy="858774"/>
          </a:xfrm>
          <a:prstGeom prst="roundRect">
            <a:avLst>
              <a:gd name="adj" fmla="val 6389"/>
            </a:avLst>
          </a:prstGeom>
          <a:solidFill>
            <a:srgbClr val="0F1419"/>
          </a:solidFill>
          <a:ln w="12700">
            <a:solidFill>
              <a:srgbClr val="0F1419"/>
            </a:solidFill>
            <a:prstDash val="solid"/>
          </a:ln>
        </p:spPr>
      </p:sp>
      <p:sp>
        <p:nvSpPr>
          <p:cNvPr id="7" name="Text 5"/>
          <p:cNvSpPr txBox="1"/>
          <p:nvPr/>
        </p:nvSpPr>
        <p:spPr>
          <a:xfrm>
            <a:off x="685800" y="2990088"/>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v9 next_bug</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how would main get the 42, or learn that</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a task failed?</a:t>
            </a:r>
            <a:endParaRPr lang="en-US" sz="1300" dirty="0"/>
          </a:p>
        </p:txBody>
      </p:sp>
      <p:sp>
        <p:nvSpPr>
          <p:cNvPr id="8" name="Text 6"/>
          <p:cNvSpPr txBox="1"/>
          <p:nvPr/>
        </p:nvSpPr>
        <p:spPr>
          <a:xfrm>
            <a:off x="502920" y="385800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You could build this yourself. You would need a slot for the value, a ready flag, a mutex to protect them, a condition variable so the caller can sleep until the flag is set, and a std::exception_ptr for errors. Five pieces, for every task.</a:t>
            </a:r>
            <a:endParaRPr lang="en-US" sz="1500" dirty="0"/>
          </a:p>
        </p:txBody>
      </p:sp>
      <p:sp>
        <p:nvSpPr>
          <p:cNvPr id="9" name="Text 7"/>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one-shot channel</a:t>
            </a:r>
            <a:endParaRPr lang="en-US" sz="1800" dirty="0"/>
          </a:p>
        </p:txBody>
      </p:sp>
      <p:sp>
        <p:nvSpPr>
          <p:cNvPr id="10" name="Text 8"/>
          <p:cNvSpPr txBox="1"/>
          <p:nvPr/>
        </p:nvSpPr>
        <p:spPr>
          <a:xfrm>
            <a:off x="6301588" y="1764792"/>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standard library packages exactly those pieces. One side writes a value or an exception once. The other side waits for it and reads it once.</a:t>
            </a:r>
            <a:endParaRPr lang="en-US" sz="1500" dirty="0"/>
          </a:p>
        </p:txBody>
      </p:sp>
      <p:sp>
        <p:nvSpPr>
          <p:cNvPr id="11" name="Shape 9"/>
          <p:cNvSpPr/>
          <p:nvPr/>
        </p:nvSpPr>
        <p:spPr>
          <a:xfrm>
            <a:off x="6301588" y="2624328"/>
            <a:ext cx="5387188" cy="1173480"/>
          </a:xfrm>
          <a:prstGeom prst="roundRect">
            <a:avLst>
              <a:gd name="adj" fmla="val 4675"/>
            </a:avLst>
          </a:prstGeom>
          <a:solidFill>
            <a:srgbClr val="F1F4F7"/>
          </a:solidFill>
          <a:ln w="12700">
            <a:solidFill>
              <a:srgbClr val="F1F4F7"/>
            </a:solidFill>
            <a:prstDash val="solid"/>
          </a:ln>
        </p:spPr>
      </p:sp>
      <p:sp>
        <p:nvSpPr>
          <p:cNvPr id="12" name="Text 10"/>
          <p:cNvSpPr txBox="1"/>
          <p:nvPr/>
        </p:nvSpPr>
        <p:spPr>
          <a:xfrm>
            <a:off x="6484468" y="2761488"/>
            <a:ext cx="5021428" cy="899160"/>
          </a:xfrm>
          <a:prstGeom prst="rect">
            <a:avLst/>
          </a:prstGeom>
          <a:noFill/>
          <a:ln/>
        </p:spPr>
        <p:txBody>
          <a:bodyPr wrap="square" lIns="0" tIns="0" rIns="0" bIns="0" rtlCol="0" anchor="t"/>
          <a:lstStyle/>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write end            shared state           read end</a:t>
            </a:r>
            <a:endParaRPr lang="en-US" sz="1200" dirty="0"/>
          </a:p>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packaged_task  --&gt;  [ value or exception ] --&gt; get()</a:t>
            </a:r>
            <a:endParaRPr lang="en-US" sz="1200" dirty="0"/>
          </a:p>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or promise           ready flag                waits, then</a:t>
            </a:r>
            <a:endParaRPr lang="en-US" sz="1200" dirty="0"/>
          </a:p>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                     mutex + cv, hidden        returns or</a:t>
            </a:r>
            <a:endParaRPr lang="en-US" sz="1200" dirty="0"/>
          </a:p>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                                               rethrows</a:t>
            </a:r>
            <a:endParaRPr lang="en-US" sz="1200" dirty="0"/>
          </a:p>
        </p:txBody>
      </p:sp>
      <p:sp>
        <p:nvSpPr>
          <p:cNvPr id="13" name="Shape 11"/>
          <p:cNvSpPr/>
          <p:nvPr/>
        </p:nvSpPr>
        <p:spPr>
          <a:xfrm>
            <a:off x="6301588" y="3944112"/>
            <a:ext cx="5387188" cy="836295"/>
          </a:xfrm>
          <a:prstGeom prst="roundRect">
            <a:avLst>
              <a:gd name="adj" fmla="val 6560"/>
            </a:avLst>
          </a:prstGeom>
          <a:solidFill>
            <a:srgbClr val="F1F4F7"/>
          </a:solidFill>
          <a:ln w="12700">
            <a:solidFill>
              <a:srgbClr val="F1F4F7"/>
            </a:solidFill>
            <a:prstDash val="solid"/>
          </a:ln>
        </p:spPr>
      </p:sp>
      <p:sp>
        <p:nvSpPr>
          <p:cNvPr id="14" name="Text 12"/>
          <p:cNvSpPr txBox="1"/>
          <p:nvPr/>
        </p:nvSpPr>
        <p:spPr>
          <a:xfrm>
            <a:off x="6484468" y="4081272"/>
            <a:ext cx="5021428" cy="561975"/>
          </a:xfrm>
          <a:prstGeom prst="rect">
            <a:avLst/>
          </a:prstGeom>
          <a:noFill/>
          <a:ln/>
        </p:spPr>
        <p:txBody>
          <a:bodyPr wrap="square" lIns="0" tIns="0" rIns="0" bIns="0" rtlCol="0" anchor="t"/>
          <a:lstStyle/>
          <a:p>
            <a:pPr indent="0" marL="0">
              <a:lnSpc>
                <a:spcPct val="100000"/>
              </a:lnSpc>
              <a:buNone/>
            </a:pPr>
            <a:r>
              <a:rPr lang="en-US" sz="1250" dirty="0">
                <a:solidFill>
                  <a:srgbClr val="1C2430"/>
                </a:solidFill>
                <a:latin typeface="Consolas" pitchFamily="34" charset="0"/>
                <a:ea typeface="Consolas" pitchFamily="34" charset="-122"/>
                <a:cs typeface="Consolas" pitchFamily="34" charset="-120"/>
              </a:rPr>
              <a:t>time       0                       2s</a:t>
            </a:r>
            <a:endParaRPr lang="en-US" sz="1250" dirty="0"/>
          </a:p>
          <a:p>
            <a:pPr indent="0" marL="0">
              <a:lnSpc>
                <a:spcPct val="100000"/>
              </a:lnSpc>
              <a:buNone/>
            </a:pPr>
            <a:r>
              <a:rPr lang="en-US" sz="1250" dirty="0">
                <a:solidFill>
                  <a:srgbClr val="1C2430"/>
                </a:solidFill>
                <a:latin typeface="Consolas" pitchFamily="34" charset="0"/>
                <a:ea typeface="Consolas" pitchFamily="34" charset="-122"/>
                <a:cs typeface="Consolas" pitchFamily="34" charset="-120"/>
              </a:rPr>
              <a:t>main       submit(f)  f.get() waits .... returns 42</a:t>
            </a:r>
            <a:endParaRPr lang="en-US" sz="1250" dirty="0"/>
          </a:p>
          <a:p>
            <a:pPr indent="0" marL="0">
              <a:lnSpc>
                <a:spcPct val="100000"/>
              </a:lnSpc>
              <a:buNone/>
            </a:pPr>
            <a:r>
              <a:rPr lang="en-US" sz="1250" dirty="0">
                <a:solidFill>
                  <a:srgbClr val="1C2430"/>
                </a:solidFill>
                <a:latin typeface="Consolas" pitchFamily="34" charset="0"/>
                <a:ea typeface="Consolas" pitchFamily="34" charset="-122"/>
                <a:cs typeface="Consolas" pitchFamily="34" charset="-120"/>
              </a:rPr>
              <a:t>worker          pops task, runs f() ...| sets the result</a:t>
            </a:r>
            <a:endParaRPr lang="en-US" sz="1250" dirty="0"/>
          </a:p>
        </p:txBody>
      </p:sp>
      <p:sp>
        <p:nvSpPr>
          <p:cNvPr id="15" name="Text 13"/>
          <p:cNvSpPr txBox="1"/>
          <p:nvPr/>
        </p:nvSpPr>
        <p:spPr>
          <a:xfrm>
            <a:off x="6301588" y="4926711"/>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std::packaged_task wraps a function. When someone runs it, the function's return value, or the exception it threw, goes into the shared state. std::future is the reading end. get() sleeps until the result is ready and then returns the value or rethrows the exception on the caller's thread.</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Getting the result back</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submit() returns a future</a:t>
            </a:r>
            <a:endParaRPr lang="en-US" sz="1800" dirty="0"/>
          </a:p>
        </p:txBody>
      </p:sp>
      <p:sp>
        <p:nvSpPr>
          <p:cNvPr id="5" name="Shape 3"/>
          <p:cNvSpPr/>
          <p:nvPr/>
        </p:nvSpPr>
        <p:spPr>
          <a:xfrm>
            <a:off x="502920" y="1764792"/>
            <a:ext cx="5387188" cy="2806954"/>
          </a:xfrm>
          <a:prstGeom prst="roundRect">
            <a:avLst>
              <a:gd name="adj" fmla="val 1955"/>
            </a:avLst>
          </a:prstGeom>
          <a:solidFill>
            <a:srgbClr val="1E2230"/>
          </a:solidFill>
          <a:ln w="12700">
            <a:solidFill>
              <a:srgbClr val="1E2230"/>
            </a:solidFill>
            <a:prstDash val="solid"/>
          </a:ln>
        </p:spPr>
      </p:sp>
      <p:sp>
        <p:nvSpPr>
          <p:cNvPr id="6" name="Text 4"/>
          <p:cNvSpPr txBox="1"/>
          <p:nvPr/>
        </p:nvSpPr>
        <p:spPr>
          <a:xfrm>
            <a:off x="685800" y="1901952"/>
            <a:ext cx="5021428" cy="253263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template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std::future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std::invoke_result_t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using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std::invoke_result_t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std::make_shared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std::packaged_task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()&gt;&gt;(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result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get_future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result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6</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7</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42, or rethrows</a:t>
            </a:r>
            <a:endParaRPr lang="en-US" sz="1300" dirty="0"/>
          </a:p>
        </p:txBody>
      </p:sp>
      <p:sp>
        <p:nvSpPr>
          <p:cNvPr id="7" name="Text 5"/>
          <p:cNvSpPr txBox="1"/>
          <p:nvPr/>
        </p:nvSpPr>
        <p:spPr>
          <a:xfrm>
            <a:off x="502920" y="471805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shared_ptr is there for a practical reason. packaged_task can only be moved, but std::function requires a callable it can copy. A shared_ptr can be copied, so wrapping the task in one satisfies std::function.</a:t>
            </a:r>
            <a:endParaRPr lang="en-US" sz="1500" dirty="0"/>
          </a:p>
        </p:txBody>
      </p:sp>
      <p:sp>
        <p:nvSpPr>
          <p:cNvPr id="8" name="Text 6"/>
          <p:cNvSpPr txBox="1"/>
          <p:nvPr/>
        </p:nvSpPr>
        <p:spPr>
          <a:xfrm>
            <a:off x="6301588"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worker's try and catch are gone, because the packaged_task now catches the exception and stores it in the future. get() can only be called once, since it moves the result out of the shared state.</a:t>
            </a:r>
            <a:endParaRPr lang="en-US" sz="1500" dirty="0"/>
          </a:p>
        </p:txBody>
      </p:sp>
      <p:sp>
        <p:nvSpPr>
          <p:cNvPr id="9" name="Text 7"/>
          <p:cNvSpPr txBox="1"/>
          <p:nvPr/>
        </p:nvSpPr>
        <p:spPr>
          <a:xfrm>
            <a:off x="6301588" y="23774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10" name="Text 8"/>
          <p:cNvSpPr txBox="1"/>
          <p:nvPr/>
        </p:nvSpPr>
        <p:spPr>
          <a:xfrm>
            <a:off x="6301588" y="2852928"/>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You submit 100,000 tiny tasks. How many futures must become ready?</a:t>
            </a:r>
            <a:endParaRPr lang="en-US" sz="1500" dirty="0"/>
          </a:p>
        </p:txBody>
      </p:sp>
      <p:sp>
        <p:nvSpPr>
          <p:cNvPr id="11" name="Shape 9"/>
          <p:cNvSpPr/>
          <p:nvPr/>
        </p:nvSpPr>
        <p:spPr>
          <a:xfrm>
            <a:off x="6301588" y="3410712"/>
            <a:ext cx="5387188" cy="551688"/>
          </a:xfrm>
          <a:prstGeom prst="roundRect">
            <a:avLst>
              <a:gd name="adj" fmla="val 9945"/>
            </a:avLst>
          </a:prstGeom>
          <a:solidFill>
            <a:srgbClr val="F1F4F7"/>
          </a:solidFill>
          <a:ln w="12700">
            <a:solidFill>
              <a:srgbClr val="F1F4F7"/>
            </a:solidFill>
            <a:prstDash val="solid"/>
          </a:ln>
        </p:spPr>
      </p:sp>
      <p:sp>
        <p:nvSpPr>
          <p:cNvPr id="12" name="Text 10"/>
          <p:cNvSpPr txBox="1"/>
          <p:nvPr/>
        </p:nvSpPr>
        <p:spPr>
          <a:xfrm>
            <a:off x="6484468" y="3538728"/>
            <a:ext cx="5021428" cy="3230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All 100,000. A test should check every one of them.</a:t>
            </a:r>
            <a:endParaRPr lang="en-US" sz="1400" dirty="0"/>
          </a:p>
        </p:txBody>
      </p:sp>
      <p:sp>
        <p:nvSpPr>
          <p:cNvPr id="13" name="Text 11"/>
          <p:cNvSpPr txBox="1"/>
          <p:nvPr/>
        </p:nvSpPr>
        <p:spPr>
          <a:xfrm>
            <a:off x="6301588" y="4108704"/>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auto f = std::async(std::launch::deferred, calc); Which thread runs calc, and when?</a:t>
            </a:r>
            <a:endParaRPr lang="en-US" sz="1500" dirty="0"/>
          </a:p>
        </p:txBody>
      </p:sp>
      <p:sp>
        <p:nvSpPr>
          <p:cNvPr id="14" name="Shape 12"/>
          <p:cNvSpPr/>
          <p:nvPr/>
        </p:nvSpPr>
        <p:spPr>
          <a:xfrm>
            <a:off x="6301588" y="4666488"/>
            <a:ext cx="5387188" cy="765048"/>
          </a:xfrm>
          <a:prstGeom prst="roundRect">
            <a:avLst>
              <a:gd name="adj" fmla="val 7171"/>
            </a:avLst>
          </a:prstGeom>
          <a:solidFill>
            <a:srgbClr val="F1F4F7"/>
          </a:solidFill>
          <a:ln w="12700">
            <a:solidFill>
              <a:srgbClr val="F1F4F7"/>
            </a:solidFill>
            <a:prstDash val="solid"/>
          </a:ln>
        </p:spPr>
      </p:sp>
      <p:sp>
        <p:nvSpPr>
          <p:cNvPr id="15" name="Text 13"/>
          <p:cNvSpPr txBox="1"/>
          <p:nvPr/>
        </p:nvSpPr>
        <p:spPr>
          <a:xfrm>
            <a:off x="6484468" y="4794504"/>
            <a:ext cx="5021428" cy="5364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thread that calls f.get(), at the moment it calls it. Nothing runs before that.</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Getting the result back</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main needs three results computed in parallel and then their sum. Design it.</a:t>
            </a:r>
            <a:endParaRPr lang="en-US" sz="1500" dirty="0"/>
          </a:p>
        </p:txBody>
      </p:sp>
      <p:sp>
        <p:nvSpPr>
          <p:cNvPr id="5" name="Shape 3"/>
          <p:cNvSpPr/>
          <p:nvPr/>
        </p:nvSpPr>
        <p:spPr>
          <a:xfrm>
            <a:off x="502920" y="1792224"/>
            <a:ext cx="5387188" cy="765048"/>
          </a:xfrm>
          <a:prstGeom prst="roundRect">
            <a:avLst>
              <a:gd name="adj" fmla="val 7171"/>
            </a:avLst>
          </a:prstGeom>
          <a:solidFill>
            <a:srgbClr val="F1F4F7"/>
          </a:solidFill>
          <a:ln w="12700">
            <a:solidFill>
              <a:srgbClr val="F1F4F7"/>
            </a:solidFill>
            <a:prstDash val="solid"/>
          </a:ln>
        </p:spPr>
      </p:sp>
      <p:sp>
        <p:nvSpPr>
          <p:cNvPr id="6" name="Text 4"/>
          <p:cNvSpPr txBox="1"/>
          <p:nvPr/>
        </p:nvSpPr>
        <p:spPr>
          <a:xfrm>
            <a:off x="685800" y="1920240"/>
            <a:ext cx="5021428" cy="5364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Submit three tasks, keep the three futures, and add up the three get() results.</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function to wrap, or many readers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When there is no function</a:t>
            </a:r>
            <a:endParaRPr lang="en-US" sz="1800" dirty="0"/>
          </a:p>
        </p:txBody>
      </p:sp>
      <p:sp>
        <p:nvSpPr>
          <p:cNvPr id="5" name="Text 3"/>
          <p:cNvSpPr txBox="1"/>
          <p:nvPr/>
        </p:nvSpPr>
        <p:spPr>
          <a:xfrm>
            <a:off x="502920"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packaged_task wraps a function, but some results do not come from a function you can hand to the pool. A network reply arrives in a callback, for example. For that case there is std::promise. You hold the writing end yourself and call set_value() or set_exception() when the result is known.</a:t>
            </a:r>
            <a:endParaRPr lang="en-US" sz="1500" dirty="0"/>
          </a:p>
        </p:txBody>
      </p:sp>
      <p:sp>
        <p:nvSpPr>
          <p:cNvPr id="6" name="Shape 4"/>
          <p:cNvSpPr/>
          <p:nvPr/>
        </p:nvSpPr>
        <p:spPr>
          <a:xfrm>
            <a:off x="502920" y="3310128"/>
            <a:ext cx="5387188" cy="1443228"/>
          </a:xfrm>
          <a:prstGeom prst="roundRect">
            <a:avLst>
              <a:gd name="adj" fmla="val 3801"/>
            </a:avLst>
          </a:prstGeom>
          <a:solidFill>
            <a:srgbClr val="1E2230"/>
          </a:solidFill>
          <a:ln w="12700">
            <a:solidFill>
              <a:srgbClr val="1E2230"/>
            </a:solidFill>
            <a:prstDash val="solid"/>
          </a:ln>
        </p:spPr>
      </p:sp>
      <p:sp>
        <p:nvSpPr>
          <p:cNvPr id="7" name="Text 5"/>
          <p:cNvSpPr txBox="1"/>
          <p:nvPr/>
        </p:nvSpPr>
        <p:spPr>
          <a:xfrm>
            <a:off x="685800" y="3447288"/>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std::promise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std::future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get_future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set_value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42</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later, from anywhere</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42</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a:t>
            </a:r>
            <a:endParaRPr lang="en-US" sz="1300" dirty="0"/>
          </a:p>
        </p:txBody>
      </p:sp>
      <p:sp>
        <p:nvSpPr>
          <p:cNvPr id="8" name="Shape 6"/>
          <p:cNvSpPr/>
          <p:nvPr/>
        </p:nvSpPr>
        <p:spPr>
          <a:xfrm>
            <a:off x="502920" y="4899660"/>
            <a:ext cx="5387188" cy="1053592"/>
          </a:xfrm>
          <a:prstGeom prst="roundRect">
            <a:avLst>
              <a:gd name="adj" fmla="val 5207"/>
            </a:avLst>
          </a:prstGeom>
          <a:solidFill>
            <a:srgbClr val="0F1419"/>
          </a:solidFill>
          <a:ln w="12700">
            <a:solidFill>
              <a:srgbClr val="0F1419"/>
            </a:solidFill>
            <a:prstDash val="solid"/>
          </a:ln>
        </p:spPr>
      </p:sp>
      <p:sp>
        <p:nvSpPr>
          <p:cNvPr id="9" name="Text 7"/>
          <p:cNvSpPr txBox="1"/>
          <p:nvPr/>
        </p:nvSpPr>
        <p:spPr>
          <a:xfrm>
            <a:off x="685800" y="5036820"/>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v10 tiny_promise</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first reader got 42</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second get(): std::future_error:</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No associated state</a:t>
            </a:r>
            <a:endParaRPr lang="en-US" sz="1300" dirty="0"/>
          </a:p>
        </p:txBody>
      </p:sp>
      <p:sp>
        <p:nvSpPr>
          <p:cNvPr id="10" name="Text 8"/>
          <p:cNvSpPr txBox="1"/>
          <p:nvPr/>
        </p:nvSpPr>
        <p:spPr>
          <a:xfrm>
            <a:off x="6301588"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second get() fails because the first one moved the result out. A future has exactly one reader, and reads once. If a promise is destroyed without ever being set, the reader gets a broken_promise error instead of waiting forever.</a:t>
            </a:r>
            <a:endParaRPr lang="en-US" sz="1500" dirty="0"/>
          </a:p>
        </p:txBody>
      </p:sp>
      <p:sp>
        <p:nvSpPr>
          <p:cNvPr id="11" name="Shape 9"/>
          <p:cNvSpPr/>
          <p:nvPr/>
        </p:nvSpPr>
        <p:spPr>
          <a:xfrm>
            <a:off x="6301588" y="2551176"/>
            <a:ext cx="5387188" cy="1832864"/>
          </a:xfrm>
          <a:prstGeom prst="roundRect">
            <a:avLst>
              <a:gd name="adj" fmla="val 2993"/>
            </a:avLst>
          </a:prstGeom>
          <a:solidFill>
            <a:srgbClr val="F1F4F7"/>
          </a:solidFill>
          <a:ln w="12700">
            <a:solidFill>
              <a:srgbClr val="F1F4F7"/>
            </a:solidFill>
            <a:prstDash val="solid"/>
          </a:ln>
        </p:spPr>
      </p:sp>
      <p:sp>
        <p:nvSpPr>
          <p:cNvPr id="12" name="Text 10"/>
          <p:cNvSpPr txBox="1"/>
          <p:nvPr/>
        </p:nvSpPr>
        <p:spPr>
          <a:xfrm>
            <a:off x="6484468" y="2688336"/>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who produces the value?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std::async          the library runs the function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std::packaged_task  you decide where it runs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std::promise        no function, you set it yourself</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how many readers?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std::future         one, like unique_ptr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std::shared_future  many, like shared_ptr</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function to wrap, or many readers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Many readers</a:t>
            </a:r>
            <a:endParaRPr lang="en-US" sz="1800" dirty="0"/>
          </a:p>
        </p:txBody>
      </p:sp>
      <p:sp>
        <p:nvSpPr>
          <p:cNvPr id="5" name="Text 3"/>
          <p:cNvSpPr txBox="1"/>
          <p:nvPr/>
        </p:nvSpPr>
        <p:spPr>
          <a:xfrm>
            <a:off x="502920" y="1764792"/>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Suppose eight tasks all need the same configuration, loaded once by another task. share() turns the future into a std::shared_future, whose get() can be called many times and from many threads. Give every task its own copy. The copies share the result safely, while a single shared_future object used by several threads at once would be a data race.</a:t>
            </a:r>
            <a:endParaRPr lang="en-US" sz="1500" dirty="0"/>
          </a:p>
        </p:txBody>
      </p:sp>
      <p:sp>
        <p:nvSpPr>
          <p:cNvPr id="6" name="Shape 4"/>
          <p:cNvSpPr/>
          <p:nvPr/>
        </p:nvSpPr>
        <p:spPr>
          <a:xfrm>
            <a:off x="502920" y="3538728"/>
            <a:ext cx="5387188" cy="1638046"/>
          </a:xfrm>
          <a:prstGeom prst="roundRect">
            <a:avLst>
              <a:gd name="adj" fmla="val 3349"/>
            </a:avLst>
          </a:prstGeom>
          <a:solidFill>
            <a:srgbClr val="1E2230"/>
          </a:solidFill>
          <a:ln w="12700">
            <a:solidFill>
              <a:srgbClr val="1E2230"/>
            </a:solidFill>
            <a:prstDash val="solid"/>
          </a:ln>
        </p:spPr>
      </p:sp>
      <p:sp>
        <p:nvSpPr>
          <p:cNvPr id="7" name="Text 5"/>
          <p:cNvSpPr txBox="1"/>
          <p:nvPr/>
        </p:nvSpPr>
        <p:spPr>
          <a:xfrm>
            <a:off x="685800" y="3675888"/>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std::shared_future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Config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cfg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load_config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share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8</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cfg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a copy each</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cfg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Text 6"/>
          <p:cNvSpPr txBox="1"/>
          <p:nvPr/>
        </p:nvSpPr>
        <p:spPr>
          <a:xfrm>
            <a:off x="502920" y="5323078"/>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If load_config throws, all eight get() calls rethrow the same exception.</a:t>
            </a:r>
            <a:endParaRPr lang="en-US" sz="1500" dirty="0"/>
          </a:p>
        </p:txBody>
      </p:sp>
      <p:sp>
        <p:nvSpPr>
          <p:cNvPr id="9" name="Text 7"/>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10" name="Text 8"/>
          <p:cNvSpPr txBox="1"/>
          <p:nvPr/>
        </p:nvSpPr>
        <p:spPr>
          <a:xfrm>
            <a:off x="6301588"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Eight readers each get x = 7 from one shared_future. What is the sum of what they read?</a:t>
            </a:r>
            <a:endParaRPr lang="en-US" sz="1500" dirty="0"/>
          </a:p>
        </p:txBody>
      </p:sp>
      <p:sp>
        <p:nvSpPr>
          <p:cNvPr id="11" name="Shape 9"/>
          <p:cNvSpPr/>
          <p:nvPr/>
        </p:nvSpPr>
        <p:spPr>
          <a:xfrm>
            <a:off x="6301588" y="2322576"/>
            <a:ext cx="5387188" cy="551688"/>
          </a:xfrm>
          <a:prstGeom prst="roundRect">
            <a:avLst>
              <a:gd name="adj" fmla="val 9945"/>
            </a:avLst>
          </a:prstGeom>
          <a:solidFill>
            <a:srgbClr val="F1F4F7"/>
          </a:solidFill>
          <a:ln w="12700">
            <a:solidFill>
              <a:srgbClr val="F1F4F7"/>
            </a:solidFill>
            <a:prstDash val="solid"/>
          </a:ln>
        </p:spPr>
      </p:sp>
      <p:sp>
        <p:nvSpPr>
          <p:cNvPr id="12" name="Text 10"/>
          <p:cNvSpPr txBox="1"/>
          <p:nvPr/>
        </p:nvSpPr>
        <p:spPr>
          <a:xfrm>
            <a:off x="6484468" y="2450592"/>
            <a:ext cx="5021428" cy="3230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56. Every reader sees the same value.</a:t>
            </a:r>
            <a:endParaRPr lang="en-US" sz="1400" dirty="0"/>
          </a:p>
        </p:txBody>
      </p:sp>
      <p:sp>
        <p:nvSpPr>
          <p:cNvPr id="13" name="Text 11"/>
          <p:cNvSpPr txBox="1"/>
          <p:nvPr/>
        </p:nvSpPr>
        <p:spPr>
          <a:xfrm>
            <a:off x="6301588" y="3020568"/>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The promise is destroyed before set_value() is called. What does get() do?</a:t>
            </a:r>
            <a:endParaRPr lang="en-US" sz="1500" dirty="0"/>
          </a:p>
        </p:txBody>
      </p:sp>
      <p:sp>
        <p:nvSpPr>
          <p:cNvPr id="14" name="Shape 12"/>
          <p:cNvSpPr/>
          <p:nvPr/>
        </p:nvSpPr>
        <p:spPr>
          <a:xfrm>
            <a:off x="6301588" y="3578352"/>
            <a:ext cx="5387188" cy="765048"/>
          </a:xfrm>
          <a:prstGeom prst="roundRect">
            <a:avLst>
              <a:gd name="adj" fmla="val 7171"/>
            </a:avLst>
          </a:prstGeom>
          <a:solidFill>
            <a:srgbClr val="F1F4F7"/>
          </a:solidFill>
          <a:ln w="12700">
            <a:solidFill>
              <a:srgbClr val="F1F4F7"/>
            </a:solidFill>
            <a:prstDash val="solid"/>
          </a:ln>
        </p:spPr>
      </p:sp>
      <p:sp>
        <p:nvSpPr>
          <p:cNvPr id="15" name="Text 13"/>
          <p:cNvSpPr txBox="1"/>
          <p:nvPr/>
        </p:nvSpPr>
        <p:spPr>
          <a:xfrm>
            <a:off x="6484468" y="3706368"/>
            <a:ext cx="5021428" cy="5364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It throws std::future_error with the code broken_promise.</a:t>
            </a:r>
            <a:endParaRPr lang="en-US" sz="1400" dirty="0"/>
          </a:p>
        </p:txBody>
      </p:sp>
      <p:sp>
        <p:nvSpPr>
          <p:cNvPr id="16" name="Text 14"/>
          <p:cNvSpPr txBox="1"/>
          <p:nvPr/>
        </p:nvSpPr>
        <p:spPr>
          <a:xfrm>
            <a:off x="6301588" y="4489704"/>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You want eight benchmark threads to start at exactly the same moment. Design it.</a:t>
            </a:r>
            <a:endParaRPr lang="en-US" sz="1500" dirty="0"/>
          </a:p>
        </p:txBody>
      </p:sp>
      <p:sp>
        <p:nvSpPr>
          <p:cNvPr id="17" name="Shape 15"/>
          <p:cNvSpPr/>
          <p:nvPr/>
        </p:nvSpPr>
        <p:spPr>
          <a:xfrm>
            <a:off x="6301588" y="5047488"/>
            <a:ext cx="5387188" cy="978408"/>
          </a:xfrm>
          <a:prstGeom prst="roundRect">
            <a:avLst>
              <a:gd name="adj" fmla="val 5607"/>
            </a:avLst>
          </a:prstGeom>
          <a:solidFill>
            <a:srgbClr val="F1F4F7"/>
          </a:solidFill>
          <a:ln w="12700">
            <a:solidFill>
              <a:srgbClr val="F1F4F7"/>
            </a:solidFill>
            <a:prstDash val="solid"/>
          </a:ln>
        </p:spPr>
      </p:sp>
      <p:sp>
        <p:nvSpPr>
          <p:cNvPr id="18" name="Text 16"/>
          <p:cNvSpPr txBox="1"/>
          <p:nvPr/>
        </p:nvSpPr>
        <p:spPr>
          <a:xfrm>
            <a:off x="6484468" y="5175504"/>
            <a:ext cx="5021428" cy="74980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Give them all a copy of a shared_future&lt;void&gt; from one promise&lt;void&gt;. Each waits on it, and set_value() releases them together.</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task that never finishes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Timeouts</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task calls fetch(), which sometimes hangs. The caller can stop waiting after a second with wait_for. Here the task sleeps 3 s and the caller gives up after 1 s, yet the program only leaves the scope after 3 s:</a:t>
            </a:r>
            <a:endParaRPr lang="en-US" sz="1500" dirty="0"/>
          </a:p>
        </p:txBody>
      </p:sp>
      <p:sp>
        <p:nvSpPr>
          <p:cNvPr id="6" name="Shape 4"/>
          <p:cNvSpPr/>
          <p:nvPr/>
        </p:nvSpPr>
        <p:spPr>
          <a:xfrm>
            <a:off x="502920" y="2852928"/>
            <a:ext cx="5387188" cy="1638046"/>
          </a:xfrm>
          <a:prstGeom prst="roundRect">
            <a:avLst>
              <a:gd name="adj" fmla="val 3349"/>
            </a:avLst>
          </a:prstGeom>
          <a:solidFill>
            <a:srgbClr val="1E2230"/>
          </a:solidFill>
          <a:ln w="12700">
            <a:solidFill>
              <a:srgbClr val="1E2230"/>
            </a:solidFill>
            <a:prstDash val="solid"/>
          </a:ln>
        </p:spPr>
      </p:sp>
      <p:sp>
        <p:nvSpPr>
          <p:cNvPr id="7" name="Text 5"/>
          <p:cNvSpPr txBox="1"/>
          <p:nvPr/>
        </p:nvSpPr>
        <p:spPr>
          <a:xfrm>
            <a:off x="685800" y="2990088"/>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std::async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std::launch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async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std::this_thread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sleep_for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3s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wait_for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std::future_status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timeout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"timed out\n"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leave the scope</a:t>
            </a:r>
            <a:endParaRPr lang="en-US" sz="1300" dirty="0"/>
          </a:p>
        </p:txBody>
      </p:sp>
      <p:sp>
        <p:nvSpPr>
          <p:cNvPr id="8" name="Shape 6"/>
          <p:cNvSpPr/>
          <p:nvPr/>
        </p:nvSpPr>
        <p:spPr>
          <a:xfrm>
            <a:off x="502920" y="4637278"/>
            <a:ext cx="5387188" cy="858774"/>
          </a:xfrm>
          <a:prstGeom prst="roundRect">
            <a:avLst>
              <a:gd name="adj" fmla="val 6389"/>
            </a:avLst>
          </a:prstGeom>
          <a:solidFill>
            <a:srgbClr val="0F1419"/>
          </a:solidFill>
          <a:ln w="12700">
            <a:solidFill>
              <a:srgbClr val="0F1419"/>
            </a:solidFill>
            <a:prstDash val="solid"/>
          </a:ln>
        </p:spPr>
      </p:sp>
      <p:sp>
        <p:nvSpPr>
          <p:cNvPr id="9" name="Text 7"/>
          <p:cNvSpPr txBox="1"/>
          <p:nvPr/>
        </p:nvSpPr>
        <p:spPr>
          <a:xfrm>
            <a:off x="685800" y="4774438"/>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v10 tiny_timeout</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timed out at 1.00 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left the scope at 3.00 s</a:t>
            </a:r>
            <a:endParaRPr lang="en-US" sz="1300" dirty="0"/>
          </a:p>
        </p:txBody>
      </p:sp>
      <p:sp>
        <p:nvSpPr>
          <p:cNvPr id="10" name="Shape 8"/>
          <p:cNvSpPr/>
          <p:nvPr/>
        </p:nvSpPr>
        <p:spPr>
          <a:xfrm>
            <a:off x="6301588" y="1234440"/>
            <a:ext cx="5387188" cy="1210945"/>
          </a:xfrm>
          <a:prstGeom prst="roundRect">
            <a:avLst>
              <a:gd name="adj" fmla="val 4531"/>
            </a:avLst>
          </a:prstGeom>
          <a:solidFill>
            <a:srgbClr val="F1F4F7"/>
          </a:solidFill>
          <a:ln w="12700">
            <a:solidFill>
              <a:srgbClr val="F1F4F7"/>
            </a:solidFill>
            <a:prstDash val="solid"/>
          </a:ln>
        </p:spPr>
      </p:sp>
      <p:sp>
        <p:nvSpPr>
          <p:cNvPr id="11" name="Text 9"/>
          <p:cNvSpPr txBox="1"/>
          <p:nvPr/>
        </p:nvSpPr>
        <p:spPr>
          <a:xfrm>
            <a:off x="6484468" y="1371600"/>
            <a:ext cx="5021428" cy="936625"/>
          </a:xfrm>
          <a:prstGeom prst="rect">
            <a:avLst/>
          </a:prstGeom>
          <a:noFill/>
          <a:ln/>
        </p:spPr>
        <p:txBody>
          <a:bodyPr wrap="square" lIns="0" tIns="0" rIns="0" bIns="0" rtlCol="0" anchor="t"/>
          <a:lstStyle/>
          <a:p>
            <a:pPr indent="0" marL="0">
              <a:lnSpc>
                <a:spcPct val="100000"/>
              </a:lnSpc>
              <a:buNone/>
            </a:pPr>
            <a:r>
              <a:rPr lang="en-US" sz="1250" dirty="0">
                <a:solidFill>
                  <a:srgbClr val="1C2430"/>
                </a:solidFill>
                <a:latin typeface="Consolas" pitchFamily="34" charset="0"/>
                <a:ea typeface="Consolas" pitchFamily="34" charset="-122"/>
                <a:cs typeface="Consolas" pitchFamily="34" charset="-120"/>
              </a:rPr>
              <a:t>time      0          1s           3s</a:t>
            </a:r>
            <a:endParaRPr lang="en-US" sz="1250" dirty="0"/>
          </a:p>
          <a:p>
            <a:pPr indent="0" marL="0">
              <a:lnSpc>
                <a:spcPct val="100000"/>
              </a:lnSpc>
              <a:buNone/>
            </a:pPr>
            <a:r>
              <a:rPr lang="en-US" sz="1250" dirty="0">
                <a:solidFill>
                  <a:srgbClr val="1C2430"/>
                </a:solidFill>
                <a:latin typeface="Consolas" pitchFamily="34" charset="0"/>
                <a:ea typeface="Consolas" pitchFamily="34" charset="-122"/>
                <a:cs typeface="Consolas" pitchFamily="34" charset="-120"/>
              </a:rPr>
              <a:t>task      |== sleeping =============|</a:t>
            </a:r>
            <a:endParaRPr lang="en-US" sz="1250" dirty="0"/>
          </a:p>
          <a:p>
            <a:pPr indent="0" marL="0">
              <a:lnSpc>
                <a:spcPct val="100000"/>
              </a:lnSpc>
              <a:buNone/>
            </a:pPr>
            <a:r>
              <a:rPr lang="en-US" sz="1250" dirty="0">
                <a:solidFill>
                  <a:srgbClr val="1C2430"/>
                </a:solidFill>
                <a:latin typeface="Consolas" pitchFamily="34" charset="0"/>
                <a:ea typeface="Consolas" pitchFamily="34" charset="-122"/>
                <a:cs typeface="Consolas" pitchFamily="34" charset="-120"/>
              </a:rPr>
              <a:t>main      wait_for .. | timeout,</a:t>
            </a:r>
            <a:endParaRPr lang="en-US" sz="1250" dirty="0"/>
          </a:p>
          <a:p>
            <a:pPr indent="0" marL="0">
              <a:lnSpc>
                <a:spcPct val="100000"/>
              </a:lnSpc>
              <a:buNone/>
            </a:pPr>
            <a:r>
              <a:rPr lang="en-US" sz="1250" dirty="0">
                <a:solidFill>
                  <a:srgbClr val="1C2430"/>
                </a:solidFill>
                <a:latin typeface="Consolas" pitchFamily="34" charset="0"/>
                <a:ea typeface="Consolas" pitchFamily="34" charset="-122"/>
                <a:cs typeface="Consolas" pitchFamily="34" charset="-120"/>
              </a:rPr>
              <a:t>                      prints, reaches }</a:t>
            </a:r>
            <a:endParaRPr lang="en-US" sz="1250" dirty="0"/>
          </a:p>
          <a:p>
            <a:pPr indent="0" marL="0">
              <a:lnSpc>
                <a:spcPct val="100000"/>
              </a:lnSpc>
              <a:buNone/>
            </a:pPr>
            <a:r>
              <a:rPr lang="en-US" sz="1250" dirty="0">
                <a:solidFill>
                  <a:srgbClr val="1C2430"/>
                </a:solidFill>
                <a:latin typeface="Consolas" pitchFamily="34" charset="0"/>
                <a:ea typeface="Consolas" pitchFamily="34" charset="-122"/>
                <a:cs typeface="Consolas" pitchFamily="34" charset="-120"/>
              </a:rPr>
              <a:t>                      ~future waits ...| leaves the scope</a:t>
            </a:r>
            <a:endParaRPr lang="en-US" sz="1250" dirty="0"/>
          </a:p>
        </p:txBody>
      </p:sp>
      <p:sp>
        <p:nvSpPr>
          <p:cNvPr id="12" name="Text 10"/>
          <p:cNvSpPr txBox="1"/>
          <p:nvPr/>
        </p:nvSpPr>
        <p:spPr>
          <a:xfrm>
            <a:off x="6301588" y="2591689"/>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timeout worked, but only for waiting. The task kept running, and the future returned by std::async waits for it in its destructor. A timeout limits how long you wait. It does nothing to the work itself.</a:t>
            </a:r>
            <a:endParaRPr lang="en-US" sz="1500" dirty="0"/>
          </a:p>
        </p:txBody>
      </p:sp>
      <p:sp>
        <p:nvSpPr>
          <p:cNvPr id="13" name="Shape 11"/>
          <p:cNvSpPr/>
          <p:nvPr/>
        </p:nvSpPr>
        <p:spPr>
          <a:xfrm>
            <a:off x="6301588" y="3679825"/>
            <a:ext cx="5387188" cy="1248410"/>
          </a:xfrm>
          <a:prstGeom prst="roundRect">
            <a:avLst>
              <a:gd name="adj" fmla="val 4395"/>
            </a:avLst>
          </a:prstGeom>
          <a:solidFill>
            <a:srgbClr val="F1F4F7"/>
          </a:solidFill>
          <a:ln w="12700">
            <a:solidFill>
              <a:srgbClr val="F1F4F7"/>
            </a:solidFill>
            <a:prstDash val="solid"/>
          </a:ln>
        </p:spPr>
      </p:sp>
      <p:sp>
        <p:nvSpPr>
          <p:cNvPr id="14" name="Text 12"/>
          <p:cNvSpPr txBox="1"/>
          <p:nvPr/>
        </p:nvSpPr>
        <p:spPr>
          <a:xfrm>
            <a:off x="6484468" y="3816985"/>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caller                       worker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wait_for(1s) ... timeout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gives up</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fetch() still running</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pool destructor joins ...    fetch() still running</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task that never finishes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Why C++ never kills a thread</a:t>
            </a:r>
            <a:endParaRPr lang="en-US" sz="1800" dirty="0"/>
          </a:p>
        </p:txBody>
      </p:sp>
      <p:sp>
        <p:nvSpPr>
          <p:cNvPr id="5" name="Text 3"/>
          <p:cNvSpPr txBox="1"/>
          <p:nvPr/>
        </p:nvSpPr>
        <p:spPr>
          <a:xfrm>
            <a:off x="502920"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thread that is stopped from outside might be holding a lock, or be halfway through updating shared data. Killing it would leave the mutex locked forever or the data broken. So C++ has no way to kill a thread. Cancellation has to be cooperative: you ask the task to stop, and the task checks between steps.</a:t>
            </a:r>
            <a:endParaRPr lang="en-US" sz="1500" dirty="0"/>
          </a:p>
        </p:txBody>
      </p:sp>
      <p:sp>
        <p:nvSpPr>
          <p:cNvPr id="6" name="Text 4"/>
          <p:cNvSpPr txBox="1"/>
          <p:nvPr/>
        </p:nvSpPr>
        <p:spPr>
          <a:xfrm>
            <a:off x="502920" y="3310128"/>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C++20 provides a thread-safe stop flag for this. A std::stop_source requests the stop and hands out std::stop_token objects that tasks can check.</a:t>
            </a:r>
            <a:endParaRPr lang="en-US" sz="1500" dirty="0"/>
          </a:p>
        </p:txBody>
      </p:sp>
      <p:sp>
        <p:nvSpPr>
          <p:cNvPr id="7" name="Shape 5"/>
          <p:cNvSpPr/>
          <p:nvPr/>
        </p:nvSpPr>
        <p:spPr>
          <a:xfrm>
            <a:off x="6301588" y="1234440"/>
            <a:ext cx="5387188" cy="2612136"/>
          </a:xfrm>
          <a:prstGeom prst="roundRect">
            <a:avLst>
              <a:gd name="adj" fmla="val 2100"/>
            </a:avLst>
          </a:prstGeom>
          <a:solidFill>
            <a:srgbClr val="1E2230"/>
          </a:solidFill>
          <a:ln w="12700">
            <a:solidFill>
              <a:srgbClr val="1E2230"/>
            </a:solidFill>
            <a:prstDash val="solid"/>
          </a:ln>
        </p:spPr>
      </p:sp>
      <p:sp>
        <p:nvSpPr>
          <p:cNvPr id="8" name="Text 6"/>
          <p:cNvSpPr txBox="1"/>
          <p:nvPr/>
        </p:nvSpPr>
        <p:spPr>
          <a:xfrm>
            <a:off x="6484468" y="1371600"/>
            <a:ext cx="5021428" cy="2337816"/>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std::stop_source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tok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get_token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step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step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50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step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tok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stop_requested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do_step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100 ms</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request_stop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returns within ~100 ms</a:t>
            </a:r>
            <a:endParaRPr lang="en-US" sz="1300" dirty="0"/>
          </a:p>
        </p:txBody>
      </p:sp>
      <p:sp>
        <p:nvSpPr>
          <p:cNvPr id="9" name="Text 7"/>
          <p:cNvSpPr txBox="1"/>
          <p:nvPr/>
        </p:nvSpPr>
        <p:spPr>
          <a:xfrm>
            <a:off x="6301588" y="399288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task that never looks at its token cannot be cancelled at all. There are also two kinds of timeout. wait_for waits a relative amount of time for one step, and wait_until waits until a fixed deadline, which is what you want when several steps share one time budget.</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task that never finishes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task checks its token every 100 ms. What is the longest delay after request_stop()?</a:t>
            </a:r>
            <a:endParaRPr lang="en-US" sz="1500" dirty="0"/>
          </a:p>
        </p:txBody>
      </p:sp>
      <p:sp>
        <p:nvSpPr>
          <p:cNvPr id="6" name="Shape 4"/>
          <p:cNvSpPr/>
          <p:nvPr/>
        </p:nvSpPr>
        <p:spPr>
          <a:xfrm>
            <a:off x="502920" y="2322576"/>
            <a:ext cx="5387188" cy="551688"/>
          </a:xfrm>
          <a:prstGeom prst="roundRect">
            <a:avLst>
              <a:gd name="adj" fmla="val 9945"/>
            </a:avLst>
          </a:prstGeom>
          <a:solidFill>
            <a:srgbClr val="F1F4F7"/>
          </a:solidFill>
          <a:ln w="12700">
            <a:solidFill>
              <a:srgbClr val="F1F4F7"/>
            </a:solidFill>
            <a:prstDash val="solid"/>
          </a:ln>
        </p:spPr>
      </p:sp>
      <p:sp>
        <p:nvSpPr>
          <p:cNvPr id="7" name="Text 5"/>
          <p:cNvSpPr txBox="1"/>
          <p:nvPr/>
        </p:nvSpPr>
        <p:spPr>
          <a:xfrm>
            <a:off x="685800" y="2450592"/>
            <a:ext cx="5021428" cy="3230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About 100 ms, one step.</a:t>
            </a:r>
            <a:endParaRPr lang="en-US" sz="1400" dirty="0"/>
          </a:p>
        </p:txBody>
      </p:sp>
      <p:sp>
        <p:nvSpPr>
          <p:cNvPr id="8" name="Text 6"/>
          <p:cNvSpPr txBox="1"/>
          <p:nvPr/>
        </p:nvSpPr>
        <p:spPr>
          <a:xfrm>
            <a:off x="502920" y="3020568"/>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Three steps each use wait_for(1s), but the whole request has a 1 s budget. What goes wrong?</a:t>
            </a:r>
            <a:endParaRPr lang="en-US" sz="1500" dirty="0"/>
          </a:p>
        </p:txBody>
      </p:sp>
      <p:sp>
        <p:nvSpPr>
          <p:cNvPr id="9" name="Shape 7"/>
          <p:cNvSpPr/>
          <p:nvPr/>
        </p:nvSpPr>
        <p:spPr>
          <a:xfrm>
            <a:off x="502920" y="3578352"/>
            <a:ext cx="5387188" cy="765048"/>
          </a:xfrm>
          <a:prstGeom prst="roundRect">
            <a:avLst>
              <a:gd name="adj" fmla="val 7171"/>
            </a:avLst>
          </a:prstGeom>
          <a:solidFill>
            <a:srgbClr val="F1F4F7"/>
          </a:solidFill>
          <a:ln w="12700">
            <a:solidFill>
              <a:srgbClr val="F1F4F7"/>
            </a:solidFill>
            <a:prstDash val="solid"/>
          </a:ln>
        </p:spPr>
      </p:sp>
      <p:sp>
        <p:nvSpPr>
          <p:cNvPr id="10" name="Text 8"/>
          <p:cNvSpPr txBox="1"/>
          <p:nvPr/>
        </p:nvSpPr>
        <p:spPr>
          <a:xfrm>
            <a:off x="685800" y="3706368"/>
            <a:ext cx="5021428" cy="5364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Each step can wait a full second, so the total can reach 3 s. Compute one deadline and use wait_until.</a:t>
            </a:r>
            <a:endParaRPr lang="en-US" sz="1400" dirty="0"/>
          </a:p>
        </p:txBody>
      </p:sp>
      <p:sp>
        <p:nvSpPr>
          <p:cNvPr id="11" name="Text 9"/>
          <p:cNvSpPr txBox="1"/>
          <p:nvPr/>
        </p:nvSpPr>
        <p:spPr>
          <a:xfrm>
            <a:off x="502920" y="4489704"/>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The pool must shut down even if a task is stuck. Design it.</a:t>
            </a:r>
            <a:endParaRPr lang="en-US" sz="1500" dirty="0"/>
          </a:p>
        </p:txBody>
      </p:sp>
      <p:sp>
        <p:nvSpPr>
          <p:cNvPr id="12" name="Shape 10"/>
          <p:cNvSpPr/>
          <p:nvPr/>
        </p:nvSpPr>
        <p:spPr>
          <a:xfrm>
            <a:off x="502920" y="5047488"/>
            <a:ext cx="5387188" cy="765048"/>
          </a:xfrm>
          <a:prstGeom prst="roundRect">
            <a:avLst>
              <a:gd name="adj" fmla="val 7171"/>
            </a:avLst>
          </a:prstGeom>
          <a:solidFill>
            <a:srgbClr val="F1F4F7"/>
          </a:solidFill>
          <a:ln w="12700">
            <a:solidFill>
              <a:srgbClr val="F1F4F7"/>
            </a:solidFill>
            <a:prstDash val="solid"/>
          </a:ln>
        </p:spPr>
      </p:sp>
      <p:sp>
        <p:nvSpPr>
          <p:cNvPr id="13" name="Text 11"/>
          <p:cNvSpPr txBox="1"/>
          <p:nvPr/>
        </p:nvSpPr>
        <p:spPr>
          <a:xfrm>
            <a:off x="685800" y="5175504"/>
            <a:ext cx="5021428" cy="5364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pool owns a stop_source, passes its token to every task and calls request_stop() before joining.</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Tasks that wait for tasks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pool that freezes with nothing locked</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Recursive algorithms split their work. A parallel sum submits half its range as a new task and waits for that half's result. With two workers and two such tasks, the pool freezes.</a:t>
            </a:r>
            <a:endParaRPr lang="en-US" sz="1500" dirty="0"/>
          </a:p>
        </p:txBody>
      </p:sp>
      <p:sp>
        <p:nvSpPr>
          <p:cNvPr id="6" name="Shape 4"/>
          <p:cNvSpPr/>
          <p:nvPr/>
        </p:nvSpPr>
        <p:spPr>
          <a:xfrm>
            <a:off x="502920" y="2852928"/>
            <a:ext cx="5387188" cy="2222500"/>
          </a:xfrm>
          <a:prstGeom prst="roundRect">
            <a:avLst>
              <a:gd name="adj" fmla="val 2469"/>
            </a:avLst>
          </a:prstGeom>
          <a:solidFill>
            <a:srgbClr val="1E2230"/>
          </a:solidFill>
          <a:ln w="12700">
            <a:solidFill>
              <a:srgbClr val="1E2230"/>
            </a:solidFill>
            <a:prstDash val="solid"/>
          </a:ln>
        </p:spPr>
      </p:sp>
      <p:sp>
        <p:nvSpPr>
          <p:cNvPr id="7" name="Text 5"/>
          <p:cNvSpPr txBox="1"/>
          <p:nvPr/>
        </p:nvSpPr>
        <p:spPr>
          <a:xfrm>
            <a:off x="685800" y="2990088"/>
            <a:ext cx="5021428" cy="1948180"/>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2</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outer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inner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inner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wait inside a task</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outer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b</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outer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b</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Shape 6"/>
          <p:cNvSpPr/>
          <p:nvPr/>
        </p:nvSpPr>
        <p:spPr>
          <a:xfrm>
            <a:off x="502920" y="5221732"/>
            <a:ext cx="5387188" cy="663956"/>
          </a:xfrm>
          <a:prstGeom prst="roundRect">
            <a:avLst>
              <a:gd name="adj" fmla="val 8263"/>
            </a:avLst>
          </a:prstGeom>
          <a:solidFill>
            <a:srgbClr val="0F1419"/>
          </a:solidFill>
          <a:ln w="12700">
            <a:solidFill>
              <a:srgbClr val="0F1419"/>
            </a:solidFill>
            <a:prstDash val="solid"/>
          </a:ln>
        </p:spPr>
      </p:sp>
      <p:sp>
        <p:nvSpPr>
          <p:cNvPr id="9" name="Text 7"/>
          <p:cNvSpPr txBox="1"/>
          <p:nvPr/>
        </p:nvSpPr>
        <p:spPr>
          <a:xfrm>
            <a:off x="685800" y="5358892"/>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v10 tiny_nested</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(frozen, stopped after 10 s)</a:t>
            </a:r>
            <a:endParaRPr lang="en-US" sz="1300" dirty="0"/>
          </a:p>
        </p:txBody>
      </p:sp>
      <p:sp>
        <p:nvSpPr>
          <p:cNvPr id="10" name="Text 8"/>
          <p:cNvSpPr txBox="1"/>
          <p:nvPr/>
        </p:nvSpPr>
        <p:spPr>
          <a:xfrm>
            <a:off x="6301588"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Follow the clock. At t = 0 both outer tasks are picked up, one per worker. A microsecond later each has submitted its inner task to the back of the queue and called get(). From then on both workers are asleep, and the queue holds two tasks that nobody will ever run.</a:t>
            </a:r>
            <a:endParaRPr lang="en-US" sz="1500" dirty="0"/>
          </a:p>
        </p:txBody>
      </p:sp>
      <p:sp>
        <p:nvSpPr>
          <p:cNvPr id="11" name="Text 9"/>
          <p:cNvSpPr txBox="1"/>
          <p:nvPr/>
        </p:nvSpPr>
        <p:spPr>
          <a:xfrm>
            <a:off x="6301588" y="2551176"/>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It never prints 2. Both workers are busy running an outer task, and each outer task is blocked in get(). The two inner tasks are sitting in the queue, but there is no free worker left to run them.</a:t>
            </a:r>
            <a:endParaRPr lang="en-US" sz="1500" dirty="0"/>
          </a:p>
        </p:txBody>
      </p:sp>
      <p:sp>
        <p:nvSpPr>
          <p:cNvPr id="12" name="Shape 10"/>
          <p:cNvSpPr/>
          <p:nvPr/>
        </p:nvSpPr>
        <p:spPr>
          <a:xfrm>
            <a:off x="6301588" y="3639312"/>
            <a:ext cx="5387188" cy="1248410"/>
          </a:xfrm>
          <a:prstGeom prst="roundRect">
            <a:avLst>
              <a:gd name="adj" fmla="val 4395"/>
            </a:avLst>
          </a:prstGeom>
          <a:solidFill>
            <a:srgbClr val="F1F4F7"/>
          </a:solidFill>
          <a:ln w="12700">
            <a:solidFill>
              <a:srgbClr val="F1F4F7"/>
            </a:solidFill>
            <a:prstDash val="solid"/>
          </a:ln>
        </p:spPr>
      </p:sp>
      <p:sp>
        <p:nvSpPr>
          <p:cNvPr id="13" name="Text 11"/>
          <p:cNvSpPr txBox="1"/>
          <p:nvPr/>
        </p:nvSpPr>
        <p:spPr>
          <a:xfrm>
            <a:off x="6484468" y="3776472"/>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worker 1                  worker 2</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run outer A               run outer B</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inner_A.get() waits       inner_B.get() waits</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queue: [ inner A, inner B ]   no free worker</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Tasks that wait for tasks</a:t>
            </a:r>
            <a:endParaRPr lang="en-US" sz="2600" dirty="0"/>
          </a:p>
        </p:txBody>
      </p:sp>
      <p:sp>
        <p:nvSpPr>
          <p:cNvPr id="4" name="Text 2"/>
          <p:cNvSpPr txBox="1"/>
          <p:nvPr/>
        </p:nvSpPr>
        <p:spPr>
          <a:xfrm>
            <a:off x="502920" y="1234440"/>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 mutex is involved, but this is the same deadlock as v5. get() is a wait-for edge just like a lock: worker 1 waits for inner A, inner A needs a free worker, and every worker is waiting. Adding a third worker fixes this program, but three outer tasks break it again. Recursion creates waiting tasks faster than you can add workers.</a:t>
            </a:r>
            <a:endParaRPr lang="en-US" sz="1500" dirty="0"/>
          </a:p>
        </p:txBody>
      </p:sp>
      <p:sp>
        <p:nvSpPr>
          <p:cNvPr id="5" name="Text 3"/>
          <p:cNvSpPr txBox="1"/>
          <p:nvPr/>
        </p:nvSpPr>
        <p:spPr>
          <a:xfrm>
            <a:off x="502920" y="30632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Help while you wait</a:t>
            </a:r>
            <a:endParaRPr lang="en-US" sz="1800" dirty="0"/>
          </a:p>
        </p:txBody>
      </p:sp>
      <p:sp>
        <p:nvSpPr>
          <p:cNvPr id="6" name="Text 4"/>
          <p:cNvSpPr txBox="1"/>
          <p:nvPr/>
        </p:nvSpPr>
        <p:spPr>
          <a:xfrm>
            <a:off x="502920" y="3538728"/>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fix is to stop sleeping in get(). While a worker waits for its future, it takes other tasks from the queue and runs them. Sooner or later it runs the very task it is waiting for.</a:t>
            </a:r>
            <a:endParaRPr lang="en-US" sz="1500" dirty="0"/>
          </a:p>
        </p:txBody>
      </p:sp>
      <p:sp>
        <p:nvSpPr>
          <p:cNvPr id="7" name="Shape 5"/>
          <p:cNvSpPr/>
          <p:nvPr/>
        </p:nvSpPr>
        <p:spPr>
          <a:xfrm>
            <a:off x="6301588" y="1234440"/>
            <a:ext cx="5387188" cy="2806954"/>
          </a:xfrm>
          <a:prstGeom prst="roundRect">
            <a:avLst>
              <a:gd name="adj" fmla="val 1955"/>
            </a:avLst>
          </a:prstGeom>
          <a:solidFill>
            <a:srgbClr val="1E2230"/>
          </a:solidFill>
          <a:ln w="12700">
            <a:solidFill>
              <a:srgbClr val="1E2230"/>
            </a:solidFill>
            <a:prstDash val="solid"/>
          </a:ln>
        </p:spPr>
      </p:sp>
      <p:sp>
        <p:nvSpPr>
          <p:cNvPr id="8" name="Text 6"/>
          <p:cNvSpPr txBox="1"/>
          <p:nvPr/>
        </p:nvSpPr>
        <p:spPr>
          <a:xfrm>
            <a:off x="6484468" y="1371600"/>
            <a:ext cx="5021428" cy="253263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template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wait_helping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std::future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using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namespace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std::chrono_literals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wait_for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std::future_status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ready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try_pop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else</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std::this_thread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yield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9" name="Text 7"/>
          <p:cNvSpPr txBox="1"/>
          <p:nvPr/>
        </p:nvSpPr>
        <p:spPr>
          <a:xfrm>
            <a:off x="6301588" y="4187698"/>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finally gives try_pop from v3 a real job. A recursive sum written with wait_helping finishes correctly even on a pool with one worker. Real thread pools go further with a queue per worker and work stealing, but the idea is the same.</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Tasks that wait for tasks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recursive sum over 2,000,000 ints stops splitting below 10,000. Roughly how many tasks does it create?</a:t>
            </a:r>
            <a:endParaRPr lang="en-US" sz="1500" dirty="0"/>
          </a:p>
        </p:txBody>
      </p:sp>
      <p:sp>
        <p:nvSpPr>
          <p:cNvPr id="6" name="Shape 4"/>
          <p:cNvSpPr/>
          <p:nvPr/>
        </p:nvSpPr>
        <p:spPr>
          <a:xfrm>
            <a:off x="502920" y="2322576"/>
            <a:ext cx="5387188" cy="978408"/>
          </a:xfrm>
          <a:prstGeom prst="roundRect">
            <a:avLst>
              <a:gd name="adj" fmla="val 5607"/>
            </a:avLst>
          </a:prstGeom>
          <a:solidFill>
            <a:srgbClr val="F1F4F7"/>
          </a:solidFill>
          <a:ln w="12700">
            <a:solidFill>
              <a:srgbClr val="F1F4F7"/>
            </a:solidFill>
            <a:prstDash val="solid"/>
          </a:ln>
        </p:spPr>
      </p:sp>
      <p:sp>
        <p:nvSpPr>
          <p:cNvPr id="7" name="Text 5"/>
          <p:cNvSpPr txBox="1"/>
          <p:nvPr/>
        </p:nvSpPr>
        <p:spPr>
          <a:xfrm>
            <a:off x="685800" y="2450592"/>
            <a:ext cx="5021428" cy="74980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About 400. Each leaf has around 10,000 elements, so 200 leaves, and a binary tree has about as many inner nodes.</a:t>
            </a:r>
            <a:endParaRPr lang="en-US" sz="1400" dirty="0"/>
          </a:p>
        </p:txBody>
      </p:sp>
      <p:sp>
        <p:nvSpPr>
          <p:cNvPr id="8" name="Text 6"/>
          <p:cNvSpPr txBox="1"/>
          <p:nvPr/>
        </p:nvSpPr>
        <p:spPr>
          <a:xfrm>
            <a:off x="502920" y="3447288"/>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Trace the first split on a pool with one worker using wait_helping.</a:t>
            </a:r>
            <a:endParaRPr lang="en-US" sz="1500" dirty="0"/>
          </a:p>
        </p:txBody>
      </p:sp>
      <p:sp>
        <p:nvSpPr>
          <p:cNvPr id="9" name="Shape 7"/>
          <p:cNvSpPr/>
          <p:nvPr/>
        </p:nvSpPr>
        <p:spPr>
          <a:xfrm>
            <a:off x="502920" y="4005072"/>
            <a:ext cx="5387188" cy="978408"/>
          </a:xfrm>
          <a:prstGeom prst="roundRect">
            <a:avLst>
              <a:gd name="adj" fmla="val 5607"/>
            </a:avLst>
          </a:prstGeom>
          <a:solidFill>
            <a:srgbClr val="F1F4F7"/>
          </a:solidFill>
          <a:ln w="12700">
            <a:solidFill>
              <a:srgbClr val="F1F4F7"/>
            </a:solidFill>
            <a:prstDash val="solid"/>
          </a:ln>
        </p:spPr>
      </p:sp>
      <p:sp>
        <p:nvSpPr>
          <p:cNvPr id="10" name="Text 8"/>
          <p:cNvSpPr txBox="1"/>
          <p:nvPr/>
        </p:nvSpPr>
        <p:spPr>
          <a:xfrm>
            <a:off x="685800" y="4133088"/>
            <a:ext cx="5021428" cy="74980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worker submits the left half, computes the right half itself, then pops the left task and runs it while it waits for it.</a:t>
            </a:r>
            <a:endParaRPr lang="en-US" sz="1400" dirty="0"/>
          </a:p>
        </p:txBody>
      </p:sp>
      <p:sp>
        <p:nvSpPr>
          <p:cNvPr id="11" name="Text 9"/>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List what your pool now guarantees at the end of Part 2.</a:t>
            </a:r>
            <a:endParaRPr lang="en-US" sz="1500" dirty="0"/>
          </a:p>
        </p:txBody>
      </p:sp>
      <p:sp>
        <p:nvSpPr>
          <p:cNvPr id="12" name="Shape 10"/>
          <p:cNvSpPr/>
          <p:nvPr/>
        </p:nvSpPr>
        <p:spPr>
          <a:xfrm>
            <a:off x="6301588" y="1792224"/>
            <a:ext cx="5387188" cy="978408"/>
          </a:xfrm>
          <a:prstGeom prst="roundRect">
            <a:avLst>
              <a:gd name="adj" fmla="val 5607"/>
            </a:avLst>
          </a:prstGeom>
          <a:solidFill>
            <a:srgbClr val="F1F4F7"/>
          </a:solidFill>
          <a:ln w="12700">
            <a:solidFill>
              <a:srgbClr val="F1F4F7"/>
            </a:solidFill>
            <a:prstDash val="solid"/>
          </a:ln>
        </p:spPr>
      </p:sp>
      <p:sp>
        <p:nvSpPr>
          <p:cNvPr id="13" name="Text 11"/>
          <p:cNvSpPr txBox="1"/>
          <p:nvPr/>
        </p:nvSpPr>
        <p:spPr>
          <a:xfrm>
            <a:off x="6484468" y="1920240"/>
            <a:ext cx="5021428" cy="74980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Results and errors come back through futures, shutdown is clean, tasks can be cancelled with a token, and nested waits cannot deadlock.</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502920" y="2011680"/>
            <a:ext cx="5486400" cy="320040"/>
          </a:xfrm>
          <a:prstGeom prst="rect">
            <a:avLst/>
          </a:prstGeom>
          <a:noFill/>
          <a:ln/>
        </p:spPr>
        <p:txBody>
          <a:bodyPr wrap="square" lIns="0" tIns="0" rIns="0" bIns="0" rtlCol="0" anchor="ctr"/>
          <a:lstStyle/>
          <a:p>
            <a:pPr indent="0" marL="0">
              <a:buNone/>
            </a:pPr>
            <a:r>
              <a:rPr lang="en-US" sz="1500" b="1" dirty="0">
                <a:solidFill>
                  <a:srgbClr val="E9B44C"/>
                </a:solidFill>
                <a:latin typeface="Calibri" pitchFamily="34" charset="0"/>
                <a:ea typeface="Calibri" pitchFamily="34" charset="-122"/>
                <a:cs typeface="Calibri" pitchFamily="34" charset="-120"/>
              </a:rPr>
              <a:t>Part 3  ·  v11 to v14</a:t>
            </a:r>
            <a:endParaRPr lang="en-US" sz="1500" dirty="0"/>
          </a:p>
        </p:txBody>
      </p:sp>
      <p:sp>
        <p:nvSpPr>
          <p:cNvPr id="3" name="Text 1"/>
          <p:cNvSpPr txBox="1"/>
          <p:nvPr/>
        </p:nvSpPr>
        <p:spPr>
          <a:xfrm>
            <a:off x="502920" y="2468880"/>
            <a:ext cx="5852160" cy="1645920"/>
          </a:xfrm>
          <a:prstGeom prst="rect">
            <a:avLst/>
          </a:prstGeom>
          <a:noFill/>
          <a:ln/>
        </p:spPr>
        <p:txBody>
          <a:bodyPr wrap="square" lIns="0" tIns="0" rIns="0" bIns="0" rtlCol="0" anchor="t"/>
          <a:lstStyle/>
          <a:p>
            <a:pPr indent="0" marL="0">
              <a:buNone/>
            </a:pPr>
            <a:r>
              <a:rPr lang="en-US" sz="4200" b="1" dirty="0">
                <a:solidFill>
                  <a:srgbClr val="FFFFFF"/>
                </a:solidFill>
                <a:latin typeface="Cambria" pitchFamily="34" charset="0"/>
                <a:ea typeface="Cambria" pitchFamily="34" charset="-122"/>
                <a:cs typeface="Cambria" pitchFamily="34" charset="-120"/>
              </a:rPr>
              <a:t>Taking the locks away</a:t>
            </a:r>
            <a:endParaRPr lang="en-US" sz="4200" dirty="0"/>
          </a:p>
        </p:txBody>
      </p:sp>
      <p:sp>
        <p:nvSpPr>
          <p:cNvPr id="4" name="Text 2"/>
          <p:cNvSpPr txBox="1"/>
          <p:nvPr/>
        </p:nvSpPr>
        <p:spPr>
          <a:xfrm>
            <a:off x="6766560" y="2011680"/>
            <a:ext cx="4922215" cy="3840480"/>
          </a:xfrm>
          <a:prstGeom prst="rect">
            <a:avLst/>
          </a:prstGeom>
          <a:noFill/>
          <a:ln/>
        </p:spPr>
        <p:txBody>
          <a:bodyPr wrap="square" lIns="0" tIns="0" rIns="0" bIns="0" rtlCol="0" anchor="t"/>
          <a:lstStyle/>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v11   Counting without a lock</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v12   Two locks instead of one</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v13   No locks at all</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v14   Measuring honestly</a:t>
            </a:r>
            <a:endParaRPr lang="en-US" sz="1600" dirty="0"/>
          </a:p>
        </p:txBody>
      </p:sp>
      <p:sp>
        <p:nvSpPr>
          <p:cNvPr id="5"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D5DEE7"/>
                </a:solidFill>
                <a:latin typeface="Calibri"/>
                <a:ea typeface="Calibri"/>
                <a:cs typeface="Calibri"/>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Counting without a lock</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dashboard that slows the workers</a:t>
            </a:r>
            <a:endParaRPr lang="en-US" sz="1800" dirty="0"/>
          </a:p>
        </p:txBody>
      </p:sp>
      <p:sp>
        <p:nvSpPr>
          <p:cNvPr id="5" name="Text 3"/>
          <p:cNvSpPr txBox="1"/>
          <p:nvPr/>
        </p:nvSpPr>
        <p:spPr>
          <a:xfrm>
            <a:off x="502920"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We want a monitoring thread to show how many tasks were submitted and how many completed, refreshed every 100 ms. If the two counters sit behind a mutex, every worker that finishes a task has to take that mutex, and so does the dashboard. Is a lock really the only way to make ++ safe?</a:t>
            </a:r>
            <a:endParaRPr lang="en-US" sz="1500" dirty="0"/>
          </a:p>
        </p:txBody>
      </p:sp>
      <p:sp>
        <p:nvSpPr>
          <p:cNvPr id="6" name="Shape 4"/>
          <p:cNvSpPr/>
          <p:nvPr/>
        </p:nvSpPr>
        <p:spPr>
          <a:xfrm>
            <a:off x="502920" y="3310128"/>
            <a:ext cx="5387188" cy="1832864"/>
          </a:xfrm>
          <a:prstGeom prst="roundRect">
            <a:avLst>
              <a:gd name="adj" fmla="val 2993"/>
            </a:avLst>
          </a:prstGeom>
          <a:solidFill>
            <a:srgbClr val="1E2230"/>
          </a:solidFill>
          <a:ln w="12700">
            <a:solidFill>
              <a:srgbClr val="1E2230"/>
            </a:solidFill>
            <a:prstDash val="solid"/>
          </a:ln>
        </p:spPr>
      </p:sp>
      <p:sp>
        <p:nvSpPr>
          <p:cNvPr id="7" name="Text 5"/>
          <p:cNvSpPr txBox="1"/>
          <p:nvPr/>
        </p:nvSpPr>
        <p:spPr>
          <a:xfrm>
            <a:off x="685800" y="3447288"/>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plain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A: no lock</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B: mutex</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counter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C: atomic</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two threads, 1,000,000 times each</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plain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counter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fetch_add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Shape 6"/>
          <p:cNvSpPr/>
          <p:nvPr/>
        </p:nvSpPr>
        <p:spPr>
          <a:xfrm>
            <a:off x="502920" y="5289296"/>
            <a:ext cx="5387188" cy="1053592"/>
          </a:xfrm>
          <a:prstGeom prst="roundRect">
            <a:avLst>
              <a:gd name="adj" fmla="val 5207"/>
            </a:avLst>
          </a:prstGeom>
          <a:solidFill>
            <a:srgbClr val="0F1419"/>
          </a:solidFill>
          <a:ln w="12700">
            <a:solidFill>
              <a:srgbClr val="0F1419"/>
            </a:solidFill>
            <a:prstDash val="solid"/>
          </a:ln>
        </p:spPr>
      </p:sp>
      <p:sp>
        <p:nvSpPr>
          <p:cNvPr id="9" name="Text 7"/>
          <p:cNvSpPr txBox="1"/>
          <p:nvPr/>
        </p:nvSpPr>
        <p:spPr>
          <a:xfrm>
            <a:off x="685800" y="5426456"/>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v11 tiny_atomic</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no lock:     1056548   (4 ms)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std::mutex:  2000000   (212 ms)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std::atomic: 2000000   (27 ms)</a:t>
            </a:r>
            <a:endParaRPr lang="en-US" sz="1300" dirty="0"/>
          </a:p>
        </p:txBody>
      </p:sp>
      <p:sp>
        <p:nvSpPr>
          <p:cNvPr id="10" name="Text 8"/>
          <p:cNvSpPr txBox="1"/>
          <p:nvPr/>
        </p:nvSpPr>
        <p:spPr>
          <a:xfrm>
            <a:off x="6301588"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plain int loses updates, exactly as in v2. The mutex and the atomic are both correct, and the atomic is several times faster because nobody ever waits for it.</a:t>
            </a:r>
            <a:endParaRPr lang="en-US" sz="1500" dirty="0"/>
          </a:p>
        </p:txBody>
      </p:sp>
      <p:sp>
        <p:nvSpPr>
          <p:cNvPr id="11" name="Text 9"/>
          <p:cNvSpPr txBox="1"/>
          <p:nvPr/>
        </p:nvSpPr>
        <p:spPr>
          <a:xfrm>
            <a:off x="6301588" y="23774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One indivisible step</a:t>
            </a:r>
            <a:endParaRPr lang="en-US" sz="1800" dirty="0"/>
          </a:p>
        </p:txBody>
      </p:sp>
      <p:sp>
        <p:nvSpPr>
          <p:cNvPr id="12" name="Shape 10"/>
          <p:cNvSpPr/>
          <p:nvPr/>
        </p:nvSpPr>
        <p:spPr>
          <a:xfrm>
            <a:off x="6301588" y="2852928"/>
            <a:ext cx="5387188" cy="1053592"/>
          </a:xfrm>
          <a:prstGeom prst="roundRect">
            <a:avLst>
              <a:gd name="adj" fmla="val 5207"/>
            </a:avLst>
          </a:prstGeom>
          <a:solidFill>
            <a:srgbClr val="F1F4F7"/>
          </a:solidFill>
          <a:ln w="12700">
            <a:solidFill>
              <a:srgbClr val="F1F4F7"/>
            </a:solidFill>
            <a:prstDash val="solid"/>
          </a:ln>
        </p:spPr>
      </p:sp>
      <p:sp>
        <p:nvSpPr>
          <p:cNvPr id="13" name="Text 11"/>
          <p:cNvSpPr txBox="1"/>
          <p:nvPr/>
        </p:nvSpPr>
        <p:spPr>
          <a:xfrm>
            <a:off x="6484468" y="2990088"/>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++n on a plain int:   read -&gt; add -&gt; write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three steps, can interleave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n.fetch_add(1):       read+add+write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one step, nobody in between</a:t>
            </a:r>
            <a:endParaRPr lang="en-US" sz="1300" dirty="0"/>
          </a:p>
        </p:txBody>
      </p:sp>
      <p:sp>
        <p:nvSpPr>
          <p:cNvPr id="14" name="Text 12"/>
          <p:cNvSpPr txBox="1"/>
          <p:nvPr/>
        </p:nvSpPr>
        <p:spPr>
          <a:xfrm>
            <a:off x="6301588" y="4052824"/>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std::atomic&lt;int&gt; asks the hardware to do the read, the add and the write as one indivisible operation. Another thread can only see the value before or after it, never in the middle. Be careful though: counter = counter + 1 on an atomic is an atomic read followed by a separate atomic write. That is two steps again, and updates get lost again.</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Counting without a lock</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second question: what else does the other thread see?</a:t>
            </a:r>
            <a:endParaRPr lang="en-US" sz="1800" dirty="0"/>
          </a:p>
        </p:txBody>
      </p:sp>
      <p:sp>
        <p:nvSpPr>
          <p:cNvPr id="5" name="Text 3"/>
          <p:cNvSpPr txBox="1"/>
          <p:nvPr/>
        </p:nvSpPr>
        <p:spPr>
          <a:xfrm>
            <a:off x="502920" y="1764792"/>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Atomics also matter when one thread prepares data and then raises a flag to say it is ready.</a:t>
            </a:r>
            <a:endParaRPr lang="en-US" sz="1500" dirty="0"/>
          </a:p>
        </p:txBody>
      </p:sp>
      <p:sp>
        <p:nvSpPr>
          <p:cNvPr id="6" name="Shape 4"/>
          <p:cNvSpPr/>
          <p:nvPr/>
        </p:nvSpPr>
        <p:spPr>
          <a:xfrm>
            <a:off x="502920" y="2395728"/>
            <a:ext cx="5387188" cy="1248410"/>
          </a:xfrm>
          <a:prstGeom prst="roundRect">
            <a:avLst>
              <a:gd name="adj" fmla="val 4395"/>
            </a:avLst>
          </a:prstGeom>
          <a:solidFill>
            <a:srgbClr val="F1F4F7"/>
          </a:solidFill>
          <a:ln w="12700">
            <a:solidFill>
              <a:srgbClr val="F1F4F7"/>
            </a:solidFill>
            <a:prstDash val="solid"/>
          </a:ln>
        </p:spPr>
      </p:sp>
      <p:sp>
        <p:nvSpPr>
          <p:cNvPr id="7" name="Text 5"/>
          <p:cNvSpPr txBox="1"/>
          <p:nvPr/>
        </p:nvSpPr>
        <p:spPr>
          <a:xfrm>
            <a:off x="685800" y="2532888"/>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writer                         reader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data = 42;          plain int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ready = true;       atomic</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sees ready == true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reads data: 42 or 0?</a:t>
            </a:r>
            <a:endParaRPr lang="en-US" sz="1300" dirty="0"/>
          </a:p>
        </p:txBody>
      </p:sp>
      <p:sp>
        <p:nvSpPr>
          <p:cNvPr id="8" name="Text 6"/>
          <p:cNvSpPr txBox="1"/>
          <p:nvPr/>
        </p:nvSpPr>
        <p:spPr>
          <a:xfrm>
            <a:off x="6301588" y="1234440"/>
            <a:ext cx="5387188" cy="2770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Without more care the reader can see the flag but still read the old data, because compilers and CPUs are allowed to reorder memory operations. Memory order controls this. memory_order_relaxed only promises that the operation itself is atomic, which is enough for a counter. A store with memory_order_release paired with a load with memory_order_acquire promises that everything written before the store is visible after the load that reads it. That is how one thread publishes data to another. When unsure, leave out the memory order: the default is always correct, just slower.</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Counting without a lock</a:t>
            </a:r>
            <a:endParaRPr lang="en-US" sz="2600" dirty="0"/>
          </a:p>
        </p:txBody>
      </p:sp>
      <p:sp>
        <p:nvSpPr>
          <p:cNvPr id="4" name="Shape 2"/>
          <p:cNvSpPr/>
          <p:nvPr/>
        </p:nvSpPr>
        <p:spPr>
          <a:xfrm>
            <a:off x="502920" y="1234440"/>
            <a:ext cx="5387188" cy="2417318"/>
          </a:xfrm>
          <a:prstGeom prst="roundRect">
            <a:avLst>
              <a:gd name="adj" fmla="val 2270"/>
            </a:avLst>
          </a:prstGeom>
          <a:solidFill>
            <a:srgbClr val="1E2230"/>
          </a:solidFill>
          <a:ln w="12700">
            <a:solidFill>
              <a:srgbClr val="1E2230"/>
            </a:solidFill>
            <a:prstDash val="solid"/>
          </a:ln>
        </p:spPr>
      </p:sp>
      <p:sp>
        <p:nvSpPr>
          <p:cNvPr id="5" name="Text 3"/>
          <p:cNvSpPr txBox="1"/>
          <p:nvPr/>
        </p:nvSpPr>
        <p:spPr>
          <a:xfrm>
            <a:off x="685800" y="1371600"/>
            <a:ext cx="5021428" cy="2142998"/>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submitted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completed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run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completed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fetch_add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std::memory_order_relaxed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tasks_completed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completed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std::memory_order_relaxed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6" name="Text 4"/>
          <p:cNvSpPr txBox="1"/>
          <p:nvPr/>
        </p:nvSpPr>
        <p:spPr>
          <a:xfrm>
            <a:off x="502920" y="3852926"/>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7" name="Text 5"/>
          <p:cNvSpPr txBox="1"/>
          <p:nvPr/>
        </p:nvSpPr>
        <p:spPr>
          <a:xfrm>
            <a:off x="502920" y="4328414"/>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After 10,000 tasks have finished, what must submitted and completed read?</a:t>
            </a:r>
            <a:endParaRPr lang="en-US" sz="1500" dirty="0"/>
          </a:p>
        </p:txBody>
      </p:sp>
      <p:sp>
        <p:nvSpPr>
          <p:cNvPr id="8" name="Shape 6"/>
          <p:cNvSpPr/>
          <p:nvPr/>
        </p:nvSpPr>
        <p:spPr>
          <a:xfrm>
            <a:off x="502920" y="4886198"/>
            <a:ext cx="5387188" cy="551688"/>
          </a:xfrm>
          <a:prstGeom prst="roundRect">
            <a:avLst>
              <a:gd name="adj" fmla="val 9945"/>
            </a:avLst>
          </a:prstGeom>
          <a:solidFill>
            <a:srgbClr val="F1F4F7"/>
          </a:solidFill>
          <a:ln w="12700">
            <a:solidFill>
              <a:srgbClr val="F1F4F7"/>
            </a:solidFill>
            <a:prstDash val="solid"/>
          </a:ln>
        </p:spPr>
      </p:sp>
      <p:sp>
        <p:nvSpPr>
          <p:cNvPr id="9" name="Text 7"/>
          <p:cNvSpPr txBox="1"/>
          <p:nvPr/>
        </p:nvSpPr>
        <p:spPr>
          <a:xfrm>
            <a:off x="685800" y="5014214"/>
            <a:ext cx="5021428" cy="3230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Both read 10,000.</a:t>
            </a:r>
            <a:endParaRPr lang="en-US" sz="1400" dirty="0"/>
          </a:p>
        </p:txBody>
      </p:sp>
      <p:sp>
        <p:nvSpPr>
          <p:cNvPr id="10" name="Text 8"/>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The dashboard reads submitted and then completed. Can it ever show completed greater than submitted?</a:t>
            </a:r>
            <a:endParaRPr lang="en-US" sz="1500" dirty="0"/>
          </a:p>
        </p:txBody>
      </p:sp>
      <p:sp>
        <p:nvSpPr>
          <p:cNvPr id="11" name="Shape 9"/>
          <p:cNvSpPr/>
          <p:nvPr/>
        </p:nvSpPr>
        <p:spPr>
          <a:xfrm>
            <a:off x="6301588" y="1792224"/>
            <a:ext cx="5387188" cy="765048"/>
          </a:xfrm>
          <a:prstGeom prst="roundRect">
            <a:avLst>
              <a:gd name="adj" fmla="val 7171"/>
            </a:avLst>
          </a:prstGeom>
          <a:solidFill>
            <a:srgbClr val="F1F4F7"/>
          </a:solidFill>
          <a:ln w="12700">
            <a:solidFill>
              <a:srgbClr val="F1F4F7"/>
            </a:solidFill>
            <a:prstDash val="solid"/>
          </a:ln>
        </p:spPr>
      </p:sp>
      <p:sp>
        <p:nvSpPr>
          <p:cNvPr id="12" name="Text 10"/>
          <p:cNvSpPr txBox="1"/>
          <p:nvPr/>
        </p:nvSpPr>
        <p:spPr>
          <a:xfrm>
            <a:off x="6484468" y="1920240"/>
            <a:ext cx="5021428" cy="5364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Yes. Two separate loads are not one snapshot. Read completed first, or treat the pair as an estimate.</a:t>
            </a:r>
            <a:endParaRPr lang="en-US" sz="1400" dirty="0"/>
          </a:p>
        </p:txBody>
      </p:sp>
      <p:sp>
        <p:nvSpPr>
          <p:cNvPr id="13" name="Text 11"/>
          <p:cNvSpPr txBox="1"/>
          <p:nvPr/>
        </p:nvSpPr>
        <p:spPr>
          <a:xfrm>
            <a:off x="6301588" y="270357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Make v9's default_pool() lazily created using an atomic pointer.</a:t>
            </a:r>
            <a:endParaRPr lang="en-US" sz="1500" dirty="0"/>
          </a:p>
        </p:txBody>
      </p:sp>
      <p:sp>
        <p:nvSpPr>
          <p:cNvPr id="14" name="Shape 12"/>
          <p:cNvSpPr/>
          <p:nvPr/>
        </p:nvSpPr>
        <p:spPr>
          <a:xfrm>
            <a:off x="6301588" y="3261360"/>
            <a:ext cx="5387188" cy="765048"/>
          </a:xfrm>
          <a:prstGeom prst="roundRect">
            <a:avLst>
              <a:gd name="adj" fmla="val 7171"/>
            </a:avLst>
          </a:prstGeom>
          <a:solidFill>
            <a:srgbClr val="F1F4F7"/>
          </a:solidFill>
          <a:ln w="12700">
            <a:solidFill>
              <a:srgbClr val="F1F4F7"/>
            </a:solidFill>
            <a:prstDash val="solid"/>
          </a:ln>
        </p:spPr>
      </p:sp>
      <p:sp>
        <p:nvSpPr>
          <p:cNvPr id="15" name="Text 13"/>
          <p:cNvSpPr txBox="1"/>
          <p:nvPr/>
        </p:nvSpPr>
        <p:spPr>
          <a:xfrm>
            <a:off x="6484468" y="3389376"/>
            <a:ext cx="5021428" cy="5364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Load with acquire, and if it is null take a mutex, check again, create the pool and store with release.</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locks instead of one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Producers and consumers share one lock</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producer only ever touches the back of the queue and a consumer only the front. With one mutex they still wait for each other. Measuring v11's queue shows it getting slower as threads are added.</a:t>
            </a:r>
            <a:endParaRPr lang="en-US" sz="1500" dirty="0"/>
          </a:p>
        </p:txBody>
      </p:sp>
      <p:sp>
        <p:nvSpPr>
          <p:cNvPr id="6" name="Shape 4"/>
          <p:cNvSpPr/>
          <p:nvPr/>
        </p:nvSpPr>
        <p:spPr>
          <a:xfrm>
            <a:off x="502920" y="2852928"/>
            <a:ext cx="5387188" cy="1053592"/>
          </a:xfrm>
          <a:prstGeom prst="roundRect">
            <a:avLst>
              <a:gd name="adj" fmla="val 5207"/>
            </a:avLst>
          </a:prstGeom>
          <a:solidFill>
            <a:srgbClr val="0F1419"/>
          </a:solidFill>
          <a:ln w="12700">
            <a:solidFill>
              <a:srgbClr val="0F1419"/>
            </a:solidFill>
            <a:prstDash val="solid"/>
          </a:ln>
        </p:spPr>
      </p:sp>
      <p:sp>
        <p:nvSpPr>
          <p:cNvPr id="7" name="Text 5"/>
          <p:cNvSpPr txBox="1"/>
          <p:nvPr/>
        </p:nvSpPr>
        <p:spPr>
          <a:xfrm>
            <a:off x="685800" y="2990088"/>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./run.sh v11 next_bug</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1x1: 5.7 M items/s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4x4: 3.0 M items/s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8x8: 2.0 M items/s</a:t>
            </a:r>
            <a:endParaRPr lang="en-US" sz="1300" dirty="0"/>
          </a:p>
        </p:txBody>
      </p:sp>
      <p:sp>
        <p:nvSpPr>
          <p:cNvPr id="8" name="Text 6"/>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linked list with a dummy node</a:t>
            </a:r>
            <a:endParaRPr lang="en-US" sz="1800" dirty="0"/>
          </a:p>
        </p:txBody>
      </p:sp>
      <p:sp>
        <p:nvSpPr>
          <p:cNvPr id="9" name="Text 7"/>
          <p:cNvSpPr txBox="1"/>
          <p:nvPr/>
        </p:nvSpPr>
        <p:spPr>
          <a:xfrm>
            <a:off x="6301588" y="1764792"/>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Give each end its own lock. To make that safe, the queue becomes a singly linked list that always ends in an empty dummy node. Producers fill the dummy and append a new one under tail_m. Consumers take from the front under head_m. Because the tail always points at an empty dummy, the head and the tail never refer to the same real item, so the two locks never guard the same node.</a:t>
            </a:r>
            <a:endParaRPr lang="en-US" sz="1500" dirty="0"/>
          </a:p>
        </p:txBody>
      </p:sp>
      <p:sp>
        <p:nvSpPr>
          <p:cNvPr id="10" name="Shape 8"/>
          <p:cNvSpPr/>
          <p:nvPr/>
        </p:nvSpPr>
        <p:spPr>
          <a:xfrm>
            <a:off x="6301588" y="3767328"/>
            <a:ext cx="5387188" cy="1053592"/>
          </a:xfrm>
          <a:prstGeom prst="roundRect">
            <a:avLst>
              <a:gd name="adj" fmla="val 5207"/>
            </a:avLst>
          </a:prstGeom>
          <a:solidFill>
            <a:srgbClr val="F1F4F7"/>
          </a:solidFill>
          <a:ln w="12700">
            <a:solidFill>
              <a:srgbClr val="F1F4F7"/>
            </a:solidFill>
            <a:prstDash val="solid"/>
          </a:ln>
        </p:spPr>
      </p:sp>
      <p:sp>
        <p:nvSpPr>
          <p:cNvPr id="11" name="Text 9"/>
          <p:cNvSpPr txBox="1"/>
          <p:nvPr/>
        </p:nvSpPr>
        <p:spPr>
          <a:xfrm>
            <a:off x="6484468" y="3904488"/>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head_m                         tail_m</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v                              v</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 ] -&gt; [ b ] -&gt; [ c ] -&gt; [ dummy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consumers take here       producers fill here</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locks instead of one</a:t>
            </a:r>
            <a:endParaRPr lang="en-US" sz="2600" dirty="0"/>
          </a:p>
        </p:txBody>
      </p:sp>
      <p:sp>
        <p:nvSpPr>
          <p:cNvPr id="4" name="Shape 2"/>
          <p:cNvSpPr/>
          <p:nvPr/>
        </p:nvSpPr>
        <p:spPr>
          <a:xfrm>
            <a:off x="502920" y="1234440"/>
            <a:ext cx="5387188" cy="2806954"/>
          </a:xfrm>
          <a:prstGeom prst="roundRect">
            <a:avLst>
              <a:gd name="adj" fmla="val 1955"/>
            </a:avLst>
          </a:prstGeom>
          <a:solidFill>
            <a:srgbClr val="1E2230"/>
          </a:solidFill>
          <a:ln w="12700">
            <a:solidFill>
              <a:srgbClr val="1E2230"/>
            </a:solidFill>
            <a:prstDash val="solid"/>
          </a:ln>
        </p:spPr>
      </p:sp>
      <p:sp>
        <p:nvSpPr>
          <p:cNvPr id="5" name="Text 3"/>
          <p:cNvSpPr txBox="1"/>
          <p:nvPr/>
        </p:nvSpPr>
        <p:spPr>
          <a:xfrm>
            <a:off x="685800" y="1371600"/>
            <a:ext cx="5021428" cy="253263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dummy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std::make_unique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Node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tail_m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value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Node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new_tail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dummy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next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dummy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new_tail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head_m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notify_one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6" name="Text 4"/>
          <p:cNvSpPr txBox="1"/>
          <p:nvPr/>
        </p:nvSpPr>
        <p:spPr>
          <a:xfrm>
            <a:off x="502920" y="4242562"/>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lost wake-up comes back</a:t>
            </a:r>
            <a:endParaRPr lang="en-US" sz="1800" dirty="0"/>
          </a:p>
        </p:txBody>
      </p:sp>
      <p:sp>
        <p:nvSpPr>
          <p:cNvPr id="7" name="Text 5"/>
          <p:cNvSpPr txBox="1"/>
          <p:nvPr/>
        </p:nvSpPr>
        <p:spPr>
          <a:xfrm>
            <a:off x="502920" y="4718050"/>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Consumers wait on the condition variable while holding head_m, but producers now only hold tail_m. That reopens the gap from v4.</a:t>
            </a:r>
            <a:endParaRPr lang="en-US" sz="1500" dirty="0"/>
          </a:p>
        </p:txBody>
      </p:sp>
      <p:sp>
        <p:nvSpPr>
          <p:cNvPr id="8" name="Shape 6"/>
          <p:cNvSpPr/>
          <p:nvPr/>
        </p:nvSpPr>
        <p:spPr>
          <a:xfrm>
            <a:off x="6301588" y="1234440"/>
            <a:ext cx="5387188" cy="1248410"/>
          </a:xfrm>
          <a:prstGeom prst="roundRect">
            <a:avLst>
              <a:gd name="adj" fmla="val 4395"/>
            </a:avLst>
          </a:prstGeom>
          <a:solidFill>
            <a:srgbClr val="F1F4F7"/>
          </a:solidFill>
          <a:ln w="12700">
            <a:solidFill>
              <a:srgbClr val="F1F4F7"/>
            </a:solidFill>
            <a:prstDash val="solid"/>
          </a:ln>
        </p:spPr>
      </p:sp>
      <p:sp>
        <p:nvSpPr>
          <p:cNvPr id="9" name="Text 7"/>
          <p:cNvSpPr txBox="1"/>
          <p:nvPr/>
        </p:nvSpPr>
        <p:spPr>
          <a:xfrm>
            <a:off x="6484468" y="1371600"/>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 (holds head_m)     producer (holds tail_m)</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checks: queue is empty</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appends item, notifies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(nobody is waiting yet)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starts waiting, never wakes</a:t>
            </a:r>
            <a:endParaRPr lang="en-US" sz="1300" dirty="0"/>
          </a:p>
        </p:txBody>
      </p:sp>
      <p:sp>
        <p:nvSpPr>
          <p:cNvPr id="10" name="Text 8"/>
          <p:cNvSpPr txBox="1"/>
          <p:nvPr/>
        </p:nvSpPr>
        <p:spPr>
          <a:xfrm>
            <a:off x="6301588" y="2629154"/>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That is why push() briefly takes head_m before notifying. The empty block looks strange, but it means the producer cannot notify while a consumer is between its check and its sleep.</a:t>
            </a:r>
            <a:endParaRPr lang="en-US" sz="1500" dirty="0"/>
          </a:p>
        </p:txBody>
      </p:sp>
      <p:sp>
        <p:nvSpPr>
          <p:cNvPr id="11" name="Text 9"/>
          <p:cNvSpPr txBox="1"/>
          <p:nvPr/>
        </p:nvSpPr>
        <p:spPr>
          <a:xfrm>
            <a:off x="6301588" y="377215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Did it help?</a:t>
            </a:r>
            <a:endParaRPr lang="en-US" sz="1800" dirty="0"/>
          </a:p>
        </p:txBody>
      </p:sp>
      <p:sp>
        <p:nvSpPr>
          <p:cNvPr id="12" name="Shape 10"/>
          <p:cNvSpPr/>
          <p:nvPr/>
        </p:nvSpPr>
        <p:spPr>
          <a:xfrm>
            <a:off x="6301588" y="4247642"/>
            <a:ext cx="5387188" cy="858774"/>
          </a:xfrm>
          <a:prstGeom prst="roundRect">
            <a:avLst>
              <a:gd name="adj" fmla="val 6389"/>
            </a:avLst>
          </a:prstGeom>
          <a:solidFill>
            <a:srgbClr val="0F1419"/>
          </a:solidFill>
          <a:ln w="12700">
            <a:solidFill>
              <a:srgbClr val="0F1419"/>
            </a:solidFill>
            <a:prstDash val="solid"/>
          </a:ln>
        </p:spPr>
      </p:sp>
      <p:sp>
        <p:nvSpPr>
          <p:cNvPr id="13" name="Text 11"/>
          <p:cNvSpPr txBox="1"/>
          <p:nvPr/>
        </p:nvSpPr>
        <p:spPr>
          <a:xfrm>
            <a:off x="6484468" y="4384802"/>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./run.sh v12 tiny_contention</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1x1 one mutex: 6.1 M/s   two locks: 0.9 M/s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4x4 one mutex: 3.7 M/s   two locks: 1.1 M/s</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locks instead of one</a:t>
            </a:r>
            <a:endParaRPr lang="en-US" sz="2600" dirty="0"/>
          </a:p>
        </p:txBody>
      </p:sp>
      <p:sp>
        <p:nvSpPr>
          <p:cNvPr id="4" name="Text 2"/>
          <p:cNvSpPr txBox="1"/>
          <p:nvPr/>
        </p:nvSpPr>
        <p:spPr>
          <a:xfrm>
            <a:off x="502920" y="123444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Most people expect the two-lock queue to win. On this machine it lost. It removed waiting, but every push now allocates a node and takes two locks, and that costs more than the contention it saved. Finer locking is a trade, and only a measurement tells you which side wins.</a:t>
            </a:r>
            <a:endParaRPr lang="en-US" sz="1500" dirty="0"/>
          </a:p>
        </p:txBody>
      </p:sp>
      <p:sp>
        <p:nvSpPr>
          <p:cNvPr id="5" name="Text 3"/>
          <p:cNvSpPr txBox="1"/>
          <p:nvPr/>
        </p:nvSpPr>
        <p:spPr>
          <a:xfrm>
            <a:off x="502920" y="28346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6" name="Text 4"/>
          <p:cNvSpPr txBox="1"/>
          <p:nvPr/>
        </p:nvSpPr>
        <p:spPr>
          <a:xfrm>
            <a:off x="502920" y="3310128"/>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million pushes. Roughly how many heap allocations in v7, and in v12?</a:t>
            </a:r>
            <a:endParaRPr lang="en-US" sz="1500" dirty="0"/>
          </a:p>
        </p:txBody>
      </p:sp>
      <p:sp>
        <p:nvSpPr>
          <p:cNvPr id="7" name="Shape 5"/>
          <p:cNvSpPr/>
          <p:nvPr/>
        </p:nvSpPr>
        <p:spPr>
          <a:xfrm>
            <a:off x="502920" y="3867912"/>
            <a:ext cx="5387188" cy="765048"/>
          </a:xfrm>
          <a:prstGeom prst="roundRect">
            <a:avLst>
              <a:gd name="adj" fmla="val 7171"/>
            </a:avLst>
          </a:prstGeom>
          <a:solidFill>
            <a:srgbClr val="F1F4F7"/>
          </a:solidFill>
          <a:ln w="12700">
            <a:solidFill>
              <a:srgbClr val="F1F4F7"/>
            </a:solidFill>
            <a:prstDash val="solid"/>
          </a:ln>
        </p:spPr>
      </p:sp>
      <p:sp>
        <p:nvSpPr>
          <p:cNvPr id="8" name="Text 6"/>
          <p:cNvSpPr txBox="1"/>
          <p:nvPr/>
        </p:nvSpPr>
        <p:spPr>
          <a:xfrm>
            <a:off x="685800" y="3995928"/>
            <a:ext cx="5021428" cy="5364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v7 allocates a block every few hundred items. v12 allocates one node per push, a million in total.</a:t>
            </a:r>
            <a:endParaRPr lang="en-US" sz="1400" dirty="0"/>
          </a:p>
        </p:txBody>
      </p:sp>
      <p:sp>
        <p:nvSpPr>
          <p:cNvPr id="9" name="Text 7"/>
          <p:cNvSpPr txBox="1"/>
          <p:nvPr/>
        </p:nvSpPr>
        <p:spPr>
          <a:xfrm>
            <a:off x="502920" y="4779264"/>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Remove the empty head_m block. Trace a consumer that never wakes.</a:t>
            </a:r>
            <a:endParaRPr lang="en-US" sz="1500" dirty="0"/>
          </a:p>
        </p:txBody>
      </p:sp>
      <p:sp>
        <p:nvSpPr>
          <p:cNvPr id="10" name="Shape 8"/>
          <p:cNvSpPr/>
          <p:nvPr/>
        </p:nvSpPr>
        <p:spPr>
          <a:xfrm>
            <a:off x="502920" y="5337048"/>
            <a:ext cx="5387188" cy="978408"/>
          </a:xfrm>
          <a:prstGeom prst="roundRect">
            <a:avLst>
              <a:gd name="adj" fmla="val 5607"/>
            </a:avLst>
          </a:prstGeom>
          <a:solidFill>
            <a:srgbClr val="F1F4F7"/>
          </a:solidFill>
          <a:ln w="12700">
            <a:solidFill>
              <a:srgbClr val="F1F4F7"/>
            </a:solidFill>
            <a:prstDash val="solid"/>
          </a:ln>
        </p:spPr>
      </p:sp>
      <p:sp>
        <p:nvSpPr>
          <p:cNvPr id="11" name="Text 9"/>
          <p:cNvSpPr txBox="1"/>
          <p:nvPr/>
        </p:nvSpPr>
        <p:spPr>
          <a:xfrm>
            <a:off x="685800" y="5465064"/>
            <a:ext cx="5021428" cy="74980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consumer sees an empty queue, the producer appends and notifies, then the consumer starts waiting and misses the signal.</a:t>
            </a:r>
            <a:endParaRPr lang="en-US" sz="1400" dirty="0"/>
          </a:p>
        </p:txBody>
      </p:sp>
      <p:sp>
        <p:nvSpPr>
          <p:cNvPr id="12" name="Text 10"/>
          <p:cNvSpPr txBox="1"/>
          <p:nvPr/>
        </p:nvSpPr>
        <p:spPr>
          <a:xfrm>
            <a:off x="6301588" y="1234440"/>
            <a:ext cx="5387188" cy="2560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Apply the same idea to a hash map. What do you lock?</a:t>
            </a:r>
            <a:endParaRPr lang="en-US" sz="1500" dirty="0"/>
          </a:p>
        </p:txBody>
      </p:sp>
      <p:sp>
        <p:nvSpPr>
          <p:cNvPr id="13" name="Shape 11"/>
          <p:cNvSpPr/>
          <p:nvPr/>
        </p:nvSpPr>
        <p:spPr>
          <a:xfrm>
            <a:off x="6301588" y="1563624"/>
            <a:ext cx="5387188" cy="765048"/>
          </a:xfrm>
          <a:prstGeom prst="roundRect">
            <a:avLst>
              <a:gd name="adj" fmla="val 7171"/>
            </a:avLst>
          </a:prstGeom>
          <a:solidFill>
            <a:srgbClr val="F1F4F7"/>
          </a:solidFill>
          <a:ln w="12700">
            <a:solidFill>
              <a:srgbClr val="F1F4F7"/>
            </a:solidFill>
            <a:prstDash val="solid"/>
          </a:ln>
        </p:spPr>
      </p:sp>
      <p:sp>
        <p:nvSpPr>
          <p:cNvPr id="14" name="Text 12"/>
          <p:cNvSpPr txBox="1"/>
          <p:nvPr/>
        </p:nvSpPr>
        <p:spPr>
          <a:xfrm>
            <a:off x="6484468" y="1691640"/>
            <a:ext cx="5021428" cy="5364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One mutex per bucket, so threads working on different buckets never wait for each other.</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locks at all</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One producer, one consumer</a:t>
            </a:r>
            <a:endParaRPr lang="en-US" sz="1800" dirty="0"/>
          </a:p>
        </p:txBody>
      </p:sp>
      <p:sp>
        <p:nvSpPr>
          <p:cNvPr id="5" name="Text 3"/>
          <p:cNvSpPr txBox="1"/>
          <p:nvPr/>
        </p:nvSpPr>
        <p:spPr>
          <a:xfrm>
            <a:off x="502920" y="1764792"/>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feed handler has exactly one thread reading the network and one thread parsing messages. v12 spent between one and four microseconds per item, while a message should cost about 100 nanoseconds. Locks, allocation and sleeping each cost more than the message. With exactly one producer and one consumer we can drop all three.</a:t>
            </a:r>
            <a:endParaRPr lang="en-US" sz="1500" dirty="0"/>
          </a:p>
        </p:txBody>
      </p:sp>
      <p:sp>
        <p:nvSpPr>
          <p:cNvPr id="6" name="Shape 4"/>
          <p:cNvSpPr/>
          <p:nvPr/>
        </p:nvSpPr>
        <p:spPr>
          <a:xfrm>
            <a:off x="502920" y="3538728"/>
            <a:ext cx="5387188" cy="1248410"/>
          </a:xfrm>
          <a:prstGeom prst="roundRect">
            <a:avLst>
              <a:gd name="adj" fmla="val 4395"/>
            </a:avLst>
          </a:prstGeom>
          <a:solidFill>
            <a:srgbClr val="F1F4F7"/>
          </a:solidFill>
          <a:ln w="12700">
            <a:solidFill>
              <a:srgbClr val="F1F4F7"/>
            </a:solidFill>
            <a:prstDash val="solid"/>
          </a:ln>
        </p:spPr>
      </p:sp>
      <p:sp>
        <p:nvSpPr>
          <p:cNvPr id="7" name="Text 5"/>
          <p:cNvSpPr txBox="1"/>
          <p:nvPr/>
        </p:nvSpPr>
        <p:spPr>
          <a:xfrm>
            <a:off x="685800" y="3675888"/>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slots: [ . | a | b | c | . | . | . | .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head        tail</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the consumer owns head, the producer owns tail</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each only reads the other's index</a:t>
            </a:r>
            <a:endParaRPr lang="en-US" sz="1300" dirty="0"/>
          </a:p>
        </p:txBody>
      </p:sp>
      <p:sp>
        <p:nvSpPr>
          <p:cNvPr id="8" name="Text 6"/>
          <p:cNvSpPr txBox="1"/>
          <p:nvPr/>
        </p:nvSpPr>
        <p:spPr>
          <a:xfrm>
            <a:off x="502920" y="493344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queue becomes a fixed array of N slots, a ring buffer. Only the producer ever writes tail and only the consumer ever writes head. Since each index has a single writer, there is nothing to lock. The atomics are only there to tell the other side that a slot changed.</a:t>
            </a:r>
            <a:endParaRPr lang="en-US" sz="1500" dirty="0"/>
          </a:p>
        </p:txBody>
      </p:sp>
      <p:sp>
        <p:nvSpPr>
          <p:cNvPr id="9" name="Shape 7"/>
          <p:cNvSpPr/>
          <p:nvPr/>
        </p:nvSpPr>
        <p:spPr>
          <a:xfrm>
            <a:off x="6301588" y="1234440"/>
            <a:ext cx="5387188" cy="1443228"/>
          </a:xfrm>
          <a:prstGeom prst="roundRect">
            <a:avLst>
              <a:gd name="adj" fmla="val 3801"/>
            </a:avLst>
          </a:prstGeom>
          <a:solidFill>
            <a:srgbClr val="F1F4F7"/>
          </a:solidFill>
          <a:ln w="12700">
            <a:solidFill>
              <a:srgbClr val="F1F4F7"/>
            </a:solidFill>
            <a:prstDash val="solid"/>
          </a:ln>
        </p:spPr>
      </p:sp>
      <p:sp>
        <p:nvSpPr>
          <p:cNvPr id="10" name="Text 8"/>
          <p:cNvSpPr txBox="1"/>
          <p:nvPr/>
        </p:nvSpPr>
        <p:spPr>
          <a:xfrm>
            <a:off x="6484468" y="1371600"/>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producer                       consumer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write slot 5</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tail.store(6, release)  ----&gt;  tail.load(acquire) == 6</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slot 5 is visible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read slot 5</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head.store(6, release)</a:t>
            </a:r>
            <a:endParaRPr lang="en-US" sz="1300" dirty="0"/>
          </a:p>
        </p:txBody>
      </p:sp>
      <p:sp>
        <p:nvSpPr>
          <p:cNvPr id="11" name="Text 9"/>
          <p:cNvSpPr txBox="1"/>
          <p:nvPr/>
        </p:nvSpPr>
        <p:spPr>
          <a:xfrm>
            <a:off x="6301588" y="282397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That is v11's publish pattern used twice. The release store on tail publishes the slot the producer just wrote, and the acquire load on the other side is what makes that slot visible.</a:t>
            </a:r>
            <a:endParaRPr lang="en-US" sz="1500" dirty="0"/>
          </a:p>
        </p:txBody>
      </p:sp>
      <p:sp>
        <p:nvSpPr>
          <p:cNvPr id="12" name="Shape 10"/>
          <p:cNvSpPr/>
          <p:nvPr/>
        </p:nvSpPr>
        <p:spPr>
          <a:xfrm>
            <a:off x="6301588" y="3912108"/>
            <a:ext cx="5387188" cy="2027682"/>
          </a:xfrm>
          <a:prstGeom prst="roundRect">
            <a:avLst>
              <a:gd name="adj" fmla="val 2706"/>
            </a:avLst>
          </a:prstGeom>
          <a:solidFill>
            <a:srgbClr val="1E2230"/>
          </a:solidFill>
          <a:ln w="12700">
            <a:solidFill>
              <a:srgbClr val="1E2230"/>
            </a:solidFill>
            <a:prstDash val="solid"/>
          </a:ln>
        </p:spPr>
      </p:sp>
      <p:sp>
        <p:nvSpPr>
          <p:cNvPr id="13" name="Text 11"/>
          <p:cNvSpPr txBox="1"/>
          <p:nvPr/>
        </p:nvSpPr>
        <p:spPr>
          <a:xfrm>
            <a:off x="6484468" y="4049268"/>
            <a:ext cx="5021428" cy="1753362"/>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try_push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producer only</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std::memory_order_relaxed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std::memory_order_acquire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full</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slots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store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std::memory_order_release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locks at all</a:t>
            </a:r>
            <a:endParaRPr lang="en-US" sz="2600" dirty="0"/>
          </a:p>
        </p:txBody>
      </p:sp>
      <p:sp>
        <p:nvSpPr>
          <p:cNvPr id="4" name="Text 2"/>
          <p:cNvSpPr txBox="1"/>
          <p:nvPr/>
        </p:nvSpPr>
        <p:spPr>
          <a:xfrm>
            <a:off x="502920"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 is a power of two, so t &amp; (N - 1) wraps the index around the array cheaply. try_pop is the mirror image on head. There are no blocking calls, so the caller decides whether to spin, yield or sleep when the ring is empty or full.</a:t>
            </a:r>
            <a:endParaRPr lang="en-US" sz="1500" dirty="0"/>
          </a:p>
        </p:txBody>
      </p:sp>
      <p:sp>
        <p:nvSpPr>
          <p:cNvPr id="5" name="Text 3"/>
          <p:cNvSpPr txBox="1"/>
          <p:nvPr/>
        </p:nvSpPr>
        <p:spPr>
          <a:xfrm>
            <a:off x="502920" y="26060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False sharing</a:t>
            </a:r>
            <a:endParaRPr lang="en-US" sz="1800" dirty="0"/>
          </a:p>
        </p:txBody>
      </p:sp>
      <p:sp>
        <p:nvSpPr>
          <p:cNvPr id="6" name="Text 4"/>
          <p:cNvSpPr txBox="1"/>
          <p:nvPr/>
        </p:nvSpPr>
        <p:spPr>
          <a:xfrm>
            <a:off x="502920" y="3081528"/>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There is one more cost, and it is invisible in the source code. Two threads each increment their own counter, so nothing is shared.</a:t>
            </a:r>
            <a:endParaRPr lang="en-US" sz="1500" dirty="0"/>
          </a:p>
        </p:txBody>
      </p:sp>
      <p:sp>
        <p:nvSpPr>
          <p:cNvPr id="7" name="Shape 5"/>
          <p:cNvSpPr/>
          <p:nvPr/>
        </p:nvSpPr>
        <p:spPr>
          <a:xfrm>
            <a:off x="502920" y="3941064"/>
            <a:ext cx="5387188" cy="1638046"/>
          </a:xfrm>
          <a:prstGeom prst="roundRect">
            <a:avLst>
              <a:gd name="adj" fmla="val 3349"/>
            </a:avLst>
          </a:prstGeom>
          <a:solidFill>
            <a:srgbClr val="1E2230"/>
          </a:solidFill>
          <a:ln w="12700">
            <a:solidFill>
              <a:srgbClr val="1E2230"/>
            </a:solidFill>
            <a:prstDash val="solid"/>
          </a:ln>
        </p:spPr>
      </p:sp>
      <p:sp>
        <p:nvSpPr>
          <p:cNvPr id="8" name="Text 6"/>
          <p:cNvSpPr txBox="1"/>
          <p:nvPr/>
        </p:nvSpPr>
        <p:spPr>
          <a:xfrm>
            <a:off x="685800" y="4078224"/>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struct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Together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b</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struct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Apart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alignas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64</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alignas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64</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b</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9" name="Shape 7"/>
          <p:cNvSpPr/>
          <p:nvPr/>
        </p:nvSpPr>
        <p:spPr>
          <a:xfrm>
            <a:off x="6301588" y="1234440"/>
            <a:ext cx="5387188" cy="858774"/>
          </a:xfrm>
          <a:prstGeom prst="roundRect">
            <a:avLst>
              <a:gd name="adj" fmla="val 6389"/>
            </a:avLst>
          </a:prstGeom>
          <a:solidFill>
            <a:srgbClr val="0F1419"/>
          </a:solidFill>
          <a:ln w="12700">
            <a:solidFill>
              <a:srgbClr val="0F1419"/>
            </a:solidFill>
            <a:prstDash val="solid"/>
          </a:ln>
        </p:spPr>
      </p:sp>
      <p:sp>
        <p:nvSpPr>
          <p:cNvPr id="10" name="Text 8"/>
          <p:cNvSpPr txBox="1"/>
          <p:nvPr/>
        </p:nvSpPr>
        <p:spPr>
          <a:xfrm>
            <a:off x="6484468" y="1371600"/>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./run.sh v13 tiny_false_sharing</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same cache line:      1.53 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separate cache lines: 0.39 s</a:t>
            </a:r>
            <a:endParaRPr lang="en-US" sz="1300" dirty="0"/>
          </a:p>
        </p:txBody>
      </p:sp>
      <p:sp>
        <p:nvSpPr>
          <p:cNvPr id="11" name="Shape 9"/>
          <p:cNvSpPr/>
          <p:nvPr/>
        </p:nvSpPr>
        <p:spPr>
          <a:xfrm>
            <a:off x="6301588" y="2239518"/>
            <a:ext cx="5387188" cy="1210945"/>
          </a:xfrm>
          <a:prstGeom prst="roundRect">
            <a:avLst>
              <a:gd name="adj" fmla="val 4531"/>
            </a:avLst>
          </a:prstGeom>
          <a:solidFill>
            <a:srgbClr val="F1F4F7"/>
          </a:solidFill>
          <a:ln w="12700">
            <a:solidFill>
              <a:srgbClr val="F1F4F7"/>
            </a:solidFill>
            <a:prstDash val="solid"/>
          </a:ln>
        </p:spPr>
      </p:sp>
      <p:sp>
        <p:nvSpPr>
          <p:cNvPr id="12" name="Text 10"/>
          <p:cNvSpPr txBox="1"/>
          <p:nvPr/>
        </p:nvSpPr>
        <p:spPr>
          <a:xfrm>
            <a:off x="6484468" y="2376678"/>
            <a:ext cx="5021428" cy="936625"/>
          </a:xfrm>
          <a:prstGeom prst="rect">
            <a:avLst/>
          </a:prstGeom>
          <a:noFill/>
          <a:ln/>
        </p:spPr>
        <p:txBody>
          <a:bodyPr wrap="square" lIns="0" tIns="0" rIns="0" bIns="0" rtlCol="0" anchor="t"/>
          <a:lstStyle/>
          <a:p>
            <a:pPr indent="0" marL="0">
              <a:lnSpc>
                <a:spcPct val="100000"/>
              </a:lnSpc>
              <a:buNone/>
            </a:pPr>
            <a:r>
              <a:rPr lang="en-US" sz="1250" dirty="0">
                <a:solidFill>
                  <a:srgbClr val="1C2430"/>
                </a:solidFill>
                <a:latin typeface="Consolas" pitchFamily="34" charset="0"/>
                <a:ea typeface="Consolas" pitchFamily="34" charset="-122"/>
                <a:cs typeface="Consolas" pitchFamily="34" charset="-120"/>
              </a:rPr>
              <a:t>time   0 ......................................... 1.5 s</a:t>
            </a:r>
            <a:endParaRPr lang="en-US" sz="1250" dirty="0"/>
          </a:p>
          <a:p>
            <a:pPr indent="0" marL="0">
              <a:lnSpc>
                <a:spcPct val="100000"/>
              </a:lnSpc>
              <a:buNone/>
            </a:pPr>
            <a:r>
              <a:rPr lang="en-US" sz="1250" dirty="0">
                <a:solidFill>
                  <a:srgbClr val="1C2430"/>
                </a:solidFill>
                <a:latin typeface="Consolas" pitchFamily="34" charset="0"/>
                <a:ea typeface="Consolas" pitchFamily="34" charset="-122"/>
                <a:cs typeface="Consolas" pitchFamily="34" charset="-120"/>
              </a:rPr>
              <a:t>core 0  write a: fetch line from core 1, write</a:t>
            </a:r>
            <a:endParaRPr lang="en-US" sz="1250" dirty="0"/>
          </a:p>
          <a:p>
            <a:pPr indent="0" marL="0">
              <a:lnSpc>
                <a:spcPct val="100000"/>
              </a:lnSpc>
              <a:buNone/>
            </a:pPr>
            <a:r>
              <a:rPr lang="en-US" sz="1250" dirty="0">
                <a:solidFill>
                  <a:srgbClr val="1C2430"/>
                </a:solidFill>
                <a:latin typeface="Consolas" pitchFamily="34" charset="0"/>
                <a:ea typeface="Consolas" pitchFamily="34" charset="-122"/>
                <a:cs typeface="Consolas" pitchFamily="34" charset="-120"/>
              </a:rPr>
              <a:t>core 1  write b: fetch line from core 0, write</a:t>
            </a:r>
            <a:endParaRPr lang="en-US" sz="1250" dirty="0"/>
          </a:p>
          <a:p>
            <a:pPr indent="0" marL="0">
              <a:lnSpc>
                <a:spcPct val="100000"/>
              </a:lnSpc>
              <a:buNone/>
            </a:pPr>
            <a:r>
              <a:rPr lang="en-US" sz="1250" dirty="0">
                <a:solidFill>
                  <a:srgbClr val="1C2430"/>
                </a:solidFill>
                <a:latin typeface="Consolas" pitchFamily="34" charset="0"/>
                <a:ea typeface="Consolas" pitchFamily="34" charset="-122"/>
                <a:cs typeface="Consolas" pitchFamily="34" charset="-120"/>
              </a:rPr>
              <a:t>        ... the same 64 bytes bounce back and forth</a:t>
            </a:r>
            <a:endParaRPr lang="en-US" sz="1250" dirty="0"/>
          </a:p>
          <a:p>
            <a:pPr indent="0" marL="0">
              <a:lnSpc>
                <a:spcPct val="100000"/>
              </a:lnSpc>
              <a:buNone/>
            </a:pPr>
            <a:r>
              <a:rPr lang="en-US" sz="1250" dirty="0">
                <a:solidFill>
                  <a:srgbClr val="1C2430"/>
                </a:solidFill>
                <a:latin typeface="Consolas" pitchFamily="34" charset="0"/>
                <a:ea typeface="Consolas" pitchFamily="34" charset="-122"/>
                <a:cs typeface="Consolas" pitchFamily="34" charset="-120"/>
              </a:rPr>
              <a:t>            fifty million times each</a:t>
            </a:r>
            <a:endParaRPr lang="en-US" sz="1250" dirty="0"/>
          </a:p>
        </p:txBody>
      </p:sp>
      <p:sp>
        <p:nvSpPr>
          <p:cNvPr id="13" name="Text 11"/>
          <p:cNvSpPr txBox="1"/>
          <p:nvPr/>
        </p:nvSpPr>
        <p:spPr>
          <a:xfrm>
            <a:off x="6301588" y="3596767"/>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Caches move memory around in 64-byte lines. When a and b share a line, every write by one core takes the whole line away from the other core, and back again. The ring buffer gives head and tail a line each with alignas(64).</a:t>
            </a:r>
            <a:endParaRPr lang="en-US" sz="1500" dirty="0"/>
          </a:p>
        </p:txBody>
      </p:sp>
      <p:sp>
        <p:nvSpPr>
          <p:cNvPr id="14" name="Text 12"/>
          <p:cNvSpPr txBox="1"/>
          <p:nvPr/>
        </p:nvSpPr>
        <p:spPr>
          <a:xfrm>
            <a:off x="6301588" y="4913503"/>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price of all this speed is a strict rule: one producer and one consumer. With two producers both read the same tail and write the same slot, and in the test the consumer received 1,255,101 of 2,000,000 items.</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locks at all</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N = 1024, tail = 5000, head = 4000. How full is the ring, and can the producer push?</a:t>
            </a:r>
            <a:endParaRPr lang="en-US" sz="1500" dirty="0"/>
          </a:p>
        </p:txBody>
      </p:sp>
      <p:sp>
        <p:nvSpPr>
          <p:cNvPr id="6" name="Shape 4"/>
          <p:cNvSpPr/>
          <p:nvPr/>
        </p:nvSpPr>
        <p:spPr>
          <a:xfrm>
            <a:off x="502920" y="2322576"/>
            <a:ext cx="5387188" cy="551688"/>
          </a:xfrm>
          <a:prstGeom prst="roundRect">
            <a:avLst>
              <a:gd name="adj" fmla="val 9945"/>
            </a:avLst>
          </a:prstGeom>
          <a:solidFill>
            <a:srgbClr val="F1F4F7"/>
          </a:solidFill>
          <a:ln w="12700">
            <a:solidFill>
              <a:srgbClr val="F1F4F7"/>
            </a:solidFill>
            <a:prstDash val="solid"/>
          </a:ln>
        </p:spPr>
      </p:sp>
      <p:sp>
        <p:nvSpPr>
          <p:cNvPr id="7" name="Text 5"/>
          <p:cNvSpPr txBox="1"/>
          <p:nvPr/>
        </p:nvSpPr>
        <p:spPr>
          <a:xfrm>
            <a:off x="685800" y="2450592"/>
            <a:ext cx="5021428" cy="3230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1,000 items. Yes, because 1,000 is less than 1,024.</a:t>
            </a:r>
            <a:endParaRPr lang="en-US" sz="1400" dirty="0"/>
          </a:p>
        </p:txBody>
      </p:sp>
      <p:sp>
        <p:nvSpPr>
          <p:cNvPr id="8" name="Text 6"/>
          <p:cNvSpPr txBox="1"/>
          <p:nvPr/>
        </p:nvSpPr>
        <p:spPr>
          <a:xfrm>
            <a:off x="502920" y="3020568"/>
            <a:ext cx="5387188" cy="2560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Two producers both read tail = 7. Trace it.</a:t>
            </a:r>
            <a:endParaRPr lang="en-US" sz="1500" dirty="0"/>
          </a:p>
        </p:txBody>
      </p:sp>
      <p:sp>
        <p:nvSpPr>
          <p:cNvPr id="9" name="Shape 7"/>
          <p:cNvSpPr/>
          <p:nvPr/>
        </p:nvSpPr>
        <p:spPr>
          <a:xfrm>
            <a:off x="502920" y="3349752"/>
            <a:ext cx="5387188" cy="765048"/>
          </a:xfrm>
          <a:prstGeom prst="roundRect">
            <a:avLst>
              <a:gd name="adj" fmla="val 7171"/>
            </a:avLst>
          </a:prstGeom>
          <a:solidFill>
            <a:srgbClr val="F1F4F7"/>
          </a:solidFill>
          <a:ln w="12700">
            <a:solidFill>
              <a:srgbClr val="F1F4F7"/>
            </a:solidFill>
            <a:prstDash val="solid"/>
          </a:ln>
        </p:spPr>
      </p:sp>
      <p:sp>
        <p:nvSpPr>
          <p:cNvPr id="10" name="Text 8"/>
          <p:cNvSpPr txBox="1"/>
          <p:nvPr/>
        </p:nvSpPr>
        <p:spPr>
          <a:xfrm>
            <a:off x="685800" y="3477768"/>
            <a:ext cx="5021428" cy="5364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Both write slot 7 and both store tail = 8, so one item is overwritten and lost.</a:t>
            </a:r>
            <a:endParaRPr lang="en-US" sz="1400" dirty="0"/>
          </a:p>
        </p:txBody>
      </p:sp>
      <p:sp>
        <p:nvSpPr>
          <p:cNvPr id="11" name="Text 9"/>
          <p:cNvSpPr txBox="1"/>
          <p:nvPr/>
        </p:nvSpPr>
        <p:spPr>
          <a:xfrm>
            <a:off x="502920" y="4261104"/>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The consumer finds the ring empty. Should it spin, yield or sleep?</a:t>
            </a:r>
            <a:endParaRPr lang="en-US" sz="1500" dirty="0"/>
          </a:p>
        </p:txBody>
      </p:sp>
      <p:sp>
        <p:nvSpPr>
          <p:cNvPr id="12" name="Shape 10"/>
          <p:cNvSpPr/>
          <p:nvPr/>
        </p:nvSpPr>
        <p:spPr>
          <a:xfrm>
            <a:off x="502920" y="4818888"/>
            <a:ext cx="5387188" cy="978408"/>
          </a:xfrm>
          <a:prstGeom prst="roundRect">
            <a:avLst>
              <a:gd name="adj" fmla="val 5607"/>
            </a:avLst>
          </a:prstGeom>
          <a:solidFill>
            <a:srgbClr val="F1F4F7"/>
          </a:solidFill>
          <a:ln w="12700">
            <a:solidFill>
              <a:srgbClr val="F1F4F7"/>
            </a:solidFill>
            <a:prstDash val="solid"/>
          </a:ln>
        </p:spPr>
      </p:sp>
      <p:sp>
        <p:nvSpPr>
          <p:cNvPr id="13" name="Text 11"/>
          <p:cNvSpPr txBox="1"/>
          <p:nvPr/>
        </p:nvSpPr>
        <p:spPr>
          <a:xfrm>
            <a:off x="685800" y="4946904"/>
            <a:ext cx="5021428" cy="74980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Spinning gives the lowest latency, yielding is fairer to other threads, sleeping suits long idle periods. The caller chooses.</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Measuring honestly</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Which queue is fastest?</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We now have three queues and plenty of opinions about them. Every number so far came from a single run, at whatever load happened to be there. That is an anecdote, not a measurement.</a:t>
            </a:r>
            <a:endParaRPr lang="en-US" sz="1500" dirty="0"/>
          </a:p>
        </p:txBody>
      </p:sp>
      <p:sp>
        <p:nvSpPr>
          <p:cNvPr id="6" name="Text 4"/>
          <p:cNvSpPr txBox="1"/>
          <p:nvPr/>
        </p:nvSpPr>
        <p:spPr>
          <a:xfrm>
            <a:off x="502920" y="2907792"/>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compiler can delete your benchmark</a:t>
            </a:r>
            <a:endParaRPr lang="en-US" sz="1800" dirty="0"/>
          </a:p>
        </p:txBody>
      </p:sp>
      <p:sp>
        <p:nvSpPr>
          <p:cNvPr id="7" name="Shape 5"/>
          <p:cNvSpPr/>
          <p:nvPr/>
        </p:nvSpPr>
        <p:spPr>
          <a:xfrm>
            <a:off x="502920" y="3383280"/>
            <a:ext cx="5387188" cy="1248410"/>
          </a:xfrm>
          <a:prstGeom prst="roundRect">
            <a:avLst>
              <a:gd name="adj" fmla="val 4395"/>
            </a:avLst>
          </a:prstGeom>
          <a:solidFill>
            <a:srgbClr val="1E2230"/>
          </a:solidFill>
          <a:ln w="12700">
            <a:solidFill>
              <a:srgbClr val="1E2230"/>
            </a:solidFill>
            <a:prstDash val="solid"/>
          </a:ln>
        </p:spPr>
      </p:sp>
      <p:sp>
        <p:nvSpPr>
          <p:cNvPr id="8" name="Text 6"/>
          <p:cNvSpPr txBox="1"/>
          <p:nvPr/>
        </p:nvSpPr>
        <p:spPr>
          <a:xfrm>
            <a:off x="685800" y="3520440"/>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Stopwatch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sw</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std::uint64_t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unused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std::uint64_t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500'000'000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unused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7</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never used again</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sw</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seconds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9" name="Shape 7"/>
          <p:cNvSpPr/>
          <p:nvPr/>
        </p:nvSpPr>
        <p:spPr>
          <a:xfrm>
            <a:off x="502920" y="4777994"/>
            <a:ext cx="5387188" cy="858774"/>
          </a:xfrm>
          <a:prstGeom prst="roundRect">
            <a:avLst>
              <a:gd name="adj" fmla="val 6389"/>
            </a:avLst>
          </a:prstGeom>
          <a:solidFill>
            <a:srgbClr val="0F1419"/>
          </a:solidFill>
          <a:ln w="12700">
            <a:solidFill>
              <a:srgbClr val="0F1419"/>
            </a:solidFill>
            <a:prstDash val="solid"/>
          </a:ln>
        </p:spPr>
      </p:sp>
      <p:sp>
        <p:nvSpPr>
          <p:cNvPr id="10" name="Text 8"/>
          <p:cNvSpPr txBox="1"/>
          <p:nvPr/>
        </p:nvSpPr>
        <p:spPr>
          <a:xfrm>
            <a:off x="685800" y="4915154"/>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./run.sh v14 tiny_optimizer</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result unused: 0.0002 ms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result used:   640 ms</a:t>
            </a:r>
            <a:endParaRPr lang="en-US" sz="1300" dirty="0"/>
          </a:p>
        </p:txBody>
      </p:sp>
      <p:sp>
        <p:nvSpPr>
          <p:cNvPr id="11" name="Text 9"/>
          <p:cNvSpPr txBox="1"/>
          <p:nvPr/>
        </p:nvSpPr>
        <p:spPr>
          <a:xfrm>
            <a:off x="6301588"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Nothing reads unused, so the optimiser removed the whole loop and the timer measured nothing. A benchmark has to use its result, and it has to be built with the same optimisation level you ship.</a:t>
            </a:r>
            <a:endParaRPr lang="en-US" sz="1500" dirty="0"/>
          </a:p>
        </p:txBody>
      </p:sp>
      <p:sp>
        <p:nvSpPr>
          <p:cNvPr id="12" name="Text 10"/>
          <p:cNvSpPr txBox="1"/>
          <p:nvPr/>
        </p:nvSpPr>
        <p:spPr>
          <a:xfrm>
            <a:off x="6301588" y="23774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Throughput and latency are different questions</a:t>
            </a:r>
            <a:endParaRPr lang="en-US" sz="1800" dirty="0"/>
          </a:p>
        </p:txBody>
      </p:sp>
      <p:sp>
        <p:nvSpPr>
          <p:cNvPr id="13" name="Shape 11"/>
          <p:cNvSpPr/>
          <p:nvPr/>
        </p:nvSpPr>
        <p:spPr>
          <a:xfrm>
            <a:off x="6301588" y="2852928"/>
            <a:ext cx="5387188" cy="1443228"/>
          </a:xfrm>
          <a:prstGeom prst="roundRect">
            <a:avLst>
              <a:gd name="adj" fmla="val 3801"/>
            </a:avLst>
          </a:prstGeom>
          <a:solidFill>
            <a:srgbClr val="F1F4F7"/>
          </a:solidFill>
          <a:ln w="12700">
            <a:solidFill>
              <a:srgbClr val="F1F4F7"/>
            </a:solidFill>
            <a:prstDash val="solid"/>
          </a:ln>
        </p:spPr>
      </p:sp>
      <p:sp>
        <p:nvSpPr>
          <p:cNvPr id="14" name="Text 12"/>
          <p:cNvSpPr txBox="1"/>
          <p:nvPr/>
        </p:nvSpPr>
        <p:spPr>
          <a:xfrm>
            <a:off x="6484468" y="2990088"/>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throughput  how many messages per second, flat out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latency     how long one message waits</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p50    the typical message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p99    1 in 100 messages is slower than this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p99.9  1 in 1,000: where the trouble is</a:t>
            </a:r>
            <a:endParaRPr lang="en-US" sz="1300" dirty="0"/>
          </a:p>
        </p:txBody>
      </p:sp>
      <p:sp>
        <p:nvSpPr>
          <p:cNvPr id="15" name="Text 13"/>
          <p:cNvSpPr txBox="1"/>
          <p:nvPr/>
        </p:nvSpPr>
        <p:spPr>
          <a:xfrm>
            <a:off x="6301588" y="444246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Running a queue flat out measures throughput, but latency measured that way is mostly time spent behind the backlog. To measure latency the harness sends messages at a steady 500,000 per second, below what the queue can handle, and timestamps each one.</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Measuring honestly</a:t>
            </a:r>
            <a:endParaRPr lang="en-US" sz="2600" dirty="0"/>
          </a:p>
        </p:txBody>
      </p:sp>
      <p:sp>
        <p:nvSpPr>
          <p:cNvPr id="4" name="Text 2"/>
          <p:cNvSpPr txBox="1"/>
          <p:nvPr/>
        </p:nvSpPr>
        <p:spPr>
          <a:xfrm>
            <a:off x="502920" y="123444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It also follows three habits. Run once to warm up and throw that result away, because the first run pays for cold caches and page faults. Repeat five times and report the median, since one noisy run can move a mean but not a median. And always look at the tail, not only the typical case.</a:t>
            </a:r>
            <a:endParaRPr lang="en-US" sz="1500" dirty="0"/>
          </a:p>
        </p:txBody>
      </p:sp>
      <p:sp>
        <p:nvSpPr>
          <p:cNvPr id="5" name="Text 3"/>
          <p:cNvSpPr txBox="1"/>
          <p:nvPr/>
        </p:nvSpPr>
        <p:spPr>
          <a:xfrm>
            <a:off x="502920" y="28346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result</a:t>
            </a:r>
            <a:endParaRPr lang="en-US" sz="1800" dirty="0"/>
          </a:p>
        </p:txBody>
      </p:sp>
      <p:sp>
        <p:nvSpPr>
          <p:cNvPr id="6" name="Shape 4"/>
          <p:cNvSpPr/>
          <p:nvPr/>
        </p:nvSpPr>
        <p:spPr>
          <a:xfrm>
            <a:off x="502920" y="3310128"/>
            <a:ext cx="5387188" cy="1248410"/>
          </a:xfrm>
          <a:prstGeom prst="roundRect">
            <a:avLst>
              <a:gd name="adj" fmla="val 4395"/>
            </a:avLst>
          </a:prstGeom>
          <a:solidFill>
            <a:srgbClr val="F1F4F7"/>
          </a:solidFill>
          <a:ln w="12700">
            <a:solidFill>
              <a:srgbClr val="F1F4F7"/>
            </a:solidFill>
            <a:prstDash val="solid"/>
          </a:ln>
        </p:spPr>
      </p:sp>
      <p:sp>
        <p:nvSpPr>
          <p:cNvPr id="7" name="Text 5"/>
          <p:cNvSpPr txBox="1"/>
          <p:nvPr/>
        </p:nvSpPr>
        <p:spPr>
          <a:xfrm>
            <a:off x="685800" y="3447288"/>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M msg/s    latency at 500k msg/s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queue            saturated  p50        p99</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ThreadSafeQueue     4.8     5.8 us     0.9 ms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TwoLockQueue        0.8    18.3 us     3.6 ms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SpscRing          104.8     0.26 us    0.05 ms</a:t>
            </a:r>
            <a:endParaRPr lang="en-US" sz="1300" dirty="0"/>
          </a:p>
        </p:txBody>
      </p:sp>
      <p:sp>
        <p:nvSpPr>
          <p:cNvPr id="8" name="Text 6"/>
          <p:cNvSpPr txBox="1"/>
          <p:nvPr/>
        </p:nvSpPr>
        <p:spPr>
          <a:xfrm>
            <a:off x="502920" y="4704842"/>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Your numbers will differ from these. What should stay the same is the ranking and the reason for it. The ring has no locks, no allocation and no sleeping, and it is about twenty times faster than v7 on both measures. Even so its p99.9 reaches about a millisecond, which is the operating system pausing a thread. Dealing with that is the Feed Handler's first problem.</a:t>
            </a:r>
            <a:endParaRPr lang="en-US" sz="1500" dirty="0"/>
          </a:p>
        </p:txBody>
      </p:sp>
      <p:sp>
        <p:nvSpPr>
          <p:cNvPr id="9" name="Text 7"/>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10" name="Text 8"/>
          <p:cNvSpPr txBox="1"/>
          <p:nvPr/>
        </p:nvSpPr>
        <p:spPr>
          <a:xfrm>
            <a:off x="6301588"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Five runs give 4.1, 4.8, 4.9, 5.0 and 12.0 M/s. What are the mean and the median, and which do you report?</a:t>
            </a:r>
            <a:endParaRPr lang="en-US" sz="1500" dirty="0"/>
          </a:p>
        </p:txBody>
      </p:sp>
      <p:sp>
        <p:nvSpPr>
          <p:cNvPr id="11" name="Shape 9"/>
          <p:cNvSpPr/>
          <p:nvPr/>
        </p:nvSpPr>
        <p:spPr>
          <a:xfrm>
            <a:off x="6301588" y="2322576"/>
            <a:ext cx="5387188" cy="765048"/>
          </a:xfrm>
          <a:prstGeom prst="roundRect">
            <a:avLst>
              <a:gd name="adj" fmla="val 7171"/>
            </a:avLst>
          </a:prstGeom>
          <a:solidFill>
            <a:srgbClr val="F1F4F7"/>
          </a:solidFill>
          <a:ln w="12700">
            <a:solidFill>
              <a:srgbClr val="F1F4F7"/>
            </a:solidFill>
            <a:prstDash val="solid"/>
          </a:ln>
        </p:spPr>
      </p:sp>
      <p:sp>
        <p:nvSpPr>
          <p:cNvPr id="12" name="Text 10"/>
          <p:cNvSpPr txBox="1"/>
          <p:nvPr/>
        </p:nvSpPr>
        <p:spPr>
          <a:xfrm>
            <a:off x="6484468" y="2450592"/>
            <a:ext cx="5021428" cy="5364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mean is 6.16 and the median 4.9. Report the median, because one outlier pulled the mean up.</a:t>
            </a:r>
            <a:endParaRPr lang="en-US" sz="1400" dirty="0"/>
          </a:p>
        </p:txBody>
      </p:sp>
      <p:sp>
        <p:nvSpPr>
          <p:cNvPr id="13" name="Text 11"/>
          <p:cNvSpPr txBox="1"/>
          <p:nvPr/>
        </p:nvSpPr>
        <p:spPr>
          <a:xfrm>
            <a:off x="6301588" y="3233928"/>
            <a:ext cx="5387188" cy="2560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You have 1,000,000 sorted latencies. Which one is p99?</a:t>
            </a:r>
            <a:endParaRPr lang="en-US" sz="1500" dirty="0"/>
          </a:p>
        </p:txBody>
      </p:sp>
      <p:sp>
        <p:nvSpPr>
          <p:cNvPr id="14" name="Shape 12"/>
          <p:cNvSpPr/>
          <p:nvPr/>
        </p:nvSpPr>
        <p:spPr>
          <a:xfrm>
            <a:off x="6301588" y="3563112"/>
            <a:ext cx="5387188" cy="551688"/>
          </a:xfrm>
          <a:prstGeom prst="roundRect">
            <a:avLst>
              <a:gd name="adj" fmla="val 9945"/>
            </a:avLst>
          </a:prstGeom>
          <a:solidFill>
            <a:srgbClr val="F1F4F7"/>
          </a:solidFill>
          <a:ln w="12700">
            <a:solidFill>
              <a:srgbClr val="F1F4F7"/>
            </a:solidFill>
            <a:prstDash val="solid"/>
          </a:ln>
        </p:spPr>
      </p:sp>
      <p:sp>
        <p:nvSpPr>
          <p:cNvPr id="15" name="Text 13"/>
          <p:cNvSpPr txBox="1"/>
          <p:nvPr/>
        </p:nvSpPr>
        <p:spPr>
          <a:xfrm>
            <a:off x="6484468" y="3691128"/>
            <a:ext cx="5021428" cy="3230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one at index 990,000.</a:t>
            </a:r>
            <a:endParaRPr lang="en-US" sz="1400" dirty="0"/>
          </a:p>
        </p:txBody>
      </p:sp>
      <p:sp>
        <p:nvSpPr>
          <p:cNvPr id="16" name="Text 14"/>
          <p:cNvSpPr txBox="1"/>
          <p:nvPr/>
        </p:nvSpPr>
        <p:spPr>
          <a:xfrm>
            <a:off x="6301588" y="4261104"/>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Design a fair comparison between your queue and a friend's.</a:t>
            </a:r>
            <a:endParaRPr lang="en-US" sz="1500" dirty="0"/>
          </a:p>
        </p:txBody>
      </p:sp>
      <p:sp>
        <p:nvSpPr>
          <p:cNvPr id="17" name="Shape 15"/>
          <p:cNvSpPr/>
          <p:nvPr/>
        </p:nvSpPr>
        <p:spPr>
          <a:xfrm>
            <a:off x="6301588" y="4818888"/>
            <a:ext cx="5387188" cy="978408"/>
          </a:xfrm>
          <a:prstGeom prst="roundRect">
            <a:avLst>
              <a:gd name="adj" fmla="val 5607"/>
            </a:avLst>
          </a:prstGeom>
          <a:solidFill>
            <a:srgbClr val="F1F4F7"/>
          </a:solidFill>
          <a:ln w="12700">
            <a:solidFill>
              <a:srgbClr val="F1F4F7"/>
            </a:solidFill>
            <a:prstDash val="solid"/>
          </a:ln>
        </p:spPr>
      </p:sp>
      <p:sp>
        <p:nvSpPr>
          <p:cNvPr id="18" name="Text 16"/>
          <p:cNvSpPr txBox="1"/>
          <p:nvPr/>
        </p:nvSpPr>
        <p:spPr>
          <a:xfrm>
            <a:off x="6484468" y="4946904"/>
            <a:ext cx="5021428" cy="74980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Same machine and build flags, the same load, a warm-up, at least five runs, median throughput, and p50, p99 and p99.9 at a paced rate.</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Each tool and the bug that made us need it</a:t>
            </a:r>
            <a:endParaRPr lang="en-US" sz="2600" dirty="0"/>
          </a:p>
        </p:txBody>
      </p:sp>
      <p:sp>
        <p:nvSpPr>
          <p:cNvPr id="3" name="Shape 1"/>
          <p:cNvSpPr/>
          <p:nvPr/>
        </p:nvSpPr>
        <p:spPr>
          <a:xfrm>
            <a:off x="502920" y="1325880"/>
            <a:ext cx="3576218" cy="1005840"/>
          </a:xfrm>
          <a:prstGeom prst="roundRect">
            <a:avLst>
              <a:gd name="adj" fmla="val 5455"/>
            </a:avLst>
          </a:prstGeom>
          <a:solidFill>
            <a:srgbClr val="F1F4F7"/>
          </a:solidFill>
          <a:ln w="12700">
            <a:solidFill>
              <a:srgbClr val="F1F4F7"/>
            </a:solidFill>
            <a:prstDash val="solid"/>
          </a:ln>
        </p:spPr>
      </p:sp>
      <p:sp>
        <p:nvSpPr>
          <p:cNvPr id="4" name="Text 2"/>
          <p:cNvSpPr txBox="1"/>
          <p:nvPr/>
        </p:nvSpPr>
        <p:spPr>
          <a:xfrm>
            <a:off x="731520" y="1463040"/>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lost update</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mutex</a:t>
            </a:r>
            <a:endParaRPr lang="en-US" sz="1600" dirty="0"/>
          </a:p>
        </p:txBody>
      </p:sp>
      <p:sp>
        <p:nvSpPr>
          <p:cNvPr id="5" name="Text 3"/>
          <p:cNvSpPr txBox="1"/>
          <p:nvPr/>
        </p:nvSpPr>
        <p:spPr>
          <a:xfrm>
            <a:off x="3347618" y="1463040"/>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v2</a:t>
            </a:r>
            <a:endParaRPr lang="en-US" sz="1400" dirty="0"/>
          </a:p>
        </p:txBody>
      </p:sp>
      <p:sp>
        <p:nvSpPr>
          <p:cNvPr id="6" name="Shape 4"/>
          <p:cNvSpPr/>
          <p:nvPr/>
        </p:nvSpPr>
        <p:spPr>
          <a:xfrm>
            <a:off x="4307738" y="1325880"/>
            <a:ext cx="3576218" cy="1005840"/>
          </a:xfrm>
          <a:prstGeom prst="roundRect">
            <a:avLst>
              <a:gd name="adj" fmla="val 5455"/>
            </a:avLst>
          </a:prstGeom>
          <a:solidFill>
            <a:srgbClr val="F1F4F7"/>
          </a:solidFill>
          <a:ln w="12700">
            <a:solidFill>
              <a:srgbClr val="F1F4F7"/>
            </a:solidFill>
            <a:prstDash val="solid"/>
          </a:ln>
        </p:spPr>
      </p:sp>
      <p:sp>
        <p:nvSpPr>
          <p:cNvPr id="7" name="Text 5"/>
          <p:cNvSpPr txBox="1"/>
          <p:nvPr/>
        </p:nvSpPr>
        <p:spPr>
          <a:xfrm>
            <a:off x="4536338" y="1463040"/>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forgotten unlock</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lock_guard</a:t>
            </a:r>
            <a:endParaRPr lang="en-US" sz="1600" dirty="0"/>
          </a:p>
        </p:txBody>
      </p:sp>
      <p:sp>
        <p:nvSpPr>
          <p:cNvPr id="8" name="Text 6"/>
          <p:cNvSpPr txBox="1"/>
          <p:nvPr/>
        </p:nvSpPr>
        <p:spPr>
          <a:xfrm>
            <a:off x="7152437" y="1463040"/>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v3</a:t>
            </a:r>
            <a:endParaRPr lang="en-US" sz="1400" dirty="0"/>
          </a:p>
        </p:txBody>
      </p:sp>
      <p:sp>
        <p:nvSpPr>
          <p:cNvPr id="9" name="Shape 7"/>
          <p:cNvSpPr/>
          <p:nvPr/>
        </p:nvSpPr>
        <p:spPr>
          <a:xfrm>
            <a:off x="8112557" y="1325880"/>
            <a:ext cx="3576218" cy="1005840"/>
          </a:xfrm>
          <a:prstGeom prst="roundRect">
            <a:avLst>
              <a:gd name="adj" fmla="val 5455"/>
            </a:avLst>
          </a:prstGeom>
          <a:solidFill>
            <a:srgbClr val="F1F4F7"/>
          </a:solidFill>
          <a:ln w="12700">
            <a:solidFill>
              <a:srgbClr val="F1F4F7"/>
            </a:solidFill>
            <a:prstDash val="solid"/>
          </a:ln>
        </p:spPr>
      </p:sp>
      <p:sp>
        <p:nvSpPr>
          <p:cNvPr id="10" name="Text 8"/>
          <p:cNvSpPr txBox="1"/>
          <p:nvPr/>
        </p:nvSpPr>
        <p:spPr>
          <a:xfrm>
            <a:off x="8341157" y="1463040"/>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check, then act</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try_pop</a:t>
            </a:r>
            <a:endParaRPr lang="en-US" sz="1600" dirty="0"/>
          </a:p>
        </p:txBody>
      </p:sp>
      <p:sp>
        <p:nvSpPr>
          <p:cNvPr id="11" name="Text 9"/>
          <p:cNvSpPr txBox="1"/>
          <p:nvPr/>
        </p:nvSpPr>
        <p:spPr>
          <a:xfrm>
            <a:off x="10957255" y="1463040"/>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v3</a:t>
            </a:r>
            <a:endParaRPr lang="en-US" sz="1400" dirty="0"/>
          </a:p>
        </p:txBody>
      </p:sp>
      <p:sp>
        <p:nvSpPr>
          <p:cNvPr id="12" name="Shape 10"/>
          <p:cNvSpPr/>
          <p:nvPr/>
        </p:nvSpPr>
        <p:spPr>
          <a:xfrm>
            <a:off x="502920" y="2532888"/>
            <a:ext cx="3576218" cy="1005840"/>
          </a:xfrm>
          <a:prstGeom prst="roundRect">
            <a:avLst>
              <a:gd name="adj" fmla="val 5455"/>
            </a:avLst>
          </a:prstGeom>
          <a:solidFill>
            <a:srgbClr val="F1F4F7"/>
          </a:solidFill>
          <a:ln w="12700">
            <a:solidFill>
              <a:srgbClr val="F1F4F7"/>
            </a:solidFill>
            <a:prstDash val="solid"/>
          </a:ln>
        </p:spPr>
      </p:sp>
      <p:sp>
        <p:nvSpPr>
          <p:cNvPr id="13" name="Text 11"/>
          <p:cNvSpPr txBox="1"/>
          <p:nvPr/>
        </p:nvSpPr>
        <p:spPr>
          <a:xfrm>
            <a:off x="731520" y="2670048"/>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spinning consumer</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condition_variable</a:t>
            </a:r>
            <a:endParaRPr lang="en-US" sz="1600" dirty="0"/>
          </a:p>
        </p:txBody>
      </p:sp>
      <p:sp>
        <p:nvSpPr>
          <p:cNvPr id="14" name="Text 12"/>
          <p:cNvSpPr txBox="1"/>
          <p:nvPr/>
        </p:nvSpPr>
        <p:spPr>
          <a:xfrm>
            <a:off x="3347618" y="2670048"/>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v4</a:t>
            </a:r>
            <a:endParaRPr lang="en-US" sz="1400" dirty="0"/>
          </a:p>
        </p:txBody>
      </p:sp>
      <p:sp>
        <p:nvSpPr>
          <p:cNvPr id="15" name="Shape 13"/>
          <p:cNvSpPr/>
          <p:nvPr/>
        </p:nvSpPr>
        <p:spPr>
          <a:xfrm>
            <a:off x="4307738" y="2532888"/>
            <a:ext cx="3576218" cy="1005840"/>
          </a:xfrm>
          <a:prstGeom prst="roundRect">
            <a:avLst>
              <a:gd name="adj" fmla="val 5455"/>
            </a:avLst>
          </a:prstGeom>
          <a:solidFill>
            <a:srgbClr val="F1F4F7"/>
          </a:solidFill>
          <a:ln w="12700">
            <a:solidFill>
              <a:srgbClr val="F1F4F7"/>
            </a:solidFill>
            <a:prstDash val="solid"/>
          </a:ln>
        </p:spPr>
      </p:sp>
      <p:sp>
        <p:nvSpPr>
          <p:cNvPr id="16" name="Text 14"/>
          <p:cNvSpPr txBox="1"/>
          <p:nvPr/>
        </p:nvSpPr>
        <p:spPr>
          <a:xfrm>
            <a:off x="4536338" y="2670048"/>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opposite locks</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scoped_lock</a:t>
            </a:r>
            <a:endParaRPr lang="en-US" sz="1600" dirty="0"/>
          </a:p>
        </p:txBody>
      </p:sp>
      <p:sp>
        <p:nvSpPr>
          <p:cNvPr id="17" name="Text 15"/>
          <p:cNvSpPr txBox="1"/>
          <p:nvPr/>
        </p:nvSpPr>
        <p:spPr>
          <a:xfrm>
            <a:off x="7152437" y="2670048"/>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v5</a:t>
            </a:r>
            <a:endParaRPr lang="en-US" sz="1400" dirty="0"/>
          </a:p>
        </p:txBody>
      </p:sp>
      <p:sp>
        <p:nvSpPr>
          <p:cNvPr id="18" name="Shape 16"/>
          <p:cNvSpPr/>
          <p:nvPr/>
        </p:nvSpPr>
        <p:spPr>
          <a:xfrm>
            <a:off x="8112557" y="2532888"/>
            <a:ext cx="3576218" cy="1005840"/>
          </a:xfrm>
          <a:prstGeom prst="roundRect">
            <a:avLst>
              <a:gd name="adj" fmla="val 5455"/>
            </a:avLst>
          </a:prstGeom>
          <a:solidFill>
            <a:srgbClr val="F1F4F7"/>
          </a:solidFill>
          <a:ln w="12700">
            <a:solidFill>
              <a:srgbClr val="F1F4F7"/>
            </a:solidFill>
            <a:prstDash val="solid"/>
          </a:ln>
        </p:spPr>
      </p:sp>
      <p:sp>
        <p:nvSpPr>
          <p:cNvPr id="19" name="Text 17"/>
          <p:cNvSpPr txBox="1"/>
          <p:nvPr/>
        </p:nvSpPr>
        <p:spPr>
          <a:xfrm>
            <a:off x="8341157" y="2670048"/>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no way to stop</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closed + notify_all</a:t>
            </a:r>
            <a:endParaRPr lang="en-US" sz="1600" dirty="0"/>
          </a:p>
        </p:txBody>
      </p:sp>
      <p:sp>
        <p:nvSpPr>
          <p:cNvPr id="20" name="Text 18"/>
          <p:cNvSpPr txBox="1"/>
          <p:nvPr/>
        </p:nvSpPr>
        <p:spPr>
          <a:xfrm>
            <a:off x="10957255" y="2670048"/>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v6</a:t>
            </a:r>
            <a:endParaRPr lang="en-US" sz="1400" dirty="0"/>
          </a:p>
        </p:txBody>
      </p:sp>
      <p:sp>
        <p:nvSpPr>
          <p:cNvPr id="21" name="Shape 19"/>
          <p:cNvSpPr/>
          <p:nvPr/>
        </p:nvSpPr>
        <p:spPr>
          <a:xfrm>
            <a:off x="502920" y="3739896"/>
            <a:ext cx="3576218" cy="1005840"/>
          </a:xfrm>
          <a:prstGeom prst="roundRect">
            <a:avLst>
              <a:gd name="adj" fmla="val 5455"/>
            </a:avLst>
          </a:prstGeom>
          <a:solidFill>
            <a:srgbClr val="F1F4F7"/>
          </a:solidFill>
          <a:ln w="12700">
            <a:solidFill>
              <a:srgbClr val="F1F4F7"/>
            </a:solidFill>
            <a:prstDash val="solid"/>
          </a:ln>
        </p:spPr>
      </p:sp>
      <p:sp>
        <p:nvSpPr>
          <p:cNvPr id="22" name="Text 20"/>
          <p:cNvSpPr txBox="1"/>
          <p:nvPr/>
        </p:nvSpPr>
        <p:spPr>
          <a:xfrm>
            <a:off x="731520" y="3877056"/>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values that can't be copied</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move + optional</a:t>
            </a:r>
            <a:endParaRPr lang="en-US" sz="1600" dirty="0"/>
          </a:p>
        </p:txBody>
      </p:sp>
      <p:sp>
        <p:nvSpPr>
          <p:cNvPr id="23" name="Text 21"/>
          <p:cNvSpPr txBox="1"/>
          <p:nvPr/>
        </p:nvSpPr>
        <p:spPr>
          <a:xfrm>
            <a:off x="3347618" y="3877056"/>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v7</a:t>
            </a:r>
            <a:endParaRPr lang="en-US" sz="1400" dirty="0"/>
          </a:p>
        </p:txBody>
      </p:sp>
      <p:sp>
        <p:nvSpPr>
          <p:cNvPr id="24" name="Shape 22"/>
          <p:cNvSpPr/>
          <p:nvPr/>
        </p:nvSpPr>
        <p:spPr>
          <a:xfrm>
            <a:off x="4307738" y="3739896"/>
            <a:ext cx="3576218" cy="1005840"/>
          </a:xfrm>
          <a:prstGeom prst="roundRect">
            <a:avLst>
              <a:gd name="adj" fmla="val 5455"/>
            </a:avLst>
          </a:prstGeom>
          <a:solidFill>
            <a:srgbClr val="F1F4F7"/>
          </a:solidFill>
          <a:ln w="12700">
            <a:solidFill>
              <a:srgbClr val="F1F4F7"/>
            </a:solidFill>
            <a:prstDash val="solid"/>
          </a:ln>
        </p:spPr>
      </p:sp>
      <p:sp>
        <p:nvSpPr>
          <p:cNvPr id="25" name="Text 23"/>
          <p:cNvSpPr txBox="1"/>
          <p:nvPr/>
        </p:nvSpPr>
        <p:spPr>
          <a:xfrm>
            <a:off x="4536338" y="3877056"/>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lost result</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future</a:t>
            </a:r>
            <a:endParaRPr lang="en-US" sz="1600" dirty="0"/>
          </a:p>
        </p:txBody>
      </p:sp>
      <p:sp>
        <p:nvSpPr>
          <p:cNvPr id="26" name="Text 24"/>
          <p:cNvSpPr txBox="1"/>
          <p:nvPr/>
        </p:nvSpPr>
        <p:spPr>
          <a:xfrm>
            <a:off x="7152437" y="3877056"/>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v10</a:t>
            </a:r>
            <a:endParaRPr lang="en-US" sz="1400" dirty="0"/>
          </a:p>
        </p:txBody>
      </p:sp>
      <p:sp>
        <p:nvSpPr>
          <p:cNvPr id="27" name="Shape 25"/>
          <p:cNvSpPr/>
          <p:nvPr/>
        </p:nvSpPr>
        <p:spPr>
          <a:xfrm>
            <a:off x="8112557" y="3739896"/>
            <a:ext cx="3576218" cy="1005840"/>
          </a:xfrm>
          <a:prstGeom prst="roundRect">
            <a:avLst>
              <a:gd name="adj" fmla="val 5455"/>
            </a:avLst>
          </a:prstGeom>
          <a:solidFill>
            <a:srgbClr val="F1F4F7"/>
          </a:solidFill>
          <a:ln w="12700">
            <a:solidFill>
              <a:srgbClr val="F1F4F7"/>
            </a:solidFill>
            <a:prstDash val="solid"/>
          </a:ln>
        </p:spPr>
      </p:sp>
      <p:sp>
        <p:nvSpPr>
          <p:cNvPr id="28" name="Text 26"/>
          <p:cNvSpPr txBox="1"/>
          <p:nvPr/>
        </p:nvSpPr>
        <p:spPr>
          <a:xfrm>
            <a:off x="8341157" y="3877056"/>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tasks waiting on tasks</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wait_helping</a:t>
            </a:r>
            <a:endParaRPr lang="en-US" sz="1600" dirty="0"/>
          </a:p>
        </p:txBody>
      </p:sp>
      <p:sp>
        <p:nvSpPr>
          <p:cNvPr id="29" name="Text 27"/>
          <p:cNvSpPr txBox="1"/>
          <p:nvPr/>
        </p:nvSpPr>
        <p:spPr>
          <a:xfrm>
            <a:off x="10957255" y="3877056"/>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v10</a:t>
            </a:r>
            <a:endParaRPr lang="en-US" sz="1400" dirty="0"/>
          </a:p>
        </p:txBody>
      </p:sp>
      <p:sp>
        <p:nvSpPr>
          <p:cNvPr id="30" name="Shape 28"/>
          <p:cNvSpPr/>
          <p:nvPr/>
        </p:nvSpPr>
        <p:spPr>
          <a:xfrm>
            <a:off x="502920" y="4946904"/>
            <a:ext cx="3576218" cy="1005840"/>
          </a:xfrm>
          <a:prstGeom prst="roundRect">
            <a:avLst>
              <a:gd name="adj" fmla="val 5455"/>
            </a:avLst>
          </a:prstGeom>
          <a:solidFill>
            <a:srgbClr val="F1F4F7"/>
          </a:solidFill>
          <a:ln w="12700">
            <a:solidFill>
              <a:srgbClr val="F1F4F7"/>
            </a:solidFill>
            <a:prstDash val="solid"/>
          </a:ln>
        </p:spPr>
      </p:sp>
      <p:sp>
        <p:nvSpPr>
          <p:cNvPr id="31" name="Text 29"/>
          <p:cNvSpPr txBox="1"/>
          <p:nvPr/>
        </p:nvSpPr>
        <p:spPr>
          <a:xfrm>
            <a:off x="731520" y="5084064"/>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contended counter</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atomic</a:t>
            </a:r>
            <a:endParaRPr lang="en-US" sz="1600" dirty="0"/>
          </a:p>
        </p:txBody>
      </p:sp>
      <p:sp>
        <p:nvSpPr>
          <p:cNvPr id="32" name="Text 30"/>
          <p:cNvSpPr txBox="1"/>
          <p:nvPr/>
        </p:nvSpPr>
        <p:spPr>
          <a:xfrm>
            <a:off x="3347618" y="5084064"/>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v11</a:t>
            </a:r>
            <a:endParaRPr lang="en-US" sz="1400" dirty="0"/>
          </a:p>
        </p:txBody>
      </p:sp>
      <p:sp>
        <p:nvSpPr>
          <p:cNvPr id="33" name="Shape 31"/>
          <p:cNvSpPr/>
          <p:nvPr/>
        </p:nvSpPr>
        <p:spPr>
          <a:xfrm>
            <a:off x="4307738" y="4946904"/>
            <a:ext cx="3576218" cy="1005840"/>
          </a:xfrm>
          <a:prstGeom prst="roundRect">
            <a:avLst>
              <a:gd name="adj" fmla="val 5455"/>
            </a:avLst>
          </a:prstGeom>
          <a:solidFill>
            <a:srgbClr val="F1F4F7"/>
          </a:solidFill>
          <a:ln w="12700">
            <a:solidFill>
              <a:srgbClr val="F1F4F7"/>
            </a:solidFill>
            <a:prstDash val="solid"/>
          </a:ln>
        </p:spPr>
      </p:sp>
      <p:sp>
        <p:nvSpPr>
          <p:cNvPr id="34" name="Text 32"/>
          <p:cNvSpPr txBox="1"/>
          <p:nvPr/>
        </p:nvSpPr>
        <p:spPr>
          <a:xfrm>
            <a:off x="4536338" y="5084064"/>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slow hand-off</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SPSC ring</a:t>
            </a:r>
            <a:endParaRPr lang="en-US" sz="1600" dirty="0"/>
          </a:p>
        </p:txBody>
      </p:sp>
      <p:sp>
        <p:nvSpPr>
          <p:cNvPr id="35" name="Text 33"/>
          <p:cNvSpPr txBox="1"/>
          <p:nvPr/>
        </p:nvSpPr>
        <p:spPr>
          <a:xfrm>
            <a:off x="7152437" y="5084064"/>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v13</a:t>
            </a:r>
            <a:endParaRPr lang="en-US" sz="1400" dirty="0"/>
          </a:p>
        </p:txBody>
      </p:sp>
      <p:sp>
        <p:nvSpPr>
          <p:cNvPr id="36" name="Shape 34"/>
          <p:cNvSpPr/>
          <p:nvPr/>
        </p:nvSpPr>
        <p:spPr>
          <a:xfrm>
            <a:off x="8112557" y="4946904"/>
            <a:ext cx="3576218" cy="1005840"/>
          </a:xfrm>
          <a:prstGeom prst="roundRect">
            <a:avLst>
              <a:gd name="adj" fmla="val 5455"/>
            </a:avLst>
          </a:prstGeom>
          <a:solidFill>
            <a:srgbClr val="F1F4F7"/>
          </a:solidFill>
          <a:ln w="12700">
            <a:solidFill>
              <a:srgbClr val="F1F4F7"/>
            </a:solidFill>
            <a:prstDash val="solid"/>
          </a:ln>
        </p:spPr>
      </p:sp>
      <p:sp>
        <p:nvSpPr>
          <p:cNvPr id="37" name="Text 35"/>
          <p:cNvSpPr txBox="1"/>
          <p:nvPr/>
        </p:nvSpPr>
        <p:spPr>
          <a:xfrm>
            <a:off x="8341157" y="5084064"/>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one-run numbers</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median and p99</a:t>
            </a:r>
            <a:endParaRPr lang="en-US" sz="1600" dirty="0"/>
          </a:p>
        </p:txBody>
      </p:sp>
      <p:sp>
        <p:nvSpPr>
          <p:cNvPr id="38" name="Text 36"/>
          <p:cNvSpPr txBox="1"/>
          <p:nvPr/>
        </p:nvSpPr>
        <p:spPr>
          <a:xfrm>
            <a:off x="10957255" y="5084064"/>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v14</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69</a:t>
            </a:fld>
            <a:endParaRPr lang="en-US"/>
          </a:p>
        </p:txBody>
      </p:sp>
    </p:spTree>
  </p:cSld>
  <p:clrMapOvr>
    <a:masterClrMapping/>
  </p:clrMapOvr>
</p:sld>
</file>

<file path=ppt/theme/theme1.xml><?xml version="1.0" encoding="utf-8"?>
<a:theme xmlns:a="http://schemas.openxmlformats.org/drawingml/2006/main" name="Queue Course">
  <a:themeElements>
    <a:clrScheme name="Queue Course">
      <a:dk1>
        <a:srgbClr val="1C2430"/>
      </a:dk1>
      <a:lt1>
        <a:srgbClr val="FFFFFF"/>
      </a:lt1>
      <a:dk2>
        <a:srgbClr val="14283A"/>
      </a:dk2>
      <a:lt2>
        <a:srgbClr val="F1F4F7"/>
      </a:lt2>
      <a:accent1>
        <a:srgbClr val="B4501A"/>
      </a:accent1>
      <a:accent2>
        <a:srgbClr val="0F766E"/>
      </a:accent2>
      <a:accent3>
        <a:srgbClr val="55606C"/>
      </a:accent3>
      <a:accent4>
        <a:srgbClr val="E9B44C"/>
      </a:accent4>
      <a:accent5>
        <a:srgbClr val="2E6DA4"/>
      </a:accent5>
      <a:accent6>
        <a:srgbClr val="8A3B12"/>
      </a:accent6>
      <a:hlink>
        <a:srgbClr val="2E6DA4"/>
      </a:hlink>
      <a:folHlink>
        <a:srgbClr val="55606C"/>
      </a:folHlink>
    </a:clrScheme>
    <a:fontScheme name="Queue Cours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a Broken Queue to a Thread Pool</dc:title>
  <dc:subject>PptxGenJS Presentation</dc:subject>
  <dc:creator>PptxGenJS</dc:creator>
  <cp:lastModifiedBy>PptxGenJS</cp:lastModifiedBy>
  <cp:revision>1</cp:revision>
  <dcterms:created xsi:type="dcterms:W3CDTF">2026-10-04T08:49:52Z</dcterms:created>
  <dcterms:modified xsi:type="dcterms:W3CDTF">2026-10-04T08:49:52Z</dcterms:modified>
</cp:coreProperties>
</file>